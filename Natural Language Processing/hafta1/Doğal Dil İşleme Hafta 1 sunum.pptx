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6" r:id="rId15"/>
    <p:sldId id="269" r:id="rId16"/>
  </p:sldIdLst>
  <p:sldSz cx="18288000" cy="10287000"/>
  <p:notesSz cx="6858000" cy="9144000"/>
  <p:embeddedFontLst>
    <p:embeddedFont>
      <p:font typeface="Raleway Ultra-Bold" charset="-94"/>
      <p:regular r:id="rId17"/>
    </p:embeddedFont>
    <p:embeddedFont>
      <p:font typeface="Raleway Bold" charset="-94"/>
      <p:regular r:id="rId18"/>
    </p:embeddedFont>
    <p:embeddedFont>
      <p:font typeface="Raleway Heavy" charset="-94"/>
      <p:regular r:id="rId19"/>
    </p:embeddedFont>
    <p:embeddedFont>
      <p:font typeface="Raleway Medium" charset="-94"/>
      <p:regular r:id="rId20"/>
    </p:embeddedFont>
    <p:embeddedFont>
      <p:font typeface="Calibri" pitchFamily="34" charset="0"/>
      <p:regular r:id="rId21"/>
      <p:bold r:id="rId22"/>
      <p:italic r:id="rId23"/>
      <p:boldItalic r:id="rId24"/>
    </p:embeddedFont>
    <p:embeddedFont>
      <p:font typeface="Aileron Bold" charset="-94"/>
      <p:regular r:id="rId25"/>
    </p:embeddedFont>
    <p:embeddedFont>
      <p:font typeface="Raleway Semi-Bold Italics" charset="-9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-37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df9268b2637a4e34" Type="http://schemas.openxmlformats.org/officeDocument/2006/relationships/image" Target="../media/image3.svg"/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4d86a1e80ce945f0" Type="http://schemas.openxmlformats.org/officeDocument/2006/relationships/image" Target="../media/image2.svg"/><Relationship Id="rId6" Type="http://schemas.openxmlformats.org/officeDocument/2006/relationships/image" Target="../media/image8.png"/><Relationship Id="Red1402e49fe24912" Type="http://schemas.openxmlformats.org/officeDocument/2006/relationships/image" Target="../media/image.svg"/><Relationship Id="rId5" Type="http://schemas.openxmlformats.org/officeDocument/2006/relationships/image" Target="../media/image7.png"/><Relationship Id="R0e7592238a2b4ca9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nek-site.com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png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82033" y="1058385"/>
            <a:ext cx="10967479" cy="35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266"/>
              </a:lnSpc>
              <a:spcBef>
                <a:spcPct val="0"/>
              </a:spcBef>
            </a:pPr>
            <a:r>
              <a:rPr lang="en-US" sz="10190" b="1" spc="6195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DOĞAL DIL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636065" y="7771693"/>
            <a:ext cx="7381188" cy="1375314"/>
            <a:chOff x="0" y="0"/>
            <a:chExt cx="1944017" cy="3622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44017" cy="362223"/>
            </a:xfrm>
            <a:custGeom>
              <a:avLst/>
              <a:gdLst/>
              <a:ahLst/>
              <a:cxnLst/>
              <a:rect l="l" t="t" r="r" b="b"/>
              <a:pathLst>
                <a:path w="1944017" h="362223">
                  <a:moveTo>
                    <a:pt x="0" y="0"/>
                  </a:moveTo>
                  <a:lnTo>
                    <a:pt x="1944017" y="0"/>
                  </a:lnTo>
                  <a:lnTo>
                    <a:pt x="1944017" y="362223"/>
                  </a:lnTo>
                  <a:lnTo>
                    <a:pt x="0" y="362223"/>
                  </a:lnTo>
                  <a:close/>
                </a:path>
              </a:pathLst>
            </a:custGeom>
            <a:solidFill>
              <a:srgbClr val="102C4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944017" cy="390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209757" y="3407363"/>
            <a:ext cx="12233804" cy="4063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129"/>
              </a:lnSpc>
              <a:spcBef>
                <a:spcPct val="0"/>
              </a:spcBef>
            </a:pPr>
            <a:r>
              <a:rPr lang="en-US" sz="23664" b="1" spc="-709" dirty="0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İŞLEME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14292" y="7571668"/>
            <a:ext cx="7502961" cy="1617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694"/>
              </a:lnSpc>
              <a:spcBef>
                <a:spcPct val="0"/>
              </a:spcBef>
            </a:pPr>
            <a:r>
              <a:rPr lang="en-US" sz="9781" b="1" spc="-293" dirty="0" smtClean="0">
                <a:solidFill>
                  <a:srgbClr val="FAFBFB"/>
                </a:solidFill>
                <a:latin typeface="Raleway Heavy"/>
                <a:ea typeface="Raleway Heavy"/>
                <a:cs typeface="Raleway Heavy"/>
                <a:sym typeface="Raleway Heavy"/>
              </a:rPr>
              <a:t>NEDIR</a:t>
            </a:r>
            <a:r>
              <a:rPr lang="tr-TR" sz="9781" b="1" spc="-293" dirty="0" smtClean="0">
                <a:solidFill>
                  <a:srgbClr val="FAFBFB"/>
                </a:solidFill>
                <a:latin typeface="Raleway Heavy"/>
                <a:ea typeface="Raleway Heavy"/>
                <a:cs typeface="Raleway Heavy"/>
                <a:sym typeface="Raleway Heavy"/>
              </a:rPr>
              <a:t>?</a:t>
            </a:r>
            <a:endParaRPr lang="en-US" sz="9781" b="1" spc="-293" dirty="0">
              <a:solidFill>
                <a:srgbClr val="FAFBFB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87298" y="1521201"/>
            <a:ext cx="2643162" cy="400782"/>
            <a:chOff x="0" y="0"/>
            <a:chExt cx="1944017" cy="3622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44017" cy="362223"/>
            </a:xfrm>
            <a:custGeom>
              <a:avLst/>
              <a:gdLst/>
              <a:ahLst/>
              <a:cxnLst/>
              <a:rect l="l" t="t" r="r" b="b"/>
              <a:pathLst>
                <a:path w="1944017" h="362223">
                  <a:moveTo>
                    <a:pt x="0" y="0"/>
                  </a:moveTo>
                  <a:lnTo>
                    <a:pt x="1944017" y="0"/>
                  </a:lnTo>
                  <a:lnTo>
                    <a:pt x="1944017" y="362223"/>
                  </a:lnTo>
                  <a:lnTo>
                    <a:pt x="0" y="362223"/>
                  </a:lnTo>
                  <a:close/>
                </a:path>
              </a:pathLst>
            </a:custGeom>
            <a:solidFill>
              <a:srgbClr val="102C4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944017" cy="390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7645817" y="-1062966"/>
            <a:ext cx="0" cy="118460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" name="Freeform 13"/>
          <p:cNvSpPr/>
          <p:nvPr/>
        </p:nvSpPr>
        <p:spPr>
          <a:xfrm>
            <a:off x="8242300" y="3048000"/>
            <a:ext cx="9359900" cy="5067300"/>
          </a:xfrm>
          <a:custGeom>
            <a:avLst/>
            <a:gdLst/>
            <a:ahLst/>
            <a:cxnLst/>
            <a:rect l="l" t="t" r="r" b="b"/>
            <a:pathLst>
              <a:path w="5023793" h="2954801">
                <a:moveTo>
                  <a:pt x="0" y="0"/>
                </a:moveTo>
                <a:lnTo>
                  <a:pt x="5023793" y="0"/>
                </a:lnTo>
                <a:lnTo>
                  <a:pt x="5023793" y="2954801"/>
                </a:lnTo>
                <a:lnTo>
                  <a:pt x="0" y="2954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126" b="-5126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3102" y="509905"/>
            <a:ext cx="5841845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044"/>
              </a:lnSpc>
              <a:spcBef>
                <a:spcPct val="0"/>
              </a:spcBef>
            </a:pPr>
            <a:r>
              <a:rPr lang="tr-TR" sz="3200" b="1" spc="2625" dirty="0" smtClean="0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IBM Makine</a:t>
            </a:r>
            <a:endParaRPr lang="en-US" sz="3200" b="1" spc="2625" dirty="0">
              <a:solidFill>
                <a:srgbClr val="102C40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87298" y="1283331"/>
            <a:ext cx="2490761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02"/>
              </a:lnSpc>
              <a:spcBef>
                <a:spcPct val="0"/>
              </a:spcBef>
            </a:pPr>
            <a:r>
              <a:rPr lang="tr-TR" sz="2800" b="1" spc="-124" dirty="0">
                <a:solidFill>
                  <a:srgbClr val="FAFBFB"/>
                </a:solidFill>
                <a:latin typeface="Raleway Heavy"/>
                <a:ea typeface="Raleway Heavy"/>
                <a:cs typeface="Raleway Heavy"/>
                <a:sym typeface="Raleway Heavy"/>
              </a:rPr>
              <a:t>Ç</a:t>
            </a:r>
            <a:r>
              <a:rPr lang="tr-TR" sz="2800" b="1" spc="-124" dirty="0" smtClean="0">
                <a:solidFill>
                  <a:srgbClr val="FAFBFB"/>
                </a:solidFill>
                <a:latin typeface="Raleway Heavy"/>
                <a:ea typeface="Raleway Heavy"/>
                <a:cs typeface="Raleway Heavy"/>
                <a:sym typeface="Raleway Heavy"/>
              </a:rPr>
              <a:t>evirisi</a:t>
            </a:r>
            <a:endParaRPr lang="en-US" sz="2800" b="1" spc="-124" dirty="0">
              <a:solidFill>
                <a:srgbClr val="FAFBFB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sp>
        <p:nvSpPr>
          <p:cNvPr id="38" name="AutoShape 2" descr="C:\Users\w\Desktop\l18ruwtwky961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39" name="AutoShape 4" descr="C:\Users\w\Desktop\l18ruwtwky961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2053" name="Picture 5" descr="C:\Users\w\Desktop\l18ruwtwky96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7" y="2095499"/>
            <a:ext cx="5662613" cy="327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21"/>
          <p:cNvSpPr txBox="1"/>
          <p:nvPr/>
        </p:nvSpPr>
        <p:spPr>
          <a:xfrm>
            <a:off x="7645817" y="571500"/>
            <a:ext cx="1000718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044"/>
              </a:lnSpc>
              <a:spcBef>
                <a:spcPct val="0"/>
              </a:spcBef>
            </a:pPr>
            <a:r>
              <a:rPr lang="tr-TR" sz="4317" b="1" spc="2625" dirty="0" smtClean="0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MİT Sohbet Botu</a:t>
            </a:r>
            <a:endParaRPr lang="en-US" sz="4317" b="1" spc="2625" dirty="0">
              <a:solidFill>
                <a:srgbClr val="102C40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grpSp>
        <p:nvGrpSpPr>
          <p:cNvPr id="50" name="Group 4"/>
          <p:cNvGrpSpPr/>
          <p:nvPr/>
        </p:nvGrpSpPr>
        <p:grpSpPr>
          <a:xfrm>
            <a:off x="8242299" y="1444397"/>
            <a:ext cx="3127445" cy="582727"/>
            <a:chOff x="0" y="0"/>
            <a:chExt cx="1944017" cy="362223"/>
          </a:xfrm>
        </p:grpSpPr>
        <p:sp>
          <p:nvSpPr>
            <p:cNvPr id="51" name="Freeform 5"/>
            <p:cNvSpPr/>
            <p:nvPr/>
          </p:nvSpPr>
          <p:spPr>
            <a:xfrm>
              <a:off x="0" y="0"/>
              <a:ext cx="1944017" cy="362223"/>
            </a:xfrm>
            <a:custGeom>
              <a:avLst/>
              <a:gdLst/>
              <a:ahLst/>
              <a:cxnLst/>
              <a:rect l="l" t="t" r="r" b="b"/>
              <a:pathLst>
                <a:path w="1944017" h="362223">
                  <a:moveTo>
                    <a:pt x="0" y="0"/>
                  </a:moveTo>
                  <a:lnTo>
                    <a:pt x="1944017" y="0"/>
                  </a:lnTo>
                  <a:lnTo>
                    <a:pt x="1944017" y="362223"/>
                  </a:lnTo>
                  <a:lnTo>
                    <a:pt x="0" y="362223"/>
                  </a:lnTo>
                  <a:close/>
                </a:path>
              </a:pathLst>
            </a:custGeom>
            <a:solidFill>
              <a:srgbClr val="102C40"/>
            </a:solidFill>
          </p:spPr>
        </p:sp>
        <p:sp>
          <p:nvSpPr>
            <p:cNvPr id="52" name="TextBox 6"/>
            <p:cNvSpPr txBox="1"/>
            <p:nvPr/>
          </p:nvSpPr>
          <p:spPr>
            <a:xfrm>
              <a:off x="0" y="-28575"/>
              <a:ext cx="1944017" cy="390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Dikdörtgen 40"/>
          <p:cNvSpPr/>
          <p:nvPr/>
        </p:nvSpPr>
        <p:spPr>
          <a:xfrm>
            <a:off x="8229599" y="1398427"/>
            <a:ext cx="31274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3600" b="1" spc="-124" dirty="0" smtClean="0">
                <a:solidFill>
                  <a:srgbClr val="FAFBFB"/>
                </a:solidFill>
                <a:latin typeface="Raleway Heavy"/>
                <a:ea typeface="Raleway Heavy"/>
                <a:cs typeface="Raleway Heavy"/>
                <a:sym typeface="Raleway Heavy"/>
              </a:rPr>
              <a:t>ELİZA</a:t>
            </a:r>
            <a:endParaRPr lang="tr-TR" sz="3600" dirty="0"/>
          </a:p>
        </p:txBody>
      </p:sp>
      <p:pic>
        <p:nvPicPr>
          <p:cNvPr id="2054" name="Picture 6" descr="C:\Users\w\Desktop\unname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98" y="6352149"/>
            <a:ext cx="5251502" cy="353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21"/>
          <p:cNvSpPr txBox="1"/>
          <p:nvPr/>
        </p:nvSpPr>
        <p:spPr>
          <a:xfrm>
            <a:off x="346075" y="5581650"/>
            <a:ext cx="5841845" cy="675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044"/>
              </a:lnSpc>
              <a:spcBef>
                <a:spcPct val="0"/>
              </a:spcBef>
            </a:pPr>
            <a:r>
              <a:rPr lang="tr-TR" sz="3200" b="1" spc="2625" dirty="0" smtClean="0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MİT SHRDLU</a:t>
            </a:r>
            <a:endParaRPr lang="en-US" sz="3200" b="1" spc="2625" dirty="0">
              <a:solidFill>
                <a:srgbClr val="102C40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</p:spTree>
    <p:extLst>
      <p:ext uri="{BB962C8B-B14F-4D97-AF65-F5344CB8AC3E}">
        <p14:creationId xmlns:p14="http://schemas.microsoft.com/office/powerpoint/2010/main" val="2310436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43277" y="2756939"/>
            <a:ext cx="5377212" cy="62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7"/>
              </a:lnSpc>
            </a:pPr>
            <a:r>
              <a:rPr lang="en-US" sz="4133" b="1" i="1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Kendiliğinden Gelişir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68317" y="1539647"/>
            <a:ext cx="3127445" cy="582727"/>
            <a:chOff x="0" y="0"/>
            <a:chExt cx="1944017" cy="3622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44017" cy="362223"/>
            </a:xfrm>
            <a:custGeom>
              <a:avLst/>
              <a:gdLst/>
              <a:ahLst/>
              <a:cxnLst/>
              <a:rect l="l" t="t" r="r" b="b"/>
              <a:pathLst>
                <a:path w="1944017" h="362223">
                  <a:moveTo>
                    <a:pt x="0" y="0"/>
                  </a:moveTo>
                  <a:lnTo>
                    <a:pt x="1944017" y="0"/>
                  </a:lnTo>
                  <a:lnTo>
                    <a:pt x="1944017" y="362223"/>
                  </a:lnTo>
                  <a:lnTo>
                    <a:pt x="0" y="362223"/>
                  </a:lnTo>
                  <a:close/>
                </a:path>
              </a:pathLst>
            </a:custGeom>
            <a:solidFill>
              <a:srgbClr val="102C4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944017" cy="390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371230" y="2010801"/>
            <a:ext cx="3224099" cy="123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7"/>
              </a:lnSpc>
            </a:pPr>
            <a:r>
              <a:rPr lang="en-US" sz="4133" b="1" i="1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İstatiksel Yaklaşımlar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17953" y="2010801"/>
            <a:ext cx="4736666" cy="123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7"/>
              </a:lnSpc>
            </a:pPr>
            <a:r>
              <a:rPr lang="en-US" sz="4133" b="1" i="1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Dilbilimsel Yaklaşımlar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7645817" y="-1062966"/>
            <a:ext cx="0" cy="118460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TextBox 10"/>
          <p:cNvSpPr txBox="1"/>
          <p:nvPr/>
        </p:nvSpPr>
        <p:spPr>
          <a:xfrm>
            <a:off x="10495729" y="171160"/>
            <a:ext cx="4646973" cy="15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44"/>
              </a:lnSpc>
              <a:spcBef>
                <a:spcPct val="0"/>
              </a:spcBef>
            </a:pPr>
            <a:r>
              <a:rPr lang="en-US" sz="4317" b="1" spc="2625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İKIYE AYRILIR</a:t>
            </a:r>
          </a:p>
        </p:txBody>
      </p:sp>
      <p:sp>
        <p:nvSpPr>
          <p:cNvPr id="11" name="AutoShape 11"/>
          <p:cNvSpPr/>
          <p:nvPr/>
        </p:nvSpPr>
        <p:spPr>
          <a:xfrm flipH="1">
            <a:off x="10485145" y="1680811"/>
            <a:ext cx="1866241" cy="3299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" name="AutoShape 12"/>
          <p:cNvSpPr/>
          <p:nvPr/>
        </p:nvSpPr>
        <p:spPr>
          <a:xfrm>
            <a:off x="13508572" y="1680811"/>
            <a:ext cx="2028115" cy="3299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4" name="TextBox 14"/>
          <p:cNvSpPr txBox="1"/>
          <p:nvPr/>
        </p:nvSpPr>
        <p:spPr>
          <a:xfrm>
            <a:off x="2643277" y="4465464"/>
            <a:ext cx="4736666" cy="123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7"/>
              </a:lnSpc>
            </a:pPr>
            <a:r>
              <a:rPr lang="en-US" sz="4133" b="1" i="1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Belirsizlik (Ambiguity) İçerir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6463" y="2169529"/>
            <a:ext cx="1366814" cy="150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8"/>
              </a:lnSpc>
            </a:pPr>
            <a:r>
              <a:rPr lang="en-US" sz="6676" b="1" spc="-260" dirty="0">
                <a:solidFill>
                  <a:srgbClr val="102C4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6463" y="3878054"/>
            <a:ext cx="1366814" cy="150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8"/>
              </a:lnSpc>
            </a:pPr>
            <a:r>
              <a:rPr lang="en-US" sz="6676" b="1" spc="-260">
                <a:solidFill>
                  <a:srgbClr val="102C4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43277" y="6173989"/>
            <a:ext cx="4232561" cy="1842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7"/>
              </a:lnSpc>
            </a:pPr>
            <a:r>
              <a:rPr lang="en-US" sz="4133" b="1" i="1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Kuralları Esnektir ve İstisnaları Vardır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6463" y="5586579"/>
            <a:ext cx="1366814" cy="150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8"/>
              </a:lnSpc>
            </a:pPr>
            <a:r>
              <a:rPr lang="en-US" sz="6676" b="1" spc="-260">
                <a:solidFill>
                  <a:srgbClr val="102C4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43277" y="8359422"/>
            <a:ext cx="3271416" cy="123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77"/>
              </a:lnSpc>
              <a:spcBef>
                <a:spcPct val="0"/>
              </a:spcBef>
            </a:pPr>
            <a:r>
              <a:rPr lang="en-US" sz="4133" b="1" i="1" u="none" strike="noStrike" spc="-161" dirty="0" err="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Yapısal</a:t>
            </a:r>
            <a:r>
              <a:rPr lang="en-US" sz="4133" b="1" i="1" u="none" strike="noStrike" spc="-161" dirty="0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 </a:t>
            </a:r>
            <a:r>
              <a:rPr lang="en-US" sz="4133" b="1" i="1" u="none" strike="noStrike" spc="-161" dirty="0" err="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Değildir</a:t>
            </a:r>
            <a:endParaRPr lang="en-US" sz="4133" b="1" i="1" u="none" strike="noStrike" spc="-161" dirty="0">
              <a:solidFill>
                <a:srgbClr val="102C40"/>
              </a:solidFill>
              <a:latin typeface="Raleway Semi-Bold Italics"/>
              <a:ea typeface="Raleway Semi-Bold Italics"/>
              <a:cs typeface="Raleway Semi-Bold Italics"/>
              <a:sym typeface="Raleway Semi-Bold Italic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76463" y="7902222"/>
            <a:ext cx="1366814" cy="150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8"/>
              </a:lnSpc>
            </a:pPr>
            <a:r>
              <a:rPr lang="en-US" sz="6676" b="1" spc="-260">
                <a:solidFill>
                  <a:srgbClr val="102C4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2755" y="29995"/>
            <a:ext cx="4646973" cy="15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44"/>
              </a:lnSpc>
              <a:spcBef>
                <a:spcPct val="0"/>
              </a:spcBef>
            </a:pPr>
            <a:r>
              <a:rPr lang="en-US" sz="4317" b="1" spc="2625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DOĞAL DIL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6721" y="1444397"/>
            <a:ext cx="3179040" cy="725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02"/>
              </a:lnSpc>
              <a:spcBef>
                <a:spcPct val="0"/>
              </a:spcBef>
            </a:pPr>
            <a:r>
              <a:rPr lang="en-US" sz="4144" b="1" spc="-124" dirty="0">
                <a:solidFill>
                  <a:srgbClr val="FAFBFB"/>
                </a:solidFill>
                <a:latin typeface="Raleway Heavy"/>
                <a:ea typeface="Raleway Heavy"/>
                <a:cs typeface="Raleway Heavy"/>
                <a:sym typeface="Raleway Heavy"/>
              </a:rPr>
              <a:t>NEDIR?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30769" y="3434934"/>
            <a:ext cx="3615760" cy="1238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779" b="1" i="1" spc="-108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büyük miktardaki metin verisi (corpus) üzerinden yaklaşır.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30769" y="4895447"/>
            <a:ext cx="3185043" cy="1238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779" b="1" i="1" spc="-108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Makine Çevirisi (Google Translate'in ilk versiyonları)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1692" y="3130134"/>
            <a:ext cx="919077" cy="1010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7"/>
              </a:lnSpc>
            </a:pPr>
            <a:r>
              <a:rPr lang="en-US" sz="4489" b="1" spc="-175">
                <a:solidFill>
                  <a:srgbClr val="102C4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01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11692" y="4590647"/>
            <a:ext cx="919077" cy="1010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7"/>
              </a:lnSpc>
            </a:pPr>
            <a:r>
              <a:rPr lang="en-US" sz="4489" b="1" spc="-175">
                <a:solidFill>
                  <a:srgbClr val="102C4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30769" y="6324909"/>
            <a:ext cx="2846071" cy="1238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779" b="1" i="1" spc="-108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Duygu Analizi (Sentiment Analysis)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11692" y="6202923"/>
            <a:ext cx="919077" cy="1010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7"/>
              </a:lnSpc>
            </a:pPr>
            <a:r>
              <a:rPr lang="en-US" sz="4489" b="1" spc="-175">
                <a:solidFill>
                  <a:srgbClr val="102C4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30769" y="7844805"/>
            <a:ext cx="2199775" cy="82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79"/>
              </a:lnSpc>
              <a:spcBef>
                <a:spcPct val="0"/>
              </a:spcBef>
            </a:pPr>
            <a:r>
              <a:rPr lang="en-US" sz="2779" b="1" i="1" spc="-108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N-gr</a:t>
            </a:r>
            <a:r>
              <a:rPr lang="en-US" sz="2779" b="1" i="1" u="none" strike="noStrike" spc="-108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am Dil Modelleri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20489" y="7601295"/>
            <a:ext cx="919077" cy="1010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7"/>
              </a:lnSpc>
            </a:pPr>
            <a:r>
              <a:rPr lang="en-US" sz="4489" b="1" spc="-175">
                <a:solidFill>
                  <a:srgbClr val="102C4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04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175231" y="3378117"/>
            <a:ext cx="3615760" cy="1649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779" b="1" i="1" spc="-108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Bir sisteme Türkçe'nin "Özne-Nesne-Yüklem" gibi temel cümle yapısı öğretilir.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175231" y="5374171"/>
            <a:ext cx="4022111" cy="417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779" b="1" i="1" spc="-108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Stemming ve lemmazation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256154" y="3130134"/>
            <a:ext cx="919077" cy="1010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7"/>
              </a:lnSpc>
            </a:pPr>
            <a:r>
              <a:rPr lang="en-US" sz="4489" b="1" spc="-175">
                <a:solidFill>
                  <a:srgbClr val="102C4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256154" y="4943521"/>
            <a:ext cx="919077" cy="1010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7"/>
              </a:lnSpc>
            </a:pPr>
            <a:r>
              <a:rPr lang="en-US" sz="4489" b="1" spc="-175">
                <a:solidFill>
                  <a:srgbClr val="102C4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02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249294" y="6385143"/>
            <a:ext cx="2846071" cy="82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779" b="1" i="1" spc="-108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Basit Chatbot'lar (ELIZA gibi)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256154" y="6141633"/>
            <a:ext cx="919077" cy="1010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7"/>
              </a:lnSpc>
            </a:pPr>
            <a:r>
              <a:rPr lang="en-US" sz="4489" b="1" spc="-175">
                <a:solidFill>
                  <a:srgbClr val="102C4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344795" y="4371044"/>
            <a:ext cx="7371001" cy="1614206"/>
            <a:chOff x="0" y="0"/>
            <a:chExt cx="1952042" cy="4274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2042" cy="427486"/>
            </a:xfrm>
            <a:custGeom>
              <a:avLst/>
              <a:gdLst/>
              <a:ahLst/>
              <a:cxnLst/>
              <a:rect l="l" t="t" r="r" b="b"/>
              <a:pathLst>
                <a:path w="1952042" h="427486">
                  <a:moveTo>
                    <a:pt x="1748842" y="0"/>
                  </a:moveTo>
                  <a:cubicBezTo>
                    <a:pt x="1861066" y="0"/>
                    <a:pt x="1952042" y="95696"/>
                    <a:pt x="1952042" y="213743"/>
                  </a:cubicBezTo>
                  <a:cubicBezTo>
                    <a:pt x="1952042" y="331790"/>
                    <a:pt x="1861066" y="427486"/>
                    <a:pt x="1748842" y="427486"/>
                  </a:cubicBezTo>
                  <a:lnTo>
                    <a:pt x="203200" y="427486"/>
                  </a:lnTo>
                  <a:cubicBezTo>
                    <a:pt x="90976" y="427486"/>
                    <a:pt x="0" y="331790"/>
                    <a:pt x="0" y="213743"/>
                  </a:cubicBezTo>
                  <a:cubicBezTo>
                    <a:pt x="0" y="956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37C9E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1952042" cy="398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09"/>
                </a:lnSpc>
                <a:spcBef>
                  <a:spcPct val="0"/>
                </a:spcBef>
              </a:pPr>
              <a:r>
                <a:rPr lang="en-US" sz="3099" b="1" spc="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EN TEMELDE</a:t>
              </a:r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9030295" y="2863206"/>
            <a:ext cx="0" cy="1507838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8718583" y="2860566"/>
            <a:ext cx="758581" cy="5281"/>
          </a:xfrm>
          <a:prstGeom prst="line">
            <a:avLst/>
          </a:prstGeom>
          <a:ln w="38100" cap="flat">
            <a:solidFill>
              <a:srgbClr val="86EA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5000940" y="2326694"/>
            <a:ext cx="3717642" cy="1078303"/>
            <a:chOff x="0" y="0"/>
            <a:chExt cx="1981276" cy="5746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81276" cy="574670"/>
            </a:xfrm>
            <a:custGeom>
              <a:avLst/>
              <a:gdLst/>
              <a:ahLst/>
              <a:cxnLst/>
              <a:rect l="l" t="t" r="r" b="b"/>
              <a:pathLst>
                <a:path w="1981276" h="574670">
                  <a:moveTo>
                    <a:pt x="1778076" y="0"/>
                  </a:moveTo>
                  <a:lnTo>
                    <a:pt x="203200" y="0"/>
                  </a:lnTo>
                  <a:lnTo>
                    <a:pt x="0" y="287335"/>
                  </a:lnTo>
                  <a:lnTo>
                    <a:pt x="203200" y="574670"/>
                  </a:lnTo>
                  <a:lnTo>
                    <a:pt x="1778076" y="574670"/>
                  </a:lnTo>
                  <a:lnTo>
                    <a:pt x="1981276" y="287335"/>
                  </a:lnTo>
                  <a:lnTo>
                    <a:pt x="1778076" y="0"/>
                  </a:lnTo>
                  <a:close/>
                </a:path>
              </a:pathLst>
            </a:custGeom>
            <a:solidFill>
              <a:srgbClr val="86EAE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52400" y="-66675"/>
              <a:ext cx="1676476" cy="64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>
                  <a:solidFill>
                    <a:srgbClr val="13538A"/>
                  </a:solidFill>
                  <a:latin typeface="Aileron"/>
                  <a:ea typeface="Aileron"/>
                  <a:cs typeface="Aileron"/>
                  <a:sym typeface="Aileron"/>
                </a:rPr>
                <a:t>Metin Sınıflandırma (Text Classification)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59291" y="2326694"/>
            <a:ext cx="1078303" cy="1078303"/>
            <a:chOff x="0" y="0"/>
            <a:chExt cx="1437738" cy="1437738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437738" cy="1437738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6EAE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04671" y="204671"/>
              <a:ext cx="1028395" cy="1028395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472281" y="472281"/>
              <a:ext cx="493176" cy="493176"/>
            </a:xfrm>
            <a:custGeom>
              <a:avLst/>
              <a:gdLst/>
              <a:ahLst/>
              <a:cxnLst/>
              <a:rect l="l" t="t" r="r" b="b"/>
              <a:pathLst>
                <a:path w="493176" h="493176">
                  <a:moveTo>
                    <a:pt x="0" y="0"/>
                  </a:moveTo>
                  <a:lnTo>
                    <a:pt x="493176" y="0"/>
                  </a:lnTo>
                  <a:lnTo>
                    <a:pt x="493176" y="493176"/>
                  </a:lnTo>
                  <a:lnTo>
                    <a:pt x="0" y="493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="" xmlns:asvg="http://schemas.microsoft.com/office/drawing/2016/SVG/main" r:embed="Red1402e49fe2491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9477163" y="2321414"/>
            <a:ext cx="3717642" cy="1078303"/>
            <a:chOff x="0" y="0"/>
            <a:chExt cx="1981276" cy="57467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81276" cy="574670"/>
            </a:xfrm>
            <a:custGeom>
              <a:avLst/>
              <a:gdLst/>
              <a:ahLst/>
              <a:cxnLst/>
              <a:rect l="l" t="t" r="r" b="b"/>
              <a:pathLst>
                <a:path w="1981276" h="574670">
                  <a:moveTo>
                    <a:pt x="1778076" y="0"/>
                  </a:moveTo>
                  <a:lnTo>
                    <a:pt x="203200" y="0"/>
                  </a:lnTo>
                  <a:lnTo>
                    <a:pt x="0" y="287335"/>
                  </a:lnTo>
                  <a:lnTo>
                    <a:pt x="203200" y="574670"/>
                  </a:lnTo>
                  <a:lnTo>
                    <a:pt x="1778076" y="574670"/>
                  </a:lnTo>
                  <a:lnTo>
                    <a:pt x="1981276" y="287335"/>
                  </a:lnTo>
                  <a:lnTo>
                    <a:pt x="1778076" y="0"/>
                  </a:ln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52400" y="-66675"/>
              <a:ext cx="1676476" cy="64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>
                  <a:solidFill>
                    <a:srgbClr val="13538A"/>
                  </a:solidFill>
                  <a:latin typeface="Aileron"/>
                  <a:ea typeface="Aileron"/>
                  <a:cs typeface="Aileron"/>
                  <a:sym typeface="Aileron"/>
                </a:rPr>
                <a:t>Makine Çevirisi (Machine Translation)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655654" y="2321414"/>
            <a:ext cx="1078303" cy="1078303"/>
            <a:chOff x="0" y="0"/>
            <a:chExt cx="1437738" cy="1437738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437738" cy="1437738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04671" y="204671"/>
              <a:ext cx="1028395" cy="1028395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435109" y="442150"/>
              <a:ext cx="567520" cy="567520"/>
            </a:xfrm>
            <a:custGeom>
              <a:avLst/>
              <a:gdLst/>
              <a:ahLst/>
              <a:cxnLst/>
              <a:rect l="l" t="t" r="r" b="b"/>
              <a:pathLst>
                <a:path w="567520" h="567520">
                  <a:moveTo>
                    <a:pt x="0" y="0"/>
                  </a:moveTo>
                  <a:lnTo>
                    <a:pt x="567520" y="0"/>
                  </a:lnTo>
                  <a:lnTo>
                    <a:pt x="567520" y="567520"/>
                  </a:lnTo>
                  <a:lnTo>
                    <a:pt x="0" y="567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4d86a1e80ce945f0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4973814" y="6963883"/>
            <a:ext cx="3717642" cy="1078303"/>
            <a:chOff x="0" y="0"/>
            <a:chExt cx="1981276" cy="57467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81276" cy="574670"/>
            </a:xfrm>
            <a:custGeom>
              <a:avLst/>
              <a:gdLst/>
              <a:ahLst/>
              <a:cxnLst/>
              <a:rect l="l" t="t" r="r" b="b"/>
              <a:pathLst>
                <a:path w="1981276" h="574670">
                  <a:moveTo>
                    <a:pt x="1778076" y="0"/>
                  </a:moveTo>
                  <a:lnTo>
                    <a:pt x="203200" y="0"/>
                  </a:lnTo>
                  <a:lnTo>
                    <a:pt x="0" y="287335"/>
                  </a:lnTo>
                  <a:lnTo>
                    <a:pt x="203200" y="574670"/>
                  </a:lnTo>
                  <a:lnTo>
                    <a:pt x="1778076" y="574670"/>
                  </a:lnTo>
                  <a:lnTo>
                    <a:pt x="1981276" y="287335"/>
                  </a:lnTo>
                  <a:lnTo>
                    <a:pt x="1778076" y="0"/>
                  </a:ln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52400" y="-66675"/>
              <a:ext cx="1676476" cy="64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Named Entity Recognition - NER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198686" y="6990532"/>
            <a:ext cx="1078303" cy="1078303"/>
            <a:chOff x="0" y="0"/>
            <a:chExt cx="1437738" cy="1437738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437738" cy="1437738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92D5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04671" y="204671"/>
              <a:ext cx="1028395" cy="1028395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455049" y="455049"/>
              <a:ext cx="527640" cy="527640"/>
            </a:xfrm>
            <a:custGeom>
              <a:avLst/>
              <a:gdLst/>
              <a:ahLst/>
              <a:cxnLst/>
              <a:rect l="l" t="t" r="r" b="b"/>
              <a:pathLst>
                <a:path w="527640" h="527640">
                  <a:moveTo>
                    <a:pt x="0" y="0"/>
                  </a:moveTo>
                  <a:lnTo>
                    <a:pt x="527640" y="0"/>
                  </a:lnTo>
                  <a:lnTo>
                    <a:pt x="527640" y="527640"/>
                  </a:lnTo>
                  <a:lnTo>
                    <a:pt x="0" y="527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df9268b2637a4e3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9642131" y="6964335"/>
            <a:ext cx="3717642" cy="1078303"/>
            <a:chOff x="0" y="0"/>
            <a:chExt cx="1981276" cy="57467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981276" cy="574670"/>
            </a:xfrm>
            <a:custGeom>
              <a:avLst/>
              <a:gdLst/>
              <a:ahLst/>
              <a:cxnLst/>
              <a:rect l="l" t="t" r="r" b="b"/>
              <a:pathLst>
                <a:path w="1981276" h="574670">
                  <a:moveTo>
                    <a:pt x="1778076" y="0"/>
                  </a:moveTo>
                  <a:lnTo>
                    <a:pt x="203200" y="0"/>
                  </a:lnTo>
                  <a:lnTo>
                    <a:pt x="0" y="287335"/>
                  </a:lnTo>
                  <a:lnTo>
                    <a:pt x="203200" y="574670"/>
                  </a:lnTo>
                  <a:lnTo>
                    <a:pt x="1778076" y="574670"/>
                  </a:lnTo>
                  <a:lnTo>
                    <a:pt x="1981276" y="287335"/>
                  </a:lnTo>
                  <a:lnTo>
                    <a:pt x="1778076" y="0"/>
                  </a:ln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152400" y="-66675"/>
              <a:ext cx="1676476" cy="64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Metin Özetleme (Text Summarization)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820622" y="6964335"/>
            <a:ext cx="1078303" cy="1078303"/>
            <a:chOff x="0" y="0"/>
            <a:chExt cx="1437738" cy="1437738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1437738" cy="1437738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3538A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204671" y="204671"/>
              <a:ext cx="1028395" cy="1028395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51" name="Freeform 51"/>
            <p:cNvSpPr/>
            <p:nvPr/>
          </p:nvSpPr>
          <p:spPr>
            <a:xfrm>
              <a:off x="476377" y="476377"/>
              <a:ext cx="484983" cy="484983"/>
            </a:xfrm>
            <a:custGeom>
              <a:avLst/>
              <a:gdLst/>
              <a:ahLst/>
              <a:cxnLst/>
              <a:rect l="l" t="t" r="r" b="b"/>
              <a:pathLst>
                <a:path w="484983" h="484983">
                  <a:moveTo>
                    <a:pt x="0" y="0"/>
                  </a:moveTo>
                  <a:lnTo>
                    <a:pt x="484984" y="0"/>
                  </a:lnTo>
                  <a:lnTo>
                    <a:pt x="484984" y="484984"/>
                  </a:lnTo>
                  <a:lnTo>
                    <a:pt x="0" y="484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0e7592238a2b4ca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2" name="AutoShape 52"/>
          <p:cNvSpPr/>
          <p:nvPr/>
        </p:nvSpPr>
        <p:spPr>
          <a:xfrm flipH="1" flipV="1">
            <a:off x="9030295" y="5985251"/>
            <a:ext cx="44" cy="1499411"/>
          </a:xfrm>
          <a:prstGeom prst="line">
            <a:avLst/>
          </a:prstGeom>
          <a:ln w="38100" cap="flat">
            <a:solidFill>
              <a:srgbClr val="2C92D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" name="AutoShape 53"/>
          <p:cNvSpPr/>
          <p:nvPr/>
        </p:nvSpPr>
        <p:spPr>
          <a:xfrm>
            <a:off x="8691456" y="7503034"/>
            <a:ext cx="950675" cy="452"/>
          </a:xfrm>
          <a:prstGeom prst="line">
            <a:avLst/>
          </a:prstGeom>
          <a:ln w="38100" cap="flat">
            <a:solidFill>
              <a:srgbClr val="13538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4" name="Group 54"/>
          <p:cNvGrpSpPr/>
          <p:nvPr/>
        </p:nvGrpSpPr>
        <p:grpSpPr>
          <a:xfrm>
            <a:off x="641649" y="5446099"/>
            <a:ext cx="3717642" cy="1078303"/>
            <a:chOff x="0" y="0"/>
            <a:chExt cx="1981276" cy="57467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981276" cy="574670"/>
            </a:xfrm>
            <a:custGeom>
              <a:avLst/>
              <a:gdLst/>
              <a:ahLst/>
              <a:cxnLst/>
              <a:rect l="l" t="t" r="r" b="b"/>
              <a:pathLst>
                <a:path w="1981276" h="574670">
                  <a:moveTo>
                    <a:pt x="1778076" y="0"/>
                  </a:moveTo>
                  <a:lnTo>
                    <a:pt x="203200" y="0"/>
                  </a:lnTo>
                  <a:lnTo>
                    <a:pt x="0" y="287335"/>
                  </a:lnTo>
                  <a:lnTo>
                    <a:pt x="203200" y="574670"/>
                  </a:lnTo>
                  <a:lnTo>
                    <a:pt x="1778076" y="574670"/>
                  </a:lnTo>
                  <a:lnTo>
                    <a:pt x="1981276" y="287335"/>
                  </a:lnTo>
                  <a:lnTo>
                    <a:pt x="1778076" y="0"/>
                  </a:lnTo>
                  <a:close/>
                </a:path>
              </a:pathLst>
            </a:custGeom>
            <a:solidFill>
              <a:srgbClr val="86EAE9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152400" y="-66675"/>
              <a:ext cx="1676476" cy="64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>
                  <a:solidFill>
                    <a:srgbClr val="13538A"/>
                  </a:solidFill>
                  <a:latin typeface="Aileron"/>
                  <a:ea typeface="Aileron"/>
                  <a:cs typeface="Aileron"/>
                  <a:sym typeface="Aileron"/>
                </a:rPr>
                <a:t>Metin Üretme (Text Generation)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0" y="5446099"/>
            <a:ext cx="1078303" cy="1078303"/>
            <a:chOff x="0" y="0"/>
            <a:chExt cx="1437738" cy="1437738"/>
          </a:xfrm>
        </p:grpSpPr>
        <p:grpSp>
          <p:nvGrpSpPr>
            <p:cNvPr id="58" name="Group 58"/>
            <p:cNvGrpSpPr/>
            <p:nvPr/>
          </p:nvGrpSpPr>
          <p:grpSpPr>
            <a:xfrm>
              <a:off x="0" y="0"/>
              <a:ext cx="1437738" cy="1437738"/>
              <a:chOff x="0" y="0"/>
              <a:chExt cx="812800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6EAE9"/>
              </a:solidFill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04671" y="204671"/>
              <a:ext cx="1028395" cy="1028395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64" name="Freeform 64"/>
            <p:cNvSpPr/>
            <p:nvPr/>
          </p:nvSpPr>
          <p:spPr>
            <a:xfrm>
              <a:off x="472281" y="472281"/>
              <a:ext cx="493176" cy="493176"/>
            </a:xfrm>
            <a:custGeom>
              <a:avLst/>
              <a:gdLst/>
              <a:ahLst/>
              <a:cxnLst/>
              <a:rect l="l" t="t" r="r" b="b"/>
              <a:pathLst>
                <a:path w="493176" h="493176">
                  <a:moveTo>
                    <a:pt x="0" y="0"/>
                  </a:moveTo>
                  <a:lnTo>
                    <a:pt x="493176" y="0"/>
                  </a:lnTo>
                  <a:lnTo>
                    <a:pt x="493176" y="493176"/>
                  </a:lnTo>
                  <a:lnTo>
                    <a:pt x="0" y="493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="" xmlns:asvg="http://schemas.microsoft.com/office/drawing/2016/SVG/main" r:embed="Red1402e49fe2491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14540574" y="5446099"/>
            <a:ext cx="3717642" cy="1078303"/>
            <a:chOff x="0" y="0"/>
            <a:chExt cx="1981276" cy="57467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981276" cy="574670"/>
            </a:xfrm>
            <a:custGeom>
              <a:avLst/>
              <a:gdLst/>
              <a:ahLst/>
              <a:cxnLst/>
              <a:rect l="l" t="t" r="r" b="b"/>
              <a:pathLst>
                <a:path w="1981276" h="574670">
                  <a:moveTo>
                    <a:pt x="1778076" y="0"/>
                  </a:moveTo>
                  <a:lnTo>
                    <a:pt x="203200" y="0"/>
                  </a:lnTo>
                  <a:lnTo>
                    <a:pt x="0" y="287335"/>
                  </a:lnTo>
                  <a:lnTo>
                    <a:pt x="203200" y="574670"/>
                  </a:lnTo>
                  <a:lnTo>
                    <a:pt x="1778076" y="574670"/>
                  </a:lnTo>
                  <a:lnTo>
                    <a:pt x="1981276" y="287335"/>
                  </a:lnTo>
                  <a:lnTo>
                    <a:pt x="1778076" y="0"/>
                  </a:lnTo>
                  <a:close/>
                </a:path>
              </a:pathLst>
            </a:custGeom>
            <a:solidFill>
              <a:srgbClr val="86EAE9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152400" y="-66675"/>
              <a:ext cx="1676476" cy="64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>
                  <a:solidFill>
                    <a:srgbClr val="13538A"/>
                  </a:solidFill>
                  <a:latin typeface="Aileron"/>
                  <a:ea typeface="Aileron"/>
                  <a:cs typeface="Aileron"/>
                  <a:sym typeface="Aileron"/>
                </a:rPr>
                <a:t>Soru-Cevap Sistemleri (Question Answering)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3898925" y="5446099"/>
            <a:ext cx="1078303" cy="1078303"/>
            <a:chOff x="0" y="0"/>
            <a:chExt cx="1437738" cy="1437738"/>
          </a:xfrm>
        </p:grpSpPr>
        <p:grpSp>
          <p:nvGrpSpPr>
            <p:cNvPr id="69" name="Group 69"/>
            <p:cNvGrpSpPr/>
            <p:nvPr/>
          </p:nvGrpSpPr>
          <p:grpSpPr>
            <a:xfrm>
              <a:off x="0" y="0"/>
              <a:ext cx="1437738" cy="1437738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6EAE9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204671" y="204671"/>
              <a:ext cx="1028395" cy="1028395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75" name="Freeform 75"/>
            <p:cNvSpPr/>
            <p:nvPr/>
          </p:nvSpPr>
          <p:spPr>
            <a:xfrm>
              <a:off x="472281" y="472281"/>
              <a:ext cx="493176" cy="493176"/>
            </a:xfrm>
            <a:custGeom>
              <a:avLst/>
              <a:gdLst/>
              <a:ahLst/>
              <a:cxnLst/>
              <a:rect l="l" t="t" r="r" b="b"/>
              <a:pathLst>
                <a:path w="493176" h="493176">
                  <a:moveTo>
                    <a:pt x="0" y="0"/>
                  </a:moveTo>
                  <a:lnTo>
                    <a:pt x="493176" y="0"/>
                  </a:lnTo>
                  <a:lnTo>
                    <a:pt x="493176" y="493176"/>
                  </a:lnTo>
                  <a:lnTo>
                    <a:pt x="0" y="493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="" xmlns:asvg="http://schemas.microsoft.com/office/drawing/2016/SVG/main" r:embed="Red1402e49fe2491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6" name="AutoShape 76"/>
          <p:cNvSpPr/>
          <p:nvPr/>
        </p:nvSpPr>
        <p:spPr>
          <a:xfrm flipV="1">
            <a:off x="4359291" y="5181800"/>
            <a:ext cx="1020939" cy="803451"/>
          </a:xfrm>
          <a:prstGeom prst="line">
            <a:avLst/>
          </a:prstGeom>
          <a:ln w="38100" cap="flat">
            <a:solidFill>
              <a:srgbClr val="86EA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7" name="AutoShape 77"/>
          <p:cNvSpPr/>
          <p:nvPr/>
        </p:nvSpPr>
        <p:spPr>
          <a:xfrm>
            <a:off x="12655785" y="5162976"/>
            <a:ext cx="1243140" cy="822275"/>
          </a:xfrm>
          <a:prstGeom prst="line">
            <a:avLst/>
          </a:prstGeom>
          <a:ln w="38100" cap="flat">
            <a:solidFill>
              <a:srgbClr val="86EA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8" name="AutoShape 78"/>
          <p:cNvSpPr/>
          <p:nvPr/>
        </p:nvSpPr>
        <p:spPr>
          <a:xfrm flipH="1" flipV="1">
            <a:off x="4359291" y="3639576"/>
            <a:ext cx="1059479" cy="1267980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9" name="AutoShape 79"/>
          <p:cNvSpPr/>
          <p:nvPr/>
        </p:nvSpPr>
        <p:spPr>
          <a:xfrm flipV="1">
            <a:off x="12666744" y="3872520"/>
            <a:ext cx="1474725" cy="1035036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0" name="Group 80"/>
          <p:cNvGrpSpPr/>
          <p:nvPr/>
        </p:nvGrpSpPr>
        <p:grpSpPr>
          <a:xfrm>
            <a:off x="14570358" y="3105396"/>
            <a:ext cx="3717642" cy="1078303"/>
            <a:chOff x="0" y="0"/>
            <a:chExt cx="1981276" cy="57467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981276" cy="574670"/>
            </a:xfrm>
            <a:custGeom>
              <a:avLst/>
              <a:gdLst/>
              <a:ahLst/>
              <a:cxnLst/>
              <a:rect l="l" t="t" r="r" b="b"/>
              <a:pathLst>
                <a:path w="1981276" h="574670">
                  <a:moveTo>
                    <a:pt x="1778076" y="0"/>
                  </a:moveTo>
                  <a:lnTo>
                    <a:pt x="203200" y="0"/>
                  </a:lnTo>
                  <a:lnTo>
                    <a:pt x="0" y="287335"/>
                  </a:lnTo>
                  <a:lnTo>
                    <a:pt x="203200" y="574670"/>
                  </a:lnTo>
                  <a:lnTo>
                    <a:pt x="1778076" y="574670"/>
                  </a:lnTo>
                  <a:lnTo>
                    <a:pt x="1981276" y="287335"/>
                  </a:lnTo>
                  <a:lnTo>
                    <a:pt x="1778076" y="0"/>
                  </a:lnTo>
                  <a:close/>
                </a:path>
              </a:pathLst>
            </a:custGeom>
            <a:solidFill>
              <a:srgbClr val="86EAE9"/>
            </a:solidFill>
          </p:spPr>
        </p:sp>
        <p:sp>
          <p:nvSpPr>
            <p:cNvPr id="82" name="TextBox 82"/>
            <p:cNvSpPr txBox="1"/>
            <p:nvPr/>
          </p:nvSpPr>
          <p:spPr>
            <a:xfrm>
              <a:off x="152400" y="-66675"/>
              <a:ext cx="1676476" cy="64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>
                  <a:solidFill>
                    <a:srgbClr val="13538A"/>
                  </a:solidFill>
                  <a:latin typeface="Aileron"/>
                  <a:ea typeface="Aileron"/>
                  <a:cs typeface="Aileron"/>
                  <a:sym typeface="Aileron"/>
                </a:rPr>
                <a:t>Duygu Analizi (Sentiment Analysis)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3928709" y="3105396"/>
            <a:ext cx="1078303" cy="1078303"/>
            <a:chOff x="0" y="0"/>
            <a:chExt cx="1437738" cy="1437738"/>
          </a:xfrm>
        </p:grpSpPr>
        <p:grpSp>
          <p:nvGrpSpPr>
            <p:cNvPr id="84" name="Group 84"/>
            <p:cNvGrpSpPr/>
            <p:nvPr/>
          </p:nvGrpSpPr>
          <p:grpSpPr>
            <a:xfrm>
              <a:off x="0" y="0"/>
              <a:ext cx="1437738" cy="1437738"/>
              <a:chOff x="0" y="0"/>
              <a:chExt cx="812800" cy="8128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6EAE9"/>
              </a:solidFill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204671" y="204671"/>
              <a:ext cx="1028395" cy="1028395"/>
              <a:chOff x="0" y="0"/>
              <a:chExt cx="812800" cy="8128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90" name="Freeform 90"/>
            <p:cNvSpPr/>
            <p:nvPr/>
          </p:nvSpPr>
          <p:spPr>
            <a:xfrm>
              <a:off x="472281" y="472281"/>
              <a:ext cx="493176" cy="493176"/>
            </a:xfrm>
            <a:custGeom>
              <a:avLst/>
              <a:gdLst/>
              <a:ahLst/>
              <a:cxnLst/>
              <a:rect l="l" t="t" r="r" b="b"/>
              <a:pathLst>
                <a:path w="493176" h="493176">
                  <a:moveTo>
                    <a:pt x="0" y="0"/>
                  </a:moveTo>
                  <a:lnTo>
                    <a:pt x="493176" y="0"/>
                  </a:lnTo>
                  <a:lnTo>
                    <a:pt x="493176" y="493176"/>
                  </a:lnTo>
                  <a:lnTo>
                    <a:pt x="0" y="493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="" xmlns:asvg="http://schemas.microsoft.com/office/drawing/2016/SVG/main" r:embed="Red1402e49fe2491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1" name="Group 91"/>
          <p:cNvGrpSpPr/>
          <p:nvPr/>
        </p:nvGrpSpPr>
        <p:grpSpPr>
          <a:xfrm>
            <a:off x="641649" y="3100424"/>
            <a:ext cx="3717642" cy="1078303"/>
            <a:chOff x="0" y="0"/>
            <a:chExt cx="1981276" cy="57467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981276" cy="574670"/>
            </a:xfrm>
            <a:custGeom>
              <a:avLst/>
              <a:gdLst/>
              <a:ahLst/>
              <a:cxnLst/>
              <a:rect l="l" t="t" r="r" b="b"/>
              <a:pathLst>
                <a:path w="1981276" h="574670">
                  <a:moveTo>
                    <a:pt x="1778076" y="0"/>
                  </a:moveTo>
                  <a:lnTo>
                    <a:pt x="203200" y="0"/>
                  </a:lnTo>
                  <a:lnTo>
                    <a:pt x="0" y="287335"/>
                  </a:lnTo>
                  <a:lnTo>
                    <a:pt x="203200" y="574670"/>
                  </a:lnTo>
                  <a:lnTo>
                    <a:pt x="1778076" y="574670"/>
                  </a:lnTo>
                  <a:lnTo>
                    <a:pt x="1981276" y="287335"/>
                  </a:lnTo>
                  <a:lnTo>
                    <a:pt x="1778076" y="0"/>
                  </a:lnTo>
                  <a:close/>
                </a:path>
              </a:pathLst>
            </a:custGeom>
            <a:solidFill>
              <a:srgbClr val="86EAE9"/>
            </a:solidFill>
          </p:spPr>
        </p:sp>
        <p:sp>
          <p:nvSpPr>
            <p:cNvPr id="93" name="TextBox 93"/>
            <p:cNvSpPr txBox="1"/>
            <p:nvPr/>
          </p:nvSpPr>
          <p:spPr>
            <a:xfrm>
              <a:off x="152400" y="-66675"/>
              <a:ext cx="1676476" cy="64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>
                  <a:solidFill>
                    <a:srgbClr val="13538A"/>
                  </a:solidFill>
                  <a:latin typeface="Aileron"/>
                  <a:ea typeface="Aileron"/>
                  <a:cs typeface="Aileron"/>
                  <a:sym typeface="Aileron"/>
                </a:rPr>
                <a:t>Konuşma Tanıma (Speech Recognition)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0" y="3100424"/>
            <a:ext cx="1078303" cy="1078303"/>
            <a:chOff x="0" y="0"/>
            <a:chExt cx="1437738" cy="1437738"/>
          </a:xfrm>
        </p:grpSpPr>
        <p:grpSp>
          <p:nvGrpSpPr>
            <p:cNvPr id="95" name="Group 95"/>
            <p:cNvGrpSpPr/>
            <p:nvPr/>
          </p:nvGrpSpPr>
          <p:grpSpPr>
            <a:xfrm>
              <a:off x="0" y="0"/>
              <a:ext cx="1437738" cy="1437738"/>
              <a:chOff x="0" y="0"/>
              <a:chExt cx="812800" cy="81280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6EAE9"/>
              </a:solidFill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204671" y="204671"/>
              <a:ext cx="1028395" cy="1028395"/>
              <a:chOff x="0" y="0"/>
              <a:chExt cx="812800" cy="812800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101" name="Freeform 101"/>
            <p:cNvSpPr/>
            <p:nvPr/>
          </p:nvSpPr>
          <p:spPr>
            <a:xfrm>
              <a:off x="472281" y="472281"/>
              <a:ext cx="493176" cy="493176"/>
            </a:xfrm>
            <a:custGeom>
              <a:avLst/>
              <a:gdLst/>
              <a:ahLst/>
              <a:cxnLst/>
              <a:rect l="l" t="t" r="r" b="b"/>
              <a:pathLst>
                <a:path w="493176" h="493176">
                  <a:moveTo>
                    <a:pt x="0" y="0"/>
                  </a:moveTo>
                  <a:lnTo>
                    <a:pt x="493176" y="0"/>
                  </a:lnTo>
                  <a:lnTo>
                    <a:pt x="493176" y="493176"/>
                  </a:lnTo>
                  <a:lnTo>
                    <a:pt x="0" y="493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="" xmlns:asvg="http://schemas.microsoft.com/office/drawing/2016/SVG/main" r:embed="Red1402e49fe2491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2" name="TextBox 102"/>
          <p:cNvSpPr txBox="1"/>
          <p:nvPr/>
        </p:nvSpPr>
        <p:spPr>
          <a:xfrm>
            <a:off x="482755" y="29995"/>
            <a:ext cx="6377007" cy="15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44"/>
              </a:lnSpc>
              <a:spcBef>
                <a:spcPct val="0"/>
              </a:spcBef>
            </a:pPr>
            <a:r>
              <a:rPr lang="en-US" sz="4317" b="1" spc="2625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HANGI ALANLARDA</a:t>
            </a:r>
          </a:p>
        </p:txBody>
      </p:sp>
      <p:grpSp>
        <p:nvGrpSpPr>
          <p:cNvPr id="103" name="Group 103"/>
          <p:cNvGrpSpPr/>
          <p:nvPr/>
        </p:nvGrpSpPr>
        <p:grpSpPr>
          <a:xfrm>
            <a:off x="2228862" y="1618229"/>
            <a:ext cx="3414526" cy="582727"/>
            <a:chOff x="0" y="0"/>
            <a:chExt cx="2122466" cy="362223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2122466" cy="362223"/>
            </a:xfrm>
            <a:custGeom>
              <a:avLst/>
              <a:gdLst/>
              <a:ahLst/>
              <a:cxnLst/>
              <a:rect l="l" t="t" r="r" b="b"/>
              <a:pathLst>
                <a:path w="2122466" h="362223">
                  <a:moveTo>
                    <a:pt x="0" y="0"/>
                  </a:moveTo>
                  <a:lnTo>
                    <a:pt x="2122466" y="0"/>
                  </a:lnTo>
                  <a:lnTo>
                    <a:pt x="2122466" y="362223"/>
                  </a:lnTo>
                  <a:lnTo>
                    <a:pt x="0" y="362223"/>
                  </a:lnTo>
                  <a:close/>
                </a:path>
              </a:pathLst>
            </a:custGeom>
            <a:solidFill>
              <a:srgbClr val="102C40"/>
            </a:solidFill>
          </p:spPr>
        </p:sp>
        <p:sp>
          <p:nvSpPr>
            <p:cNvPr id="105" name="TextBox 105"/>
            <p:cNvSpPr txBox="1"/>
            <p:nvPr/>
          </p:nvSpPr>
          <p:spPr>
            <a:xfrm>
              <a:off x="0" y="-28575"/>
              <a:ext cx="2122466" cy="390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6" name="TextBox 106"/>
          <p:cNvSpPr txBox="1"/>
          <p:nvPr/>
        </p:nvSpPr>
        <p:spPr>
          <a:xfrm>
            <a:off x="2141831" y="1522979"/>
            <a:ext cx="3501558" cy="725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02"/>
              </a:lnSpc>
              <a:spcBef>
                <a:spcPct val="0"/>
              </a:spcBef>
            </a:pPr>
            <a:r>
              <a:rPr lang="en-US" sz="4144" b="1" spc="-124">
                <a:solidFill>
                  <a:srgbClr val="FAFBFB"/>
                </a:solidFill>
                <a:latin typeface="Raleway Heavy"/>
                <a:ea typeface="Raleway Heavy"/>
                <a:cs typeface="Raleway Heavy"/>
                <a:sym typeface="Raleway Heavy"/>
              </a:rPr>
              <a:t>KULLANILIR?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5904" y="183387"/>
            <a:ext cx="9449561" cy="2243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7"/>
              </a:lnSpc>
              <a:spcBef>
                <a:spcPct val="0"/>
              </a:spcBef>
            </a:pPr>
            <a:r>
              <a:rPr lang="en-US" sz="6398" b="1" spc="3890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DOĞAL DIL İŞLEMENIN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665314" y="2564363"/>
            <a:ext cx="5059706" cy="863495"/>
            <a:chOff x="0" y="0"/>
            <a:chExt cx="2122466" cy="3622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22466" cy="362223"/>
            </a:xfrm>
            <a:custGeom>
              <a:avLst/>
              <a:gdLst/>
              <a:ahLst/>
              <a:cxnLst/>
              <a:rect l="l" t="t" r="r" b="b"/>
              <a:pathLst>
                <a:path w="2122466" h="362223">
                  <a:moveTo>
                    <a:pt x="0" y="0"/>
                  </a:moveTo>
                  <a:lnTo>
                    <a:pt x="2122466" y="0"/>
                  </a:lnTo>
                  <a:lnTo>
                    <a:pt x="2122466" y="362223"/>
                  </a:lnTo>
                  <a:lnTo>
                    <a:pt x="0" y="362223"/>
                  </a:lnTo>
                  <a:close/>
                </a:path>
              </a:pathLst>
            </a:custGeom>
            <a:solidFill>
              <a:srgbClr val="102C4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22466" cy="390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536349" y="2440538"/>
            <a:ext cx="5188670" cy="105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98"/>
              </a:lnSpc>
              <a:spcBef>
                <a:spcPct val="0"/>
              </a:spcBef>
            </a:pPr>
            <a:r>
              <a:rPr lang="en-US" sz="6141" b="1" spc="-184">
                <a:solidFill>
                  <a:srgbClr val="FAFBFB"/>
                </a:solidFill>
                <a:latin typeface="Raleway Heavy"/>
                <a:ea typeface="Raleway Heavy"/>
                <a:cs typeface="Raleway Heavy"/>
                <a:sym typeface="Raleway Heavy"/>
              </a:rPr>
              <a:t>ZORLUKLARI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45190" y="4289004"/>
            <a:ext cx="5377212" cy="62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7"/>
              </a:lnSpc>
            </a:pPr>
            <a:r>
              <a:rPr lang="en-US" sz="4133" b="1" i="1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İroni ve Metafor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45190" y="6034068"/>
            <a:ext cx="4736666" cy="123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7"/>
              </a:lnSpc>
            </a:pPr>
            <a:r>
              <a:rPr lang="en-US" sz="4133" b="1" i="1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Belirsizlik (Ambiguity) İçerir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376" y="3617613"/>
            <a:ext cx="1366814" cy="150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8"/>
              </a:lnSpc>
            </a:pPr>
            <a:r>
              <a:rPr lang="en-US" sz="6676" b="1" spc="-260">
                <a:solidFill>
                  <a:srgbClr val="102C4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376" y="5668016"/>
            <a:ext cx="1366814" cy="150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8"/>
              </a:lnSpc>
            </a:pPr>
            <a:r>
              <a:rPr lang="en-US" sz="6676" b="1" spc="-260">
                <a:solidFill>
                  <a:srgbClr val="102C4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35630" y="3848634"/>
            <a:ext cx="4232561" cy="1842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7"/>
              </a:lnSpc>
            </a:pPr>
            <a:r>
              <a:rPr lang="en-US" sz="4133" b="1" i="1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Kuralları Esnektir ve İstisnaları Vardır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68816" y="3636741"/>
            <a:ext cx="1366814" cy="150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8"/>
              </a:lnSpc>
            </a:pPr>
            <a:r>
              <a:rPr lang="en-US" sz="6676" b="1" spc="-260">
                <a:solidFill>
                  <a:srgbClr val="102C4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35630" y="6125216"/>
            <a:ext cx="3271416" cy="123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77"/>
              </a:lnSpc>
              <a:spcBef>
                <a:spcPct val="0"/>
              </a:spcBef>
            </a:pPr>
            <a:r>
              <a:rPr lang="en-US" sz="4133" b="1" i="1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Eş ve Z</a:t>
            </a:r>
            <a:r>
              <a:rPr lang="en-US" sz="4133" b="1" i="1" u="none" strike="noStrike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ıt Anlamlılık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68816" y="5668016"/>
            <a:ext cx="1366814" cy="150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8"/>
              </a:lnSpc>
            </a:pPr>
            <a:r>
              <a:rPr lang="en-US" sz="6676" b="1" spc="-260">
                <a:solidFill>
                  <a:srgbClr val="102C4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6737" y="1028700"/>
            <a:ext cx="1215437" cy="121543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3697" y="0"/>
                  </a:moveTo>
                  <a:lnTo>
                    <a:pt x="749103" y="0"/>
                  </a:lnTo>
                  <a:cubicBezTo>
                    <a:pt x="784282" y="0"/>
                    <a:pt x="812800" y="28518"/>
                    <a:pt x="812800" y="63697"/>
                  </a:cubicBezTo>
                  <a:lnTo>
                    <a:pt x="812800" y="749103"/>
                  </a:lnTo>
                  <a:cubicBezTo>
                    <a:pt x="812800" y="784282"/>
                    <a:pt x="784282" y="812800"/>
                    <a:pt x="749103" y="812800"/>
                  </a:cubicBezTo>
                  <a:lnTo>
                    <a:pt x="63697" y="812800"/>
                  </a:lnTo>
                  <a:cubicBezTo>
                    <a:pt x="28518" y="812800"/>
                    <a:pt x="0" y="784282"/>
                    <a:pt x="0" y="749103"/>
                  </a:cubicBezTo>
                  <a:lnTo>
                    <a:pt x="0" y="63697"/>
                  </a:lnTo>
                  <a:cubicBezTo>
                    <a:pt x="0" y="28518"/>
                    <a:pt x="28518" y="0"/>
                    <a:pt x="63697" y="0"/>
                  </a:cubicBezTo>
                  <a:close/>
                </a:path>
              </a:pathLst>
            </a:custGeom>
            <a:solidFill>
              <a:srgbClr val="102C4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380300" y="3911455"/>
            <a:ext cx="1220069" cy="122006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76463" y="1121249"/>
            <a:ext cx="7692995" cy="1541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458" b="1" spc="-134" dirty="0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Regular Expressions - </a:t>
            </a:r>
            <a:r>
              <a:rPr lang="en-US" sz="3458" b="1" spc="-134" dirty="0" err="1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Düzenli</a:t>
            </a:r>
            <a:r>
              <a:rPr lang="en-US" sz="3458" b="1" spc="-134" dirty="0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3458" b="1" spc="-134" dirty="0" err="1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İfadeler</a:t>
            </a:r>
            <a:r>
              <a:rPr lang="en-US" sz="3458" b="1" spc="-134" dirty="0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- </a:t>
            </a:r>
            <a:r>
              <a:rPr lang="en-US" sz="3458" b="1" spc="-134" dirty="0" err="1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Örnek</a:t>
            </a:r>
            <a:r>
              <a:rPr lang="en-US" sz="3458" b="1" spc="-134" dirty="0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3458" b="1" spc="-134" dirty="0" err="1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bir</a:t>
            </a:r>
            <a:r>
              <a:rPr lang="en-US" sz="3458" b="1" spc="-134" dirty="0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3458" b="1" spc="-134" dirty="0" err="1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veri</a:t>
            </a:r>
            <a:r>
              <a:rPr lang="en-US" sz="3458" b="1" spc="-134" dirty="0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3458" b="1" spc="-134" dirty="0" err="1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ve</a:t>
            </a:r>
            <a:r>
              <a:rPr lang="en-US" sz="3458" b="1" spc="-134" dirty="0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3458" b="1" spc="-134" dirty="0" err="1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uygulaması</a:t>
            </a:r>
            <a:endParaRPr lang="en-US" sz="3458" b="1" spc="-134" dirty="0">
              <a:solidFill>
                <a:srgbClr val="102C40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l">
              <a:lnSpc>
                <a:spcPts val="4080"/>
              </a:lnSpc>
            </a:pPr>
            <a:endParaRPr lang="en-US" sz="3458" b="1" spc="-134" dirty="0">
              <a:solidFill>
                <a:srgbClr val="102C40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43927" y="2497771"/>
            <a:ext cx="7525531" cy="542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Merhaba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benim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adım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Ali. E-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posta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adresim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ali.veli@example.com.tr'dir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Telefon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numaram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555 123-45-67. 1995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yılında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doğdum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ve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şu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an 2024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yılındayız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 Web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sitem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Makine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öğrenimi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tekniklerini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kullanarak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,</a:t>
            </a:r>
          </a:p>
          <a:p>
            <a:pPr algn="l">
              <a:lnSpc>
                <a:spcPts val="3303"/>
              </a:lnSpc>
            </a:pP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işletmenizin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büyük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veri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setlerinden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anlamlı</a:t>
            </a:r>
            <a:endParaRPr lang="en-US" sz="2799" b="1" u="sng" spc="-109" dirty="0">
              <a:solidFill>
                <a:srgbClr val="102C40"/>
              </a:solidFill>
              <a:latin typeface="Raleway Medium"/>
              <a:ea typeface="Raleway Medium"/>
              <a:cs typeface="Raleway Medium"/>
              <a:sym typeface="Raleway Medium"/>
              <a:hlinkClick r:id="rId3" tooltip="https://www.ornek-site.com"/>
            </a:endParaRPr>
          </a:p>
          <a:p>
            <a:pPr algn="l">
              <a:lnSpc>
                <a:spcPts val="3303"/>
              </a:lnSpc>
            </a:pP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bilgiler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çıkarmasını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sağlıyoruz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. Bu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sayede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,</a:t>
            </a:r>
          </a:p>
          <a:p>
            <a:pPr algn="l">
              <a:lnSpc>
                <a:spcPts val="3303"/>
              </a:lnSpc>
            </a:pP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işletmenizin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geçmiş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verilerinden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gelecekteki</a:t>
            </a:r>
            <a:endParaRPr lang="en-US" sz="2799" b="1" u="sng" spc="-109" dirty="0">
              <a:solidFill>
                <a:srgbClr val="102C40"/>
              </a:solidFill>
              <a:latin typeface="Raleway Medium"/>
              <a:ea typeface="Raleway Medium"/>
              <a:cs typeface="Raleway Medium"/>
              <a:sym typeface="Raleway Medium"/>
              <a:hlinkClick r:id="rId3" tooltip="https://www.ornek-site.com"/>
            </a:endParaRPr>
          </a:p>
          <a:p>
            <a:pPr algn="l">
              <a:lnSpc>
                <a:spcPts val="3303"/>
              </a:lnSpc>
            </a:pP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trendleri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tahmin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etmesine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yardımcı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 </a:t>
            </a:r>
            <a:r>
              <a:rPr lang="en-US" sz="2799" b="1" u="sng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olabiliriz</a:t>
            </a:r>
            <a:r>
              <a:rPr lang="en-US" sz="2799" b="1" u="sng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tooltip="https://www.ornek-site.com"/>
              </a:rPr>
              <a:t>.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 Bu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bir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deneme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metnidir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ve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NLP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ile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ilgileniyorum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İkinci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bir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e-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posta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adresi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ise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test_kullanici@google.com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olabilir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Başka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bir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telefon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799" b="1" spc="-109" dirty="0" err="1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numarası</a:t>
            </a:r>
            <a:r>
              <a:rPr lang="en-US" sz="2799" b="1" spc="-109" dirty="0">
                <a:solidFill>
                  <a:srgbClr val="102C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da 532 987 6543'tür.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384932" y="2244137"/>
            <a:ext cx="1215437" cy="121543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380300" y="7246517"/>
            <a:ext cx="1220069" cy="122006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384932" y="5579199"/>
            <a:ext cx="1215437" cy="121543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848020" y="2369144"/>
            <a:ext cx="3939798" cy="691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4"/>
              </a:lnSpc>
              <a:spcBef>
                <a:spcPct val="0"/>
              </a:spcBef>
            </a:pPr>
            <a:r>
              <a:rPr lang="en-US" sz="3843" dirty="0" err="1">
                <a:solidFill>
                  <a:srgbClr val="102C40"/>
                </a:solidFill>
                <a:latin typeface="Aileron"/>
                <a:ea typeface="Aileron"/>
                <a:cs typeface="Aileron"/>
                <a:sym typeface="Aileron"/>
              </a:rPr>
              <a:t>Telefon</a:t>
            </a:r>
            <a:r>
              <a:rPr lang="en-US" sz="3843" dirty="0">
                <a:solidFill>
                  <a:srgbClr val="102C4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3843" dirty="0" err="1">
                <a:solidFill>
                  <a:srgbClr val="102C40"/>
                </a:solidFill>
                <a:latin typeface="Aileron"/>
                <a:ea typeface="Aileron"/>
                <a:cs typeface="Aileron"/>
                <a:sym typeface="Aileron"/>
              </a:rPr>
              <a:t>Numarasıı</a:t>
            </a:r>
            <a:endParaRPr lang="en-US" sz="3843" dirty="0">
              <a:solidFill>
                <a:srgbClr val="102C4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848020" y="4043715"/>
            <a:ext cx="1634159" cy="691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4"/>
              </a:lnSpc>
              <a:spcBef>
                <a:spcPct val="0"/>
              </a:spcBef>
            </a:pPr>
            <a:r>
              <a:rPr lang="en-US" sz="3843" dirty="0">
                <a:solidFill>
                  <a:srgbClr val="102C40"/>
                </a:solidFill>
                <a:latin typeface="Aileron"/>
                <a:ea typeface="Aileron"/>
                <a:cs typeface="Aileron"/>
                <a:sym typeface="Aileron"/>
              </a:rPr>
              <a:t>E-Posta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41576" y="5784094"/>
            <a:ext cx="2909518" cy="691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4"/>
              </a:lnSpc>
              <a:spcBef>
                <a:spcPct val="0"/>
              </a:spcBef>
            </a:pPr>
            <a:r>
              <a:rPr lang="en-US" sz="3843" dirty="0" err="1">
                <a:solidFill>
                  <a:srgbClr val="102C40"/>
                </a:solidFill>
                <a:latin typeface="Aileron"/>
                <a:ea typeface="Aileron"/>
                <a:cs typeface="Aileron"/>
                <a:sym typeface="Aileron"/>
              </a:rPr>
              <a:t>İkinci</a:t>
            </a:r>
            <a:r>
              <a:rPr lang="en-US" sz="3843" dirty="0">
                <a:solidFill>
                  <a:srgbClr val="102C40"/>
                </a:solidFill>
                <a:latin typeface="Aileron"/>
                <a:ea typeface="Aileron"/>
                <a:cs typeface="Aileron"/>
                <a:sym typeface="Aileron"/>
              </a:rPr>
              <a:t> E-</a:t>
            </a:r>
            <a:r>
              <a:rPr lang="en-US" sz="3843" dirty="0" err="1">
                <a:solidFill>
                  <a:srgbClr val="102C40"/>
                </a:solidFill>
                <a:latin typeface="Aileron"/>
                <a:ea typeface="Aileron"/>
                <a:cs typeface="Aileron"/>
                <a:sym typeface="Aileron"/>
              </a:rPr>
              <a:t>posta</a:t>
            </a:r>
            <a:endParaRPr lang="en-US" sz="3843" dirty="0">
              <a:solidFill>
                <a:srgbClr val="102C4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848020" y="7453727"/>
            <a:ext cx="1727760" cy="691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4"/>
              </a:lnSpc>
              <a:spcBef>
                <a:spcPct val="0"/>
              </a:spcBef>
            </a:pPr>
            <a:r>
              <a:rPr lang="en-US" sz="3843" dirty="0" err="1">
                <a:solidFill>
                  <a:srgbClr val="102C40"/>
                </a:solidFill>
                <a:latin typeface="Aileron"/>
                <a:ea typeface="Aileron"/>
                <a:cs typeface="Aileron"/>
                <a:sym typeface="Aileron"/>
              </a:rPr>
              <a:t>Yıl</a:t>
            </a:r>
            <a:r>
              <a:rPr lang="en-US" sz="3843" dirty="0">
                <a:solidFill>
                  <a:srgbClr val="102C4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3843" dirty="0" err="1">
                <a:solidFill>
                  <a:srgbClr val="102C40"/>
                </a:solidFill>
                <a:latin typeface="Aileron"/>
                <a:ea typeface="Aileron"/>
                <a:cs typeface="Aileron"/>
                <a:sym typeface="Aileron"/>
              </a:rPr>
              <a:t>Tarih</a:t>
            </a:r>
            <a:endParaRPr lang="en-US" sz="3843" dirty="0">
              <a:solidFill>
                <a:srgbClr val="102C4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441765" y="8487535"/>
            <a:ext cx="2655261" cy="63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0"/>
              </a:lnSpc>
            </a:pPr>
            <a:r>
              <a:rPr lang="en-US" sz="2494" b="1" spc="-64">
                <a:solidFill>
                  <a:srgbClr val="102C40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Makine Öğrenimi</a:t>
            </a:r>
          </a:p>
          <a:p>
            <a:pPr algn="ctr">
              <a:lnSpc>
                <a:spcPts val="2420"/>
              </a:lnSpc>
            </a:pPr>
            <a:r>
              <a:rPr lang="en-US" sz="2494" b="1" spc="-64">
                <a:solidFill>
                  <a:srgbClr val="102C40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Uzmanı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86285" y="8487535"/>
            <a:ext cx="2337739" cy="63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20"/>
              </a:lnSpc>
              <a:spcBef>
                <a:spcPct val="0"/>
              </a:spcBef>
            </a:pPr>
            <a:r>
              <a:rPr lang="en-US" sz="2494" b="1" u="none" strike="noStrike" spc="-64">
                <a:solidFill>
                  <a:srgbClr val="102C40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Veri</a:t>
            </a:r>
          </a:p>
          <a:p>
            <a:pPr marL="0" lvl="0" indent="0" algn="ctr">
              <a:lnSpc>
                <a:spcPts val="2420"/>
              </a:lnSpc>
              <a:spcBef>
                <a:spcPct val="0"/>
              </a:spcBef>
            </a:pPr>
            <a:r>
              <a:rPr lang="en-US" sz="2494" b="1" u="none" strike="noStrike" spc="-64">
                <a:solidFill>
                  <a:srgbClr val="102C40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Bilimcisi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18637" y="8487535"/>
            <a:ext cx="2337739" cy="63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0"/>
              </a:lnSpc>
            </a:pPr>
            <a:r>
              <a:rPr lang="en-US" sz="2494" b="1" spc="-64">
                <a:solidFill>
                  <a:srgbClr val="102C40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Doğal Dil</a:t>
            </a:r>
          </a:p>
          <a:p>
            <a:pPr marL="0" lvl="0" indent="0" algn="ctr">
              <a:lnSpc>
                <a:spcPts val="2420"/>
              </a:lnSpc>
              <a:spcBef>
                <a:spcPct val="0"/>
              </a:spcBef>
            </a:pPr>
            <a:r>
              <a:rPr lang="en-US" sz="2494" b="1" spc="-64">
                <a:solidFill>
                  <a:srgbClr val="102C40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İşleme Uzmanı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53049" y="9177630"/>
            <a:ext cx="1896144" cy="26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99"/>
              </a:lnSpc>
              <a:spcBef>
                <a:spcPct val="0"/>
              </a:spcBef>
            </a:pPr>
            <a:r>
              <a:rPr lang="en-US" sz="1694" b="1" spc="-44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Güler TOMBUL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38808" y="9177630"/>
            <a:ext cx="1896144" cy="26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99"/>
              </a:lnSpc>
              <a:spcBef>
                <a:spcPct val="0"/>
              </a:spcBef>
            </a:pPr>
            <a:r>
              <a:rPr lang="en-US" sz="1694" b="1" spc="-44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Can PEKMEZCİ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71160" y="9177630"/>
            <a:ext cx="1896144" cy="26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99"/>
              </a:lnSpc>
              <a:spcBef>
                <a:spcPct val="0"/>
              </a:spcBef>
            </a:pPr>
            <a:r>
              <a:rPr lang="en-US" sz="1694" b="1" spc="-44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Harun DÜRÜST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10710" y="3615837"/>
            <a:ext cx="1220069" cy="122006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5342" y="1948519"/>
            <a:ext cx="1215437" cy="121543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10710" y="6950899"/>
            <a:ext cx="1220069" cy="122006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15342" y="5283581"/>
            <a:ext cx="1215437" cy="121543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89468" y="2253526"/>
            <a:ext cx="7531717" cy="91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5"/>
              </a:lnSpc>
            </a:pPr>
            <a:r>
              <a:rPr lang="en-US" sz="2463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`.` : Herhangi bir tek karakter (yeni satır hariç).</a:t>
            </a:r>
          </a:p>
          <a:p>
            <a:pPr algn="ctr">
              <a:lnSpc>
                <a:spcPts val="3695"/>
              </a:lnSpc>
              <a:spcBef>
                <a:spcPct val="0"/>
              </a:spcBef>
            </a:pPr>
            <a:endParaRPr lang="en-US" sz="2463">
              <a:solidFill>
                <a:srgbClr val="FAFBF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415342" y="8484086"/>
            <a:ext cx="1220069" cy="1220069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01278" y="3842425"/>
            <a:ext cx="7842722" cy="1374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5"/>
              </a:lnSpc>
            </a:pP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`*` :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Kendinden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önceki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karakterin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0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veya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daha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fazla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tekrarı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</a:p>
          <a:p>
            <a:pPr algn="ctr">
              <a:lnSpc>
                <a:spcPts val="3695"/>
              </a:lnSpc>
              <a:spcBef>
                <a:spcPct val="0"/>
              </a:spcBef>
            </a:pPr>
            <a:endParaRPr lang="en-US" sz="2463" dirty="0">
              <a:solidFill>
                <a:srgbClr val="FAFBF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56781" y="5509743"/>
            <a:ext cx="7531717" cy="91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5"/>
              </a:lnSpc>
            </a:pP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`?` :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Kendinden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önceki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karakterin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0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veya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1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tekrarı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</a:p>
          <a:p>
            <a:pPr algn="ctr">
              <a:lnSpc>
                <a:spcPts val="3695"/>
              </a:lnSpc>
              <a:spcBef>
                <a:spcPct val="0"/>
              </a:spcBef>
            </a:pPr>
            <a:endParaRPr lang="en-US" sz="2463" dirty="0">
              <a:solidFill>
                <a:srgbClr val="FAFBF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25376" y="7232444"/>
            <a:ext cx="7531717" cy="91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5"/>
              </a:lnSpc>
            </a:pP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`\d` :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Rakamları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temsil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eder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( [0-9]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ile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aynı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).</a:t>
            </a:r>
          </a:p>
          <a:p>
            <a:pPr algn="ctr">
              <a:lnSpc>
                <a:spcPts val="3695"/>
              </a:lnSpc>
              <a:spcBef>
                <a:spcPct val="0"/>
              </a:spcBef>
            </a:pPr>
            <a:endParaRPr lang="en-US" sz="2463" dirty="0">
              <a:solidFill>
                <a:srgbClr val="FAFBF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25376" y="8854347"/>
            <a:ext cx="7531717" cy="91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5"/>
              </a:lnSpc>
            </a:pP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`\D` :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Rakam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olmayan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her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şeyi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temsil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eder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</a:p>
          <a:p>
            <a:pPr algn="ctr">
              <a:lnSpc>
                <a:spcPts val="3695"/>
              </a:lnSpc>
              <a:spcBef>
                <a:spcPct val="0"/>
              </a:spcBef>
            </a:pPr>
            <a:endParaRPr lang="en-US" sz="2463" dirty="0">
              <a:solidFill>
                <a:srgbClr val="FAFBF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7588147" y="7602367"/>
            <a:ext cx="2655261" cy="63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0"/>
              </a:lnSpc>
            </a:pPr>
            <a:r>
              <a:rPr lang="en-US" sz="2494" b="1" spc="-64" dirty="0" err="1">
                <a:solidFill>
                  <a:srgbClr val="102C40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Makine</a:t>
            </a:r>
            <a:r>
              <a:rPr lang="en-US" sz="2494" b="1" spc="-64" dirty="0">
                <a:solidFill>
                  <a:srgbClr val="102C40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 </a:t>
            </a:r>
            <a:r>
              <a:rPr lang="en-US" sz="2494" b="1" spc="-64" dirty="0" err="1">
                <a:solidFill>
                  <a:srgbClr val="102C40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Öğrenimi</a:t>
            </a:r>
            <a:endParaRPr lang="en-US" sz="2494" b="1" spc="-64" dirty="0">
              <a:solidFill>
                <a:srgbClr val="102C40"/>
              </a:solidFill>
              <a:latin typeface="Raleway Ultra-Bold"/>
              <a:ea typeface="Raleway Ultra-Bold"/>
              <a:cs typeface="Raleway Ultra-Bold"/>
              <a:sym typeface="Raleway Ultra-Bold"/>
            </a:endParaRPr>
          </a:p>
          <a:p>
            <a:pPr algn="ctr">
              <a:lnSpc>
                <a:spcPts val="2420"/>
              </a:lnSpc>
            </a:pPr>
            <a:r>
              <a:rPr lang="en-US" sz="2494" b="1" spc="-64" dirty="0" err="1">
                <a:solidFill>
                  <a:srgbClr val="102C40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Uzmanı</a:t>
            </a:r>
            <a:endParaRPr lang="en-US" sz="2494" b="1" spc="-64" dirty="0">
              <a:solidFill>
                <a:srgbClr val="102C40"/>
              </a:solidFill>
              <a:latin typeface="Raleway Ultra-Bold"/>
              <a:ea typeface="Raleway Ultra-Bold"/>
              <a:cs typeface="Raleway Ultra-Bold"/>
              <a:sym typeface="Raleway Ultra-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4432668" y="8487535"/>
            <a:ext cx="2337739" cy="63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20"/>
              </a:lnSpc>
              <a:spcBef>
                <a:spcPct val="0"/>
              </a:spcBef>
            </a:pPr>
            <a:r>
              <a:rPr lang="en-US" sz="2494" b="1" u="none" strike="noStrike" spc="-64">
                <a:solidFill>
                  <a:srgbClr val="102C40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Veri</a:t>
            </a:r>
          </a:p>
          <a:p>
            <a:pPr marL="0" lvl="0" indent="0" algn="ctr">
              <a:lnSpc>
                <a:spcPts val="2420"/>
              </a:lnSpc>
              <a:spcBef>
                <a:spcPct val="0"/>
              </a:spcBef>
            </a:pPr>
            <a:r>
              <a:rPr lang="en-US" sz="2494" b="1" u="none" strike="noStrike" spc="-64">
                <a:solidFill>
                  <a:srgbClr val="102C40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Bilimcisi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999432" y="8292462"/>
            <a:ext cx="1896144" cy="26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99"/>
              </a:lnSpc>
              <a:spcBef>
                <a:spcPct val="0"/>
              </a:spcBef>
            </a:pPr>
            <a:r>
              <a:rPr lang="en-US" sz="1694" b="1" spc="-44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Güler TOMBUL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685191" y="9177630"/>
            <a:ext cx="1896144" cy="26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99"/>
              </a:lnSpc>
              <a:spcBef>
                <a:spcPct val="0"/>
              </a:spcBef>
            </a:pPr>
            <a:r>
              <a:rPr lang="en-US" sz="1694" b="1" spc="-44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Can PEKMEZCİ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277673" y="3581186"/>
            <a:ext cx="1220069" cy="1220069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282305" y="1913869"/>
            <a:ext cx="1215437" cy="1215437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277673" y="6916248"/>
            <a:ext cx="1220069" cy="1220069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282305" y="5248930"/>
            <a:ext cx="1215437" cy="1215437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0056431" y="2229819"/>
            <a:ext cx="7531717" cy="1374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5"/>
              </a:lnSpc>
            </a:pP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`\w` :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Harf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,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rakam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veya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alt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çizgiyi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temsil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eder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 (</a:t>
            </a:r>
            <a:r>
              <a:rPr lang="en-US" sz="2463" dirty="0" err="1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Alfanümerik</a:t>
            </a:r>
            <a:r>
              <a:rPr lang="en-US" sz="2463" dirty="0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).</a:t>
            </a:r>
          </a:p>
          <a:p>
            <a:pPr algn="ctr">
              <a:lnSpc>
                <a:spcPts val="3695"/>
              </a:lnSpc>
              <a:spcBef>
                <a:spcPct val="0"/>
              </a:spcBef>
            </a:pPr>
            <a:endParaRPr lang="en-US" sz="2463" dirty="0">
              <a:solidFill>
                <a:srgbClr val="FAFBF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9282305" y="8449435"/>
            <a:ext cx="1220069" cy="1220069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8434951" y="3842425"/>
            <a:ext cx="7531717" cy="91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5"/>
              </a:lnSpc>
            </a:pPr>
            <a:r>
              <a:rPr lang="en-US" sz="2463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`\W` : `\w`'nin tersi.</a:t>
            </a:r>
          </a:p>
          <a:p>
            <a:pPr algn="ctr">
              <a:lnSpc>
                <a:spcPts val="3695"/>
              </a:lnSpc>
              <a:spcBef>
                <a:spcPct val="0"/>
              </a:spcBef>
            </a:pPr>
            <a:endParaRPr lang="en-US" sz="2463">
              <a:solidFill>
                <a:srgbClr val="FAFBF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0756283" y="5541767"/>
            <a:ext cx="7243148" cy="1374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5"/>
              </a:lnSpc>
            </a:pPr>
            <a:r>
              <a:rPr lang="en-US" sz="2463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`\s` : Boşluk karakterlerini temsil eder (boşluk, tab, yeni satır).</a:t>
            </a:r>
          </a:p>
          <a:p>
            <a:pPr algn="ctr">
              <a:lnSpc>
                <a:spcPts val="3695"/>
              </a:lnSpc>
              <a:spcBef>
                <a:spcPct val="0"/>
              </a:spcBef>
            </a:pPr>
            <a:endParaRPr lang="en-US" sz="2463">
              <a:solidFill>
                <a:srgbClr val="FAFBF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0919332" y="7053363"/>
            <a:ext cx="7368668" cy="1374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5"/>
              </a:lnSpc>
            </a:pPr>
            <a:r>
              <a:rPr lang="en-US" sz="2463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`[]` : Köşeli parantez içindeki karakterlerden herhangi biri. Örn: `[abc]` -&gt; a, b veya c.</a:t>
            </a:r>
          </a:p>
          <a:p>
            <a:pPr algn="ctr">
              <a:lnSpc>
                <a:spcPts val="3695"/>
              </a:lnSpc>
              <a:spcBef>
                <a:spcPct val="0"/>
              </a:spcBef>
            </a:pPr>
            <a:endParaRPr lang="en-US" sz="2463">
              <a:solidFill>
                <a:srgbClr val="FAFBF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9727583" y="8793724"/>
            <a:ext cx="7531717" cy="91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5"/>
              </a:lnSpc>
            </a:pPr>
            <a:r>
              <a:rPr lang="en-US" sz="2463">
                <a:solidFill>
                  <a:srgbClr val="FAFBFB"/>
                </a:solidFill>
                <a:latin typeface="Aileron"/>
                <a:ea typeface="Aileron"/>
                <a:cs typeface="Aileron"/>
                <a:sym typeface="Aileron"/>
              </a:rPr>
              <a:t>`()` : Gruplama yapmak için kullanılır.</a:t>
            </a:r>
          </a:p>
          <a:p>
            <a:pPr algn="ctr">
              <a:lnSpc>
                <a:spcPts val="3695"/>
              </a:lnSpc>
              <a:spcBef>
                <a:spcPct val="0"/>
              </a:spcBef>
            </a:pPr>
            <a:endParaRPr lang="en-US" sz="2463">
              <a:solidFill>
                <a:srgbClr val="FAFBF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-613368" y="367889"/>
            <a:ext cx="7531717" cy="1132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95"/>
              </a:lnSpc>
              <a:spcBef>
                <a:spcPct val="0"/>
              </a:spcBef>
            </a:pPr>
            <a:r>
              <a:rPr lang="en-US" sz="6263" b="1">
                <a:solidFill>
                  <a:srgbClr val="FAFBFB"/>
                </a:solidFill>
                <a:latin typeface="Aileron Bold"/>
                <a:ea typeface="Aileron Bold"/>
                <a:cs typeface="Aileron Bold"/>
                <a:sym typeface="Aileron Bold"/>
              </a:rPr>
              <a:t>Regex ifadeler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49818" y="1693429"/>
            <a:ext cx="11487858" cy="96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8"/>
              </a:lnSpc>
              <a:spcBef>
                <a:spcPct val="0"/>
              </a:spcBef>
            </a:pPr>
            <a:r>
              <a:rPr lang="en-US" sz="5506" b="1" spc="3347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TOKENIZASYON</a:t>
            </a:r>
          </a:p>
        </p:txBody>
      </p:sp>
      <p:sp>
        <p:nvSpPr>
          <p:cNvPr id="4" name="AutoShape 4"/>
          <p:cNvSpPr/>
          <p:nvPr/>
        </p:nvSpPr>
        <p:spPr>
          <a:xfrm flipH="1" flipV="1">
            <a:off x="8493747" y="2655229"/>
            <a:ext cx="0" cy="723900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2152504" y="3379129"/>
            <a:ext cx="6322193" cy="0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2133454" y="3379129"/>
            <a:ext cx="0" cy="933698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28700" y="4331877"/>
            <a:ext cx="3615760" cy="1047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5"/>
              </a:lnSpc>
            </a:pPr>
            <a:r>
              <a:rPr lang="en-US" sz="3479" b="1" i="1" spc="-135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Word Level Tokenization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2817" y="7671043"/>
            <a:ext cx="7703177" cy="62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7"/>
              </a:lnSpc>
            </a:pPr>
            <a:r>
              <a:rPr lang="en-US" sz="4133" b="1" i="1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 iyi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8493747" y="3360079"/>
            <a:ext cx="6322193" cy="0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4850410" y="3379129"/>
            <a:ext cx="17235" cy="962273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3059766" y="4451911"/>
            <a:ext cx="3615760" cy="1047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5"/>
              </a:lnSpc>
            </a:pPr>
            <a:r>
              <a:rPr lang="en-US" sz="3479" b="1" i="1" spc="-135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Charechter Level Tokenization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2817" y="6926041"/>
            <a:ext cx="7703177" cy="62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7"/>
              </a:lnSpc>
            </a:pPr>
            <a:r>
              <a:rPr lang="en-US" sz="4133" b="1" i="1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en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181038"/>
            <a:ext cx="2628566" cy="62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7"/>
              </a:lnSpc>
            </a:pPr>
            <a:r>
              <a:rPr lang="en-US" sz="4133" b="1" i="1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evrenin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2817" y="5498974"/>
            <a:ext cx="2628566" cy="62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7"/>
              </a:lnSpc>
            </a:pPr>
            <a:r>
              <a:rPr lang="en-US" sz="4133" b="1" i="1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Keşfedilmiş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2817" y="8416046"/>
            <a:ext cx="7703177" cy="62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7"/>
              </a:lnSpc>
            </a:pPr>
            <a:r>
              <a:rPr lang="en-US" sz="4133" b="1" i="1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kulübü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9258300"/>
            <a:ext cx="7703177" cy="62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7"/>
              </a:lnSpc>
            </a:pPr>
            <a:r>
              <a:rPr lang="en-US" sz="4133" b="1" i="1" spc="-161">
                <a:solidFill>
                  <a:srgbClr val="102C4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.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0" y="5518024"/>
            <a:ext cx="6322193" cy="0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flipV="1">
            <a:off x="11965807" y="5479924"/>
            <a:ext cx="6322193" cy="0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2157195" y="5965699"/>
            <a:ext cx="5861261" cy="174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912" b="1" i="1" spc="-152">
                <a:solidFill>
                  <a:srgbClr val="102C4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k, e, ş, f, e, d, i, l, m, i, ş, e, v, r, e, n, i, n, e, n, i ,y, i, k, u , ü, l, ü, b, ü, 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8293" y="241021"/>
            <a:ext cx="13349087" cy="110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7"/>
              </a:lnSpc>
              <a:spcBef>
                <a:spcPct val="0"/>
              </a:spcBef>
            </a:pPr>
            <a:r>
              <a:rPr lang="en-US" sz="6398" b="1" spc="3890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VERI ÖN IŞLEME</a:t>
            </a:r>
          </a:p>
        </p:txBody>
      </p:sp>
      <p:sp>
        <p:nvSpPr>
          <p:cNvPr id="21" name="AutoShape 21"/>
          <p:cNvSpPr/>
          <p:nvPr/>
        </p:nvSpPr>
        <p:spPr>
          <a:xfrm flipV="1">
            <a:off x="0" y="1348113"/>
            <a:ext cx="18288000" cy="0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28214" y="4043048"/>
            <a:ext cx="4521508" cy="1100452"/>
            <a:chOff x="0" y="0"/>
            <a:chExt cx="1190850" cy="2898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90850" cy="289831"/>
            </a:xfrm>
            <a:custGeom>
              <a:avLst/>
              <a:gdLst/>
              <a:ahLst/>
              <a:cxnLst/>
              <a:rect l="l" t="t" r="r" b="b"/>
              <a:pathLst>
                <a:path w="1190850" h="289831">
                  <a:moveTo>
                    <a:pt x="87324" y="0"/>
                  </a:moveTo>
                  <a:lnTo>
                    <a:pt x="1103526" y="0"/>
                  </a:lnTo>
                  <a:cubicBezTo>
                    <a:pt x="1151754" y="0"/>
                    <a:pt x="1190850" y="39096"/>
                    <a:pt x="1190850" y="87324"/>
                  </a:cubicBezTo>
                  <a:lnTo>
                    <a:pt x="1190850" y="202507"/>
                  </a:lnTo>
                  <a:cubicBezTo>
                    <a:pt x="1190850" y="225666"/>
                    <a:pt x="1181650" y="247878"/>
                    <a:pt x="1165273" y="264254"/>
                  </a:cubicBezTo>
                  <a:cubicBezTo>
                    <a:pt x="1148897" y="280631"/>
                    <a:pt x="1126685" y="289831"/>
                    <a:pt x="1103526" y="289831"/>
                  </a:cubicBezTo>
                  <a:lnTo>
                    <a:pt x="87324" y="289831"/>
                  </a:lnTo>
                  <a:cubicBezTo>
                    <a:pt x="64165" y="289831"/>
                    <a:pt x="41953" y="280631"/>
                    <a:pt x="25577" y="264254"/>
                  </a:cubicBezTo>
                  <a:cubicBezTo>
                    <a:pt x="9200" y="247878"/>
                    <a:pt x="0" y="225666"/>
                    <a:pt x="0" y="202507"/>
                  </a:cubicBezTo>
                  <a:lnTo>
                    <a:pt x="0" y="87324"/>
                  </a:lnTo>
                  <a:cubicBezTo>
                    <a:pt x="0" y="64165"/>
                    <a:pt x="9200" y="41953"/>
                    <a:pt x="25577" y="25577"/>
                  </a:cubicBezTo>
                  <a:cubicBezTo>
                    <a:pt x="41953" y="9200"/>
                    <a:pt x="64165" y="0"/>
                    <a:pt x="87324" y="0"/>
                  </a:cubicBezTo>
                  <a:close/>
                </a:path>
              </a:pathLst>
            </a:custGeom>
            <a:solidFill>
              <a:srgbClr val="86EAE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1190850" cy="394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35"/>
                </a:lnSpc>
              </a:pPr>
              <a:r>
                <a:rPr lang="en-US" sz="3423" b="1" dirty="0" err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Vizualiting</a:t>
              </a:r>
              <a:r>
                <a:rPr lang="en-US" sz="3423" b="1" dirty="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  | verb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461661" y="1704639"/>
            <a:ext cx="4862284" cy="15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44"/>
              </a:lnSpc>
              <a:spcBef>
                <a:spcPct val="0"/>
              </a:spcBef>
            </a:pPr>
            <a:r>
              <a:rPr lang="en-US" sz="4317" b="1" spc="2625" dirty="0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POS TAGGING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150477" y="4043048"/>
            <a:ext cx="4521508" cy="1100452"/>
            <a:chOff x="0" y="0"/>
            <a:chExt cx="1190850" cy="2898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90850" cy="289831"/>
            </a:xfrm>
            <a:custGeom>
              <a:avLst/>
              <a:gdLst/>
              <a:ahLst/>
              <a:cxnLst/>
              <a:rect l="l" t="t" r="r" b="b"/>
              <a:pathLst>
                <a:path w="1190850" h="289831">
                  <a:moveTo>
                    <a:pt x="87324" y="0"/>
                  </a:moveTo>
                  <a:lnTo>
                    <a:pt x="1103526" y="0"/>
                  </a:lnTo>
                  <a:cubicBezTo>
                    <a:pt x="1151754" y="0"/>
                    <a:pt x="1190850" y="39096"/>
                    <a:pt x="1190850" y="87324"/>
                  </a:cubicBezTo>
                  <a:lnTo>
                    <a:pt x="1190850" y="202507"/>
                  </a:lnTo>
                  <a:cubicBezTo>
                    <a:pt x="1190850" y="225666"/>
                    <a:pt x="1181650" y="247878"/>
                    <a:pt x="1165273" y="264254"/>
                  </a:cubicBezTo>
                  <a:cubicBezTo>
                    <a:pt x="1148897" y="280631"/>
                    <a:pt x="1126685" y="289831"/>
                    <a:pt x="1103526" y="289831"/>
                  </a:cubicBezTo>
                  <a:lnTo>
                    <a:pt x="87324" y="289831"/>
                  </a:lnTo>
                  <a:cubicBezTo>
                    <a:pt x="64165" y="289831"/>
                    <a:pt x="41953" y="280631"/>
                    <a:pt x="25577" y="264254"/>
                  </a:cubicBezTo>
                  <a:cubicBezTo>
                    <a:pt x="9200" y="247878"/>
                    <a:pt x="0" y="225666"/>
                    <a:pt x="0" y="202507"/>
                  </a:cubicBezTo>
                  <a:lnTo>
                    <a:pt x="0" y="87324"/>
                  </a:lnTo>
                  <a:cubicBezTo>
                    <a:pt x="0" y="64165"/>
                    <a:pt x="9200" y="41953"/>
                    <a:pt x="25577" y="25577"/>
                  </a:cubicBezTo>
                  <a:cubicBezTo>
                    <a:pt x="41953" y="9200"/>
                    <a:pt x="64165" y="0"/>
                    <a:pt x="87324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04775"/>
              <a:ext cx="1190850" cy="394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35"/>
                </a:lnSpc>
              </a:pPr>
              <a:r>
                <a:rPr lang="en-US" sz="3423" b="1" dirty="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Part of Speech | noun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737792" y="4043048"/>
            <a:ext cx="4521508" cy="1100452"/>
            <a:chOff x="0" y="0"/>
            <a:chExt cx="1190850" cy="2898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90850" cy="289831"/>
            </a:xfrm>
            <a:custGeom>
              <a:avLst/>
              <a:gdLst/>
              <a:ahLst/>
              <a:cxnLst/>
              <a:rect l="l" t="t" r="r" b="b"/>
              <a:pathLst>
                <a:path w="1190850" h="289831">
                  <a:moveTo>
                    <a:pt x="87324" y="0"/>
                  </a:moveTo>
                  <a:lnTo>
                    <a:pt x="1103526" y="0"/>
                  </a:lnTo>
                  <a:cubicBezTo>
                    <a:pt x="1151754" y="0"/>
                    <a:pt x="1190850" y="39096"/>
                    <a:pt x="1190850" y="87324"/>
                  </a:cubicBezTo>
                  <a:lnTo>
                    <a:pt x="1190850" y="202507"/>
                  </a:lnTo>
                  <a:cubicBezTo>
                    <a:pt x="1190850" y="225666"/>
                    <a:pt x="1181650" y="247878"/>
                    <a:pt x="1165273" y="264254"/>
                  </a:cubicBezTo>
                  <a:cubicBezTo>
                    <a:pt x="1148897" y="280631"/>
                    <a:pt x="1126685" y="289831"/>
                    <a:pt x="1103526" y="289831"/>
                  </a:cubicBezTo>
                  <a:lnTo>
                    <a:pt x="87324" y="289831"/>
                  </a:lnTo>
                  <a:cubicBezTo>
                    <a:pt x="64165" y="289831"/>
                    <a:pt x="41953" y="280631"/>
                    <a:pt x="25577" y="264254"/>
                  </a:cubicBezTo>
                  <a:cubicBezTo>
                    <a:pt x="9200" y="247878"/>
                    <a:pt x="0" y="225666"/>
                    <a:pt x="0" y="202507"/>
                  </a:cubicBezTo>
                  <a:lnTo>
                    <a:pt x="0" y="87324"/>
                  </a:lnTo>
                  <a:cubicBezTo>
                    <a:pt x="0" y="64165"/>
                    <a:pt x="9200" y="41953"/>
                    <a:pt x="25577" y="25577"/>
                  </a:cubicBezTo>
                  <a:cubicBezTo>
                    <a:pt x="41953" y="9200"/>
                    <a:pt x="64165" y="0"/>
                    <a:pt x="87324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1190850" cy="394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35"/>
                </a:lnSpc>
              </a:pPr>
              <a:r>
                <a:rPr lang="en-US" sz="3423" b="1" dirty="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Tags | noun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8214" y="5678704"/>
            <a:ext cx="2942559" cy="1100452"/>
            <a:chOff x="0" y="0"/>
            <a:chExt cx="774995" cy="2898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74995" cy="289831"/>
            </a:xfrm>
            <a:custGeom>
              <a:avLst/>
              <a:gdLst/>
              <a:ahLst/>
              <a:cxnLst/>
              <a:rect l="l" t="t" r="r" b="b"/>
              <a:pathLst>
                <a:path w="774995" h="289831">
                  <a:moveTo>
                    <a:pt x="134182" y="0"/>
                  </a:moveTo>
                  <a:lnTo>
                    <a:pt x="640813" y="0"/>
                  </a:lnTo>
                  <a:cubicBezTo>
                    <a:pt x="676400" y="0"/>
                    <a:pt x="710530" y="14137"/>
                    <a:pt x="735694" y="39301"/>
                  </a:cubicBezTo>
                  <a:cubicBezTo>
                    <a:pt x="760858" y="64465"/>
                    <a:pt x="774995" y="98595"/>
                    <a:pt x="774995" y="134182"/>
                  </a:cubicBezTo>
                  <a:lnTo>
                    <a:pt x="774995" y="155649"/>
                  </a:lnTo>
                  <a:cubicBezTo>
                    <a:pt x="774995" y="191236"/>
                    <a:pt x="760858" y="225366"/>
                    <a:pt x="735694" y="250530"/>
                  </a:cubicBezTo>
                  <a:cubicBezTo>
                    <a:pt x="710530" y="275694"/>
                    <a:pt x="676400" y="289831"/>
                    <a:pt x="640813" y="289831"/>
                  </a:cubicBezTo>
                  <a:lnTo>
                    <a:pt x="134182" y="289831"/>
                  </a:lnTo>
                  <a:cubicBezTo>
                    <a:pt x="98595" y="289831"/>
                    <a:pt x="64465" y="275694"/>
                    <a:pt x="39301" y="250530"/>
                  </a:cubicBezTo>
                  <a:cubicBezTo>
                    <a:pt x="14137" y="225366"/>
                    <a:pt x="0" y="191236"/>
                    <a:pt x="0" y="155649"/>
                  </a:cubicBezTo>
                  <a:lnTo>
                    <a:pt x="0" y="134182"/>
                  </a:lnTo>
                  <a:cubicBezTo>
                    <a:pt x="0" y="98595"/>
                    <a:pt x="14137" y="64465"/>
                    <a:pt x="39301" y="39301"/>
                  </a:cubicBezTo>
                  <a:cubicBezTo>
                    <a:pt x="64465" y="14137"/>
                    <a:pt x="98595" y="0"/>
                    <a:pt x="134182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774995" cy="394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35"/>
                </a:lnSpc>
              </a:pPr>
              <a:r>
                <a:rPr lang="en-US" sz="3423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with |adp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62436" y="5678704"/>
            <a:ext cx="3660263" cy="1100452"/>
            <a:chOff x="0" y="0"/>
            <a:chExt cx="964020" cy="28983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64020" cy="289831"/>
            </a:xfrm>
            <a:custGeom>
              <a:avLst/>
              <a:gdLst/>
              <a:ahLst/>
              <a:cxnLst/>
              <a:rect l="l" t="t" r="r" b="b"/>
              <a:pathLst>
                <a:path w="964020" h="289831">
                  <a:moveTo>
                    <a:pt x="107871" y="0"/>
                  </a:moveTo>
                  <a:lnTo>
                    <a:pt x="856149" y="0"/>
                  </a:lnTo>
                  <a:cubicBezTo>
                    <a:pt x="915724" y="0"/>
                    <a:pt x="964020" y="48296"/>
                    <a:pt x="964020" y="107871"/>
                  </a:cubicBezTo>
                  <a:lnTo>
                    <a:pt x="964020" y="181959"/>
                  </a:lnTo>
                  <a:cubicBezTo>
                    <a:pt x="964020" y="241535"/>
                    <a:pt x="915724" y="289831"/>
                    <a:pt x="856149" y="289831"/>
                  </a:cubicBezTo>
                  <a:lnTo>
                    <a:pt x="107871" y="289831"/>
                  </a:lnTo>
                  <a:cubicBezTo>
                    <a:pt x="48296" y="289831"/>
                    <a:pt x="0" y="241535"/>
                    <a:pt x="0" y="181959"/>
                  </a:cubicBezTo>
                  <a:lnTo>
                    <a:pt x="0" y="107871"/>
                  </a:lnTo>
                  <a:cubicBezTo>
                    <a:pt x="0" y="48296"/>
                    <a:pt x="48296" y="0"/>
                    <a:pt x="107871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04775"/>
              <a:ext cx="964020" cy="394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35"/>
                </a:lnSpc>
              </a:pPr>
              <a:r>
                <a:rPr lang="en-US" sz="3423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NLTK  | noun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32094" y="5678704"/>
            <a:ext cx="3755957" cy="1100452"/>
            <a:chOff x="0" y="0"/>
            <a:chExt cx="989223" cy="28983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89223" cy="289831"/>
            </a:xfrm>
            <a:custGeom>
              <a:avLst/>
              <a:gdLst/>
              <a:ahLst/>
              <a:cxnLst/>
              <a:rect l="l" t="t" r="r" b="b"/>
              <a:pathLst>
                <a:path w="989223" h="289831">
                  <a:moveTo>
                    <a:pt x="105123" y="0"/>
                  </a:moveTo>
                  <a:lnTo>
                    <a:pt x="884100" y="0"/>
                  </a:lnTo>
                  <a:cubicBezTo>
                    <a:pt x="942158" y="0"/>
                    <a:pt x="989223" y="47065"/>
                    <a:pt x="989223" y="105123"/>
                  </a:cubicBezTo>
                  <a:lnTo>
                    <a:pt x="989223" y="184708"/>
                  </a:lnTo>
                  <a:cubicBezTo>
                    <a:pt x="989223" y="242766"/>
                    <a:pt x="942158" y="289831"/>
                    <a:pt x="884100" y="289831"/>
                  </a:cubicBezTo>
                  <a:lnTo>
                    <a:pt x="105123" y="289831"/>
                  </a:lnTo>
                  <a:cubicBezTo>
                    <a:pt x="77243" y="289831"/>
                    <a:pt x="50504" y="278755"/>
                    <a:pt x="30790" y="259041"/>
                  </a:cubicBezTo>
                  <a:cubicBezTo>
                    <a:pt x="11075" y="239327"/>
                    <a:pt x="0" y="212588"/>
                    <a:pt x="0" y="184708"/>
                  </a:cubicBezTo>
                  <a:lnTo>
                    <a:pt x="0" y="105123"/>
                  </a:lnTo>
                  <a:cubicBezTo>
                    <a:pt x="0" y="77243"/>
                    <a:pt x="11075" y="50504"/>
                    <a:pt x="30790" y="30790"/>
                  </a:cubicBezTo>
                  <a:cubicBezTo>
                    <a:pt x="50504" y="11075"/>
                    <a:pt x="77243" y="0"/>
                    <a:pt x="105123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989223" cy="394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35"/>
                </a:lnSpc>
              </a:pPr>
              <a:r>
                <a:rPr lang="en-US" sz="3423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and | conj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737792" y="5678704"/>
            <a:ext cx="4521508" cy="1100452"/>
            <a:chOff x="0" y="0"/>
            <a:chExt cx="1190850" cy="28983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90850" cy="289831"/>
            </a:xfrm>
            <a:custGeom>
              <a:avLst/>
              <a:gdLst/>
              <a:ahLst/>
              <a:cxnLst/>
              <a:rect l="l" t="t" r="r" b="b"/>
              <a:pathLst>
                <a:path w="1190850" h="289831">
                  <a:moveTo>
                    <a:pt x="87324" y="0"/>
                  </a:moveTo>
                  <a:lnTo>
                    <a:pt x="1103526" y="0"/>
                  </a:lnTo>
                  <a:cubicBezTo>
                    <a:pt x="1151754" y="0"/>
                    <a:pt x="1190850" y="39096"/>
                    <a:pt x="1190850" y="87324"/>
                  </a:cubicBezTo>
                  <a:lnTo>
                    <a:pt x="1190850" y="202507"/>
                  </a:lnTo>
                  <a:cubicBezTo>
                    <a:pt x="1190850" y="225666"/>
                    <a:pt x="1181650" y="247878"/>
                    <a:pt x="1165273" y="264254"/>
                  </a:cubicBezTo>
                  <a:cubicBezTo>
                    <a:pt x="1148897" y="280631"/>
                    <a:pt x="1126685" y="289831"/>
                    <a:pt x="1103526" y="289831"/>
                  </a:cubicBezTo>
                  <a:lnTo>
                    <a:pt x="87324" y="289831"/>
                  </a:lnTo>
                  <a:cubicBezTo>
                    <a:pt x="64165" y="289831"/>
                    <a:pt x="41953" y="280631"/>
                    <a:pt x="25577" y="264254"/>
                  </a:cubicBezTo>
                  <a:cubicBezTo>
                    <a:pt x="9200" y="247878"/>
                    <a:pt x="0" y="225666"/>
                    <a:pt x="0" y="202507"/>
                  </a:cubicBezTo>
                  <a:lnTo>
                    <a:pt x="0" y="87324"/>
                  </a:lnTo>
                  <a:cubicBezTo>
                    <a:pt x="0" y="64165"/>
                    <a:pt x="9200" y="41953"/>
                    <a:pt x="25577" y="25577"/>
                  </a:cubicBezTo>
                  <a:cubicBezTo>
                    <a:pt x="41953" y="9200"/>
                    <a:pt x="64165" y="0"/>
                    <a:pt x="87324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04775"/>
              <a:ext cx="1190850" cy="394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35"/>
                </a:lnSpc>
              </a:pPr>
              <a:r>
                <a:rPr lang="en-US" sz="3423" b="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Spacy  | noun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555" b="-5555"/>
            </a:stretch>
          </a:blipFill>
        </p:spPr>
      </p:sp>
      <p:graphicFrame>
        <p:nvGraphicFramePr>
          <p:cNvPr id="3" name="Object 3"/>
          <p:cNvGraphicFramePr/>
          <p:nvPr/>
        </p:nvGraphicFramePr>
        <p:xfrm>
          <a:off x="201172" y="1455435"/>
          <a:ext cx="7543800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Worksheet" r:id="rId4" imgW="9042400" imgH="5270500" progId="Excel.Sheet.12">
                  <p:embed/>
                </p:oleObj>
              </mc:Choice>
              <mc:Fallback>
                <p:oleObj name="Worksheet" r:id="rId4" imgW="9042400" imgH="5270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1172" y="1455435"/>
                        <a:ext cx="7543800" cy="377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/>
          <p:nvPr/>
        </p:nvGraphicFramePr>
        <p:xfrm>
          <a:off x="9237441" y="1455435"/>
          <a:ext cx="5657850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Worksheet" r:id="rId6" imgW="6781800" imgH="4902200" progId="Excel.Sheet.12">
                  <p:embed/>
                </p:oleObj>
              </mc:Choice>
              <mc:Fallback>
                <p:oleObj name="Worksheet" r:id="rId6" imgW="6781800" imgH="4902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37441" y="1455435"/>
                        <a:ext cx="5657850" cy="377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698811" y="653383"/>
            <a:ext cx="5962764" cy="74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44"/>
              </a:lnSpc>
              <a:spcBef>
                <a:spcPct val="0"/>
              </a:spcBef>
            </a:pPr>
            <a:r>
              <a:rPr lang="en-US" sz="4317" b="1" spc="2625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STEMMING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12403" y="712584"/>
            <a:ext cx="9201457" cy="74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44"/>
              </a:lnSpc>
              <a:spcBef>
                <a:spcPct val="0"/>
              </a:spcBef>
            </a:pPr>
            <a:r>
              <a:rPr lang="en-US" sz="4317" b="1" spc="2625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LEMMATIZATION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1172" y="7876259"/>
            <a:ext cx="5962764" cy="15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44"/>
              </a:lnSpc>
              <a:spcBef>
                <a:spcPct val="0"/>
              </a:spcBef>
            </a:pPr>
            <a:r>
              <a:rPr lang="en-US" sz="4317" b="1" spc="2625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STOP WORDS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37441" y="7895309"/>
            <a:ext cx="7549039" cy="151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5"/>
              </a:lnSpc>
              <a:spcBef>
                <a:spcPct val="0"/>
              </a:spcBef>
            </a:pPr>
            <a:r>
              <a:rPr lang="en-US" sz="2023" b="1">
                <a:solidFill>
                  <a:srgbClr val="102C40"/>
                </a:solidFill>
                <a:latin typeface="Aileron Bold"/>
                <a:ea typeface="Aileron Bold"/>
                <a:cs typeface="Aileron Bold"/>
                <a:sym typeface="Aileron Bold"/>
              </a:rPr>
              <a:t>🇹🇷 Türkçe:</a:t>
            </a:r>
          </a:p>
          <a:p>
            <a:pPr algn="ctr">
              <a:lnSpc>
                <a:spcPts val="3035"/>
              </a:lnSpc>
              <a:spcBef>
                <a:spcPct val="0"/>
              </a:spcBef>
            </a:pPr>
            <a:r>
              <a:rPr lang="en-US" sz="2023" b="1">
                <a:solidFill>
                  <a:srgbClr val="102C40"/>
                </a:solidFill>
                <a:latin typeface="Aileron Bold"/>
                <a:ea typeface="Aileron Bold"/>
                <a:cs typeface="Aileron Bold"/>
                <a:sym typeface="Aileron Bold"/>
              </a:rPr>
              <a:t> ve, bir, bu, da, de, ile, için, ama, gibi, çünkü, veya, ki, ben, sen, o</a:t>
            </a:r>
          </a:p>
          <a:p>
            <a:pPr algn="ctr">
              <a:lnSpc>
                <a:spcPts val="3035"/>
              </a:lnSpc>
              <a:spcBef>
                <a:spcPct val="0"/>
              </a:spcBef>
            </a:pPr>
            <a:r>
              <a:rPr lang="en-US" sz="2023" b="1">
                <a:solidFill>
                  <a:srgbClr val="102C40"/>
                </a:solidFill>
                <a:latin typeface="Aileron Bold"/>
                <a:ea typeface="Aileron Bold"/>
                <a:cs typeface="Aileron Bold"/>
                <a:sym typeface="Aileron Bold"/>
              </a:rPr>
              <a:t>🇬🇧 English:</a:t>
            </a:r>
          </a:p>
          <a:p>
            <a:pPr algn="ctr">
              <a:lnSpc>
                <a:spcPts val="3035"/>
              </a:lnSpc>
              <a:spcBef>
                <a:spcPct val="0"/>
              </a:spcBef>
            </a:pPr>
            <a:r>
              <a:rPr lang="en-US" sz="2023" b="1">
                <a:solidFill>
                  <a:srgbClr val="102C40"/>
                </a:solidFill>
                <a:latin typeface="Aileron Bold"/>
                <a:ea typeface="Aileron Bold"/>
                <a:cs typeface="Aileron Bold"/>
                <a:sym typeface="Aileron Bold"/>
              </a:rPr>
              <a:t> and, the, is, are, in, on, at, to, from, for, by, of, with, about</a:t>
            </a:r>
          </a:p>
        </p:txBody>
      </p:sp>
      <p:sp>
        <p:nvSpPr>
          <p:cNvPr id="9" name="AutoShape 9"/>
          <p:cNvSpPr/>
          <p:nvPr/>
        </p:nvSpPr>
        <p:spPr>
          <a:xfrm>
            <a:off x="6163936" y="8673947"/>
            <a:ext cx="3007440" cy="19122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AutoShape 10"/>
          <p:cNvSpPr/>
          <p:nvPr/>
        </p:nvSpPr>
        <p:spPr>
          <a:xfrm>
            <a:off x="0" y="7130543"/>
            <a:ext cx="18288000" cy="0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69097" y="1028700"/>
            <a:ext cx="3414526" cy="582727"/>
            <a:chOff x="0" y="0"/>
            <a:chExt cx="2122466" cy="3622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22466" cy="362223"/>
            </a:xfrm>
            <a:custGeom>
              <a:avLst/>
              <a:gdLst/>
              <a:ahLst/>
              <a:cxnLst/>
              <a:rect l="l" t="t" r="r" b="b"/>
              <a:pathLst>
                <a:path w="2122466" h="362223">
                  <a:moveTo>
                    <a:pt x="0" y="0"/>
                  </a:moveTo>
                  <a:lnTo>
                    <a:pt x="2122466" y="0"/>
                  </a:lnTo>
                  <a:lnTo>
                    <a:pt x="2122466" y="362223"/>
                  </a:lnTo>
                  <a:lnTo>
                    <a:pt x="0" y="362223"/>
                  </a:lnTo>
                  <a:close/>
                </a:path>
              </a:pathLst>
            </a:custGeom>
            <a:solidFill>
              <a:srgbClr val="102C4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122466" cy="390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404537" y="2269103"/>
            <a:ext cx="7883463" cy="8055076"/>
          </a:xfrm>
          <a:custGeom>
            <a:avLst/>
            <a:gdLst/>
            <a:ahLst/>
            <a:cxnLst/>
            <a:rect l="l" t="t" r="r" b="b"/>
            <a:pathLst>
              <a:path w="7883463" h="8055076">
                <a:moveTo>
                  <a:pt x="0" y="0"/>
                </a:moveTo>
                <a:lnTo>
                  <a:pt x="7883463" y="0"/>
                </a:lnTo>
                <a:lnTo>
                  <a:pt x="7883463" y="8055076"/>
                </a:lnTo>
                <a:lnTo>
                  <a:pt x="0" y="8055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2231924"/>
            <a:ext cx="8839590" cy="8055076"/>
          </a:xfrm>
          <a:custGeom>
            <a:avLst/>
            <a:gdLst/>
            <a:ahLst/>
            <a:cxnLst/>
            <a:rect l="l" t="t" r="r" b="b"/>
            <a:pathLst>
              <a:path w="8839590" h="8055076">
                <a:moveTo>
                  <a:pt x="0" y="0"/>
                </a:moveTo>
                <a:lnTo>
                  <a:pt x="8839590" y="0"/>
                </a:lnTo>
                <a:lnTo>
                  <a:pt x="8839590" y="8055076"/>
                </a:lnTo>
                <a:lnTo>
                  <a:pt x="0" y="8055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2755" y="29995"/>
            <a:ext cx="7684622" cy="74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44"/>
              </a:lnSpc>
              <a:spcBef>
                <a:spcPct val="0"/>
              </a:spcBef>
            </a:pPr>
            <a:r>
              <a:rPr lang="en-US" sz="4317" b="1" spc="2625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KELIMELERIN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82065" y="933450"/>
            <a:ext cx="3501558" cy="725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02"/>
              </a:lnSpc>
              <a:spcBef>
                <a:spcPct val="0"/>
              </a:spcBef>
            </a:pPr>
            <a:r>
              <a:rPr lang="en-US" sz="4144" b="1" spc="-124">
                <a:solidFill>
                  <a:srgbClr val="FAFBFB"/>
                </a:solidFill>
                <a:latin typeface="Raleway Heavy"/>
                <a:ea typeface="Raleway Heavy"/>
                <a:cs typeface="Raleway Heavy"/>
                <a:sym typeface="Raleway Heavy"/>
              </a:rPr>
              <a:t>MATEMATIĞI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148931"/>
            <a:ext cx="7684622" cy="15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4"/>
              </a:lnSpc>
            </a:pPr>
            <a:r>
              <a:rPr lang="en-US" sz="4317" b="1" spc="2625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VEKTÖR</a:t>
            </a:r>
          </a:p>
          <a:p>
            <a:pPr marL="0" lvl="0" indent="0" algn="ctr">
              <a:lnSpc>
                <a:spcPts val="6044"/>
              </a:lnSpc>
              <a:spcBef>
                <a:spcPct val="0"/>
              </a:spcBef>
            </a:pPr>
            <a:r>
              <a:rPr lang="en-US" sz="4317" b="1" spc="2625">
                <a:solidFill>
                  <a:srgbClr val="102C40"/>
                </a:solidFill>
                <a:latin typeface="Raleway Heavy"/>
                <a:ea typeface="Raleway Heavy"/>
                <a:cs typeface="Raleway Heavy"/>
                <a:sym typeface="Raleway Heavy"/>
              </a:rPr>
              <a:t>UZAYI</a:t>
            </a:r>
          </a:p>
        </p:txBody>
      </p:sp>
      <p:sp>
        <p:nvSpPr>
          <p:cNvPr id="11" name="AutoShape 11"/>
          <p:cNvSpPr/>
          <p:nvPr/>
        </p:nvSpPr>
        <p:spPr>
          <a:xfrm>
            <a:off x="0" y="1945253"/>
            <a:ext cx="9144000" cy="19050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0120624" y="1964303"/>
            <a:ext cx="8167376" cy="0"/>
          </a:xfrm>
          <a:prstGeom prst="line">
            <a:avLst/>
          </a:prstGeom>
          <a:ln w="3810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2605080"/>
            <a:ext cx="18288000" cy="5577840"/>
          </a:xfrm>
          <a:custGeom>
            <a:avLst/>
            <a:gdLst/>
            <a:ahLst/>
            <a:cxnLst/>
            <a:rect l="l" t="t" r="r" b="b"/>
            <a:pathLst>
              <a:path w="18288000" h="5577840">
                <a:moveTo>
                  <a:pt x="0" y="0"/>
                </a:moveTo>
                <a:lnTo>
                  <a:pt x="18288000" y="0"/>
                </a:lnTo>
                <a:lnTo>
                  <a:pt x="18288000" y="5577840"/>
                </a:lnTo>
                <a:lnTo>
                  <a:pt x="0" y="5577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227600" y="895350"/>
            <a:ext cx="10330469" cy="118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84"/>
              </a:lnSpc>
              <a:spcBef>
                <a:spcPct val="0"/>
              </a:spcBef>
            </a:pPr>
            <a:r>
              <a:rPr lang="en-US" sz="6917" b="1" spc="4206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N-GRAMLAR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763088"/>
            <a:ext cx="8454799" cy="8523912"/>
          </a:xfrm>
          <a:custGeom>
            <a:avLst/>
            <a:gdLst/>
            <a:ahLst/>
            <a:cxnLst/>
            <a:rect l="l" t="t" r="r" b="b"/>
            <a:pathLst>
              <a:path w="8454799" h="8523912">
                <a:moveTo>
                  <a:pt x="0" y="0"/>
                </a:moveTo>
                <a:lnTo>
                  <a:pt x="8454799" y="0"/>
                </a:lnTo>
                <a:lnTo>
                  <a:pt x="8454799" y="8523912"/>
                </a:lnTo>
                <a:lnTo>
                  <a:pt x="0" y="85239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415939"/>
            <a:ext cx="7684622" cy="74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44"/>
              </a:lnSpc>
              <a:spcBef>
                <a:spcPct val="0"/>
              </a:spcBef>
            </a:pPr>
            <a:r>
              <a:rPr lang="en-US" sz="4317" b="1" spc="2625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TF-IDF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84503" y="2113565"/>
            <a:ext cx="3414526" cy="582727"/>
            <a:chOff x="0" y="0"/>
            <a:chExt cx="2122466" cy="3622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22466" cy="362223"/>
            </a:xfrm>
            <a:custGeom>
              <a:avLst/>
              <a:gdLst/>
              <a:ahLst/>
              <a:cxnLst/>
              <a:rect l="l" t="t" r="r" b="b"/>
              <a:pathLst>
                <a:path w="2122466" h="362223">
                  <a:moveTo>
                    <a:pt x="0" y="0"/>
                  </a:moveTo>
                  <a:lnTo>
                    <a:pt x="2122466" y="0"/>
                  </a:lnTo>
                  <a:lnTo>
                    <a:pt x="2122466" y="362223"/>
                  </a:lnTo>
                  <a:lnTo>
                    <a:pt x="0" y="362223"/>
                  </a:lnTo>
                  <a:close/>
                </a:path>
              </a:pathLst>
            </a:custGeom>
            <a:solidFill>
              <a:srgbClr val="102C4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122466" cy="390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56760" y="2797330"/>
            <a:ext cx="13901939" cy="7489670"/>
          </a:xfrm>
          <a:custGeom>
            <a:avLst/>
            <a:gdLst/>
            <a:ahLst/>
            <a:cxnLst/>
            <a:rect l="l" t="t" r="r" b="b"/>
            <a:pathLst>
              <a:path w="13901939" h="7489670">
                <a:moveTo>
                  <a:pt x="0" y="0"/>
                </a:moveTo>
                <a:lnTo>
                  <a:pt x="13901940" y="0"/>
                </a:lnTo>
                <a:lnTo>
                  <a:pt x="13901940" y="7489670"/>
                </a:lnTo>
                <a:lnTo>
                  <a:pt x="0" y="748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84503" y="1971160"/>
            <a:ext cx="3501558" cy="725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02"/>
              </a:lnSpc>
              <a:spcBef>
                <a:spcPct val="0"/>
              </a:spcBef>
            </a:pPr>
            <a:r>
              <a:rPr lang="en-US" sz="4144" b="1" spc="-124">
                <a:solidFill>
                  <a:srgbClr val="FAFBFB"/>
                </a:solidFill>
                <a:latin typeface="Raleway Heavy"/>
                <a:ea typeface="Raleway Heavy"/>
                <a:cs typeface="Raleway Heavy"/>
                <a:sym typeface="Raleway Heavy"/>
              </a:rPr>
              <a:t>(BOW)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1046092" y="395821"/>
            <a:ext cx="7684622" cy="15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44"/>
              </a:lnSpc>
              <a:spcBef>
                <a:spcPct val="0"/>
              </a:spcBef>
            </a:pPr>
            <a:r>
              <a:rPr lang="en-US" sz="4317" b="1" spc="2625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BAG OF WORDS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2298778" y="2696292"/>
            <a:ext cx="52883" cy="38458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V="1">
            <a:off x="2298778" y="6542165"/>
            <a:ext cx="21441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367571"/>
            <a:ext cx="15856762" cy="8919429"/>
          </a:xfrm>
          <a:custGeom>
            <a:avLst/>
            <a:gdLst/>
            <a:ahLst/>
            <a:cxnLst/>
            <a:rect l="l" t="t" r="r" b="b"/>
            <a:pathLst>
              <a:path w="15856762" h="8919429">
                <a:moveTo>
                  <a:pt x="0" y="0"/>
                </a:moveTo>
                <a:lnTo>
                  <a:pt x="15856762" y="0"/>
                </a:lnTo>
                <a:lnTo>
                  <a:pt x="15856762" y="8919429"/>
                </a:lnTo>
                <a:lnTo>
                  <a:pt x="0" y="8919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415939"/>
            <a:ext cx="7684622" cy="74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44"/>
              </a:lnSpc>
              <a:spcBef>
                <a:spcPct val="0"/>
              </a:spcBef>
            </a:pPr>
            <a:r>
              <a:rPr lang="en-US" sz="4317" b="1" spc="2625">
                <a:solidFill>
                  <a:srgbClr val="102C40"/>
                </a:solidFill>
                <a:latin typeface="Raleway Bold"/>
                <a:ea typeface="Raleway Bold"/>
                <a:cs typeface="Raleway Bold"/>
                <a:sym typeface="Raleway Bold"/>
              </a:rPr>
              <a:t>WORD2VEC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608</Words>
  <Application>Microsoft Office PowerPoint</Application>
  <PresentationFormat>Özel</PresentationFormat>
  <Paragraphs>127</Paragraphs>
  <Slides>15</Slides>
  <Notes>0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11</vt:i4>
      </vt:variant>
      <vt:variant>
        <vt:lpstr>Tema</vt:lpstr>
      </vt:variant>
      <vt:variant>
        <vt:i4>1</vt:i4>
      </vt:variant>
      <vt:variant>
        <vt:lpstr>Katıştırılmış OLE Hizmet Programları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8" baseType="lpstr">
      <vt:lpstr>Arial</vt:lpstr>
      <vt:lpstr>Raleway Ultra-Bold</vt:lpstr>
      <vt:lpstr>Raleway Bold</vt:lpstr>
      <vt:lpstr>Aileron</vt:lpstr>
      <vt:lpstr>Raleway Heavy</vt:lpstr>
      <vt:lpstr>Tazugane Gothic Bold</vt:lpstr>
      <vt:lpstr>Raleway Medium</vt:lpstr>
      <vt:lpstr>Calibri</vt:lpstr>
      <vt:lpstr>Raleway Bold Italics</vt:lpstr>
      <vt:lpstr>Aileron Bold</vt:lpstr>
      <vt:lpstr>Raleway Semi-Bold Italics</vt:lpstr>
      <vt:lpstr>Office Theme</vt:lpstr>
      <vt:lpstr>Worksheet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Koyu Mavi ve Beyaz, Modern ve Profesyonel Bilişim Markası Hizmet Sunumu</dc:title>
  <cp:lastModifiedBy>w</cp:lastModifiedBy>
  <cp:revision>11</cp:revision>
  <dcterms:created xsi:type="dcterms:W3CDTF">2006-08-16T00:00:00Z</dcterms:created>
  <dcterms:modified xsi:type="dcterms:W3CDTF">2025-11-21T16:17:31Z</dcterms:modified>
  <dc:identifier>DAG12nFXj0k</dc:identifier>
</cp:coreProperties>
</file>