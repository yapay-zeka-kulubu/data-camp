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1026" r:id="rId3"/>
    <p:sldId id="257" r:id="rId4"/>
    <p:sldId id="280" r:id="rId5"/>
    <p:sldId id="1023" r:id="rId6"/>
    <p:sldId id="259" r:id="rId7"/>
    <p:sldId id="282" r:id="rId8"/>
    <p:sldId id="285" r:id="rId9"/>
    <p:sldId id="283" r:id="rId10"/>
    <p:sldId id="286" r:id="rId11"/>
    <p:sldId id="1027" r:id="rId12"/>
    <p:sldId id="287" r:id="rId13"/>
    <p:sldId id="260" r:id="rId14"/>
    <p:sldId id="281" r:id="rId15"/>
    <p:sldId id="291" r:id="rId16"/>
    <p:sldId id="289" r:id="rId17"/>
    <p:sldId id="292" r:id="rId18"/>
    <p:sldId id="1028" r:id="rId19"/>
    <p:sldId id="293" r:id="rId20"/>
    <p:sldId id="298" r:id="rId21"/>
    <p:sldId id="299" r:id="rId22"/>
    <p:sldId id="300" r:id="rId23"/>
    <p:sldId id="1025" r:id="rId24"/>
  </p:sldIdLst>
  <p:sldSz cx="18288000" cy="10287000"/>
  <p:notesSz cx="6858000" cy="9144000"/>
  <p:embeddedFontLs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Raleway" pitchFamily="2" charset="-94"/>
      <p:regular r:id="rId34"/>
      <p:bold r:id="rId35"/>
      <p:italic r:id="rId36"/>
      <p:boldItalic r:id="rId37"/>
    </p:embeddedFont>
    <p:embeddedFont>
      <p:font typeface="Roboto" panose="02000000000000000000" pitchFamily="2" charset="0"/>
      <p:regular r:id="rId38"/>
      <p:bold r:id="rId39"/>
      <p:italic r:id="rId40"/>
      <p:boldItalic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3E9"/>
    <a:srgbClr val="704DA5"/>
    <a:srgbClr val="F3F2ED"/>
    <a:srgbClr val="F2F1ED"/>
    <a:srgbClr val="F0E6C0"/>
    <a:srgbClr val="1B1B27"/>
    <a:srgbClr val="D1D5DB"/>
    <a:srgbClr val="F7F5EF"/>
    <a:srgbClr val="9F9F9F"/>
    <a:srgbClr val="F5F2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19" autoAdjust="0"/>
    <p:restoredTop sz="94024" autoAdjust="0"/>
  </p:normalViewPr>
  <p:slideViewPr>
    <p:cSldViewPr>
      <p:cViewPr varScale="1">
        <p:scale>
          <a:sx n="35" d="100"/>
          <a:sy n="35" d="100"/>
        </p:scale>
        <p:origin x="84" y="12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tr-TR" sz="2250" b="1">
                <a:solidFill>
                  <a:srgbClr val="1E2A4E"/>
                </a:solidFill>
                <a:latin typeface="Calibri"/>
                <a:ea typeface="Calibri"/>
                <a:cs typeface="Calibri"/>
              </a:rPr>
              <a:t>Bilinen fiyatlar (bin TL)</a:t>
            </a:r>
          </a:p>
        </c:rich>
      </c:tx>
      <c:overlay val="0"/>
    </c:title>
    <c:autoTitleDeleted val="0"/>
    <c:plotArea>
      <c:layout/>
      <c:barChart>
        <c:barDir val="bar"/>
        <c:grouping val="clustered"/>
        <c:varyColors val="0"/>
        <c:ser>
          <c:idx val="0"/>
          <c:order val="0"/>
          <c:tx>
            <c:v>Fiyat</c:v>
          </c:tx>
          <c:spPr>
            <a:solidFill>
              <a:srgbClr val="1E2A4E"/>
            </a:solidFill>
          </c:spPr>
          <c:invertIfNegative val="1"/>
          <c:dPt>
            <c:idx val="3"/>
            <c:invertIfNegative val="0"/>
            <c:bubble3D val="0"/>
            <c:spPr>
              <a:solidFill>
                <a:srgbClr val="B18D18"/>
              </a:solidFill>
            </c:spPr>
            <c:extLst>
              <c:ext xmlns:c16="http://schemas.microsoft.com/office/drawing/2014/chart" uri="{C3380CC4-5D6E-409C-BE32-E72D297353CC}">
                <c16:uniqueId val="{00000001-0EA4-4741-A353-102590D9A496}"/>
              </c:ext>
            </c:extLst>
          </c:dPt>
          <c:dLbls>
            <c:spPr>
              <a:noFill/>
              <a:ln>
                <a:noFill/>
              </a:ln>
              <a:effectLst/>
            </c:spPr>
            <c:txPr>
              <a:bodyPr anchorCtr="1"/>
              <a:lstStyle/>
              <a:p>
                <a:pPr>
                  <a:defRPr sz="2025">
                    <a:solidFill>
                      <a:srgbClr val="1E2A4E"/>
                    </a:solidFill>
                    <a:latin typeface="Calibri"/>
                    <a:ea typeface="Calibri"/>
                    <a:cs typeface="Calibri"/>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Ev 1</c:v>
                </c:pt>
                <c:pt idx="1">
                  <c:v>Ev 3</c:v>
                </c:pt>
                <c:pt idx="2">
                  <c:v>Ev 4</c:v>
                </c:pt>
                <c:pt idx="3">
                  <c:v>Ev 5</c:v>
                </c:pt>
              </c:strCache>
            </c:strRef>
          </c:cat>
          <c:val>
            <c:numRef>
              <c:f>'Chart Data'!$B$2:$B$5</c:f>
              <c:numCache>
                <c:formatCode>0</c:formatCode>
                <c:ptCount val="4"/>
                <c:pt idx="0">
                  <c:v>1850</c:v>
                </c:pt>
                <c:pt idx="1">
                  <c:v>3100</c:v>
                </c:pt>
                <c:pt idx="2">
                  <c:v>1650</c:v>
                </c:pt>
                <c:pt idx="3">
                  <c:v>9800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EA4-4741-A353-102590D9A496}"/>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2025">
                <a:solidFill>
                  <a:srgbClr val="666666"/>
                </a:solidFill>
                <a:latin typeface="Calibri"/>
                <a:ea typeface="Calibri"/>
                <a:cs typeface="Calibri"/>
              </a:defRPr>
            </a:pPr>
            <a:endParaRPr lang="tr-TR"/>
          </a:p>
        </c:txPr>
        <c:crossAx val="48672768"/>
        <c:crosses val="autoZero"/>
        <c:auto val="1"/>
        <c:lblAlgn val="ctr"/>
        <c:lblOffset val="100"/>
        <c:noMultiLvlLbl val="1"/>
      </c:catAx>
      <c:valAx>
        <c:axId val="48672768"/>
        <c:scaling>
          <c:orientation val="minMax"/>
          <c:max val="11000"/>
          <c:min val="0"/>
        </c:scaling>
        <c:delete val="0"/>
        <c:axPos val="b"/>
        <c:majorGridlines>
          <c:spPr>
            <a:ln w="9525">
              <a:solidFill>
                <a:srgbClr val="D6D9E0"/>
              </a:solidFill>
            </a:ln>
          </c:spPr>
        </c:majorGridlines>
        <c:title>
          <c:tx>
            <c:rich>
              <a:bodyPr/>
              <a:lstStyle/>
              <a:p>
                <a:r>
                  <a:rPr lang="tr-TR" sz="1875">
                    <a:solidFill>
                      <a:srgbClr val="30343B"/>
                    </a:solidFill>
                    <a:latin typeface="Calibri"/>
                    <a:ea typeface="Calibri"/>
                    <a:cs typeface="Calibri"/>
                  </a:rPr>
                  <a:t>Fiyat (bin TL)</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875">
                <a:solidFill>
                  <a:srgbClr val="596173"/>
                </a:solidFill>
                <a:latin typeface="Calibri"/>
                <a:ea typeface="Calibri"/>
                <a:cs typeface="Calibri"/>
              </a:defRPr>
            </a:pPr>
            <a:endParaRPr lang="tr-TR"/>
          </a:p>
        </c:txPr>
        <c:crossAx val="48650112"/>
        <c:crosses val="autoZero"/>
        <c:crossBetween val="between"/>
        <c:majorUnit val="2500"/>
      </c:valAx>
      <c:spPr>
        <a:solidFill>
          <a:srgbClr val="F7F5EF"/>
        </a:solidFill>
        <a:ln w="0">
          <a:noFill/>
        </a:ln>
      </c:spPr>
    </c:plotArea>
    <c:plotVisOnly val="1"/>
    <c:dispBlanksAs val="zero"/>
    <c:showDLblsOverMax val="1"/>
  </c:chart>
  <c:spPr>
    <a:solidFill>
      <a:srgbClr val="F7F5E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tr-TR" sz="2250" b="1">
                <a:solidFill>
                  <a:srgbClr val="1E2A4E"/>
                </a:solidFill>
                <a:latin typeface="Calibri"/>
                <a:ea typeface="Calibri"/>
                <a:cs typeface="Calibri"/>
              </a:rPr>
              <a:t>Ortalama = 4</a:t>
            </a:r>
          </a:p>
        </c:rich>
      </c:tx>
      <c:overlay val="0"/>
    </c:title>
    <c:autoTitleDeleted val="0"/>
    <c:plotArea>
      <c:layout/>
      <c:scatterChart>
        <c:scatterStyle val="lineMarker"/>
        <c:varyColors val="1"/>
        <c:ser>
          <c:idx val="0"/>
          <c:order val="0"/>
          <c:tx>
            <c:v>Düşük yayılım</c:v>
          </c:tx>
          <c:marker>
            <c:symbol val="circle"/>
            <c:size val="14"/>
          </c:marker>
          <c:xVal>
            <c:numRef>
              <c:f>'Chart Data'!$A$2:$A$4</c:f>
              <c:numCache>
                <c:formatCode>General</c:formatCode>
                <c:ptCount val="3"/>
                <c:pt idx="0">
                  <c:v>3</c:v>
                </c:pt>
                <c:pt idx="1">
                  <c:v>4</c:v>
                </c:pt>
                <c:pt idx="2">
                  <c:v>5</c:v>
                </c:pt>
              </c:numCache>
            </c:numRef>
          </c:xVal>
          <c:yVal>
            <c:numRef>
              <c:f>'Chart Data'!$B$2:$B$4</c:f>
              <c:numCache>
                <c:formatCode>General</c:formatCode>
                <c:ptCount val="3"/>
                <c:pt idx="0">
                  <c:v>1</c:v>
                </c:pt>
                <c:pt idx="1">
                  <c:v>1</c:v>
                </c:pt>
                <c:pt idx="2">
                  <c:v>1</c:v>
                </c:pt>
              </c:numCache>
            </c:numRef>
          </c:yVal>
          <c:smooth val="1"/>
          <c:extLst>
            <c:ext xmlns:c16="http://schemas.microsoft.com/office/drawing/2014/chart" uri="{C3380CC4-5D6E-409C-BE32-E72D297353CC}">
              <c16:uniqueId val="{00000000-011E-4035-8F1A-99450C630C1D}"/>
            </c:ext>
          </c:extLst>
        </c:ser>
        <c:ser>
          <c:idx val="1"/>
          <c:order val="1"/>
          <c:tx>
            <c:v>Yüksek yayılım</c:v>
          </c:tx>
          <c:marker>
            <c:symbol val="circle"/>
            <c:size val="14"/>
          </c:marker>
          <c:xVal>
            <c:numRef>
              <c:f>'Chart Data'!$C$2:$C$4</c:f>
              <c:numCache>
                <c:formatCode>General</c:formatCode>
                <c:ptCount val="3"/>
                <c:pt idx="0">
                  <c:v>0</c:v>
                </c:pt>
                <c:pt idx="1">
                  <c:v>4</c:v>
                </c:pt>
                <c:pt idx="2">
                  <c:v>8</c:v>
                </c:pt>
              </c:numCache>
            </c:numRef>
          </c:xVal>
          <c:yVal>
            <c:numRef>
              <c:f>'Chart Data'!$D$2:$D$4</c:f>
              <c:numCache>
                <c:formatCode>General</c:formatCode>
                <c:ptCount val="3"/>
                <c:pt idx="0">
                  <c:v>2</c:v>
                </c:pt>
                <c:pt idx="1">
                  <c:v>2</c:v>
                </c:pt>
                <c:pt idx="2">
                  <c:v>2</c:v>
                </c:pt>
              </c:numCache>
            </c:numRef>
          </c:yVal>
          <c:smooth val="1"/>
          <c:extLst>
            <c:ext xmlns:c16="http://schemas.microsoft.com/office/drawing/2014/chart" uri="{C3380CC4-5D6E-409C-BE32-E72D297353CC}">
              <c16:uniqueId val="{00000001-011E-4035-8F1A-99450C630C1D}"/>
            </c:ext>
          </c:extLst>
        </c:ser>
        <c:dLbls>
          <c:showLegendKey val="0"/>
          <c:showVal val="0"/>
          <c:showCatName val="0"/>
          <c:showSerName val="0"/>
          <c:showPercent val="0"/>
          <c:showBubbleSize val="0"/>
        </c:dLbls>
        <c:axId val="48650112"/>
        <c:axId val="48672768"/>
      </c:scatterChart>
      <c:valAx>
        <c:axId val="48672768"/>
        <c:scaling>
          <c:orientation val="minMax"/>
          <c:max val="3"/>
          <c:min val="0"/>
        </c:scaling>
        <c:delete val="0"/>
        <c:axPos val="l"/>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F7F5EF"/>
                </a:solidFill>
                <a:latin typeface="Calibri"/>
                <a:ea typeface="Calibri"/>
                <a:cs typeface="Calibri"/>
              </a:defRPr>
            </a:pPr>
            <a:endParaRPr lang="tr-TR"/>
          </a:p>
        </c:txPr>
        <c:crossAx val="48650112"/>
        <c:crosses val="autoZero"/>
        <c:crossBetween val="midCat"/>
        <c:majorUnit val="1"/>
      </c:valAx>
      <c:valAx>
        <c:axId val="48650112"/>
        <c:scaling>
          <c:orientation val="minMax"/>
          <c:max val="9"/>
          <c:min val="-1"/>
        </c:scaling>
        <c:delete val="0"/>
        <c:axPos val="b"/>
        <c:majorGridlines>
          <c:spPr>
            <a:ln w="9525">
              <a:solidFill>
                <a:srgbClr val="D6D9E0"/>
              </a:solidFill>
            </a:ln>
          </c:spPr>
        </c:majorGridlines>
        <c:title>
          <c:tx>
            <c:rich>
              <a:bodyPr/>
              <a:lstStyle/>
              <a:p>
                <a:r>
                  <a:rPr lang="tr-TR" sz="1875">
                    <a:solidFill>
                      <a:srgbClr val="30343B"/>
                    </a:solidFill>
                    <a:latin typeface="Calibri"/>
                    <a:ea typeface="Calibri"/>
                    <a:cs typeface="Calibri"/>
                  </a:rPr>
                  <a:t>Değer</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875">
                <a:solidFill>
                  <a:srgbClr val="596173"/>
                </a:solidFill>
                <a:latin typeface="Calibri"/>
                <a:ea typeface="Calibri"/>
                <a:cs typeface="Calibri"/>
              </a:defRPr>
            </a:pPr>
            <a:endParaRPr lang="tr-TR"/>
          </a:p>
        </c:txPr>
        <c:crossAx val="48672768"/>
        <c:crosses val="autoZero"/>
        <c:crossBetween val="midCat"/>
        <c:majorUnit val="2"/>
      </c:valAx>
      <c:spPr>
        <a:solidFill>
          <a:srgbClr val="F7F5EF"/>
        </a:solidFill>
        <a:ln w="0">
          <a:noFill/>
        </a:ln>
      </c:spPr>
    </c:plotArea>
    <c:legend>
      <c:legendPos val="b"/>
      <c:overlay val="0"/>
      <c:txPr>
        <a:bodyPr anchorCtr="1"/>
        <a:lstStyle/>
        <a:p>
          <a:pPr>
            <a:defRPr sz="2400">
              <a:latin typeface="Calibri"/>
              <a:ea typeface="Calibri"/>
              <a:cs typeface="Calibri"/>
            </a:defRPr>
          </a:pPr>
          <a:endParaRPr lang="tr-TR"/>
        </a:p>
      </c:txPr>
    </c:legend>
    <c:plotVisOnly val="1"/>
    <c:dispBlanksAs val="zero"/>
    <c:showDLblsOverMax val="1"/>
  </c:chart>
  <c:spPr>
    <a:solidFill>
      <a:srgbClr val="F7F5E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nn-NO" sz="2000" b="1">
                <a:solidFill>
                  <a:srgbClr val="1E2B55"/>
                </a:solidFill>
              </a:rPr>
              <a:t>Alan ve fiyat: 4 ev</a:t>
            </a:r>
          </a:p>
        </c:rich>
      </c:tx>
      <c:overlay val="0"/>
    </c:title>
    <c:autoTitleDeleted val="0"/>
    <c:plotArea>
      <c:layout/>
      <c:scatterChart>
        <c:scatterStyle val="lineMarker"/>
        <c:varyColors val="0"/>
        <c:ser>
          <c:idx val="0"/>
          <c:order val="0"/>
          <c:tx>
            <c:strRef>
              <c:f>Sheet1!$B$1</c:f>
              <c:strCache>
                <c:ptCount val="1"/>
                <c:pt idx="0">
                  <c:v>Fiyat (bin TL)</c:v>
                </c:pt>
              </c:strCache>
            </c:strRef>
          </c:tx>
          <c:spPr>
            <a:ln w="47625">
              <a:noFill/>
            </a:ln>
          </c:spPr>
          <c:marker>
            <c:symbol val="circle"/>
            <c:size val="14"/>
            <c:spPr>
              <a:solidFill>
                <a:srgbClr val="1E2B55"/>
              </a:solidFill>
              <a:ln>
                <a:noFill/>
              </a:ln>
            </c:spPr>
          </c:marker>
          <c:dPt>
            <c:idx val="3"/>
            <c:marker>
              <c:spPr>
                <a:solidFill>
                  <a:srgbClr val="B58F1A"/>
                </a:solidFill>
                <a:ln>
                  <a:noFill/>
                </a:ln>
              </c:spPr>
            </c:marker>
            <c:bubble3D val="0"/>
            <c:extLst>
              <c:ext xmlns:c16="http://schemas.microsoft.com/office/drawing/2014/chart" uri="{C3380CC4-5D6E-409C-BE32-E72D297353CC}">
                <c16:uniqueId val="{00000000-BEBC-467E-A4D0-07B8D89C63E3}"/>
              </c:ext>
            </c:extLst>
          </c:dPt>
          <c:dLbls>
            <c:dLbl>
              <c:idx val="0"/>
              <c:tx>
                <c:rich>
                  <a:bodyPr/>
                  <a:lstStyle/>
                  <a:p>
                    <a:r>
                      <a:rPr lang="en-US" sz="1600"/>
                      <a:t>Ev 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EBC-467E-A4D0-07B8D89C63E3}"/>
                </c:ext>
              </c:extLst>
            </c:dLbl>
            <c:dLbl>
              <c:idx val="1"/>
              <c:tx>
                <c:rich>
                  <a:bodyPr/>
                  <a:lstStyle/>
                  <a:p>
                    <a:r>
                      <a:rPr lang="en-US" sz="1600"/>
                      <a:t>Ev 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EBC-467E-A4D0-07B8D89C63E3}"/>
                </c:ext>
              </c:extLst>
            </c:dLbl>
            <c:dLbl>
              <c:idx val="2"/>
              <c:tx>
                <c:rich>
                  <a:bodyPr/>
                  <a:lstStyle/>
                  <a:p>
                    <a:r>
                      <a:rPr lang="en-US" sz="1600"/>
                      <a:t>Ev 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EBC-467E-A4D0-07B8D89C63E3}"/>
                </c:ext>
              </c:extLst>
            </c:dLbl>
            <c:dLbl>
              <c:idx val="3"/>
              <c:tx>
                <c:rich>
                  <a:bodyPr/>
                  <a:lstStyle/>
                  <a:p>
                    <a:r>
                      <a:rPr lang="en-US" sz="1600"/>
                      <a:t>Ev 5</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EBC-467E-A4D0-07B8D89C63E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Sheet1!$A$2:$A$5</c:f>
              <c:numCache>
                <c:formatCode>General</c:formatCode>
                <c:ptCount val="4"/>
                <c:pt idx="0">
                  <c:v>95</c:v>
                </c:pt>
                <c:pt idx="1">
                  <c:v>120</c:v>
                </c:pt>
                <c:pt idx="2">
                  <c:v>145</c:v>
                </c:pt>
                <c:pt idx="3">
                  <c:v>210</c:v>
                </c:pt>
              </c:numCache>
            </c:numRef>
          </c:xVal>
          <c:yVal>
            <c:numRef>
              <c:f>Sheet1!$B$2:$B$5</c:f>
              <c:numCache>
                <c:formatCode>General</c:formatCode>
                <c:ptCount val="4"/>
                <c:pt idx="0">
                  <c:v>1650</c:v>
                </c:pt>
                <c:pt idx="1">
                  <c:v>1850</c:v>
                </c:pt>
                <c:pt idx="2">
                  <c:v>3100</c:v>
                </c:pt>
                <c:pt idx="3">
                  <c:v>9800</c:v>
                </c:pt>
              </c:numCache>
            </c:numRef>
          </c:yVal>
          <c:smooth val="0"/>
          <c:extLst>
            <c:ext xmlns:c16="http://schemas.microsoft.com/office/drawing/2014/chart" uri="{C3380CC4-5D6E-409C-BE32-E72D297353CC}">
              <c16:uniqueId val="{00000004-BEBC-467E-A4D0-07B8D89C63E3}"/>
            </c:ext>
          </c:extLst>
        </c:ser>
        <c:dLbls>
          <c:showLegendKey val="0"/>
          <c:showVal val="0"/>
          <c:showCatName val="0"/>
          <c:showSerName val="0"/>
          <c:showPercent val="0"/>
          <c:showBubbleSize val="0"/>
        </c:dLbls>
        <c:axId val="-2128940872"/>
        <c:axId val="-2129643912"/>
      </c:scatterChart>
      <c:valAx>
        <c:axId val="-2128940872"/>
        <c:scaling>
          <c:orientation val="minMax"/>
          <c:max val="250"/>
          <c:min val="50"/>
        </c:scaling>
        <c:delete val="0"/>
        <c:axPos val="b"/>
        <c:majorGridlines>
          <c:spPr>
            <a:ln>
              <a:solidFill>
                <a:srgbClr val="D9D9D9"/>
              </a:solidFill>
            </a:ln>
          </c:spPr>
        </c:majorGridlines>
        <c:title>
          <c:tx>
            <c:rich>
              <a:bodyPr/>
              <a:lstStyle/>
              <a:p>
                <a:r>
                  <a:rPr lang="tr-TR" sz="1600" b="1"/>
                  <a:t>Alan (m²)</a:t>
                </a:r>
              </a:p>
            </c:rich>
          </c:tx>
          <c:overlay val="0"/>
        </c:title>
        <c:numFmt formatCode="General" sourceLinked="0"/>
        <c:majorTickMark val="out"/>
        <c:minorTickMark val="none"/>
        <c:tickLblPos val="nextTo"/>
        <c:txPr>
          <a:bodyPr/>
          <a:lstStyle/>
          <a:p>
            <a:pPr>
              <a:defRPr sz="1500"/>
            </a:pPr>
            <a:endParaRPr lang="tr-TR"/>
          </a:p>
        </c:txPr>
        <c:crossAx val="-2129643912"/>
        <c:crosses val="autoZero"/>
        <c:crossBetween val="midCat"/>
        <c:majorUnit val="50"/>
      </c:valAx>
      <c:valAx>
        <c:axId val="-2129643912"/>
        <c:scaling>
          <c:orientation val="minMax"/>
          <c:max val="10000"/>
          <c:min val="0"/>
        </c:scaling>
        <c:delete val="0"/>
        <c:axPos val="l"/>
        <c:majorGridlines>
          <c:spPr>
            <a:ln>
              <a:solidFill>
                <a:srgbClr val="D9D9D9"/>
              </a:solidFill>
            </a:ln>
          </c:spPr>
        </c:majorGridlines>
        <c:title>
          <c:tx>
            <c:rich>
              <a:bodyPr/>
              <a:lstStyle/>
              <a:p>
                <a:r>
                  <a:rPr lang="tr-TR" sz="1600" b="1"/>
                  <a:t>Fiyat (bin TL)</a:t>
                </a:r>
              </a:p>
            </c:rich>
          </c:tx>
          <c:overlay val="0"/>
        </c:title>
        <c:numFmt formatCode="#,##0" sourceLinked="0"/>
        <c:majorTickMark val="out"/>
        <c:minorTickMark val="none"/>
        <c:tickLblPos val="nextTo"/>
        <c:txPr>
          <a:bodyPr/>
          <a:lstStyle/>
          <a:p>
            <a:pPr>
              <a:defRPr sz="1500"/>
            </a:pPr>
            <a:endParaRPr lang="tr-TR"/>
          </a:p>
        </c:txPr>
        <c:crossAx val="-2128940872"/>
        <c:crosses val="autoZero"/>
        <c:crossBetween val="midCat"/>
        <c:majorUnit val="2500"/>
      </c:valAx>
    </c:plotArea>
    <c:plotVisOnly val="1"/>
    <c:dispBlanksAs val="gap"/>
    <c:showDLblsOverMax val="0"/>
  </c:chart>
  <c:txPr>
    <a:bodyPr/>
    <a:lstStyle/>
    <a:p>
      <a:pPr>
        <a:defRPr sz="1600">
          <a:solidFill>
            <a:srgbClr val="595959"/>
          </a:solidFill>
        </a:defRPr>
      </a:pPr>
      <a:endParaRPr lang="tr-T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tr-TR" sz="1650" b="1">
                <a:solidFill>
                  <a:srgbClr val="1E2A4E"/>
                </a:solidFill>
                <a:latin typeface="Calibri"/>
                <a:ea typeface="Calibri"/>
                <a:cs typeface="Calibri"/>
              </a:rPr>
              <a:t>Pozitif örnek</a:t>
            </a:r>
          </a:p>
        </c:rich>
      </c:tx>
      <c:overlay val="0"/>
    </c:title>
    <c:autoTitleDeleted val="0"/>
    <c:plotArea>
      <c:layout/>
      <c:scatterChart>
        <c:scatterStyle val="lineMarker"/>
        <c:varyColors val="1"/>
        <c:ser>
          <c:idx val="0"/>
          <c:order val="0"/>
          <c:tx>
            <c:v>Temsili</c:v>
          </c:tx>
          <c:marker>
            <c:symbol val="circle"/>
            <c:size val="9"/>
          </c:marker>
          <c:xVal>
            <c:numRef>
              <c:f>'Chart Data'!$A$2:$A$6</c:f>
              <c:numCache>
                <c:formatCode>General</c:formatCode>
                <c:ptCount val="5"/>
                <c:pt idx="0">
                  <c:v>1</c:v>
                </c:pt>
                <c:pt idx="1">
                  <c:v>2</c:v>
                </c:pt>
                <c:pt idx="2">
                  <c:v>3</c:v>
                </c:pt>
                <c:pt idx="3">
                  <c:v>4</c:v>
                </c:pt>
                <c:pt idx="4">
                  <c:v>5</c:v>
                </c:pt>
              </c:numCache>
            </c:numRef>
          </c:xVal>
          <c:yVal>
            <c:numRef>
              <c:f>'Chart Data'!$B$2:$B$6</c:f>
              <c:numCache>
                <c:formatCode>General</c:formatCode>
                <c:ptCount val="5"/>
                <c:pt idx="0">
                  <c:v>1</c:v>
                </c:pt>
                <c:pt idx="1">
                  <c:v>2</c:v>
                </c:pt>
                <c:pt idx="2">
                  <c:v>3</c:v>
                </c:pt>
                <c:pt idx="3">
                  <c:v>4</c:v>
                </c:pt>
                <c:pt idx="4">
                  <c:v>5</c:v>
                </c:pt>
              </c:numCache>
            </c:numRef>
          </c:yVal>
          <c:smooth val="1"/>
          <c:extLst>
            <c:ext xmlns:c16="http://schemas.microsoft.com/office/drawing/2014/chart" uri="{C3380CC4-5D6E-409C-BE32-E72D297353CC}">
              <c16:uniqueId val="{00000000-C5EF-42BB-A54E-C506EB15A1B1}"/>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00">
                <a:solidFill>
                  <a:srgbClr val="596173"/>
                </a:solidFill>
                <a:latin typeface="Calibri"/>
                <a:ea typeface="Calibri"/>
                <a:cs typeface="Calibri"/>
              </a:defRPr>
            </a:pPr>
            <a:endParaRPr lang="tr-TR"/>
          </a:p>
        </c:txPr>
        <c:crossAx val="48650112"/>
        <c:crosses val="autoZero"/>
        <c:crossBetween val="midCat"/>
        <c:majorUnit val="2"/>
      </c:valAx>
      <c:valAx>
        <c:axId val="48650112"/>
        <c:scaling>
          <c:orientation val="minMax"/>
          <c:max val="6"/>
          <c:min val="0"/>
        </c:scaling>
        <c:delete val="0"/>
        <c:axPos val="b"/>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00">
                <a:solidFill>
                  <a:srgbClr val="596173"/>
                </a:solidFill>
                <a:latin typeface="Calibri"/>
                <a:ea typeface="Calibri"/>
                <a:cs typeface="Calibri"/>
              </a:defRPr>
            </a:pPr>
            <a:endParaRPr lang="tr-TR"/>
          </a:p>
        </c:txPr>
        <c:crossAx val="48672768"/>
        <c:crosses val="autoZero"/>
        <c:crossBetween val="midCat"/>
        <c:majorUnit val="2"/>
      </c:valAx>
      <c:spPr>
        <a:noFill/>
        <a:ln w="0">
          <a:noFill/>
        </a:ln>
      </c:spPr>
    </c:plotArea>
    <c:plotVisOnly val="1"/>
    <c:dispBlanksAs val="zero"/>
    <c:showDLblsOverMax val="1"/>
  </c:chart>
  <c:spPr>
    <a:no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tr-TR" sz="1650" b="1">
                <a:solidFill>
                  <a:srgbClr val="1E2A4E"/>
                </a:solidFill>
                <a:latin typeface="Calibri"/>
                <a:ea typeface="Calibri"/>
                <a:cs typeface="Calibri"/>
              </a:rPr>
              <a:t>Eğrisel örnek</a:t>
            </a:r>
          </a:p>
        </c:rich>
      </c:tx>
      <c:overlay val="0"/>
    </c:title>
    <c:autoTitleDeleted val="0"/>
    <c:plotArea>
      <c:layout/>
      <c:scatterChart>
        <c:scatterStyle val="lineMarker"/>
        <c:varyColors val="1"/>
        <c:ser>
          <c:idx val="0"/>
          <c:order val="0"/>
          <c:tx>
            <c:v>Temsili</c:v>
          </c:tx>
          <c:marker>
            <c:symbol val="circle"/>
            <c:size val="9"/>
          </c:marker>
          <c:xVal>
            <c:numRef>
              <c:f>'Chart Data'!$A$2:$A$6</c:f>
              <c:numCache>
                <c:formatCode>General</c:formatCode>
                <c:ptCount val="5"/>
                <c:pt idx="0">
                  <c:v>1</c:v>
                </c:pt>
                <c:pt idx="1">
                  <c:v>2</c:v>
                </c:pt>
                <c:pt idx="2">
                  <c:v>3</c:v>
                </c:pt>
                <c:pt idx="3">
                  <c:v>4</c:v>
                </c:pt>
                <c:pt idx="4">
                  <c:v>5</c:v>
                </c:pt>
              </c:numCache>
            </c:numRef>
          </c:xVal>
          <c:yVal>
            <c:numRef>
              <c:f>'Chart Data'!$B$2:$B$6</c:f>
              <c:numCache>
                <c:formatCode>General</c:formatCode>
                <c:ptCount val="5"/>
                <c:pt idx="0">
                  <c:v>4</c:v>
                </c:pt>
                <c:pt idx="1">
                  <c:v>1</c:v>
                </c:pt>
                <c:pt idx="2">
                  <c:v>0</c:v>
                </c:pt>
                <c:pt idx="3">
                  <c:v>1</c:v>
                </c:pt>
                <c:pt idx="4">
                  <c:v>4</c:v>
                </c:pt>
              </c:numCache>
            </c:numRef>
          </c:yVal>
          <c:smooth val="1"/>
          <c:extLst>
            <c:ext xmlns:c16="http://schemas.microsoft.com/office/drawing/2014/chart" uri="{C3380CC4-5D6E-409C-BE32-E72D297353CC}">
              <c16:uniqueId val="{00000000-4568-407D-B409-1F202774B32F}"/>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00">
                <a:solidFill>
                  <a:srgbClr val="596173"/>
                </a:solidFill>
                <a:latin typeface="Calibri"/>
                <a:ea typeface="Calibri"/>
                <a:cs typeface="Calibri"/>
              </a:defRPr>
            </a:pPr>
            <a:endParaRPr lang="tr-TR"/>
          </a:p>
        </c:txPr>
        <c:crossAx val="48650112"/>
        <c:crosses val="autoZero"/>
        <c:crossBetween val="midCat"/>
        <c:majorUnit val="2"/>
      </c:valAx>
      <c:valAx>
        <c:axId val="48650112"/>
        <c:scaling>
          <c:orientation val="minMax"/>
          <c:max val="6"/>
          <c:min val="0"/>
        </c:scaling>
        <c:delete val="0"/>
        <c:axPos val="b"/>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00">
                <a:solidFill>
                  <a:srgbClr val="596173"/>
                </a:solidFill>
                <a:latin typeface="Calibri"/>
                <a:ea typeface="Calibri"/>
                <a:cs typeface="Calibri"/>
              </a:defRPr>
            </a:pPr>
            <a:endParaRPr lang="tr-TR"/>
          </a:p>
        </c:txPr>
        <c:crossAx val="48672768"/>
        <c:crosses val="autoZero"/>
        <c:crossBetween val="midCat"/>
        <c:majorUnit val="2"/>
      </c:valAx>
      <c:spPr>
        <a:noFill/>
        <a:ln w="0">
          <a:noFill/>
        </a:ln>
      </c:spPr>
    </c:plotArea>
    <c:plotVisOnly val="1"/>
    <c:dispBlanksAs val="zero"/>
    <c:showDLblsOverMax val="1"/>
  </c:chart>
  <c:spPr>
    <a:no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tr-TR" sz="1650" b="1">
                <a:solidFill>
                  <a:srgbClr val="1E2A4E"/>
                </a:solidFill>
                <a:latin typeface="Calibri"/>
                <a:ea typeface="Calibri"/>
                <a:cs typeface="Calibri"/>
              </a:rPr>
              <a:t>Negatif örnek</a:t>
            </a:r>
          </a:p>
        </c:rich>
      </c:tx>
      <c:overlay val="0"/>
    </c:title>
    <c:autoTitleDeleted val="0"/>
    <c:plotArea>
      <c:layout/>
      <c:scatterChart>
        <c:scatterStyle val="lineMarker"/>
        <c:varyColors val="1"/>
        <c:ser>
          <c:idx val="0"/>
          <c:order val="0"/>
          <c:tx>
            <c:v>Temsili</c:v>
          </c:tx>
          <c:marker>
            <c:symbol val="circle"/>
            <c:size val="9"/>
          </c:marker>
          <c:xVal>
            <c:numRef>
              <c:f>'Chart Data'!$A$2:$A$6</c:f>
              <c:numCache>
                <c:formatCode>General</c:formatCode>
                <c:ptCount val="5"/>
                <c:pt idx="0">
                  <c:v>1</c:v>
                </c:pt>
                <c:pt idx="1">
                  <c:v>2</c:v>
                </c:pt>
                <c:pt idx="2">
                  <c:v>3</c:v>
                </c:pt>
                <c:pt idx="3">
                  <c:v>4</c:v>
                </c:pt>
                <c:pt idx="4">
                  <c:v>5</c:v>
                </c:pt>
              </c:numCache>
            </c:numRef>
          </c:xVal>
          <c:yVal>
            <c:numRef>
              <c:f>'Chart Data'!$B$2:$B$6</c:f>
              <c:numCache>
                <c:formatCode>General</c:formatCode>
                <c:ptCount val="5"/>
                <c:pt idx="0">
                  <c:v>5</c:v>
                </c:pt>
                <c:pt idx="1">
                  <c:v>4</c:v>
                </c:pt>
                <c:pt idx="2">
                  <c:v>3</c:v>
                </c:pt>
                <c:pt idx="3">
                  <c:v>2</c:v>
                </c:pt>
                <c:pt idx="4">
                  <c:v>1</c:v>
                </c:pt>
              </c:numCache>
            </c:numRef>
          </c:yVal>
          <c:smooth val="1"/>
          <c:extLst>
            <c:ext xmlns:c16="http://schemas.microsoft.com/office/drawing/2014/chart" uri="{C3380CC4-5D6E-409C-BE32-E72D297353CC}">
              <c16:uniqueId val="{00000000-5552-4928-B069-6D3FBAC0F181}"/>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00">
                <a:solidFill>
                  <a:srgbClr val="596173"/>
                </a:solidFill>
                <a:latin typeface="Calibri"/>
                <a:ea typeface="Calibri"/>
                <a:cs typeface="Calibri"/>
              </a:defRPr>
            </a:pPr>
            <a:endParaRPr lang="tr-TR"/>
          </a:p>
        </c:txPr>
        <c:crossAx val="48650112"/>
        <c:crosses val="autoZero"/>
        <c:crossBetween val="midCat"/>
        <c:majorUnit val="2"/>
      </c:valAx>
      <c:valAx>
        <c:axId val="48650112"/>
        <c:scaling>
          <c:orientation val="minMax"/>
          <c:max val="6"/>
          <c:min val="0"/>
        </c:scaling>
        <c:delete val="0"/>
        <c:axPos val="b"/>
        <c:majorGridlines>
          <c:spPr>
            <a:ln w="0">
              <a:no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00">
                <a:solidFill>
                  <a:srgbClr val="596173"/>
                </a:solidFill>
                <a:latin typeface="Calibri"/>
                <a:ea typeface="Calibri"/>
                <a:cs typeface="Calibri"/>
              </a:defRPr>
            </a:pPr>
            <a:endParaRPr lang="tr-TR"/>
          </a:p>
        </c:txPr>
        <c:crossAx val="48672768"/>
        <c:crosses val="autoZero"/>
        <c:crossBetween val="midCat"/>
        <c:majorUnit val="2"/>
      </c:valAx>
      <c:spPr>
        <a:noFill/>
        <a:ln w="0">
          <a:noFill/>
        </a:ln>
      </c:spPr>
    </c:plotArea>
    <c:plotVisOnly val="1"/>
    <c:dispBlanksAs val="zero"/>
    <c:showDLblsOverMax val="1"/>
  </c:chart>
  <c:spPr>
    <a:no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nn-NO" sz="2250" b="1">
                <a:solidFill>
                  <a:srgbClr val="1E2A4E"/>
                </a:solidFill>
                <a:latin typeface="Calibri"/>
                <a:ea typeface="Calibri"/>
                <a:cs typeface="Calibri"/>
              </a:rPr>
              <a:t>Alan ve fiyat: 4 ev</a:t>
            </a:r>
          </a:p>
        </c:rich>
      </c:tx>
      <c:overlay val="0"/>
    </c:title>
    <c:autoTitleDeleted val="0"/>
    <c:plotArea>
      <c:layout/>
      <c:scatterChart>
        <c:scatterStyle val="lineMarker"/>
        <c:varyColors val="1"/>
        <c:ser>
          <c:idx val="0"/>
          <c:order val="0"/>
          <c:tx>
            <c:v>Ev 4</c:v>
          </c:tx>
          <c:marker>
            <c:symbol val="circle"/>
            <c:size val="11"/>
          </c:marker>
          <c:xVal>
            <c:numRef>
              <c:f>'Chart Data'!$A$2:$A$2</c:f>
              <c:numCache>
                <c:formatCode>General</c:formatCode>
                <c:ptCount val="1"/>
                <c:pt idx="0">
                  <c:v>95</c:v>
                </c:pt>
              </c:numCache>
            </c:numRef>
          </c:xVal>
          <c:yVal>
            <c:numRef>
              <c:f>'Chart Data'!$B$2:$B$2</c:f>
              <c:numCache>
                <c:formatCode>0</c:formatCode>
                <c:ptCount val="1"/>
                <c:pt idx="0">
                  <c:v>1650</c:v>
                </c:pt>
              </c:numCache>
            </c:numRef>
          </c:yVal>
          <c:smooth val="1"/>
          <c:extLst>
            <c:ext xmlns:c16="http://schemas.microsoft.com/office/drawing/2014/chart" uri="{C3380CC4-5D6E-409C-BE32-E72D297353CC}">
              <c16:uniqueId val="{00000000-14B9-4C2A-9A87-04D07AE890E4}"/>
            </c:ext>
          </c:extLst>
        </c:ser>
        <c:ser>
          <c:idx val="1"/>
          <c:order val="1"/>
          <c:tx>
            <c:v>Ev 1</c:v>
          </c:tx>
          <c:marker>
            <c:symbol val="circle"/>
            <c:size val="11"/>
          </c:marker>
          <c:xVal>
            <c:numRef>
              <c:f>'Chart Data'!$C$2:$C$2</c:f>
              <c:numCache>
                <c:formatCode>General</c:formatCode>
                <c:ptCount val="1"/>
                <c:pt idx="0">
                  <c:v>120</c:v>
                </c:pt>
              </c:numCache>
            </c:numRef>
          </c:xVal>
          <c:yVal>
            <c:numRef>
              <c:f>'Chart Data'!$D$2:$D$2</c:f>
              <c:numCache>
                <c:formatCode>0</c:formatCode>
                <c:ptCount val="1"/>
                <c:pt idx="0">
                  <c:v>1850</c:v>
                </c:pt>
              </c:numCache>
            </c:numRef>
          </c:yVal>
          <c:smooth val="1"/>
          <c:extLst>
            <c:ext xmlns:c16="http://schemas.microsoft.com/office/drawing/2014/chart" uri="{C3380CC4-5D6E-409C-BE32-E72D297353CC}">
              <c16:uniqueId val="{00000001-14B9-4C2A-9A87-04D07AE890E4}"/>
            </c:ext>
          </c:extLst>
        </c:ser>
        <c:ser>
          <c:idx val="2"/>
          <c:order val="2"/>
          <c:tx>
            <c:v>Ev 3</c:v>
          </c:tx>
          <c:marker>
            <c:symbol val="circle"/>
            <c:size val="11"/>
          </c:marker>
          <c:xVal>
            <c:numRef>
              <c:f>'Chart Data'!$E$2:$E$2</c:f>
              <c:numCache>
                <c:formatCode>General</c:formatCode>
                <c:ptCount val="1"/>
                <c:pt idx="0">
                  <c:v>145</c:v>
                </c:pt>
              </c:numCache>
            </c:numRef>
          </c:xVal>
          <c:yVal>
            <c:numRef>
              <c:f>'Chart Data'!$F$2:$F$2</c:f>
              <c:numCache>
                <c:formatCode>0</c:formatCode>
                <c:ptCount val="1"/>
                <c:pt idx="0">
                  <c:v>3100</c:v>
                </c:pt>
              </c:numCache>
            </c:numRef>
          </c:yVal>
          <c:smooth val="1"/>
          <c:extLst>
            <c:ext xmlns:c16="http://schemas.microsoft.com/office/drawing/2014/chart" uri="{C3380CC4-5D6E-409C-BE32-E72D297353CC}">
              <c16:uniqueId val="{00000002-14B9-4C2A-9A87-04D07AE890E4}"/>
            </c:ext>
          </c:extLst>
        </c:ser>
        <c:ser>
          <c:idx val="3"/>
          <c:order val="3"/>
          <c:tx>
            <c:v>Ev 5</c:v>
          </c:tx>
          <c:marker>
            <c:symbol val="circle"/>
            <c:size val="11"/>
          </c:marker>
          <c:xVal>
            <c:numRef>
              <c:f>'Chart Data'!$G$2:$G$2</c:f>
              <c:numCache>
                <c:formatCode>General</c:formatCode>
                <c:ptCount val="1"/>
                <c:pt idx="0">
                  <c:v>210</c:v>
                </c:pt>
              </c:numCache>
            </c:numRef>
          </c:xVal>
          <c:yVal>
            <c:numRef>
              <c:f>'Chart Data'!$H$2:$H$2</c:f>
              <c:numCache>
                <c:formatCode>0</c:formatCode>
                <c:ptCount val="1"/>
                <c:pt idx="0">
                  <c:v>9800</c:v>
                </c:pt>
              </c:numCache>
            </c:numRef>
          </c:yVal>
          <c:smooth val="1"/>
          <c:extLst>
            <c:ext xmlns:c16="http://schemas.microsoft.com/office/drawing/2014/chart" uri="{C3380CC4-5D6E-409C-BE32-E72D297353CC}">
              <c16:uniqueId val="{00000003-14B9-4C2A-9A87-04D07AE890E4}"/>
            </c:ext>
          </c:extLst>
        </c:ser>
        <c:dLbls>
          <c:showLegendKey val="0"/>
          <c:showVal val="0"/>
          <c:showCatName val="0"/>
          <c:showSerName val="0"/>
          <c:showPercent val="0"/>
          <c:showBubbleSize val="0"/>
        </c:dLbls>
        <c:axId val="48650112"/>
        <c:axId val="48672768"/>
      </c:scatterChart>
      <c:valAx>
        <c:axId val="48672768"/>
        <c:scaling>
          <c:orientation val="minMax"/>
          <c:max val="10000"/>
          <c:min val="0"/>
        </c:scaling>
        <c:delete val="0"/>
        <c:axPos val="l"/>
        <c:majorGridlines>
          <c:spPr>
            <a:ln w="9525">
              <a:solidFill>
                <a:srgbClr val="D6D9E0"/>
              </a:solidFill>
            </a:ln>
          </c:spPr>
        </c:majorGridlines>
        <c:title>
          <c:tx>
            <c:rich>
              <a:bodyPr/>
              <a:lstStyle/>
              <a:p>
                <a:r>
                  <a:rPr lang="tr-TR" sz="1575">
                    <a:solidFill>
                      <a:srgbClr val="30343B"/>
                    </a:solidFill>
                    <a:latin typeface="Calibri"/>
                    <a:ea typeface="Calibri"/>
                    <a:cs typeface="Calibri"/>
                  </a:rPr>
                  <a:t>Fiyat (bin TL)</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75">
                <a:solidFill>
                  <a:srgbClr val="596173"/>
                </a:solidFill>
                <a:latin typeface="Calibri"/>
                <a:ea typeface="Calibri"/>
                <a:cs typeface="Calibri"/>
              </a:defRPr>
            </a:pPr>
            <a:endParaRPr lang="tr-TR"/>
          </a:p>
        </c:txPr>
        <c:crossAx val="48650112"/>
        <c:crosses val="autoZero"/>
        <c:crossBetween val="midCat"/>
        <c:majorUnit val="2500"/>
      </c:valAx>
      <c:valAx>
        <c:axId val="48650112"/>
        <c:scaling>
          <c:orientation val="minMax"/>
          <c:max val="225"/>
          <c:min val="75"/>
        </c:scaling>
        <c:delete val="0"/>
        <c:axPos val="b"/>
        <c:majorGridlines>
          <c:spPr>
            <a:ln w="9525">
              <a:solidFill>
                <a:srgbClr val="D6D9E0"/>
              </a:solidFill>
            </a:ln>
          </c:spPr>
        </c:majorGridlines>
        <c:title>
          <c:tx>
            <c:rich>
              <a:bodyPr/>
              <a:lstStyle/>
              <a:p>
                <a:r>
                  <a:rPr lang="tr-TR" sz="1575">
                    <a:solidFill>
                      <a:srgbClr val="30343B"/>
                    </a:solidFill>
                    <a:latin typeface="Calibri"/>
                    <a:ea typeface="Calibri"/>
                    <a:cs typeface="Calibri"/>
                  </a:rPr>
                  <a:t>Alan (m²)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596173"/>
                </a:solidFill>
                <a:latin typeface="Calibri"/>
                <a:ea typeface="Calibri"/>
                <a:cs typeface="Calibri"/>
              </a:defRPr>
            </a:pPr>
            <a:endParaRPr lang="tr-TR"/>
          </a:p>
        </c:txPr>
        <c:crossAx val="48672768"/>
        <c:crosses val="autoZero"/>
        <c:crossBetween val="midCat"/>
        <c:majorUnit val="25"/>
      </c:valAx>
      <c:spPr>
        <a:solidFill>
          <a:srgbClr val="F7F5EF"/>
        </a:solidFill>
        <a:ln w="0">
          <a:noFill/>
        </a:ln>
      </c:spPr>
    </c:plotArea>
    <c:plotVisOnly val="1"/>
    <c:dispBlanksAs val="zero"/>
    <c:showDLblsOverMax val="1"/>
  </c:chart>
  <c:spPr>
    <a:solidFill>
      <a:srgbClr val="F7F5E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endParaRPr lang="tr-TR" sz="1200"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Veri yalnızca sayılardan oluşmaz. Kategoriler de veri olabilir; örneğin şehir adı. Aynı konut hakkında alan ölçümü, fotoğraf, ilan açıklaması veya ses kaydı bulunabilir.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DIKW kavramsal bir çerçevedir: ham kayıt, bağlamlandırılmış kayıt, yorumlanan bilgi ve bağlama göre karar. 1.850.000/120 = 15.416,67 TL/m². Bu eğitim örneğinden şehirlerin genel fiyat düzeyi hakkında sonuç çıkarılmaz.</a:t>
            </a:r>
            <a:endParaRPr lang="tr-TR" sz="1200"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Ham veriyle birlikte kaynak, tarih ve birim bilgisi de kaydedilir. Veriyi tanıma, kalite kontrolü, temizleme ve keşifsel analiz birbirini besleyen adımlardır; tek seferlik katı bir sıra değildir.</a:t>
            </a:r>
            <a:endParaRPr lang="tr-TR" sz="1200"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Toplanan veride her satırın temsil ettiği birim ve veri kapsamı belirlenir. Konut için ilan fiyatı ile gerçekleşen satış fiyatı farklı ölçümlerdir. Aynı konutun birden fazla ilanı yinelenen kayıt oluşturabilir. Kaynak kullanım koşulları ve kişisel bilgilerin korunması gözetilir.</a:t>
            </a:r>
            <a:endParaRPr lang="tr-TR" sz="1200"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Şemadaki renkli evler temsili bir evren–örneklem çizimidir. Uygulamada kullanılan beş kayıt bu şemanın sayısal dökümü değildir. Evren araştırma sorusuna, tarihe ve coğrafyaya göre tanımlanır. Beş temsili kayıt Türkiye konut piyasasının temsilî örneklemi değildir.</a:t>
            </a:r>
            <a:endParaRPr lang="tr-TR" sz="1200"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Burada verinin biçimi anlatılır. Sonraki slaytta sayısal ve kategorik değişkenler ayrılır. Tablosal veri her iki türü içerebilir. Görüntü, metin ve ses bilgisayarda sayısal olarak temsil edilir.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Sürekli değişkenler bir aralıkta ara değerler alır. Kesikli değişkenler sayılabilir ayrık değerler alır; sayım sonuçları tipik örnektir. Sayıyla yazılan her alan nicelik değildir; Ev ID bir kimliktir.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Duygu analizi, spam tespiti ve konu sınıflandırma farklı metin görevleridir. Metinler sözcük sayımları veya vektörler gibi sayısal temsillerle modele aktarılır. Modelin başarısı eğitim verisine ve yöntemine bağlıdır.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a:xfrm>
            <a:off x="2290763" y="512763"/>
            <a:ext cx="4562475" cy="2566987"/>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42618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Dalga biçimi genliğin zamana göre değişimini gösterir. Spektrogram frekans bileşenlerinin gücünü zaman ve frekansa göre gösterir. Kaynak görsel temsili ses örnekleri içerir; kaynak ses dosyaları bulunmadığı için ölçülmüş sonuç olarak kullanılmaz.</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https://docs.scipy.org/doc/scipy/reference/generated/scipy.signal.spectrogram.html</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Örneğimizde kimlik dahil 5 satır, 6 sütun vardır. Bir hedef fiyat eksiktir. Alan m², fiyat bin TL, yaş yıl birimindedir. Yinelenen kayıt, birim ve kapsam kontrolleri yalnızca boş hücre kontrolünden farklıdır.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dirty="0">
                <a:solidFill>
                  <a:srgbClr val="30343B"/>
                </a:solidFill>
                <a:latin typeface="Calibri"/>
                <a:ea typeface="Calibri"/>
                <a:cs typeface="Calibri"/>
              </a:rPr>
              <a:t>Veriler eğitim amacıyla hazırlanmış temsili kayıtlardır. Birimler: yaş yıl, alan m², fiyat bin TL. Ev ID kayıt kimliğidir. Yaş tam yıl olarak kaydedilmiştir. Ev 2’nin hedef fiyatı eksiktir.</a:t>
            </a:r>
            <a:endParaRPr lang="tr-TR" sz="1200"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cs-CZ" sz="1200" b="0" i="0" u="none" strike="noStrike" kern="1200" cap="none" spc="0" normalizeH="0" baseline="0" noProof="0">
                <a:ln>
                  <a:noFill/>
                </a:ln>
                <a:solidFill>
                  <a:prstClr val="black"/>
                </a:solidFill>
                <a:effectLst/>
                <a:uLnTx/>
                <a:uFillTx/>
                <a:latin typeface="Calibri"/>
                <a:ea typeface="+mn-ea"/>
                <a:cs typeface="+mn-cs"/>
              </a:rPr>
              <a:t>‹#›</a:t>
            </a:r>
          </a:p>
        </p:txBody>
      </p:sp>
    </p:spTree>
    <p:extLst>
      <p:ext uri="{BB962C8B-B14F-4D97-AF65-F5344CB8AC3E}">
        <p14:creationId xmlns:p14="http://schemas.microsoft.com/office/powerpoint/2010/main" val="1075371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Veri türü ve modeldeki rol birbirinden farklıdır. Fiyat sayısal bir değişkendir ve bu tahmin probleminde hedef rolündedir. Yaş kavramsal olarak süreyi ölçer; bu veri setinde tam yıl hassasiyetinde kaydedilmiştir.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Bu örnekte eksik olan hedef fiyat Ev 2’ye aittir. Fiyatı bilinmeyen kayıt fiyat istatistiklerinden ve alan–fiyat grafiğinden çıkarılır. Hedefi ortalamayla doldurmak gerçek etiket üretmez; bu kayıtla tahmin doğruluğu ölçülmez.</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Bilinen fiyatlar Ev1=1850, Ev3=3100, Ev4=1650, Ev5=9800 bin TL. Ev2 sıfır fiyatlı ev değildir. Birim, kayıt kaynağı ve gerçek konut özellikleri kontrol edilir. Görsel olarak farklı bir kayıt bulmak, onu veri hatası olarak ilan etmek için yeterli değildir.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Sol formül evren varyansı, sağ formül örneklem varyansı tahminidir. μ evren ortalaması, x̄ örneklem ortalaması, N evren büyüklüğü, n örneklem büyüklüğüdür. Standart sapma varyansın kareköküdür. Varyansın birimi (bin TL)², standart sapmanın birimi bin TL’dir. Sağdaki temsili serilerin her ikisinin ortalaması4: düşük yayılım3,4,5; yüksek yayılım0,4,8. Aykırı değerler her iki ölçüyü de etkiler.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https://www.itl.nist.gov/div898/handbook/eda/section3/eda356.htm</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Noktalar tam kayıtlardır: Ev1=(120,1850), Ev3=(145,3100), Ev4=(95,1650), Ev5=(210,9800). Kovaryansın büyüklüğü birimlere bağlıdır; sayısal olarak sıfıra yakın olması tek başına ilişki gücü değerlendirmesi değildir. Sıfır kovaryans bütün ilişki türlerinin yokluğu veya bağımsızlık anlamına gelmez.</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Pearson korelasyonu doğrusal ilişkiyi özetler. +1 ve −1 tam doğrusal ilişkilerdir; −1 ters orantı anlamına gelmez. Orta grafik y=(x−3)² ilişkisini gösterir ve Pearson r sıfırdır; eğrisel ilişki vardır. Değişkenlerden biri sabitse Pearson korelasyonu tanımsızdır.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https://docs.scipy.org/doc/scipy/reference/generated/scipy.stats.pearsonr.html</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Histogramdaki fiyatlar dört bilinen kayıttır. Saçılım grafiği de dört tam çifti kullanır; eksik fiyat sıfır noktasına dönüştürülmez. Kaynak kutu grafiği korunmuştur: medyan2475, ortalama4100, doğrusal ara değerleme ile Q1=1800, Q3=4775. 1,5×IQR kuralında9800 olası aykırı gözlemdir; kural veri hatası teşhisi koymaz. Çeyrek hesaplama yöntemleri farklı sonuçlar verebilir.</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oAutofit/>
          </a:bodyPr>
          <a:lstStyle/>
          <a:p>
            <a:pPr marL="0" indent="0"/>
            <a:r>
              <a:rPr lang="tr-TR" sz="1200" b="0">
                <a:solidFill>
                  <a:srgbClr val="30343B"/>
                </a:solidFill>
                <a:latin typeface="Calibri"/>
                <a:ea typeface="Calibri"/>
                <a:cs typeface="Calibri"/>
              </a:rPr>
              <a:t>Yanıtlar: Girdiler yaş, alan, oda sayısı ve şehir; hedef fiyat; kimlik Ev ID. Ev2’nin fiyatı eksik. Bilinen dört fiyatın ortalaması4100, medyanı2475 bin TL. Alan–fiyat için dört tam çiftten oluşan saçılım grafiği kullanılır. Ev5’in9800 bin TL fiyatı için birim, kayıt ve gerçek konut özellikleri araştırılır. Python başlangıcı: df.info(); df.isna().sum(); df["fiyat_bin_tl"].agg(["mean","median"]).</a:t>
            </a:r>
            <a:endParaRPr lang="tr-TR" sz="120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chart" Target="../charts/chart2.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chart" Target="../charts/chart7.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Freeform 2"/>
          <p:cNvSpPr/>
          <p:nvPr/>
        </p:nvSpPr>
        <p:spPr>
          <a:xfrm>
            <a:off x="457200" y="387325"/>
            <a:ext cx="2286000" cy="2292399"/>
          </a:xfrm>
          <a:custGeom>
            <a:avLst/>
            <a:gdLst/>
            <a:ahLst/>
            <a:cxnLst/>
            <a:rect l="l" t="t" r="r" b="b"/>
            <a:pathLst>
              <a:path w="2286000" h="2292399">
                <a:moveTo>
                  <a:pt x="0" y="0"/>
                </a:moveTo>
                <a:lnTo>
                  <a:pt x="2286000" y="0"/>
                </a:lnTo>
                <a:lnTo>
                  <a:pt x="2286000" y="2292399"/>
                </a:lnTo>
                <a:lnTo>
                  <a:pt x="0" y="2292399"/>
                </a:lnTo>
                <a:lnTo>
                  <a:pt x="0" y="0"/>
                </a:lnTo>
                <a:close/>
              </a:path>
            </a:pathLst>
          </a:custGeom>
          <a:blipFill>
            <a:blip r:embed="rId3"/>
            <a:stretch>
              <a:fillRect l="-55612" t="-13573" r="-58047" b="-12600"/>
            </a:stretch>
          </a:blipFill>
        </p:spPr>
      </p:sp>
      <p:sp>
        <p:nvSpPr>
          <p:cNvPr id="3" name="Freeform 3"/>
          <p:cNvSpPr/>
          <p:nvPr/>
        </p:nvSpPr>
        <p:spPr>
          <a:xfrm>
            <a:off x="3238019" y="695324"/>
            <a:ext cx="4953000" cy="1676400"/>
          </a:xfrm>
          <a:custGeom>
            <a:avLst/>
            <a:gdLst/>
            <a:ahLst/>
            <a:cxnLst/>
            <a:rect l="l" t="t" r="r" b="b"/>
            <a:pathLst>
              <a:path w="4591364" h="1527731">
                <a:moveTo>
                  <a:pt x="0" y="0"/>
                </a:moveTo>
                <a:lnTo>
                  <a:pt x="4591363" y="0"/>
                </a:lnTo>
                <a:lnTo>
                  <a:pt x="4591363" y="1527732"/>
                </a:lnTo>
                <a:lnTo>
                  <a:pt x="0" y="1527732"/>
                </a:lnTo>
                <a:lnTo>
                  <a:pt x="0" y="0"/>
                </a:lnTo>
                <a:close/>
              </a:path>
            </a:pathLst>
          </a:custGeom>
          <a:blipFill>
            <a:blip r:embed="rId4"/>
            <a:stretch>
              <a:fillRect/>
            </a:stretch>
          </a:blipFill>
        </p:spPr>
        <p:txBody>
          <a:bodyPr/>
          <a:lstStyle/>
          <a:p>
            <a:endParaRPr lang="tr-TR" dirty="0"/>
          </a:p>
        </p:txBody>
      </p:sp>
      <p:sp>
        <p:nvSpPr>
          <p:cNvPr id="4" name="Title Text"/>
          <p:cNvSpPr txBox="1"/>
          <p:nvPr/>
        </p:nvSpPr>
        <p:spPr>
          <a:xfrm>
            <a:off x="809539" y="3340613"/>
            <a:ext cx="8896522" cy="1307587"/>
          </a:xfrm>
          <a:prstGeom prst="rect">
            <a:avLst/>
          </a:prstGeom>
        </p:spPr>
        <p:txBody>
          <a:bodyPr lIns="0" tIns="0" rIns="0" bIns="0" anchor="t">
            <a:noAutofit/>
          </a:bodyPr>
          <a:lstStyle/>
          <a:p>
            <a:pPr algn="l">
              <a:lnSpc>
                <a:spcPct val="100000"/>
              </a:lnSpc>
            </a:pPr>
            <a:r>
              <a:rPr lang="tr-TR" sz="8000" b="1" dirty="0">
                <a:solidFill>
                  <a:srgbClr val="1E2A4E"/>
                </a:solidFill>
                <a:latin typeface="Cambria"/>
                <a:ea typeface="Cambria"/>
                <a:cs typeface="Cambria"/>
              </a:rPr>
              <a:t>VERİDEN</a:t>
            </a:r>
          </a:p>
          <a:p>
            <a:pPr algn="l">
              <a:lnSpc>
                <a:spcPct val="100000"/>
              </a:lnSpc>
            </a:pPr>
            <a:r>
              <a:rPr lang="tr-TR" sz="8000" b="1" dirty="0">
                <a:solidFill>
                  <a:srgbClr val="CCA81D"/>
                </a:solidFill>
                <a:latin typeface="Cambria"/>
                <a:ea typeface="Cambria"/>
                <a:cs typeface="Cambria"/>
              </a:rPr>
              <a:t>BİLGİYE</a:t>
            </a:r>
          </a:p>
        </p:txBody>
      </p:sp>
      <p:sp>
        <p:nvSpPr>
          <p:cNvPr id="11" name="Subtitle Text"/>
          <p:cNvSpPr txBox="1"/>
          <p:nvPr/>
        </p:nvSpPr>
        <p:spPr>
          <a:xfrm>
            <a:off x="1143000" y="6292593"/>
            <a:ext cx="12001500" cy="666750"/>
          </a:xfrm>
          <a:prstGeom prst="rect">
            <a:avLst/>
          </a:prstGeom>
        </p:spPr>
        <p:txBody>
          <a:bodyPr wrap="square" lIns="0" tIns="0" rIns="0" bIns="0" anchor="t">
            <a:noAutofit/>
          </a:bodyPr>
          <a:lstStyle/>
          <a:p>
            <a:pPr marL="0" indent="0" algn="l"/>
            <a:endParaRPr lang="tr-TR" sz="3200" dirty="0"/>
          </a:p>
        </p:txBody>
      </p:sp>
      <p:sp>
        <p:nvSpPr>
          <p:cNvPr id="5" name="Freeform 5"/>
          <p:cNvSpPr/>
          <p:nvPr/>
        </p:nvSpPr>
        <p:spPr>
          <a:xfrm>
            <a:off x="16077582" y="3190433"/>
            <a:ext cx="2232000" cy="4114800"/>
          </a:xfrm>
          <a:custGeom>
            <a:avLst/>
            <a:gdLst/>
            <a:ahLst/>
            <a:cxnLst/>
            <a:rect l="l" t="t" r="r" b="b"/>
            <a:pathLst>
              <a:path w="2363436" h="4114800">
                <a:moveTo>
                  <a:pt x="0" y="0"/>
                </a:moveTo>
                <a:lnTo>
                  <a:pt x="2363436" y="0"/>
                </a:lnTo>
                <a:lnTo>
                  <a:pt x="236343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1336" r="-84880"/>
            </a:stretch>
          </a:blipFill>
        </p:spPr>
      </p:sp>
      <p:sp>
        <p:nvSpPr>
          <p:cNvPr id="6" name="Freeform 6"/>
          <p:cNvSpPr/>
          <p:nvPr/>
        </p:nvSpPr>
        <p:spPr>
          <a:xfrm>
            <a:off x="14271890" y="0"/>
            <a:ext cx="4032000" cy="41148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2" r="-3403"/>
            </a:stretch>
          </a:blipFill>
        </p:spPr>
        <p:txBody>
          <a:bodyPr/>
          <a:lstStyle/>
          <a:p>
            <a:endParaRPr lang="tr-TR" dirty="0"/>
          </a:p>
        </p:txBody>
      </p:sp>
      <p:sp>
        <p:nvSpPr>
          <p:cNvPr id="7" name="Freeform 7"/>
          <p:cNvSpPr/>
          <p:nvPr/>
        </p:nvSpPr>
        <p:spPr>
          <a:xfrm>
            <a:off x="14298523" y="6359478"/>
            <a:ext cx="3960000" cy="3927522"/>
          </a:xfrm>
          <a:custGeom>
            <a:avLst/>
            <a:gdLst/>
            <a:ahLst/>
            <a:cxnLst/>
            <a:rect l="l" t="t" r="r" b="b"/>
            <a:pathLst>
              <a:path w="4039159" h="3941030">
                <a:moveTo>
                  <a:pt x="0" y="0"/>
                </a:moveTo>
                <a:lnTo>
                  <a:pt x="4039159" y="0"/>
                </a:lnTo>
                <a:lnTo>
                  <a:pt x="4039159" y="3941029"/>
                </a:lnTo>
                <a:lnTo>
                  <a:pt x="0" y="3941029"/>
                </a:lnTo>
                <a:lnTo>
                  <a:pt x="0" y="0"/>
                </a:lnTo>
                <a:close/>
              </a:path>
            </a:pathLst>
          </a:custGeom>
          <a:blipFill>
            <a:blip r:embed="rId5">
              <a:extLst>
                <a:ext uri="{96DAC541-7B7A-43D3-8B79-37D633B846F1}">
                  <asvg:svgBlip xmlns:asvg="http://schemas.microsoft.com/office/drawing/2016/SVG/main" r:embed="rId6"/>
                </a:ext>
              </a:extLst>
            </a:blip>
            <a:stretch>
              <a:fillRect l="-365" r="-4593" b="-4409"/>
            </a:stretch>
          </a:blipFill>
        </p:spPr>
      </p:sp>
      <p:sp>
        <p:nvSpPr>
          <p:cNvPr id="13" name="Tag Text">
            <a:extLst>
              <a:ext uri="{FF2B5EF4-FFF2-40B4-BE49-F238E27FC236}">
                <a16:creationId xmlns:a16="http://schemas.microsoft.com/office/drawing/2014/main" id="{C3984BE7-0ADD-4D7D-8886-71AFA2A215AC}"/>
              </a:ext>
            </a:extLst>
          </p:cNvPr>
          <p:cNvSpPr txBox="1"/>
          <p:nvPr/>
        </p:nvSpPr>
        <p:spPr>
          <a:xfrm>
            <a:off x="5257800" y="8801100"/>
            <a:ext cx="6000000" cy="450000"/>
          </a:xfrm>
          <a:prstGeom prst="rect">
            <a:avLst/>
          </a:prstGeom>
        </p:spPr>
        <p:txBody>
          <a:bodyPr lIns="0" tIns="0" rIns="0" bIns="0" anchor="t">
            <a:noAutofit/>
          </a:bodyPr>
          <a:lstStyle/>
          <a:p>
            <a:pPr algn="l"/>
            <a:r>
              <a:rPr lang="tr-TR" sz="4400" b="1" dirty="0">
                <a:solidFill>
                  <a:srgbClr val="1E2A4E"/>
                </a:solidFill>
                <a:latin typeface="Calibri"/>
                <a:ea typeface="Calibri"/>
                <a:cs typeface="Calibri"/>
              </a:rPr>
              <a:t>DATA KAMP</a:t>
            </a:r>
            <a:r>
              <a:rPr lang="tr-TR" sz="4400" dirty="0">
                <a:solidFill>
                  <a:srgbClr val="8A8A8A"/>
                </a:solidFill>
                <a:latin typeface="Calibri"/>
                <a:ea typeface="Calibri"/>
                <a:cs typeface="Calibri"/>
              </a:rPr>
              <a:t>  |  </a:t>
            </a:r>
            <a:r>
              <a:rPr lang="tr-TR" sz="4400" b="1" dirty="0">
                <a:solidFill>
                  <a:srgbClr val="CCA81D"/>
                </a:solidFill>
                <a:latin typeface="Calibri"/>
                <a:ea typeface="Calibri"/>
                <a:cs typeface="Calibri"/>
              </a:rPr>
              <a:t>2. HAFTA</a:t>
            </a:r>
          </a:p>
        </p:txBody>
      </p:sp>
      <p:sp>
        <p:nvSpPr>
          <p:cNvPr id="14" name="Metin kutusu 13">
            <a:extLst>
              <a:ext uri="{FF2B5EF4-FFF2-40B4-BE49-F238E27FC236}">
                <a16:creationId xmlns:a16="http://schemas.microsoft.com/office/drawing/2014/main" id="{7E69872F-1E1F-41D2-9472-078E7CAD47C7}"/>
              </a:ext>
            </a:extLst>
          </p:cNvPr>
          <p:cNvSpPr txBox="1"/>
          <p:nvPr/>
        </p:nvSpPr>
        <p:spPr>
          <a:xfrm>
            <a:off x="818683" y="6359478"/>
            <a:ext cx="11506200" cy="707886"/>
          </a:xfrm>
          <a:prstGeom prst="rect">
            <a:avLst/>
          </a:prstGeom>
          <a:noFill/>
        </p:spPr>
        <p:txBody>
          <a:bodyPr wrap="square">
            <a:spAutoFit/>
          </a:bodyPr>
          <a:lstStyle/>
          <a:p>
            <a:pPr marL="0" indent="0" algn="l"/>
            <a:r>
              <a:rPr lang="tr-TR" sz="4000" b="1" dirty="0">
                <a:solidFill>
                  <a:srgbClr val="1E2A4E"/>
                </a:solidFill>
                <a:latin typeface="Calibri"/>
                <a:ea typeface="Calibri"/>
                <a:cs typeface="Calibri"/>
              </a:rPr>
              <a:t>Veri Türleri, Temel İstatistik ve </a:t>
            </a:r>
            <a:r>
              <a:rPr lang="tr-TR" sz="4000" b="1" dirty="0" err="1">
                <a:solidFill>
                  <a:srgbClr val="1E2A4E"/>
                </a:solidFill>
                <a:latin typeface="Calibri"/>
                <a:ea typeface="Calibri"/>
                <a:cs typeface="Calibri"/>
              </a:rPr>
              <a:t>Keşifsel</a:t>
            </a:r>
            <a:r>
              <a:rPr lang="tr-TR" sz="4000" b="1" dirty="0">
                <a:solidFill>
                  <a:srgbClr val="1E2A4E"/>
                </a:solidFill>
                <a:latin typeface="Calibri"/>
                <a:ea typeface="Calibri"/>
                <a:cs typeface="Calibri"/>
              </a:rPr>
              <a:t> Veri Analizi</a:t>
            </a:r>
            <a:endParaRPr lang="tr-TR"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2" name="Akış Çizelgesi: Öteki İşlem 31">
            <a:extLst>
              <a:ext uri="{FF2B5EF4-FFF2-40B4-BE49-F238E27FC236}">
                <a16:creationId xmlns:a16="http://schemas.microsoft.com/office/drawing/2014/main" id="{3F339CB4-B3A5-480D-AF25-56F0FDBBBAA7}"/>
              </a:ext>
            </a:extLst>
          </p:cNvPr>
          <p:cNvSpPr/>
          <p:nvPr/>
        </p:nvSpPr>
        <p:spPr>
          <a:xfrm>
            <a:off x="9345708" y="6051403"/>
            <a:ext cx="8104092" cy="3130697"/>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31" name="Akış Çizelgesi: Öteki İşlem 30">
            <a:extLst>
              <a:ext uri="{FF2B5EF4-FFF2-40B4-BE49-F238E27FC236}">
                <a16:creationId xmlns:a16="http://schemas.microsoft.com/office/drawing/2014/main" id="{0E397955-EFBF-427B-849D-A832E09401CC}"/>
              </a:ext>
            </a:extLst>
          </p:cNvPr>
          <p:cNvSpPr/>
          <p:nvPr/>
        </p:nvSpPr>
        <p:spPr>
          <a:xfrm>
            <a:off x="1127352" y="6051403"/>
            <a:ext cx="7750421" cy="3283097"/>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30" name="Akış Çizelgesi: Öteki İşlem 29">
            <a:extLst>
              <a:ext uri="{FF2B5EF4-FFF2-40B4-BE49-F238E27FC236}">
                <a16:creationId xmlns:a16="http://schemas.microsoft.com/office/drawing/2014/main" id="{4B2D377B-C640-482E-98BA-CEB0C80B3425}"/>
              </a:ext>
            </a:extLst>
          </p:cNvPr>
          <p:cNvSpPr/>
          <p:nvPr/>
        </p:nvSpPr>
        <p:spPr>
          <a:xfrm>
            <a:off x="9397983" y="2404482"/>
            <a:ext cx="8104092" cy="3182210"/>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29" name="Akış Çizelgesi: Öteki İşlem 28">
            <a:extLst>
              <a:ext uri="{FF2B5EF4-FFF2-40B4-BE49-F238E27FC236}">
                <a16:creationId xmlns:a16="http://schemas.microsoft.com/office/drawing/2014/main" id="{09618424-1A7A-43F2-A0C7-B0D770A7928A}"/>
              </a:ext>
            </a:extLst>
          </p:cNvPr>
          <p:cNvSpPr/>
          <p:nvPr/>
        </p:nvSpPr>
        <p:spPr>
          <a:xfrm>
            <a:off x="1125516" y="2496135"/>
            <a:ext cx="7568125" cy="2997784"/>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3" name="Text 0">
            <a:extLst>
              <a:ext uri="{FF2B5EF4-FFF2-40B4-BE49-F238E27FC236}">
                <a16:creationId xmlns:a16="http://schemas.microsoft.com/office/drawing/2014/main" id="{0EFDF6B6-768A-4AFC-A65B-B07C49EA3FF6}"/>
              </a:ext>
            </a:extLst>
          </p:cNvPr>
          <p:cNvSpPr/>
          <p:nvPr/>
        </p:nvSpPr>
        <p:spPr>
          <a:xfrm>
            <a:off x="762000" y="457200"/>
            <a:ext cx="16764000" cy="9906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4400" b="1" i="0" u="none" strike="noStrike" kern="1200" cap="none" spc="0" normalizeH="0" baseline="0" noProof="0" dirty="0">
                <a:ln>
                  <a:noFill/>
                </a:ln>
                <a:solidFill>
                  <a:srgbClr val="1E2A4E"/>
                </a:solidFill>
                <a:effectLst/>
                <a:uLnTx/>
                <a:uFillTx/>
                <a:latin typeface="Calibri"/>
                <a:ea typeface="Calibri"/>
                <a:cs typeface="Calibri"/>
              </a:rPr>
              <a:t>Veri nedir?</a:t>
            </a:r>
            <a:endParaRPr kumimoji="0" lang="tr-TR" sz="44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8B749CD9-060D-432D-A66F-6BD0F43268C0}"/>
              </a:ext>
            </a:extLst>
          </p:cNvPr>
          <p:cNvSpPr/>
          <p:nvPr/>
        </p:nvSpPr>
        <p:spPr>
          <a:xfrm>
            <a:off x="1246094" y="1642482"/>
            <a:ext cx="15716250" cy="7620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tr-TR" sz="3200" b="0" i="0" u="none" strike="noStrike" kern="1200" cap="none" spc="0" normalizeH="0" baseline="0" noProof="0" dirty="0">
                <a:ln>
                  <a:noFill/>
                </a:ln>
                <a:solidFill>
                  <a:srgbClr val="3C3939"/>
                </a:solidFill>
                <a:effectLst/>
                <a:uLnTx/>
                <a:uFillTx/>
                <a:latin typeface="Calibri"/>
                <a:ea typeface="Calibri"/>
                <a:cs typeface="Calibri"/>
              </a:rPr>
              <a:t>Gözlem, ölçüm veya kayıt yoluyla elde edilen değerler.</a:t>
            </a:r>
            <a:endParaRPr kumimoji="0" lang="tr-TR" sz="3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Image 0" descr="preencoded.png">
            <a:extLst>
              <a:ext uri="{FF2B5EF4-FFF2-40B4-BE49-F238E27FC236}">
                <a16:creationId xmlns:a16="http://schemas.microsoft.com/office/drawing/2014/main" id="{9C5C2E52-02D1-49E4-ABD2-1CD0EDEBA9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168" y="2718608"/>
            <a:ext cx="1091125" cy="1091153"/>
          </a:xfrm>
          <a:prstGeom prst="rect">
            <a:avLst/>
          </a:prstGeom>
        </p:spPr>
      </p:pic>
      <p:pic>
        <p:nvPicPr>
          <p:cNvPr id="6" name="Image 1" descr="preencoded.png">
            <a:extLst>
              <a:ext uri="{FF2B5EF4-FFF2-40B4-BE49-F238E27FC236}">
                <a16:creationId xmlns:a16="http://schemas.microsoft.com/office/drawing/2014/main" id="{2FD292F9-D512-4444-8D44-7933B117E0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17218" y="2728474"/>
            <a:ext cx="1091125" cy="1091153"/>
          </a:xfrm>
          <a:prstGeom prst="rect">
            <a:avLst/>
          </a:prstGeom>
        </p:spPr>
      </p:pic>
      <p:pic>
        <p:nvPicPr>
          <p:cNvPr id="7" name="Image 2" descr="preencoded.png">
            <a:extLst>
              <a:ext uri="{FF2B5EF4-FFF2-40B4-BE49-F238E27FC236}">
                <a16:creationId xmlns:a16="http://schemas.microsoft.com/office/drawing/2014/main" id="{3EA60545-9EEB-409D-8973-4A90332CAA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98494" y="6366881"/>
            <a:ext cx="1091125" cy="1091153"/>
          </a:xfrm>
          <a:prstGeom prst="rect">
            <a:avLst/>
          </a:prstGeom>
        </p:spPr>
      </p:pic>
      <p:pic>
        <p:nvPicPr>
          <p:cNvPr id="8" name="Image 3" descr="preencoded.png">
            <a:extLst>
              <a:ext uri="{FF2B5EF4-FFF2-40B4-BE49-F238E27FC236}">
                <a16:creationId xmlns:a16="http://schemas.microsoft.com/office/drawing/2014/main" id="{3C418621-4DB8-4D18-869B-8E09BD33AB8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32682" y="6366881"/>
            <a:ext cx="1179543" cy="1179573"/>
          </a:xfrm>
          <a:prstGeom prst="rect">
            <a:avLst/>
          </a:prstGeom>
        </p:spPr>
      </p:pic>
      <p:sp>
        <p:nvSpPr>
          <p:cNvPr id="9" name="Text 2">
            <a:extLst>
              <a:ext uri="{FF2B5EF4-FFF2-40B4-BE49-F238E27FC236}">
                <a16:creationId xmlns:a16="http://schemas.microsoft.com/office/drawing/2014/main" id="{4A2B4EF9-2F12-4AB4-8F96-125661334460}"/>
              </a:ext>
            </a:extLst>
          </p:cNvPr>
          <p:cNvSpPr/>
          <p:nvPr/>
        </p:nvSpPr>
        <p:spPr>
          <a:xfrm>
            <a:off x="2711725" y="2841848"/>
            <a:ext cx="5316206" cy="5000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600" b="1" i="0" u="none" strike="noStrike" kern="1200" cap="none" spc="0" normalizeH="0" baseline="0" noProof="0" dirty="0">
                <a:ln>
                  <a:noFill/>
                </a:ln>
                <a:solidFill>
                  <a:srgbClr val="3C3939"/>
                </a:solidFill>
                <a:effectLst/>
                <a:uLnTx/>
                <a:uFillTx/>
                <a:latin typeface="Calibri"/>
                <a:ea typeface="Calibri"/>
                <a:cs typeface="Calibri"/>
              </a:rPr>
              <a:t>Görüntü</a:t>
            </a:r>
            <a:endParaRPr kumimoji="0" lang="tr-TR"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 4">
            <a:extLst>
              <a:ext uri="{FF2B5EF4-FFF2-40B4-BE49-F238E27FC236}">
                <a16:creationId xmlns:a16="http://schemas.microsoft.com/office/drawing/2014/main" id="{E2B5EA39-C180-4ECD-BF70-BB03ED8458FC}"/>
              </a:ext>
            </a:extLst>
          </p:cNvPr>
          <p:cNvSpPr/>
          <p:nvPr/>
        </p:nvSpPr>
        <p:spPr>
          <a:xfrm>
            <a:off x="10617182" y="2841848"/>
            <a:ext cx="5316305" cy="5000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600" b="1" i="0" u="none" strike="noStrike" kern="1200" cap="none" spc="0" normalizeH="0" baseline="0" noProof="0" dirty="0">
                <a:ln>
                  <a:noFill/>
                </a:ln>
                <a:solidFill>
                  <a:srgbClr val="3C3939"/>
                </a:solidFill>
                <a:effectLst/>
                <a:uLnTx/>
                <a:uFillTx/>
                <a:latin typeface="Calibri"/>
                <a:ea typeface="Calibri"/>
                <a:cs typeface="Calibri"/>
              </a:rPr>
              <a:t>Sayı</a:t>
            </a:r>
            <a:endParaRPr kumimoji="0" lang="tr-TR"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ext 6">
            <a:extLst>
              <a:ext uri="{FF2B5EF4-FFF2-40B4-BE49-F238E27FC236}">
                <a16:creationId xmlns:a16="http://schemas.microsoft.com/office/drawing/2014/main" id="{6587DA08-52F8-45B8-BD2C-58BBA6AB65B9}"/>
              </a:ext>
            </a:extLst>
          </p:cNvPr>
          <p:cNvSpPr/>
          <p:nvPr/>
        </p:nvSpPr>
        <p:spPr>
          <a:xfrm>
            <a:off x="2717240" y="6483564"/>
            <a:ext cx="5316206" cy="65410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600" b="1" i="0" u="none" strike="noStrike" kern="1200" cap="none" spc="0" normalizeH="0" baseline="0" noProof="0" dirty="0">
                <a:ln>
                  <a:noFill/>
                </a:ln>
                <a:solidFill>
                  <a:srgbClr val="3C3939"/>
                </a:solidFill>
                <a:effectLst/>
                <a:uLnTx/>
                <a:uFillTx/>
                <a:latin typeface="Calibri"/>
                <a:ea typeface="Calibri"/>
                <a:cs typeface="Calibri"/>
              </a:rPr>
              <a:t>Metin</a:t>
            </a:r>
            <a:endParaRPr kumimoji="0" lang="tr-TR"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 8">
            <a:extLst>
              <a:ext uri="{FF2B5EF4-FFF2-40B4-BE49-F238E27FC236}">
                <a16:creationId xmlns:a16="http://schemas.microsoft.com/office/drawing/2014/main" id="{94ECFBFC-8819-4E9A-A949-B29B9A63C45E}"/>
              </a:ext>
            </a:extLst>
          </p:cNvPr>
          <p:cNvSpPr/>
          <p:nvPr/>
        </p:nvSpPr>
        <p:spPr>
          <a:xfrm>
            <a:off x="10899199" y="6514833"/>
            <a:ext cx="6050158" cy="864337"/>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600" b="1" i="0" u="none" strike="noStrike" kern="1200" cap="none" spc="0" normalizeH="0" baseline="0" noProof="0" dirty="0">
                <a:ln>
                  <a:noFill/>
                </a:ln>
                <a:solidFill>
                  <a:srgbClr val="3C3939"/>
                </a:solidFill>
                <a:effectLst/>
                <a:uLnTx/>
                <a:uFillTx/>
                <a:latin typeface="Calibri"/>
                <a:ea typeface="Calibri"/>
                <a:cs typeface="Calibri"/>
              </a:rPr>
              <a:t>Ses</a:t>
            </a:r>
            <a:endParaRPr kumimoji="0" lang="tr-TR"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Text 3">
            <a:extLst>
              <a:ext uri="{FF2B5EF4-FFF2-40B4-BE49-F238E27FC236}">
                <a16:creationId xmlns:a16="http://schemas.microsoft.com/office/drawing/2014/main" id="{5D1109C1-688D-465F-9A1D-224D0543D6FB}"/>
              </a:ext>
            </a:extLst>
          </p:cNvPr>
          <p:cNvSpPr/>
          <p:nvPr/>
        </p:nvSpPr>
        <p:spPr>
          <a:xfrm>
            <a:off x="1247575" y="4064284"/>
            <a:ext cx="7210626" cy="1307145"/>
          </a:xfrm>
          <a:prstGeom prst="rect">
            <a:avLst/>
          </a:prstGeom>
          <a:noFill/>
          <a:ln/>
        </p:spPr>
        <p:txBody>
          <a:bodyPr wrap="none" lIns="0" tIns="0" rIns="0" bIns="0" rtlCol="0" anchor="t"/>
          <a:lstStyle/>
          <a:p>
            <a:pPr marL="0" marR="0" lvl="0" indent="0" algn="l" defTabSz="914400" rtl="0" eaLnBrk="1" fontAlgn="auto" latinLnBrk="0" hangingPunct="1">
              <a:lnSpc>
                <a:spcPct val="133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Text 5">
            <a:extLst>
              <a:ext uri="{FF2B5EF4-FFF2-40B4-BE49-F238E27FC236}">
                <a16:creationId xmlns:a16="http://schemas.microsoft.com/office/drawing/2014/main" id="{318A2B31-1B54-4C95-886D-FBB14EF99C5E}"/>
              </a:ext>
            </a:extLst>
          </p:cNvPr>
          <p:cNvSpPr/>
          <p:nvPr/>
        </p:nvSpPr>
        <p:spPr>
          <a:xfrm>
            <a:off x="9631086" y="4048125"/>
            <a:ext cx="7455438" cy="138112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tr-TR" sz="2800" b="0" i="0" u="none" strike="noStrike" kern="1200" cap="none" spc="0" normalizeH="0" baseline="0" noProof="0" dirty="0">
                <a:ln>
                  <a:noFill/>
                </a:ln>
                <a:solidFill>
                  <a:srgbClr val="3C3939"/>
                </a:solidFill>
                <a:effectLst/>
                <a:uLnTx/>
                <a:uFillTx/>
                <a:latin typeface="Calibri"/>
                <a:ea typeface="Calibri"/>
                <a:cs typeface="Calibri"/>
              </a:rPr>
              <a:t>Evin alanı: 120 m²</a:t>
            </a:r>
            <a:endParaRPr kumimoji="0" lang="tr-TR"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 7">
            <a:extLst>
              <a:ext uri="{FF2B5EF4-FFF2-40B4-BE49-F238E27FC236}">
                <a16:creationId xmlns:a16="http://schemas.microsoft.com/office/drawing/2014/main" id="{4554EFA7-6B80-49BF-B47D-9EDB0BFF41C4}"/>
              </a:ext>
            </a:extLst>
          </p:cNvPr>
          <p:cNvSpPr/>
          <p:nvPr/>
        </p:nvSpPr>
        <p:spPr>
          <a:xfrm>
            <a:off x="1374169" y="7863998"/>
            <a:ext cx="7319472" cy="937102"/>
          </a:xfrm>
          <a:prstGeom prst="rect">
            <a:avLst/>
          </a:prstGeom>
          <a:noFill/>
          <a:ln/>
        </p:spPr>
        <p:txBody>
          <a:bodyPr wrap="none" lIns="0" tIns="0" rIns="0" bIns="0" rtlCol="0" anchor="t"/>
          <a:lstStyle/>
          <a:p>
            <a:pPr marL="0" marR="0" lvl="0" indent="0" algn="l" defTabSz="914400" rtl="0" eaLnBrk="1" fontAlgn="auto" latinLnBrk="0" hangingPunct="1">
              <a:lnSpc>
                <a:spcPct val="133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Text 9">
            <a:extLst>
              <a:ext uri="{FF2B5EF4-FFF2-40B4-BE49-F238E27FC236}">
                <a16:creationId xmlns:a16="http://schemas.microsoft.com/office/drawing/2014/main" id="{7A8866DB-1AE1-46BC-95FA-1E665577BE0F}"/>
              </a:ext>
            </a:extLst>
          </p:cNvPr>
          <p:cNvSpPr/>
          <p:nvPr/>
        </p:nvSpPr>
        <p:spPr>
          <a:xfrm>
            <a:off x="9564058" y="7836370"/>
            <a:ext cx="7528633" cy="88853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tr-TR" sz="2800" b="0" i="0" u="none" strike="noStrike" kern="1200" cap="none" spc="0" normalizeH="0" baseline="0" noProof="0" dirty="0">
                <a:ln>
                  <a:noFill/>
                </a:ln>
                <a:solidFill>
                  <a:srgbClr val="3C3939"/>
                </a:solidFill>
                <a:effectLst/>
                <a:uLnTx/>
                <a:uFillTx/>
                <a:latin typeface="Calibri"/>
                <a:ea typeface="Calibri"/>
                <a:cs typeface="Calibri"/>
              </a:rPr>
              <a:t>Bir ses kaydı</a:t>
            </a:r>
            <a:endParaRPr kumimoji="0" lang="tr-TR"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Metin kutusu 32">
            <a:extLst>
              <a:ext uri="{FF2B5EF4-FFF2-40B4-BE49-F238E27FC236}">
                <a16:creationId xmlns:a16="http://schemas.microsoft.com/office/drawing/2014/main" id="{D5932560-7057-47DF-B51A-085078CE9C5E}"/>
              </a:ext>
            </a:extLst>
          </p:cNvPr>
          <p:cNvSpPr txBox="1"/>
          <p:nvPr/>
        </p:nvSpPr>
        <p:spPr>
          <a:xfrm>
            <a:off x="1246094" y="4064284"/>
            <a:ext cx="7210626" cy="1190069"/>
          </a:xfrm>
          <a:prstGeom prst="rect">
            <a:avLst/>
          </a:prstGeom>
          <a:noFill/>
        </p:spPr>
        <p:txBody>
          <a:bodyPr wrap="square" rtlCol="0">
            <a:no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tr-TR" sz="2800" b="0" i="0" u="none" strike="noStrike" kern="1200" cap="none" spc="0" normalizeH="0" baseline="0" noProof="0" dirty="0">
                <a:ln>
                  <a:noFill/>
                </a:ln>
                <a:solidFill>
                  <a:srgbClr val="3C3939"/>
                </a:solidFill>
                <a:effectLst/>
                <a:uLnTx/>
                <a:uFillTx/>
                <a:latin typeface="Calibri"/>
                <a:ea typeface="Calibri"/>
                <a:cs typeface="Calibri"/>
              </a:rPr>
              <a:t>Bir evin fotoğrafı</a:t>
            </a:r>
            <a:endParaRPr kumimoji="0" lang="tr-TR"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Metin kutusu 33">
            <a:extLst>
              <a:ext uri="{FF2B5EF4-FFF2-40B4-BE49-F238E27FC236}">
                <a16:creationId xmlns:a16="http://schemas.microsoft.com/office/drawing/2014/main" id="{0C91E2C6-294D-424A-AF5F-293422FF8803}"/>
              </a:ext>
            </a:extLst>
          </p:cNvPr>
          <p:cNvSpPr txBox="1"/>
          <p:nvPr/>
        </p:nvSpPr>
        <p:spPr>
          <a:xfrm>
            <a:off x="1374168" y="7836370"/>
            <a:ext cx="7160232" cy="138499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0" i="0" u="none" strike="noStrike" kern="1200" cap="none" spc="0" normalizeH="0" baseline="0" noProof="0" dirty="0">
                <a:ln>
                  <a:noFill/>
                </a:ln>
                <a:solidFill>
                  <a:srgbClr val="3C3939"/>
                </a:solidFill>
                <a:effectLst/>
                <a:uLnTx/>
                <a:uFillTx/>
                <a:latin typeface="Calibri"/>
                <a:ea typeface="Calibri"/>
                <a:cs typeface="Calibri"/>
              </a:rPr>
              <a:t>İlan açıklaması</a:t>
            </a:r>
            <a:endParaRPr kumimoji="0" lang="tr-TR"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95158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Freeform 2"/>
          <p:cNvSpPr/>
          <p:nvPr/>
        </p:nvSpPr>
        <p:spPr>
          <a:xfrm>
            <a:off x="1870658" y="751182"/>
            <a:ext cx="14546683" cy="9216000"/>
          </a:xfrm>
          <a:custGeom>
            <a:avLst/>
            <a:gdLst/>
            <a:ahLst/>
            <a:cxnLst/>
            <a:rect l="l" t="t" r="r" b="b"/>
            <a:pathLst>
              <a:path w="14546683" h="9697789">
                <a:moveTo>
                  <a:pt x="0" y="0"/>
                </a:moveTo>
                <a:lnTo>
                  <a:pt x="14546683" y="0"/>
                </a:lnTo>
                <a:lnTo>
                  <a:pt x="14546683" y="9697789"/>
                </a:lnTo>
                <a:lnTo>
                  <a:pt x="0" y="9697789"/>
                </a:lnTo>
                <a:lnTo>
                  <a:pt x="0" y="0"/>
                </a:lnTo>
                <a:close/>
              </a:path>
            </a:pathLst>
          </a:custGeom>
          <a:blipFill>
            <a:blip r:embed="rId3"/>
            <a:stretch>
              <a:fillRect t="3" b="-5230"/>
            </a:stretch>
          </a:blipFill>
        </p:spPr>
        <p:txBody>
          <a:bodyPr/>
          <a:lstStyle/>
          <a:p>
            <a:endParaRPr lang="tr-TR" dirty="0">
              <a:latin typeface="Calibri" panose="02000000000000000000" pitchFamily="2" charset="0"/>
              <a:ea typeface="Calibri" panose="02000000000000000000" pitchFamily="2" charset="0"/>
            </a:endParaRPr>
          </a:p>
        </p:txBody>
      </p:sp>
      <p:sp>
        <p:nvSpPr>
          <p:cNvPr id="3" name="TextBox 3"/>
          <p:cNvSpPr txBox="1"/>
          <p:nvPr/>
        </p:nvSpPr>
        <p:spPr>
          <a:xfrm>
            <a:off x="762000" y="457200"/>
            <a:ext cx="16764000" cy="990600"/>
          </a:xfrm>
          <a:prstGeom prst="rect">
            <a:avLst/>
          </a:prstGeom>
        </p:spPr>
        <p:txBody>
          <a:bodyPr wrap="square" lIns="0" tIns="0" rIns="0" bIns="0" rtlCol="0" anchor="t">
            <a:noAutofit/>
          </a:bodyPr>
          <a:lstStyle/>
          <a:p>
            <a:pPr marL="0" indent="0" algn="l">
              <a:lnSpc>
                <a:spcPts val="4643"/>
              </a:lnSpc>
              <a:spcBef>
                <a:spcPct val="0"/>
              </a:spcBef>
            </a:pPr>
            <a:r>
              <a:rPr lang="tr-TR" sz="4400" b="1" dirty="0">
                <a:solidFill>
                  <a:srgbClr val="1E2A4E"/>
                </a:solidFill>
                <a:latin typeface="Calibri"/>
                <a:ea typeface="Calibri"/>
                <a:cs typeface="Calibri"/>
                <a:sym typeface="Calibri"/>
              </a:rPr>
              <a:t>Veri piramidi</a:t>
            </a:r>
            <a:endParaRPr lang="tr-TR" sz="4400"/>
          </a:p>
        </p:txBody>
      </p:sp>
      <p:sp>
        <p:nvSpPr>
          <p:cNvPr id="6" name="Metin kutusu 5">
            <a:extLst>
              <a:ext uri="{FF2B5EF4-FFF2-40B4-BE49-F238E27FC236}">
                <a16:creationId xmlns:a16="http://schemas.microsoft.com/office/drawing/2014/main" id="{451C9DA4-47FD-4EF2-97D0-FABF04EFD9E1}"/>
              </a:ext>
            </a:extLst>
          </p:cNvPr>
          <p:cNvSpPr txBox="1"/>
          <p:nvPr/>
        </p:nvSpPr>
        <p:spPr>
          <a:xfrm>
            <a:off x="10001250" y="1712647"/>
            <a:ext cx="5334000" cy="1485900"/>
          </a:xfrm>
          <a:prstGeom prst="rect">
            <a:avLst/>
          </a:prstGeom>
          <a:solidFill>
            <a:srgbClr val="DDEFF4"/>
          </a:solidFill>
        </p:spPr>
        <p:txBody>
          <a:bodyPr wrap="square" rtlCol="0">
            <a:noAutofit/>
          </a:bodyPr>
          <a:lstStyle/>
          <a:p>
            <a:pPr marL="0" indent="0"/>
            <a:r>
              <a:rPr lang="tr-TR" sz="2800" b="0" dirty="0">
                <a:ea typeface="Calibri"/>
                <a:cs typeface="Calibri"/>
              </a:rPr>
              <a:t>Karar için fiyatın yanında</a:t>
            </a:r>
            <a:r>
              <a:rPr lang="tr-TR" sz="2800" dirty="0"/>
              <a:t> </a:t>
            </a:r>
            <a:r>
              <a:rPr lang="tr-TR" sz="2800" b="0" dirty="0">
                <a:ea typeface="Calibri"/>
                <a:cs typeface="Calibri"/>
              </a:rPr>
              <a:t>konum, evin durumu ve</a:t>
            </a:r>
            <a:r>
              <a:rPr lang="tr-TR" sz="2800" dirty="0"/>
              <a:t> </a:t>
            </a:r>
            <a:r>
              <a:rPr lang="tr-TR" sz="2800" b="0" dirty="0">
                <a:ea typeface="Calibri"/>
                <a:cs typeface="Calibri"/>
              </a:rPr>
              <a:t>bütçe de değerlendirilir.</a:t>
            </a:r>
            <a:endParaRPr lang="tr-TR" sz="2800" dirty="0"/>
          </a:p>
        </p:txBody>
      </p:sp>
      <p:sp>
        <p:nvSpPr>
          <p:cNvPr id="8" name="Metin kutusu 7">
            <a:extLst>
              <a:ext uri="{FF2B5EF4-FFF2-40B4-BE49-F238E27FC236}">
                <a16:creationId xmlns:a16="http://schemas.microsoft.com/office/drawing/2014/main" id="{D8B2B4A2-CAC4-4E8A-9164-36F06FB9A6CD}"/>
              </a:ext>
            </a:extLst>
          </p:cNvPr>
          <p:cNvSpPr txBox="1"/>
          <p:nvPr/>
        </p:nvSpPr>
        <p:spPr>
          <a:xfrm>
            <a:off x="10001250" y="6019800"/>
            <a:ext cx="5334000" cy="1285875"/>
          </a:xfrm>
          <a:prstGeom prst="rect">
            <a:avLst/>
          </a:prstGeom>
          <a:solidFill>
            <a:srgbClr val="EFF7E0"/>
          </a:solidFill>
        </p:spPr>
        <p:txBody>
          <a:bodyPr wrap="square" rtlCol="0">
            <a:noAutofit/>
          </a:bodyPr>
          <a:lstStyle/>
          <a:p>
            <a:pPr marL="0" indent="0"/>
            <a:r>
              <a:rPr lang="tr-TR" sz="2800" b="0" dirty="0">
                <a:ea typeface="Calibri"/>
                <a:cs typeface="Calibri"/>
              </a:rPr>
              <a:t>Kayseri’de 120 m² bir ev:</a:t>
            </a:r>
            <a:endParaRPr lang="tr-TR" sz="2800" dirty="0"/>
          </a:p>
          <a:p>
            <a:pPr marL="0" indent="0"/>
            <a:r>
              <a:rPr lang="tr-TR" sz="2800" b="0" dirty="0">
                <a:ea typeface="Calibri"/>
                <a:cs typeface="Calibri"/>
              </a:rPr>
              <a:t>Fiyatı 1.850.000 TL</a:t>
            </a:r>
            <a:endParaRPr lang="tr-TR" sz="2800" dirty="0"/>
          </a:p>
        </p:txBody>
      </p:sp>
      <p:sp>
        <p:nvSpPr>
          <p:cNvPr id="9" name="Metin kutusu 8">
            <a:extLst>
              <a:ext uri="{FF2B5EF4-FFF2-40B4-BE49-F238E27FC236}">
                <a16:creationId xmlns:a16="http://schemas.microsoft.com/office/drawing/2014/main" id="{51521616-2A1C-4588-8544-226FE3E026B2}"/>
              </a:ext>
            </a:extLst>
          </p:cNvPr>
          <p:cNvSpPr txBox="1"/>
          <p:nvPr/>
        </p:nvSpPr>
        <p:spPr>
          <a:xfrm>
            <a:off x="10001250" y="7981950"/>
            <a:ext cx="5334000" cy="1428750"/>
          </a:xfrm>
          <a:prstGeom prst="rect">
            <a:avLst/>
          </a:prstGeom>
          <a:solidFill>
            <a:srgbClr val="FEE8DC"/>
          </a:solidFill>
        </p:spPr>
        <p:txBody>
          <a:bodyPr wrap="square" rtlCol="0">
            <a:noAutofit/>
          </a:bodyPr>
          <a:lstStyle/>
          <a:p>
            <a:pPr marL="0" indent="0"/>
            <a:r>
              <a:rPr lang="tr-TR" sz="2800" b="1">
                <a:ea typeface="Calibri"/>
                <a:cs typeface="Calibri"/>
              </a:rPr>
              <a:t>120 m²</a:t>
            </a:r>
            <a:endParaRPr lang="tr-TR" sz="2800"/>
          </a:p>
          <a:p>
            <a:pPr marL="0" indent="0"/>
            <a:r>
              <a:rPr lang="tr-TR" sz="2800" b="1">
                <a:ea typeface="Calibri"/>
                <a:cs typeface="Calibri"/>
              </a:rPr>
              <a:t>1.850.000 TL</a:t>
            </a:r>
            <a:endParaRPr lang="tr-TR" sz="2800"/>
          </a:p>
          <a:p>
            <a:pPr marL="0" indent="0"/>
            <a:r>
              <a:rPr lang="tr-TR" sz="2800" b="1">
                <a:ea typeface="Calibri"/>
                <a:cs typeface="Calibri"/>
              </a:rPr>
              <a:t>Kayseri</a:t>
            </a:r>
            <a:endParaRPr lang="tr-TR" sz="2800"/>
          </a:p>
        </p:txBody>
      </p:sp>
      <p:sp>
        <p:nvSpPr>
          <p:cNvPr id="5" name="Metin kutusu 4">
            <a:extLst>
              <a:ext uri="{FF2B5EF4-FFF2-40B4-BE49-F238E27FC236}">
                <a16:creationId xmlns:a16="http://schemas.microsoft.com/office/drawing/2014/main" id="{60F88FD2-DAC7-4863-9BF3-88A567DDA610}"/>
              </a:ext>
            </a:extLst>
          </p:cNvPr>
          <p:cNvSpPr txBox="1"/>
          <p:nvPr/>
        </p:nvSpPr>
        <p:spPr>
          <a:xfrm>
            <a:off x="4335780" y="6860492"/>
            <a:ext cx="2987040" cy="584775"/>
          </a:xfrm>
          <a:prstGeom prst="rect">
            <a:avLst/>
          </a:prstGeom>
          <a:solidFill>
            <a:srgbClr val="A7CB33"/>
          </a:solidFill>
        </p:spPr>
        <p:txBody>
          <a:bodyPr wrap="square" rtlCol="0">
            <a:spAutoFit/>
          </a:bodyPr>
          <a:lstStyle/>
          <a:p>
            <a:r>
              <a:rPr lang="tr-TR" sz="3200" b="1" dirty="0">
                <a:solidFill>
                  <a:srgbClr val="F3F2ED"/>
                </a:solidFill>
                <a:latin typeface="Calibri" panose="02000000000000000000" pitchFamily="2" charset="0"/>
                <a:ea typeface="Calibri" panose="02000000000000000000" pitchFamily="2" charset="0"/>
              </a:rPr>
              <a:t>ENFORMASYON</a:t>
            </a:r>
          </a:p>
        </p:txBody>
      </p:sp>
      <p:sp>
        <p:nvSpPr>
          <p:cNvPr id="12" name="Metin kutusu 11">
            <a:extLst>
              <a:ext uri="{FF2B5EF4-FFF2-40B4-BE49-F238E27FC236}">
                <a16:creationId xmlns:a16="http://schemas.microsoft.com/office/drawing/2014/main" id="{4711BE49-35C8-47E5-945B-8128189BDF38}"/>
              </a:ext>
            </a:extLst>
          </p:cNvPr>
          <p:cNvSpPr txBox="1"/>
          <p:nvPr/>
        </p:nvSpPr>
        <p:spPr>
          <a:xfrm>
            <a:off x="4495800" y="4515474"/>
            <a:ext cx="2438400" cy="932826"/>
          </a:xfrm>
          <a:prstGeom prst="rect">
            <a:avLst/>
          </a:prstGeom>
          <a:solidFill>
            <a:srgbClr val="43B358"/>
          </a:solidFill>
        </p:spPr>
        <p:txBody>
          <a:bodyPr wrap="square" rtlCol="0">
            <a:spAutoFit/>
          </a:bodyPr>
          <a:lstStyle/>
          <a:p>
            <a:endParaRPr lang="tr-TR" dirty="0"/>
          </a:p>
        </p:txBody>
      </p:sp>
      <p:sp>
        <p:nvSpPr>
          <p:cNvPr id="13" name="Metin kutusu 12">
            <a:extLst>
              <a:ext uri="{FF2B5EF4-FFF2-40B4-BE49-F238E27FC236}">
                <a16:creationId xmlns:a16="http://schemas.microsoft.com/office/drawing/2014/main" id="{EBE2E8D3-29F2-43CF-8E40-B3CF3C900F1C}"/>
              </a:ext>
            </a:extLst>
          </p:cNvPr>
          <p:cNvSpPr txBox="1"/>
          <p:nvPr/>
        </p:nvSpPr>
        <p:spPr>
          <a:xfrm>
            <a:off x="4495800" y="4589741"/>
            <a:ext cx="2667000" cy="769441"/>
          </a:xfrm>
          <a:prstGeom prst="rect">
            <a:avLst/>
          </a:prstGeom>
          <a:solidFill>
            <a:srgbClr val="43B358"/>
          </a:solidFill>
        </p:spPr>
        <p:txBody>
          <a:bodyPr wrap="square" rtlCol="0">
            <a:spAutoFit/>
          </a:bodyPr>
          <a:lstStyle/>
          <a:p>
            <a:endParaRPr/>
          </a:p>
        </p:txBody>
      </p:sp>
      <p:sp>
        <p:nvSpPr>
          <p:cNvPr id="14" name="Metin kutusu 13">
            <a:extLst>
              <a:ext uri="{FF2B5EF4-FFF2-40B4-BE49-F238E27FC236}">
                <a16:creationId xmlns:a16="http://schemas.microsoft.com/office/drawing/2014/main" id="{3F518E26-979A-4B7B-B150-C5271AB67175}"/>
              </a:ext>
            </a:extLst>
          </p:cNvPr>
          <p:cNvSpPr txBox="1"/>
          <p:nvPr/>
        </p:nvSpPr>
        <p:spPr>
          <a:xfrm>
            <a:off x="4821530" y="4737995"/>
            <a:ext cx="2341270" cy="646331"/>
          </a:xfrm>
          <a:prstGeom prst="rect">
            <a:avLst/>
          </a:prstGeom>
          <a:solidFill>
            <a:srgbClr val="43B358"/>
          </a:solidFill>
        </p:spPr>
        <p:txBody>
          <a:bodyPr wrap="square" rtlCol="0">
            <a:spAutoFit/>
          </a:bodyPr>
          <a:lstStyle/>
          <a:p>
            <a:r>
              <a:rPr lang="tr-TR" sz="3600" b="1" dirty="0">
                <a:solidFill>
                  <a:schemeClr val="bg1"/>
                </a:solidFill>
                <a:latin typeface="Calibri" panose="02000000000000000000" pitchFamily="2" charset="0"/>
                <a:ea typeface="Calibri" panose="02000000000000000000" pitchFamily="2" charset="0"/>
              </a:rPr>
              <a:t>   BİLGİ</a:t>
            </a:r>
          </a:p>
        </p:txBody>
      </p:sp>
      <p:sp>
        <p:nvSpPr>
          <p:cNvPr id="17" name="Metin kutusu 16">
            <a:extLst>
              <a:ext uri="{FF2B5EF4-FFF2-40B4-BE49-F238E27FC236}">
                <a16:creationId xmlns:a16="http://schemas.microsoft.com/office/drawing/2014/main" id="{CD7B9A3B-E2D3-40B4-BF52-565637BB9291}"/>
              </a:ext>
            </a:extLst>
          </p:cNvPr>
          <p:cNvSpPr txBox="1"/>
          <p:nvPr/>
        </p:nvSpPr>
        <p:spPr>
          <a:xfrm>
            <a:off x="10001250" y="3756897"/>
            <a:ext cx="5572125" cy="1517153"/>
          </a:xfrm>
          <a:prstGeom prst="rect">
            <a:avLst/>
          </a:prstGeom>
          <a:solidFill>
            <a:srgbClr val="DFF1DF"/>
          </a:solidFill>
        </p:spPr>
        <p:txBody>
          <a:bodyPr wrap="square" rtlCol="0">
            <a:noAutofit/>
          </a:bodyPr>
          <a:lstStyle/>
          <a:p>
            <a:pPr marL="0" indent="0"/>
            <a:r>
              <a:rPr lang="tr-TR" sz="2800" b="0" dirty="0">
                <a:ea typeface="Calibri"/>
                <a:cs typeface="Calibri"/>
              </a:rPr>
              <a:t>Metrekare fiyatı:</a:t>
            </a:r>
            <a:r>
              <a:rPr lang="tr-TR" sz="2800" dirty="0"/>
              <a:t> </a:t>
            </a:r>
            <a:r>
              <a:rPr lang="tr-TR" sz="2800" b="0" dirty="0">
                <a:ea typeface="Calibri"/>
                <a:cs typeface="Calibri"/>
              </a:rPr>
              <a:t>Yaklaşık 15.417 TL</a:t>
            </a:r>
            <a:endParaRPr lang="tr-TR" sz="2800" dirty="0"/>
          </a:p>
          <a:p>
            <a:pPr marL="0" indent="0"/>
            <a:r>
              <a:rPr lang="tr-TR" sz="2800" b="0" dirty="0">
                <a:ea typeface="Calibri"/>
                <a:cs typeface="Calibri"/>
              </a:rPr>
              <a:t>Benzer evlerle karşılaştırılır.</a:t>
            </a:r>
            <a:endParaRPr lang="tr-T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3" name="Text 0">
            <a:extLst>
              <a:ext uri="{FF2B5EF4-FFF2-40B4-BE49-F238E27FC236}">
                <a16:creationId xmlns:a16="http://schemas.microsoft.com/office/drawing/2014/main" id="{60023511-9A1A-4BEF-9C51-F10718316B71}"/>
              </a:ext>
            </a:extLst>
          </p:cNvPr>
          <p:cNvSpPr/>
          <p:nvPr/>
        </p:nvSpPr>
        <p:spPr>
          <a:xfrm>
            <a:off x="762000" y="457200"/>
            <a:ext cx="16764000" cy="990600"/>
          </a:xfrm>
          <a:prstGeom prst="rect">
            <a:avLst/>
          </a:prstGeom>
          <a:noFill/>
          <a:ln/>
        </p:spPr>
        <p:txBody>
          <a:bodyPr wrap="square" lIns="0" tIns="0" rIns="0" bIns="0" rtlCol="0" anchor="t">
            <a:noAutofit/>
          </a:bodyPr>
          <a:lstStyle/>
          <a:p>
            <a:pPr marL="0" marR="0" lvl="0" indent="0" algn="l" defTabSz="914400" eaLnBrk="1" fontAlgn="auto" latinLnBrk="0" hangingPunct="1">
              <a:lnSpc>
                <a:spcPct val="104000"/>
              </a:lnSpc>
              <a:spcBef>
                <a:spcPts val="0"/>
              </a:spcBef>
              <a:spcAft>
                <a:spcPts val="0"/>
              </a:spcAft>
              <a:buClrTx/>
              <a:buSzTx/>
              <a:buFontTx/>
              <a:buNone/>
              <a:tabLst/>
              <a:defRPr/>
            </a:pPr>
            <a:r>
              <a:rPr kumimoji="0" lang="tr-TR" sz="4400" b="1" i="0" u="none" strike="noStrike" kern="0" cap="none" spc="0" normalizeH="0" baseline="0" noProof="0" dirty="0">
                <a:ln>
                  <a:noFill/>
                </a:ln>
                <a:solidFill>
                  <a:srgbClr val="1E2A4E"/>
                </a:solidFill>
                <a:effectLst/>
                <a:uLnTx/>
                <a:uFillTx/>
                <a:latin typeface="Calibri"/>
                <a:ea typeface="Calibri"/>
                <a:cs typeface="Calibri"/>
              </a:rPr>
              <a:t>Bir veri setiyle çalışma adımları</a:t>
            </a:r>
            <a:endParaRPr lang="tr-TR" sz="4400"/>
          </a:p>
        </p:txBody>
      </p:sp>
      <p:pic>
        <p:nvPicPr>
          <p:cNvPr id="39" name="Image 0" descr="preencoded.png">
            <a:extLst>
              <a:ext uri="{FF2B5EF4-FFF2-40B4-BE49-F238E27FC236}">
                <a16:creationId xmlns:a16="http://schemas.microsoft.com/office/drawing/2014/main" id="{AAAD4282-4662-4734-BCBC-99D6BFDEE2DF}"/>
              </a:ext>
            </a:extLst>
          </p:cNvPr>
          <p:cNvPicPr>
            <a:picLocks noChangeAspect="1"/>
          </p:cNvPicPr>
          <p:nvPr/>
        </p:nvPicPr>
        <p:blipFill>
          <a:blip r:embed="rId3"/>
          <a:stretch>
            <a:fillRect/>
          </a:stretch>
        </p:blipFill>
        <p:spPr>
          <a:xfrm>
            <a:off x="228600" y="1638300"/>
            <a:ext cx="17754600" cy="8458200"/>
          </a:xfrm>
          <a:prstGeom prst="rect">
            <a:avLst/>
          </a:prstGeom>
        </p:spPr>
      </p:pic>
      <p:sp>
        <p:nvSpPr>
          <p:cNvPr id="40" name="Text 1">
            <a:extLst>
              <a:ext uri="{FF2B5EF4-FFF2-40B4-BE49-F238E27FC236}">
                <a16:creationId xmlns:a16="http://schemas.microsoft.com/office/drawing/2014/main" id="{A44B5A11-EFE3-4AAC-9E0B-2B59C37F98FB}"/>
              </a:ext>
            </a:extLst>
          </p:cNvPr>
          <p:cNvSpPr/>
          <p:nvPr/>
        </p:nvSpPr>
        <p:spPr>
          <a:xfrm>
            <a:off x="1509298" y="4447127"/>
            <a:ext cx="4139110" cy="504256"/>
          </a:xfrm>
          <a:prstGeom prst="rect">
            <a:avLst/>
          </a:prstGeom>
          <a:noFill/>
          <a:ln/>
        </p:spPr>
        <p:txBody>
          <a:bodyPr wrap="square" lIns="0" tIns="0" rIns="0" bIns="0" rtlCol="0" anchor="t">
            <a:noAutofit/>
          </a:bodyPr>
          <a:lstStyle/>
          <a:p>
            <a:pPr marL="0" indent="0" algn="ctr">
              <a:lnSpc>
                <a:spcPct val="104000"/>
              </a:lnSpc>
              <a:buNone/>
            </a:pPr>
            <a:r>
              <a:rPr lang="tr-TR" sz="2800" b="1" dirty="0">
                <a:solidFill>
                  <a:srgbClr val="3C3939"/>
                </a:solidFill>
                <a:latin typeface="Calibri"/>
                <a:ea typeface="Calibri"/>
                <a:cs typeface="Calibri"/>
              </a:rPr>
              <a:t>1. Ham veri</a:t>
            </a:r>
            <a:endParaRPr lang="tr-TR" sz="2800" dirty="0"/>
          </a:p>
        </p:txBody>
      </p:sp>
      <p:sp>
        <p:nvSpPr>
          <p:cNvPr id="41" name="Text 2">
            <a:extLst>
              <a:ext uri="{FF2B5EF4-FFF2-40B4-BE49-F238E27FC236}">
                <a16:creationId xmlns:a16="http://schemas.microsoft.com/office/drawing/2014/main" id="{5FDAF22E-288D-46D8-9D0E-A51B38D96E50}"/>
              </a:ext>
            </a:extLst>
          </p:cNvPr>
          <p:cNvSpPr/>
          <p:nvPr/>
        </p:nvSpPr>
        <p:spPr>
          <a:xfrm>
            <a:off x="9975110" y="2578220"/>
            <a:ext cx="4139110" cy="504256"/>
          </a:xfrm>
          <a:prstGeom prst="rect">
            <a:avLst/>
          </a:prstGeom>
          <a:noFill/>
          <a:ln/>
        </p:spPr>
        <p:txBody>
          <a:bodyPr wrap="square" lIns="0" tIns="0" rIns="0" bIns="0" rtlCol="0" anchor="t">
            <a:noAutofit/>
          </a:bodyPr>
          <a:lstStyle/>
          <a:p>
            <a:pPr marL="0" indent="0" algn="ctr">
              <a:lnSpc>
                <a:spcPct val="104000"/>
              </a:lnSpc>
              <a:buNone/>
            </a:pPr>
            <a:r>
              <a:rPr lang="tr-TR" sz="2800" b="1" dirty="0">
                <a:solidFill>
                  <a:srgbClr val="3C3939"/>
                </a:solidFill>
                <a:latin typeface="Calibri"/>
                <a:ea typeface="Calibri"/>
                <a:cs typeface="Calibri"/>
              </a:rPr>
              <a:t>2. Veriyi tanıma</a:t>
            </a:r>
            <a:endParaRPr lang="tr-TR" sz="2800"/>
          </a:p>
        </p:txBody>
      </p:sp>
      <p:sp>
        <p:nvSpPr>
          <p:cNvPr id="42" name="Text 3">
            <a:extLst>
              <a:ext uri="{FF2B5EF4-FFF2-40B4-BE49-F238E27FC236}">
                <a16:creationId xmlns:a16="http://schemas.microsoft.com/office/drawing/2014/main" id="{70B988F4-B57E-42EA-B580-BB2E4C9A00F5}"/>
              </a:ext>
            </a:extLst>
          </p:cNvPr>
          <p:cNvSpPr/>
          <p:nvPr/>
        </p:nvSpPr>
        <p:spPr>
          <a:xfrm>
            <a:off x="11748955" y="6419866"/>
            <a:ext cx="4498980" cy="504256"/>
          </a:xfrm>
          <a:prstGeom prst="rect">
            <a:avLst/>
          </a:prstGeom>
          <a:noFill/>
          <a:ln/>
        </p:spPr>
        <p:txBody>
          <a:bodyPr wrap="square" lIns="0" tIns="0" rIns="0" bIns="0" rtlCol="0" anchor="t">
            <a:noAutofit/>
          </a:bodyPr>
          <a:lstStyle/>
          <a:p>
            <a:pPr marL="0" indent="0" algn="ctr">
              <a:lnSpc>
                <a:spcPct val="104000"/>
              </a:lnSpc>
              <a:buNone/>
            </a:pPr>
            <a:r>
              <a:rPr lang="tr-TR" sz="2800" b="1" dirty="0">
                <a:solidFill>
                  <a:srgbClr val="3C3939"/>
                </a:solidFill>
                <a:latin typeface="Calibri"/>
                <a:ea typeface="Calibri"/>
                <a:cs typeface="Calibri"/>
              </a:rPr>
              <a:t>3. Temizleme / ön işleme</a:t>
            </a:r>
            <a:endParaRPr lang="tr-TR" sz="2800"/>
          </a:p>
        </p:txBody>
      </p:sp>
      <p:sp>
        <p:nvSpPr>
          <p:cNvPr id="43" name="Text 4">
            <a:extLst>
              <a:ext uri="{FF2B5EF4-FFF2-40B4-BE49-F238E27FC236}">
                <a16:creationId xmlns:a16="http://schemas.microsoft.com/office/drawing/2014/main" id="{82500A79-88B8-4E91-9951-684A5D82E152}"/>
              </a:ext>
            </a:extLst>
          </p:cNvPr>
          <p:cNvSpPr/>
          <p:nvPr/>
        </p:nvSpPr>
        <p:spPr>
          <a:xfrm>
            <a:off x="3437330" y="8323383"/>
            <a:ext cx="4139110" cy="504256"/>
          </a:xfrm>
          <a:prstGeom prst="rect">
            <a:avLst/>
          </a:prstGeom>
          <a:noFill/>
          <a:ln/>
        </p:spPr>
        <p:txBody>
          <a:bodyPr wrap="square" lIns="0" tIns="0" rIns="0" bIns="0" rtlCol="0" anchor="t">
            <a:noAutofit/>
          </a:bodyPr>
          <a:lstStyle/>
          <a:p>
            <a:pPr marL="0" indent="0" algn="ctr">
              <a:lnSpc>
                <a:spcPct val="104000"/>
              </a:lnSpc>
              <a:buNone/>
            </a:pPr>
            <a:r>
              <a:rPr lang="tr-TR" sz="2800" b="1" dirty="0">
                <a:solidFill>
                  <a:srgbClr val="3C3939"/>
                </a:solidFill>
                <a:latin typeface="Calibri"/>
                <a:ea typeface="Calibri"/>
                <a:cs typeface="Calibri"/>
              </a:rPr>
              <a:t>4. Keşifsel veri analizi</a:t>
            </a:r>
            <a:endParaRPr lang="tr-TR" sz="2800" dirty="0"/>
          </a:p>
        </p:txBody>
      </p:sp>
      <p:sp>
        <p:nvSpPr>
          <p:cNvPr id="100" name="Yeni bulgular, önceki adımlara dönmemizi gerektire"/>
          <p:cNvSpPr txBox="1"/>
          <p:nvPr/>
        </p:nvSpPr>
        <p:spPr>
          <a:xfrm>
            <a:off x="990600" y="9510384"/>
            <a:ext cx="16002000" cy="514350"/>
          </a:xfrm>
          <a:prstGeom prst="rect">
            <a:avLst/>
          </a:prstGeom>
          <a:noFill/>
          <a:ln>
            <a:noFill/>
          </a:ln>
        </p:spPr>
        <p:txBody>
          <a:bodyPr wrap="square" lIns="0" tIns="0" rIns="0" bIns="0">
            <a:noAutofit/>
          </a:bodyPr>
          <a:lstStyle/>
          <a:p>
            <a:pPr marL="0" indent="0"/>
            <a:r>
              <a:rPr lang="tr-TR" sz="2400" b="1" dirty="0">
                <a:solidFill>
                  <a:srgbClr val="596173"/>
                </a:solidFill>
                <a:latin typeface="Calibri"/>
                <a:ea typeface="Calibri"/>
                <a:cs typeface="Calibri"/>
              </a:rPr>
              <a:t>Yeni bulgular, önceki adımlara dönmemizi gerektirebilir.</a:t>
            </a:r>
            <a:endParaRPr lang="tr-TR" sz="2400" b="1" dirty="0"/>
          </a:p>
        </p:txBody>
      </p:sp>
    </p:spTree>
    <p:extLst>
      <p:ext uri="{BB962C8B-B14F-4D97-AF65-F5344CB8AC3E}">
        <p14:creationId xmlns:p14="http://schemas.microsoft.com/office/powerpoint/2010/main" val="1853166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09324C13-6070-4830-8DA2-95BB6A2BF86C}"/>
              </a:ext>
            </a:extLst>
          </p:cNvPr>
          <p:cNvSpPr/>
          <p:nvPr/>
        </p:nvSpPr>
        <p:spPr>
          <a:xfrm>
            <a:off x="762000" y="457200"/>
            <a:ext cx="16764000" cy="990600"/>
          </a:xfrm>
          <a:prstGeom prst="rect">
            <a:avLst/>
          </a:prstGeom>
          <a:noFill/>
          <a:ln/>
        </p:spPr>
        <p:txBody>
          <a:bodyPr wrap="square" lIns="0" tIns="0" rIns="0" bIns="0" rtlCol="0" anchor="t">
            <a:noAutofit/>
          </a:bodyPr>
          <a:lstStyle/>
          <a:p>
            <a:pPr marL="0" marR="0" lvl="0" indent="0" algn="l" defTabSz="914400" eaLnBrk="1" fontAlgn="auto" latinLnBrk="0" hangingPunct="1">
              <a:lnSpc>
                <a:spcPct val="104000"/>
              </a:lnSpc>
              <a:spcBef>
                <a:spcPts val="0"/>
              </a:spcBef>
              <a:spcAft>
                <a:spcPts val="0"/>
              </a:spcAft>
              <a:buClrTx/>
              <a:buSzTx/>
              <a:buFontTx/>
              <a:buNone/>
              <a:tabLst/>
              <a:defRPr/>
            </a:pPr>
            <a:r>
              <a:rPr kumimoji="0" lang="tr-TR" sz="4400" b="1" i="0" u="none" strike="noStrike" kern="0" cap="none" spc="0" normalizeH="0" baseline="0" noProof="0" dirty="0">
                <a:ln>
                  <a:noFill/>
                </a:ln>
                <a:solidFill>
                  <a:srgbClr val="1E2A4E"/>
                </a:solidFill>
                <a:effectLst/>
                <a:uLnTx/>
                <a:uFillTx/>
                <a:latin typeface="Calibri"/>
                <a:ea typeface="Calibri"/>
                <a:cs typeface="Calibri"/>
              </a:rPr>
              <a:t>Veri toplama: Kaynak ve kapsam</a:t>
            </a:r>
            <a:endParaRPr lang="tr-TR" sz="4400"/>
          </a:p>
        </p:txBody>
      </p:sp>
      <p:grpSp>
        <p:nvGrpSpPr>
          <p:cNvPr id="2" name="Grup 1">
            <a:extLst>
              <a:ext uri="{FF2B5EF4-FFF2-40B4-BE49-F238E27FC236}">
                <a16:creationId xmlns:a16="http://schemas.microsoft.com/office/drawing/2014/main" id="{9DA76A1D-5D96-4EE6-B75B-980D39A67979}"/>
              </a:ext>
            </a:extLst>
          </p:cNvPr>
          <p:cNvGrpSpPr/>
          <p:nvPr/>
        </p:nvGrpSpPr>
        <p:grpSpPr>
          <a:xfrm>
            <a:off x="1828800" y="2400300"/>
            <a:ext cx="14859000" cy="6096000"/>
            <a:chOff x="685800" y="2095500"/>
            <a:chExt cx="16558501" cy="6629400"/>
          </a:xfrm>
        </p:grpSpPr>
        <p:pic>
          <p:nvPicPr>
            <p:cNvPr id="48" name="Resim 47">
              <a:extLst>
                <a:ext uri="{FF2B5EF4-FFF2-40B4-BE49-F238E27FC236}">
                  <a16:creationId xmlns:a16="http://schemas.microsoft.com/office/drawing/2014/main" id="{C072393F-52B4-479F-ABA6-2F56B6953C05}"/>
                </a:ext>
              </a:extLst>
            </p:cNvPr>
            <p:cNvPicPr>
              <a:picLocks noChangeAspect="1"/>
            </p:cNvPicPr>
            <p:nvPr/>
          </p:nvPicPr>
          <p:blipFill>
            <a:blip r:embed="rId3"/>
            <a:stretch>
              <a:fillRect/>
            </a:stretch>
          </p:blipFill>
          <p:spPr>
            <a:xfrm>
              <a:off x="685800" y="2095500"/>
              <a:ext cx="16558501" cy="6629400"/>
            </a:xfrm>
            <a:prstGeom prst="rect">
              <a:avLst/>
            </a:prstGeom>
          </p:spPr>
        </p:pic>
        <p:sp>
          <p:nvSpPr>
            <p:cNvPr id="49" name="Metin kutusu 48">
              <a:extLst>
                <a:ext uri="{FF2B5EF4-FFF2-40B4-BE49-F238E27FC236}">
                  <a16:creationId xmlns:a16="http://schemas.microsoft.com/office/drawing/2014/main" id="{7BFB24B4-B403-4F84-968D-3F733D275580}"/>
                </a:ext>
              </a:extLst>
            </p:cNvPr>
            <p:cNvSpPr txBox="1"/>
            <p:nvPr/>
          </p:nvSpPr>
          <p:spPr>
            <a:xfrm>
              <a:off x="1043699" y="3102781"/>
              <a:ext cx="7162800" cy="1815882"/>
            </a:xfrm>
            <a:prstGeom prst="rect">
              <a:avLst/>
            </a:prstGeom>
            <a:solidFill>
              <a:srgbClr val="FFFFFE"/>
            </a:solidFill>
          </p:spPr>
          <p:txBody>
            <a:bodyPr wrap="square" rtlCol="0">
              <a:noAutofit/>
            </a:bodyPr>
            <a:lstStyle/>
            <a:p>
              <a:pPr marL="457200" indent="-457200">
                <a:buFont typeface="Arial" panose="020B0604020202020204" pitchFamily="34" charset="0"/>
                <a:buChar char="•"/>
              </a:pPr>
              <a:r>
                <a:rPr lang="tr-TR" sz="2800" dirty="0">
                  <a:ea typeface="Calibri"/>
                  <a:cs typeface="Calibri"/>
                </a:rPr>
                <a:t>Anket / ölçüm</a:t>
              </a:r>
              <a:endParaRPr lang="tr-TR" sz="2800" dirty="0"/>
            </a:p>
            <a:p>
              <a:pPr marL="457200" indent="-457200">
                <a:buFont typeface="Arial" panose="020B0604020202020204" pitchFamily="34" charset="0"/>
                <a:buChar char="•"/>
              </a:pPr>
              <a:r>
                <a:rPr lang="tr-TR" sz="2800" b="0" dirty="0">
                  <a:ea typeface="Calibri"/>
                  <a:cs typeface="Calibri"/>
                </a:rPr>
                <a:t>Katılımcı yanıtları</a:t>
              </a:r>
            </a:p>
            <a:p>
              <a:pPr marL="457200" indent="-457200">
                <a:buFont typeface="Arial" panose="020B0604020202020204" pitchFamily="34" charset="0"/>
                <a:buChar char="•"/>
              </a:pPr>
              <a:r>
                <a:rPr lang="tr-TR" sz="2800" dirty="0">
                  <a:ea typeface="Calibri"/>
                  <a:cs typeface="Calibri"/>
                </a:rPr>
                <a:t>S</a:t>
              </a:r>
              <a:r>
                <a:rPr lang="tr-TR" sz="2800" b="0" dirty="0">
                  <a:ea typeface="Calibri"/>
                  <a:cs typeface="Calibri"/>
                </a:rPr>
                <a:t>aha ölçümleri</a:t>
              </a:r>
              <a:endParaRPr lang="tr-TR" sz="2800" dirty="0"/>
            </a:p>
          </p:txBody>
        </p:sp>
        <p:sp>
          <p:nvSpPr>
            <p:cNvPr id="50" name="Metin kutusu 49">
              <a:extLst>
                <a:ext uri="{FF2B5EF4-FFF2-40B4-BE49-F238E27FC236}">
                  <a16:creationId xmlns:a16="http://schemas.microsoft.com/office/drawing/2014/main" id="{54B2ABE0-77F5-4FF8-B3F4-27E9BE189804}"/>
                </a:ext>
              </a:extLst>
            </p:cNvPr>
            <p:cNvSpPr txBox="1"/>
            <p:nvPr/>
          </p:nvSpPr>
          <p:spPr>
            <a:xfrm>
              <a:off x="9296400" y="3092559"/>
              <a:ext cx="7239000" cy="1815882"/>
            </a:xfrm>
            <a:prstGeom prst="rect">
              <a:avLst/>
            </a:prstGeom>
            <a:solidFill>
              <a:srgbClr val="FFFFFE"/>
            </a:solidFill>
          </p:spPr>
          <p:txBody>
            <a:bodyPr wrap="square" rtlCol="0">
              <a:noAutofit/>
            </a:bodyPr>
            <a:lstStyle/>
            <a:p>
              <a:pPr marL="457200" indent="-457200">
                <a:buFont typeface="Arial" panose="020B0604020202020204" pitchFamily="34" charset="0"/>
                <a:buChar char="•"/>
              </a:pPr>
              <a:r>
                <a:rPr lang="tr-TR" sz="2800" dirty="0">
                  <a:ea typeface="Calibri"/>
                  <a:cs typeface="Calibri"/>
                </a:rPr>
                <a:t>Sistem kayıtları</a:t>
              </a:r>
              <a:endParaRPr lang="tr-TR" sz="2800" dirty="0"/>
            </a:p>
            <a:p>
              <a:pPr marL="457200" indent="-457200">
                <a:buFont typeface="Arial" panose="020B0604020202020204" pitchFamily="34" charset="0"/>
                <a:buChar char="•"/>
              </a:pPr>
              <a:r>
                <a:rPr lang="tr-TR" sz="2800" b="0" dirty="0">
                  <a:ea typeface="Calibri"/>
                  <a:cs typeface="Calibri"/>
                </a:rPr>
                <a:t>Kurum dosyaları</a:t>
              </a:r>
            </a:p>
            <a:p>
              <a:pPr marL="457200" indent="-457200">
                <a:buFont typeface="Arial" panose="020B0604020202020204" pitchFamily="34" charset="0"/>
                <a:buChar char="•"/>
              </a:pPr>
              <a:r>
                <a:rPr lang="tr-TR" sz="2800" b="0" dirty="0">
                  <a:ea typeface="Calibri"/>
                  <a:cs typeface="Calibri"/>
                </a:rPr>
                <a:t>Veri tabanları</a:t>
              </a:r>
              <a:endParaRPr lang="tr-TR" sz="2800" dirty="0"/>
            </a:p>
          </p:txBody>
        </p:sp>
        <p:sp>
          <p:nvSpPr>
            <p:cNvPr id="51" name="Metin kutusu 50">
              <a:extLst>
                <a:ext uri="{FF2B5EF4-FFF2-40B4-BE49-F238E27FC236}">
                  <a16:creationId xmlns:a16="http://schemas.microsoft.com/office/drawing/2014/main" id="{379C5118-29F4-4673-9422-4B1676DCF68D}"/>
                </a:ext>
              </a:extLst>
            </p:cNvPr>
            <p:cNvSpPr txBox="1"/>
            <p:nvPr/>
          </p:nvSpPr>
          <p:spPr>
            <a:xfrm>
              <a:off x="1143000" y="6438900"/>
              <a:ext cx="7162800" cy="1857375"/>
            </a:xfrm>
            <a:prstGeom prst="rect">
              <a:avLst/>
            </a:prstGeom>
            <a:solidFill>
              <a:srgbClr val="FFFFFE"/>
            </a:solidFill>
          </p:spPr>
          <p:txBody>
            <a:bodyPr wrap="square" rtlCol="0">
              <a:noAutofit/>
            </a:bodyPr>
            <a:lstStyle/>
            <a:p>
              <a:pPr marL="457200" indent="-457200">
                <a:buFont typeface="Arial" panose="020B0604020202020204" pitchFamily="34" charset="0"/>
                <a:buChar char="•"/>
              </a:pPr>
              <a:r>
                <a:rPr lang="tr-TR" sz="2700" b="0" dirty="0">
                  <a:latin typeface="Calibri"/>
                  <a:ea typeface="Calibri"/>
                  <a:cs typeface="Calibri"/>
                </a:rPr>
                <a:t>Açık veri / API</a:t>
              </a:r>
              <a:endParaRPr lang="tr-TR" sz="2700" dirty="0"/>
            </a:p>
            <a:p>
              <a:pPr marL="457200" indent="-457200">
                <a:buFont typeface="Arial" panose="020B0604020202020204" pitchFamily="34" charset="0"/>
                <a:buChar char="•"/>
              </a:pPr>
              <a:r>
                <a:rPr lang="tr-TR" sz="2700" b="0" dirty="0">
                  <a:latin typeface="Calibri"/>
                  <a:ea typeface="Calibri"/>
                  <a:cs typeface="Calibri"/>
                </a:rPr>
                <a:t>İzinli veri kaynakları</a:t>
              </a:r>
              <a:endParaRPr lang="tr-TR" sz="2700" dirty="0"/>
            </a:p>
          </p:txBody>
        </p:sp>
        <p:sp>
          <p:nvSpPr>
            <p:cNvPr id="52" name="Metin kutusu 51">
              <a:extLst>
                <a:ext uri="{FF2B5EF4-FFF2-40B4-BE49-F238E27FC236}">
                  <a16:creationId xmlns:a16="http://schemas.microsoft.com/office/drawing/2014/main" id="{D9612B47-6F08-4EAC-AA0F-DC88172D598E}"/>
                </a:ext>
              </a:extLst>
            </p:cNvPr>
            <p:cNvSpPr txBox="1"/>
            <p:nvPr/>
          </p:nvSpPr>
          <p:spPr>
            <a:xfrm>
              <a:off x="9372600" y="6286500"/>
              <a:ext cx="7525871" cy="1815882"/>
            </a:xfrm>
            <a:prstGeom prst="rect">
              <a:avLst/>
            </a:prstGeom>
            <a:solidFill>
              <a:srgbClr val="FFFFFE"/>
            </a:solidFill>
          </p:spPr>
          <p:txBody>
            <a:bodyPr wrap="square" rtlCol="0">
              <a:noAutofit/>
            </a:bodyPr>
            <a:lstStyle/>
            <a:p>
              <a:pPr marL="457200" indent="-457200">
                <a:buFont typeface="Arial" panose="020B0604020202020204" pitchFamily="34" charset="0"/>
                <a:buChar char="•"/>
              </a:pPr>
              <a:r>
                <a:rPr lang="tr-TR" sz="2800" b="0" dirty="0">
                  <a:ea typeface="Calibri"/>
                  <a:cs typeface="Calibri"/>
                </a:rPr>
                <a:t>Toplarken kaydederiz</a:t>
              </a:r>
              <a:endParaRPr lang="tr-TR" sz="2800" dirty="0"/>
            </a:p>
            <a:p>
              <a:pPr marL="457200" indent="-457200">
                <a:buFont typeface="Arial" panose="020B0604020202020204" pitchFamily="34" charset="0"/>
                <a:buChar char="•"/>
              </a:pPr>
              <a:r>
                <a:rPr lang="tr-TR" sz="2800" b="0" dirty="0">
                  <a:ea typeface="Calibri"/>
                  <a:cs typeface="Calibri"/>
                </a:rPr>
                <a:t>Kaynak, tarih, birim ve kapsam</a:t>
              </a:r>
              <a:endParaRPr lang="tr-TR" sz="28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ED"/>
        </a:solidFill>
        <a:effectLst/>
      </p:bgPr>
    </p:bg>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DFC1F422-A2BE-435D-A787-24BC2ED58C08}"/>
              </a:ext>
            </a:extLst>
          </p:cNvPr>
          <p:cNvPicPr>
            <a:picLocks noChangeAspect="1"/>
          </p:cNvPicPr>
          <p:nvPr/>
        </p:nvPicPr>
        <p:blipFill rotWithShape="1">
          <a:blip r:embed="rId3"/>
          <a:srcRect l="4072" t="4815" r="7828" b="15930"/>
          <a:stretch/>
        </p:blipFill>
        <p:spPr>
          <a:xfrm>
            <a:off x="1104900" y="1676400"/>
            <a:ext cx="16078200" cy="8115300"/>
          </a:xfrm>
          <a:prstGeom prst="rect">
            <a:avLst/>
          </a:prstGeom>
        </p:spPr>
      </p:pic>
      <p:sp>
        <p:nvSpPr>
          <p:cNvPr id="3" name="TextBox 3"/>
          <p:cNvSpPr txBox="1"/>
          <p:nvPr/>
        </p:nvSpPr>
        <p:spPr>
          <a:xfrm>
            <a:off x="762000" y="457200"/>
            <a:ext cx="16764000" cy="990600"/>
          </a:xfrm>
          <a:prstGeom prst="rect">
            <a:avLst/>
          </a:prstGeom>
        </p:spPr>
        <p:txBody>
          <a:bodyPr wrap="square" lIns="0" tIns="0" rIns="0" bIns="0" rtlCol="0" anchor="t">
            <a:noAutofit/>
          </a:bodyPr>
          <a:lstStyle/>
          <a:p>
            <a:pPr marL="0" indent="0" algn="l">
              <a:lnSpc>
                <a:spcPts val="4643"/>
              </a:lnSpc>
              <a:spcBef>
                <a:spcPct val="0"/>
              </a:spcBef>
            </a:pPr>
            <a:r>
              <a:rPr lang="tr-TR" sz="4400" b="1" dirty="0">
                <a:solidFill>
                  <a:srgbClr val="1E2A4E"/>
                </a:solidFill>
                <a:latin typeface="Calibri"/>
                <a:ea typeface="Calibri"/>
                <a:cs typeface="Calibri"/>
                <a:sym typeface="Calibri"/>
              </a:rPr>
              <a:t>Evren ve örneklem</a:t>
            </a:r>
            <a:endParaRPr lang="tr-TR" sz="4400" dirty="0"/>
          </a:p>
        </p:txBody>
      </p:sp>
      <p:sp>
        <p:nvSpPr>
          <p:cNvPr id="2" name="Metin kutusu 1">
            <a:extLst>
              <a:ext uri="{FF2B5EF4-FFF2-40B4-BE49-F238E27FC236}">
                <a16:creationId xmlns:a16="http://schemas.microsoft.com/office/drawing/2014/main" id="{0ECC3C78-CBA1-4D04-824C-B2F1745C74A9}"/>
              </a:ext>
            </a:extLst>
          </p:cNvPr>
          <p:cNvSpPr txBox="1"/>
          <p:nvPr/>
        </p:nvSpPr>
        <p:spPr>
          <a:xfrm>
            <a:off x="13230224" y="7869891"/>
            <a:ext cx="2743201" cy="1143000"/>
          </a:xfrm>
          <a:prstGeom prst="rect">
            <a:avLst/>
          </a:prstGeom>
          <a:solidFill>
            <a:srgbClr val="F3F2ED"/>
          </a:solidFill>
        </p:spPr>
        <p:txBody>
          <a:bodyPr wrap="square" rtlCol="0">
            <a:spAutoFit/>
          </a:bodyPr>
          <a:lstStyle/>
          <a:p>
            <a:endParaRPr lang="tr-TR" dirty="0"/>
          </a:p>
        </p:txBody>
      </p:sp>
      <p:sp>
        <p:nvSpPr>
          <p:cNvPr id="4" name="Metin kutusu 3">
            <a:extLst>
              <a:ext uri="{FF2B5EF4-FFF2-40B4-BE49-F238E27FC236}">
                <a16:creationId xmlns:a16="http://schemas.microsoft.com/office/drawing/2014/main" id="{F0DC43E6-7809-46C8-A339-60A6B21D3063}"/>
              </a:ext>
            </a:extLst>
          </p:cNvPr>
          <p:cNvSpPr txBox="1"/>
          <p:nvPr/>
        </p:nvSpPr>
        <p:spPr>
          <a:xfrm>
            <a:off x="762000" y="1943100"/>
            <a:ext cx="2286000" cy="952500"/>
          </a:xfrm>
          <a:prstGeom prst="rect">
            <a:avLst/>
          </a:prstGeom>
          <a:noFill/>
        </p:spPr>
        <p:txBody>
          <a:bodyPr wrap="square" rtlCol="0">
            <a:noAutofit/>
          </a:bodyPr>
          <a:lstStyle/>
          <a:p>
            <a:pPr marL="0" indent="0"/>
            <a:r>
              <a:rPr lang="tr-TR" sz="2600" b="1" dirty="0">
                <a:solidFill>
                  <a:srgbClr val="1E2A4E"/>
                </a:solidFill>
                <a:latin typeface="Calibri"/>
                <a:ea typeface="Calibri"/>
                <a:cs typeface="Calibri"/>
              </a:rPr>
              <a:t>Evren</a:t>
            </a:r>
            <a:endParaRPr lang="tr-TR" sz="2600"/>
          </a:p>
          <a:p>
            <a:pPr marL="0" indent="0"/>
            <a:r>
              <a:rPr lang="tr-TR" sz="2600" b="1" dirty="0">
                <a:solidFill>
                  <a:srgbClr val="1E2A4E"/>
                </a:solidFill>
                <a:latin typeface="Calibri"/>
                <a:ea typeface="Calibri"/>
                <a:cs typeface="Calibri"/>
              </a:rPr>
              <a:t>(Popülasyon)</a:t>
            </a:r>
            <a:endParaRPr lang="tr-TR" sz="2600"/>
          </a:p>
        </p:txBody>
      </p:sp>
      <p:sp>
        <p:nvSpPr>
          <p:cNvPr id="101" name="Belirli bir tarihte Türkiye’deki satılık konutları"/>
          <p:cNvSpPr txBox="1"/>
          <p:nvPr/>
        </p:nvSpPr>
        <p:spPr>
          <a:xfrm>
            <a:off x="9296400" y="7734300"/>
            <a:ext cx="2895600" cy="1593476"/>
          </a:xfrm>
          <a:prstGeom prst="rect">
            <a:avLst/>
          </a:prstGeom>
          <a:solidFill>
            <a:srgbClr val="F2F1ED"/>
          </a:solidFill>
          <a:ln>
            <a:noFill/>
          </a:ln>
        </p:spPr>
        <p:txBody>
          <a:bodyPr wrap="square" lIns="0" tIns="0" rIns="0" bIns="0">
            <a:noAutofit/>
          </a:bodyPr>
          <a:lstStyle/>
          <a:p>
            <a:pPr marL="0" indent="0"/>
            <a:r>
              <a:rPr lang="tr-TR" sz="2800" dirty="0">
                <a:solidFill>
                  <a:srgbClr val="30343B"/>
                </a:solidFill>
                <a:ea typeface="Calibri"/>
                <a:cs typeface="Calibri"/>
              </a:rPr>
              <a:t>Belirli bir tarihte</a:t>
            </a:r>
            <a:endParaRPr lang="tr-TR" sz="2800" dirty="0"/>
          </a:p>
          <a:p>
            <a:pPr marL="0" indent="0"/>
            <a:r>
              <a:rPr lang="tr-TR" sz="2800" dirty="0">
                <a:solidFill>
                  <a:srgbClr val="30343B"/>
                </a:solidFill>
                <a:ea typeface="Calibri"/>
                <a:cs typeface="Calibri"/>
              </a:rPr>
              <a:t>Türkiye’deki</a:t>
            </a:r>
            <a:r>
              <a:rPr lang="tr-TR" sz="2800" dirty="0"/>
              <a:t> </a:t>
            </a:r>
            <a:r>
              <a:rPr lang="tr-TR" sz="2800" dirty="0">
                <a:solidFill>
                  <a:srgbClr val="30343B"/>
                </a:solidFill>
                <a:ea typeface="Calibri"/>
                <a:cs typeface="Calibri"/>
              </a:rPr>
              <a:t>satılık konutların tümü.</a:t>
            </a:r>
            <a:endParaRPr lang="tr-TR" sz="2800" dirty="0"/>
          </a:p>
        </p:txBody>
      </p:sp>
      <p:sp>
        <p:nvSpPr>
          <p:cNvPr id="102" name="İncelediğimiz konutlar, evrenden seçilen küçük bir"/>
          <p:cNvSpPr txBox="1"/>
          <p:nvPr/>
        </p:nvSpPr>
        <p:spPr>
          <a:xfrm>
            <a:off x="13030200" y="7753350"/>
            <a:ext cx="3448050" cy="1574426"/>
          </a:xfrm>
          <a:prstGeom prst="rect">
            <a:avLst/>
          </a:prstGeom>
          <a:ln>
            <a:noFill/>
          </a:ln>
        </p:spPr>
        <p:txBody>
          <a:bodyPr wrap="square" lIns="0" tIns="0" rIns="0" bIns="0">
            <a:noAutofit/>
          </a:bodyPr>
          <a:lstStyle/>
          <a:p>
            <a:pPr marL="0" indent="0"/>
            <a:r>
              <a:rPr lang="tr-TR" sz="2800" dirty="0">
                <a:solidFill>
                  <a:srgbClr val="30343B"/>
                </a:solidFill>
                <a:ea typeface="Calibri"/>
                <a:cs typeface="Calibri"/>
              </a:rPr>
              <a:t>İncelediğimiz konutlar,</a:t>
            </a:r>
            <a:endParaRPr lang="tr-TR" sz="2800" dirty="0"/>
          </a:p>
          <a:p>
            <a:pPr marL="0" indent="0"/>
            <a:r>
              <a:rPr lang="tr-TR" sz="2800" dirty="0">
                <a:solidFill>
                  <a:srgbClr val="30343B"/>
                </a:solidFill>
                <a:ea typeface="Calibri"/>
                <a:cs typeface="Calibri"/>
              </a:rPr>
              <a:t>evrenden seçilen</a:t>
            </a:r>
            <a:endParaRPr lang="tr-TR" sz="2800" dirty="0"/>
          </a:p>
          <a:p>
            <a:pPr marL="0" indent="0"/>
            <a:r>
              <a:rPr lang="tr-TR" sz="2800" dirty="0">
                <a:solidFill>
                  <a:srgbClr val="30343B"/>
                </a:solidFill>
                <a:ea typeface="Calibri"/>
                <a:cs typeface="Calibri"/>
              </a:rPr>
              <a:t>küçük bir alt kümedir.</a:t>
            </a:r>
          </a:p>
          <a:p>
            <a:pPr marL="0" indent="0" algn="ctr"/>
            <a:endParaRPr lang="tr-TR" sz="2300" dirty="0">
              <a:solidFill>
                <a:srgbClr val="30343B"/>
              </a:solidFill>
              <a:latin typeface="Calibri"/>
              <a:ea typeface="Calibri"/>
              <a:cs typeface="Calibri"/>
            </a:endParaRPr>
          </a:p>
          <a:p>
            <a:pPr marL="0" indent="0" algn="ctr"/>
            <a:endParaRPr lang="tr-TR" sz="2300" dirty="0">
              <a:solidFill>
                <a:srgbClr val="30343B"/>
              </a:solidFill>
              <a:latin typeface="Calibri"/>
              <a:ea typeface="Calibri"/>
              <a:cs typeface="Calibri"/>
            </a:endParaRPr>
          </a:p>
          <a:p>
            <a:pPr marL="0" indent="0" algn="ctr"/>
            <a:endParaRPr lang="tr-TR" sz="2300" dirty="0">
              <a:solidFill>
                <a:srgbClr val="30343B"/>
              </a:solidFill>
              <a:latin typeface="Calibri"/>
              <a:ea typeface="Calibri"/>
              <a:cs typeface="Calibri"/>
            </a:endParaRPr>
          </a:p>
          <a:p>
            <a:pPr marL="0" indent="0" algn="ctr"/>
            <a:endParaRPr lang="tr-TR" sz="2300" dirty="0">
              <a:solidFill>
                <a:srgbClr val="30343B"/>
              </a:solidFill>
              <a:latin typeface="Calibri"/>
              <a:ea typeface="Calibri"/>
              <a:cs typeface="Calibri"/>
            </a:endParaRPr>
          </a:p>
          <a:p>
            <a:pPr marL="0" indent="0" algn="ctr"/>
            <a:endParaRPr lang="tr-TR" sz="2300" dirty="0"/>
          </a:p>
        </p:txBody>
      </p:sp>
      <p:sp>
        <p:nvSpPr>
          <p:cNvPr id="103" name="Şema temsilidir. Örneklem seçimi, sonuçların temsi"/>
          <p:cNvSpPr txBox="1"/>
          <p:nvPr/>
        </p:nvSpPr>
        <p:spPr>
          <a:xfrm>
            <a:off x="762000" y="9693928"/>
            <a:ext cx="16192500" cy="428625"/>
          </a:xfrm>
          <a:prstGeom prst="rect">
            <a:avLst/>
          </a:prstGeom>
          <a:noFill/>
          <a:ln>
            <a:noFill/>
          </a:ln>
        </p:spPr>
        <p:txBody>
          <a:bodyPr wrap="square" lIns="0" tIns="0" rIns="0" bIns="0">
            <a:noAutofit/>
          </a:bodyPr>
          <a:lstStyle/>
          <a:p>
            <a:pPr marL="0" indent="0"/>
            <a:r>
              <a:rPr lang="tr-TR" sz="2400" dirty="0">
                <a:solidFill>
                  <a:srgbClr val="596173"/>
                </a:solidFill>
                <a:latin typeface="Calibri"/>
                <a:ea typeface="Calibri"/>
                <a:cs typeface="Calibri"/>
              </a:rPr>
              <a:t>Şema temsilidir. Örneklem seçimi, sonuçların temsil gücünü etkiler.</a:t>
            </a:r>
            <a:endParaRPr lang="tr-T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2" name="Akış Çizelgesi: Öteki İşlem 31">
            <a:extLst>
              <a:ext uri="{FF2B5EF4-FFF2-40B4-BE49-F238E27FC236}">
                <a16:creationId xmlns:a16="http://schemas.microsoft.com/office/drawing/2014/main" id="{3F339CB4-B3A5-480D-AF25-56F0FDBBBAA7}"/>
              </a:ext>
            </a:extLst>
          </p:cNvPr>
          <p:cNvSpPr/>
          <p:nvPr/>
        </p:nvSpPr>
        <p:spPr>
          <a:xfrm>
            <a:off x="9345708" y="6051403"/>
            <a:ext cx="8104092" cy="3130697"/>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31" name="Akış Çizelgesi: Öteki İşlem 30">
            <a:extLst>
              <a:ext uri="{FF2B5EF4-FFF2-40B4-BE49-F238E27FC236}">
                <a16:creationId xmlns:a16="http://schemas.microsoft.com/office/drawing/2014/main" id="{0E397955-EFBF-427B-849D-A832E09401CC}"/>
              </a:ext>
            </a:extLst>
          </p:cNvPr>
          <p:cNvSpPr/>
          <p:nvPr/>
        </p:nvSpPr>
        <p:spPr>
          <a:xfrm>
            <a:off x="1127352" y="6051403"/>
            <a:ext cx="7750421" cy="3283097"/>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30" name="Akış Çizelgesi: Öteki İşlem 29">
            <a:extLst>
              <a:ext uri="{FF2B5EF4-FFF2-40B4-BE49-F238E27FC236}">
                <a16:creationId xmlns:a16="http://schemas.microsoft.com/office/drawing/2014/main" id="{4B2D377B-C640-482E-98BA-CEB0C80B3425}"/>
              </a:ext>
            </a:extLst>
          </p:cNvPr>
          <p:cNvSpPr/>
          <p:nvPr/>
        </p:nvSpPr>
        <p:spPr>
          <a:xfrm>
            <a:off x="9397983" y="2404482"/>
            <a:ext cx="8104092" cy="3182210"/>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29" name="Akış Çizelgesi: Öteki İşlem 28">
            <a:extLst>
              <a:ext uri="{FF2B5EF4-FFF2-40B4-BE49-F238E27FC236}">
                <a16:creationId xmlns:a16="http://schemas.microsoft.com/office/drawing/2014/main" id="{09618424-1A7A-43F2-A0C7-B0D770A7928A}"/>
              </a:ext>
            </a:extLst>
          </p:cNvPr>
          <p:cNvSpPr/>
          <p:nvPr/>
        </p:nvSpPr>
        <p:spPr>
          <a:xfrm>
            <a:off x="1125516" y="2496135"/>
            <a:ext cx="7568125" cy="2997784"/>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3" name="Text 0">
            <a:extLst>
              <a:ext uri="{FF2B5EF4-FFF2-40B4-BE49-F238E27FC236}">
                <a16:creationId xmlns:a16="http://schemas.microsoft.com/office/drawing/2014/main" id="{0EFDF6B6-768A-4AFC-A65B-B07C49EA3FF6}"/>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a:lnSpc>
                <a:spcPct val="104000"/>
              </a:lnSpc>
              <a:buNone/>
            </a:pPr>
            <a:r>
              <a:rPr lang="tr-TR" sz="4400" b="1" dirty="0">
                <a:solidFill>
                  <a:srgbClr val="1E2A4E"/>
                </a:solidFill>
                <a:latin typeface="Calibri"/>
                <a:ea typeface="Calibri"/>
                <a:cs typeface="Calibri"/>
              </a:rPr>
              <a:t>Veri biçimleri: Genel bakış</a:t>
            </a:r>
            <a:endParaRPr lang="tr-TR" sz="4400"/>
          </a:p>
        </p:txBody>
      </p:sp>
      <p:sp>
        <p:nvSpPr>
          <p:cNvPr id="4" name="Text 1">
            <a:extLst>
              <a:ext uri="{FF2B5EF4-FFF2-40B4-BE49-F238E27FC236}">
                <a16:creationId xmlns:a16="http://schemas.microsoft.com/office/drawing/2014/main" id="{8B749CD9-060D-432D-A66F-6BD0F43268C0}"/>
              </a:ext>
            </a:extLst>
          </p:cNvPr>
          <p:cNvSpPr/>
          <p:nvPr/>
        </p:nvSpPr>
        <p:spPr>
          <a:xfrm>
            <a:off x="1246094" y="1515221"/>
            <a:ext cx="13792200" cy="762000"/>
          </a:xfrm>
          <a:prstGeom prst="rect">
            <a:avLst/>
          </a:prstGeom>
          <a:noFill/>
          <a:ln/>
        </p:spPr>
        <p:txBody>
          <a:bodyPr wrap="square" lIns="0" tIns="0" rIns="0" bIns="0" rtlCol="0" anchor="t">
            <a:noAutofit/>
          </a:bodyPr>
          <a:lstStyle/>
          <a:p>
            <a:pPr marL="0" indent="0" algn="l">
              <a:lnSpc>
                <a:spcPct val="133000"/>
              </a:lnSpc>
              <a:buNone/>
            </a:pPr>
            <a:r>
              <a:rPr lang="tr-TR" sz="3200" dirty="0">
                <a:solidFill>
                  <a:srgbClr val="3C3939"/>
                </a:solidFill>
                <a:latin typeface="Calibri"/>
                <a:ea typeface="Calibri"/>
                <a:cs typeface="Calibri"/>
              </a:rPr>
              <a:t>Verinin biçimi, nasıl hazırlanacağını etkiler.</a:t>
            </a:r>
            <a:endParaRPr lang="tr-TR" sz="3200" dirty="0"/>
          </a:p>
        </p:txBody>
      </p:sp>
      <p:pic>
        <p:nvPicPr>
          <p:cNvPr id="5" name="Image 0" descr="preencoded.png">
            <a:extLst>
              <a:ext uri="{FF2B5EF4-FFF2-40B4-BE49-F238E27FC236}">
                <a16:creationId xmlns:a16="http://schemas.microsoft.com/office/drawing/2014/main" id="{9C5C2E52-02D1-49E4-ABD2-1CD0EDEBA9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74168" y="2718608"/>
            <a:ext cx="1091125" cy="1091153"/>
          </a:xfrm>
          <a:prstGeom prst="rect">
            <a:avLst/>
          </a:prstGeom>
        </p:spPr>
      </p:pic>
      <p:pic>
        <p:nvPicPr>
          <p:cNvPr id="6" name="Image 1" descr="preencoded.png">
            <a:extLst>
              <a:ext uri="{FF2B5EF4-FFF2-40B4-BE49-F238E27FC236}">
                <a16:creationId xmlns:a16="http://schemas.microsoft.com/office/drawing/2014/main" id="{2FD292F9-D512-4444-8D44-7933B117E0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17218" y="2728474"/>
            <a:ext cx="1091125" cy="1091153"/>
          </a:xfrm>
          <a:prstGeom prst="rect">
            <a:avLst/>
          </a:prstGeom>
        </p:spPr>
      </p:pic>
      <p:pic>
        <p:nvPicPr>
          <p:cNvPr id="7" name="Image 2" descr="preencoded.png">
            <a:extLst>
              <a:ext uri="{FF2B5EF4-FFF2-40B4-BE49-F238E27FC236}">
                <a16:creationId xmlns:a16="http://schemas.microsoft.com/office/drawing/2014/main" id="{3EA60545-9EEB-409D-8973-4A90332CAA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98494" y="6366881"/>
            <a:ext cx="1091125" cy="1091153"/>
          </a:xfrm>
          <a:prstGeom prst="rect">
            <a:avLst/>
          </a:prstGeom>
        </p:spPr>
      </p:pic>
      <p:pic>
        <p:nvPicPr>
          <p:cNvPr id="8" name="Image 3" descr="preencoded.png">
            <a:extLst>
              <a:ext uri="{FF2B5EF4-FFF2-40B4-BE49-F238E27FC236}">
                <a16:creationId xmlns:a16="http://schemas.microsoft.com/office/drawing/2014/main" id="{3C418621-4DB8-4D18-869B-8E09BD33AB8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32682" y="6366881"/>
            <a:ext cx="1179543" cy="1179573"/>
          </a:xfrm>
          <a:prstGeom prst="rect">
            <a:avLst/>
          </a:prstGeom>
        </p:spPr>
      </p:pic>
      <p:sp>
        <p:nvSpPr>
          <p:cNvPr id="9" name="Text 2">
            <a:extLst>
              <a:ext uri="{FF2B5EF4-FFF2-40B4-BE49-F238E27FC236}">
                <a16:creationId xmlns:a16="http://schemas.microsoft.com/office/drawing/2014/main" id="{4A2B4EF9-2F12-4AB4-8F96-125661334460}"/>
              </a:ext>
            </a:extLst>
          </p:cNvPr>
          <p:cNvSpPr/>
          <p:nvPr/>
        </p:nvSpPr>
        <p:spPr>
          <a:xfrm>
            <a:off x="2711725" y="2841848"/>
            <a:ext cx="5316206" cy="500000"/>
          </a:xfrm>
          <a:prstGeom prst="rect">
            <a:avLst/>
          </a:prstGeom>
          <a:noFill/>
          <a:ln/>
        </p:spPr>
        <p:txBody>
          <a:bodyPr wrap="none" lIns="0" tIns="0" rIns="0" bIns="0" rtlCol="0" anchor="t"/>
          <a:lstStyle/>
          <a:p>
            <a:pPr marL="0" indent="0" algn="l">
              <a:lnSpc>
                <a:spcPct val="104000"/>
              </a:lnSpc>
              <a:buNone/>
            </a:pPr>
            <a:r>
              <a:rPr lang="en-US" sz="3600" b="1" dirty="0">
                <a:solidFill>
                  <a:srgbClr val="3C3939"/>
                </a:solidFill>
                <a:ea typeface="Calibri" pitchFamily="34" charset="-122"/>
                <a:cs typeface="Calibri" pitchFamily="34" charset="-120"/>
              </a:rPr>
              <a:t>Görsel Veri</a:t>
            </a:r>
            <a:endParaRPr lang="en-US" sz="3600" b="1" dirty="0"/>
          </a:p>
        </p:txBody>
      </p:sp>
      <p:sp>
        <p:nvSpPr>
          <p:cNvPr id="10" name="Text 4">
            <a:extLst>
              <a:ext uri="{FF2B5EF4-FFF2-40B4-BE49-F238E27FC236}">
                <a16:creationId xmlns:a16="http://schemas.microsoft.com/office/drawing/2014/main" id="{E2B5EA39-C180-4ECD-BF70-BB03ED8458FC}"/>
              </a:ext>
            </a:extLst>
          </p:cNvPr>
          <p:cNvSpPr/>
          <p:nvPr/>
        </p:nvSpPr>
        <p:spPr>
          <a:xfrm>
            <a:off x="10617182" y="2841848"/>
            <a:ext cx="5316305" cy="500000"/>
          </a:xfrm>
          <a:prstGeom prst="rect">
            <a:avLst/>
          </a:prstGeom>
          <a:noFill/>
          <a:ln/>
        </p:spPr>
        <p:txBody>
          <a:bodyPr wrap="none" lIns="0" tIns="0" rIns="0" bIns="0" rtlCol="0" anchor="t"/>
          <a:lstStyle/>
          <a:p>
            <a:pPr marL="0" indent="0" algn="l">
              <a:lnSpc>
                <a:spcPct val="104000"/>
              </a:lnSpc>
              <a:buNone/>
            </a:pPr>
            <a:r>
              <a:rPr lang="en-US" sz="3600" b="1" dirty="0">
                <a:solidFill>
                  <a:srgbClr val="3C3939"/>
                </a:solidFill>
                <a:ea typeface="Calibri" pitchFamily="34" charset="-122"/>
                <a:cs typeface="Calibri" pitchFamily="34" charset="-120"/>
              </a:rPr>
              <a:t>Sayısal Veri</a:t>
            </a:r>
            <a:endParaRPr lang="en-US" sz="3600" b="1" dirty="0"/>
          </a:p>
        </p:txBody>
      </p:sp>
      <p:sp>
        <p:nvSpPr>
          <p:cNvPr id="12" name="Text 6">
            <a:extLst>
              <a:ext uri="{FF2B5EF4-FFF2-40B4-BE49-F238E27FC236}">
                <a16:creationId xmlns:a16="http://schemas.microsoft.com/office/drawing/2014/main" id="{6587DA08-52F8-45B8-BD2C-58BBA6AB65B9}"/>
              </a:ext>
            </a:extLst>
          </p:cNvPr>
          <p:cNvSpPr/>
          <p:nvPr/>
        </p:nvSpPr>
        <p:spPr>
          <a:xfrm>
            <a:off x="2717240" y="6483564"/>
            <a:ext cx="5316206" cy="654105"/>
          </a:xfrm>
          <a:prstGeom prst="rect">
            <a:avLst/>
          </a:prstGeom>
          <a:noFill/>
          <a:ln/>
        </p:spPr>
        <p:txBody>
          <a:bodyPr wrap="none" lIns="0" tIns="0" rIns="0" bIns="0" rtlCol="0" anchor="t"/>
          <a:lstStyle/>
          <a:p>
            <a:pPr marL="0" indent="0" algn="l">
              <a:lnSpc>
                <a:spcPct val="104000"/>
              </a:lnSpc>
              <a:buNone/>
            </a:pPr>
            <a:r>
              <a:rPr lang="en-US" sz="3600" b="1" dirty="0">
                <a:solidFill>
                  <a:srgbClr val="3C3939"/>
                </a:solidFill>
                <a:ea typeface="Calibri" pitchFamily="34" charset="-122"/>
                <a:cs typeface="Calibri" pitchFamily="34" charset="-120"/>
              </a:rPr>
              <a:t>Metin Verisi</a:t>
            </a:r>
            <a:endParaRPr lang="en-US" sz="3600" b="1" dirty="0"/>
          </a:p>
        </p:txBody>
      </p:sp>
      <p:sp>
        <p:nvSpPr>
          <p:cNvPr id="13" name="Text 8">
            <a:extLst>
              <a:ext uri="{FF2B5EF4-FFF2-40B4-BE49-F238E27FC236}">
                <a16:creationId xmlns:a16="http://schemas.microsoft.com/office/drawing/2014/main" id="{94ECFBFC-8819-4E9A-A949-B29B9A63C45E}"/>
              </a:ext>
            </a:extLst>
          </p:cNvPr>
          <p:cNvSpPr/>
          <p:nvPr/>
        </p:nvSpPr>
        <p:spPr>
          <a:xfrm>
            <a:off x="10899199" y="6514833"/>
            <a:ext cx="6050158" cy="864337"/>
          </a:xfrm>
          <a:prstGeom prst="rect">
            <a:avLst/>
          </a:prstGeom>
          <a:noFill/>
          <a:ln/>
        </p:spPr>
        <p:txBody>
          <a:bodyPr wrap="none" lIns="0" tIns="0" rIns="0" bIns="0" rtlCol="0" anchor="t"/>
          <a:lstStyle/>
          <a:p>
            <a:pPr marL="0" indent="0" algn="l">
              <a:lnSpc>
                <a:spcPct val="104000"/>
              </a:lnSpc>
              <a:buNone/>
            </a:pPr>
            <a:r>
              <a:rPr lang="en-US" sz="3600" b="1" dirty="0">
                <a:solidFill>
                  <a:srgbClr val="3C3939"/>
                </a:solidFill>
                <a:ea typeface="Calibri" pitchFamily="34" charset="-122"/>
                <a:cs typeface="Calibri" pitchFamily="34" charset="-120"/>
              </a:rPr>
              <a:t>Ses Verisi</a:t>
            </a:r>
            <a:endParaRPr lang="en-US" sz="3600" b="1" dirty="0"/>
          </a:p>
        </p:txBody>
      </p:sp>
      <p:sp>
        <p:nvSpPr>
          <p:cNvPr id="14" name="Text 3">
            <a:extLst>
              <a:ext uri="{FF2B5EF4-FFF2-40B4-BE49-F238E27FC236}">
                <a16:creationId xmlns:a16="http://schemas.microsoft.com/office/drawing/2014/main" id="{5D1109C1-688D-465F-9A1D-224D0543D6FB}"/>
              </a:ext>
            </a:extLst>
          </p:cNvPr>
          <p:cNvSpPr/>
          <p:nvPr/>
        </p:nvSpPr>
        <p:spPr>
          <a:xfrm>
            <a:off x="1247575" y="4064284"/>
            <a:ext cx="7210626" cy="1307145"/>
          </a:xfrm>
          <a:prstGeom prst="rect">
            <a:avLst/>
          </a:prstGeom>
          <a:noFill/>
          <a:ln/>
        </p:spPr>
        <p:txBody>
          <a:bodyPr wrap="none" lIns="0" tIns="0" rIns="0" bIns="0" rtlCol="0" anchor="t"/>
          <a:lstStyle/>
          <a:p>
            <a:pPr marL="0" indent="0" algn="l">
              <a:lnSpc>
                <a:spcPct val="133000"/>
              </a:lnSpc>
              <a:buNone/>
            </a:pPr>
            <a:endParaRPr lang="en-US" sz="2800" dirty="0"/>
          </a:p>
        </p:txBody>
      </p:sp>
      <p:sp>
        <p:nvSpPr>
          <p:cNvPr id="15" name="Text 5">
            <a:extLst>
              <a:ext uri="{FF2B5EF4-FFF2-40B4-BE49-F238E27FC236}">
                <a16:creationId xmlns:a16="http://schemas.microsoft.com/office/drawing/2014/main" id="{318A2B31-1B54-4C95-886D-FBB14EF99C5E}"/>
              </a:ext>
            </a:extLst>
          </p:cNvPr>
          <p:cNvSpPr/>
          <p:nvPr/>
        </p:nvSpPr>
        <p:spPr>
          <a:xfrm>
            <a:off x="9631086" y="4048125"/>
            <a:ext cx="7455438" cy="1381125"/>
          </a:xfrm>
          <a:prstGeom prst="rect">
            <a:avLst/>
          </a:prstGeom>
          <a:noFill/>
          <a:ln/>
        </p:spPr>
        <p:txBody>
          <a:bodyPr wrap="square" lIns="0" tIns="0" rIns="0" bIns="0" rtlCol="0" anchor="t">
            <a:noAutofit/>
          </a:bodyPr>
          <a:lstStyle/>
          <a:p>
            <a:pPr marL="457200" indent="-457200" algn="l">
              <a:lnSpc>
                <a:spcPct val="133000"/>
              </a:lnSpc>
              <a:buFont typeface="Arial" panose="020B0604020202020204" pitchFamily="34" charset="0"/>
              <a:buChar char="•"/>
            </a:pPr>
            <a:r>
              <a:rPr lang="tr-TR" sz="2800" b="0" dirty="0">
                <a:solidFill>
                  <a:srgbClr val="3C3939"/>
                </a:solidFill>
                <a:latin typeface="Calibri"/>
                <a:ea typeface="Calibri"/>
                <a:cs typeface="Calibri"/>
              </a:rPr>
              <a:t>Alan, yaş, fiyat</a:t>
            </a:r>
            <a:endParaRPr lang="tr-TR" sz="2800" dirty="0"/>
          </a:p>
          <a:p>
            <a:pPr marL="457200" indent="-457200" algn="l">
              <a:lnSpc>
                <a:spcPct val="133000"/>
              </a:lnSpc>
              <a:buFont typeface="Arial" panose="020B0604020202020204" pitchFamily="34" charset="0"/>
              <a:buChar char="•"/>
            </a:pPr>
            <a:r>
              <a:rPr lang="tr-TR" sz="2800" b="0" dirty="0">
                <a:solidFill>
                  <a:srgbClr val="3C3939"/>
                </a:solidFill>
                <a:latin typeface="Calibri"/>
                <a:ea typeface="Calibri"/>
                <a:cs typeface="Calibri"/>
              </a:rPr>
              <a:t>Ölçüm ve sayım değerleri</a:t>
            </a:r>
            <a:endParaRPr lang="tr-TR" sz="2800" dirty="0"/>
          </a:p>
        </p:txBody>
      </p:sp>
      <p:sp>
        <p:nvSpPr>
          <p:cNvPr id="16" name="Text 7">
            <a:extLst>
              <a:ext uri="{FF2B5EF4-FFF2-40B4-BE49-F238E27FC236}">
                <a16:creationId xmlns:a16="http://schemas.microsoft.com/office/drawing/2014/main" id="{4554EFA7-6B80-49BF-B47D-9EDB0BFF41C4}"/>
              </a:ext>
            </a:extLst>
          </p:cNvPr>
          <p:cNvSpPr/>
          <p:nvPr/>
        </p:nvSpPr>
        <p:spPr>
          <a:xfrm>
            <a:off x="1374169" y="7863998"/>
            <a:ext cx="7319472" cy="937102"/>
          </a:xfrm>
          <a:prstGeom prst="rect">
            <a:avLst/>
          </a:prstGeom>
          <a:noFill/>
          <a:ln/>
        </p:spPr>
        <p:txBody>
          <a:bodyPr wrap="none" lIns="0" tIns="0" rIns="0" bIns="0" rtlCol="0" anchor="t"/>
          <a:lstStyle/>
          <a:p>
            <a:pPr marL="0" indent="0" algn="l">
              <a:lnSpc>
                <a:spcPct val="133000"/>
              </a:lnSpc>
              <a:buNone/>
            </a:pPr>
            <a:endParaRPr lang="en-US" sz="2800" dirty="0"/>
          </a:p>
        </p:txBody>
      </p:sp>
      <p:sp>
        <p:nvSpPr>
          <p:cNvPr id="18" name="Text 9">
            <a:extLst>
              <a:ext uri="{FF2B5EF4-FFF2-40B4-BE49-F238E27FC236}">
                <a16:creationId xmlns:a16="http://schemas.microsoft.com/office/drawing/2014/main" id="{7A8866DB-1AE1-46BC-95FA-1E665577BE0F}"/>
              </a:ext>
            </a:extLst>
          </p:cNvPr>
          <p:cNvSpPr/>
          <p:nvPr/>
        </p:nvSpPr>
        <p:spPr>
          <a:xfrm>
            <a:off x="9564058" y="7836370"/>
            <a:ext cx="7528633" cy="888530"/>
          </a:xfrm>
          <a:prstGeom prst="rect">
            <a:avLst/>
          </a:prstGeom>
          <a:noFill/>
          <a:ln/>
        </p:spPr>
        <p:txBody>
          <a:bodyPr wrap="square" lIns="0" tIns="0" rIns="0" bIns="0" rtlCol="0" anchor="t">
            <a:noAutofit/>
          </a:bodyPr>
          <a:lstStyle/>
          <a:p>
            <a:pPr marL="457200" indent="-457200" algn="l">
              <a:lnSpc>
                <a:spcPct val="133000"/>
              </a:lnSpc>
              <a:buFont typeface="Arial" panose="020B0604020202020204" pitchFamily="34" charset="0"/>
              <a:buChar char="•"/>
            </a:pPr>
            <a:r>
              <a:rPr lang="tr-TR" sz="2800" b="0" dirty="0">
                <a:solidFill>
                  <a:srgbClr val="3C3939"/>
                </a:solidFill>
                <a:latin typeface="Calibri"/>
                <a:ea typeface="Calibri"/>
                <a:cs typeface="Calibri"/>
              </a:rPr>
              <a:t>Konuşma, müzik, ortam sesi</a:t>
            </a:r>
            <a:endParaRPr lang="tr-TR" sz="2800" dirty="0"/>
          </a:p>
          <a:p>
            <a:pPr marL="457200" indent="-457200" algn="l">
              <a:lnSpc>
                <a:spcPct val="133000"/>
              </a:lnSpc>
              <a:buFont typeface="Arial" panose="020B0604020202020204" pitchFamily="34" charset="0"/>
              <a:buChar char="•"/>
            </a:pPr>
            <a:r>
              <a:rPr lang="tr-TR" sz="2800" b="0" dirty="0">
                <a:solidFill>
                  <a:srgbClr val="3C3939"/>
                </a:solidFill>
                <a:latin typeface="Calibri"/>
                <a:ea typeface="Calibri"/>
                <a:cs typeface="Calibri"/>
              </a:rPr>
              <a:t>Sayısal ses örnekleri</a:t>
            </a:r>
            <a:endParaRPr lang="tr-TR" sz="2800" dirty="0"/>
          </a:p>
        </p:txBody>
      </p:sp>
      <p:sp>
        <p:nvSpPr>
          <p:cNvPr id="33" name="Metin kutusu 32">
            <a:extLst>
              <a:ext uri="{FF2B5EF4-FFF2-40B4-BE49-F238E27FC236}">
                <a16:creationId xmlns:a16="http://schemas.microsoft.com/office/drawing/2014/main" id="{D5932560-7057-47DF-B51A-085078CE9C5E}"/>
              </a:ext>
            </a:extLst>
          </p:cNvPr>
          <p:cNvSpPr txBox="1"/>
          <p:nvPr/>
        </p:nvSpPr>
        <p:spPr>
          <a:xfrm>
            <a:off x="1246094" y="4064284"/>
            <a:ext cx="7210626" cy="1190069"/>
          </a:xfrm>
          <a:prstGeom prst="rect">
            <a:avLst/>
          </a:prstGeom>
          <a:noFill/>
        </p:spPr>
        <p:txBody>
          <a:bodyPr wrap="square" rtlCol="0">
            <a:noAutofit/>
          </a:bodyPr>
          <a:lstStyle/>
          <a:p>
            <a:pPr marL="457200" indent="-457200" algn="l">
              <a:lnSpc>
                <a:spcPct val="133000"/>
              </a:lnSpc>
              <a:buFont typeface="Arial" panose="020B0604020202020204" pitchFamily="34" charset="0"/>
              <a:buChar char="•"/>
            </a:pPr>
            <a:r>
              <a:rPr lang="tr-TR" sz="2800" b="0" dirty="0">
                <a:solidFill>
                  <a:srgbClr val="3C3939"/>
                </a:solidFill>
                <a:ea typeface="Calibri"/>
                <a:cs typeface="Calibri"/>
              </a:rPr>
              <a:t>Fotoğraf ve video</a:t>
            </a:r>
            <a:endParaRPr lang="tr-TR" sz="2800" dirty="0"/>
          </a:p>
          <a:p>
            <a:pPr marL="457200" indent="-457200" algn="l">
              <a:lnSpc>
                <a:spcPct val="133000"/>
              </a:lnSpc>
              <a:buFont typeface="Arial" panose="020B0604020202020204" pitchFamily="34" charset="0"/>
              <a:buChar char="•"/>
            </a:pPr>
            <a:r>
              <a:rPr lang="tr-TR" sz="2800" b="0" dirty="0">
                <a:solidFill>
                  <a:srgbClr val="3C3939"/>
                </a:solidFill>
                <a:ea typeface="Calibri"/>
                <a:cs typeface="Calibri"/>
              </a:rPr>
              <a:t>Piksel değerleriyle temsil edilir.</a:t>
            </a:r>
            <a:endParaRPr lang="tr-TR" sz="2800" dirty="0"/>
          </a:p>
        </p:txBody>
      </p:sp>
      <p:sp>
        <p:nvSpPr>
          <p:cNvPr id="34" name="Metin kutusu 33">
            <a:extLst>
              <a:ext uri="{FF2B5EF4-FFF2-40B4-BE49-F238E27FC236}">
                <a16:creationId xmlns:a16="http://schemas.microsoft.com/office/drawing/2014/main" id="{0C91E2C6-294D-424A-AF5F-293422FF8803}"/>
              </a:ext>
            </a:extLst>
          </p:cNvPr>
          <p:cNvSpPr txBox="1"/>
          <p:nvPr/>
        </p:nvSpPr>
        <p:spPr>
          <a:xfrm>
            <a:off x="1374168" y="7836370"/>
            <a:ext cx="7160232" cy="1384995"/>
          </a:xfrm>
          <a:prstGeom prst="rect">
            <a:avLst/>
          </a:prstGeom>
          <a:noFill/>
        </p:spPr>
        <p:txBody>
          <a:bodyPr wrap="square" rtlCol="0">
            <a:noAutofit/>
          </a:bodyPr>
          <a:lstStyle/>
          <a:p>
            <a:pPr marL="457200" indent="-457200">
              <a:buFont typeface="Arial" panose="020B0604020202020204" pitchFamily="34" charset="0"/>
              <a:buChar char="•"/>
            </a:pPr>
            <a:r>
              <a:rPr lang="tr-TR" sz="2800" b="0" dirty="0">
                <a:solidFill>
                  <a:srgbClr val="3C3939"/>
                </a:solidFill>
                <a:ea typeface="Calibri"/>
                <a:cs typeface="Calibri"/>
              </a:rPr>
              <a:t>İlan açıklaması, yorum</a:t>
            </a:r>
            <a:endParaRPr lang="tr-TR" sz="2800" dirty="0"/>
          </a:p>
          <a:p>
            <a:pPr marL="457200" indent="-457200">
              <a:buFont typeface="Arial" panose="020B0604020202020204" pitchFamily="34" charset="0"/>
              <a:buChar char="•"/>
            </a:pPr>
            <a:r>
              <a:rPr lang="tr-TR" sz="2800" b="0" dirty="0">
                <a:solidFill>
                  <a:srgbClr val="3C3939"/>
                </a:solidFill>
                <a:ea typeface="Calibri"/>
                <a:cs typeface="Calibri"/>
              </a:rPr>
              <a:t>Sözcükler ve cümleler</a:t>
            </a:r>
            <a:endParaRPr lang="tr-TR" sz="2800" dirty="0"/>
          </a:p>
        </p:txBody>
      </p:sp>
    </p:spTree>
    <p:extLst>
      <p:ext uri="{BB962C8B-B14F-4D97-AF65-F5344CB8AC3E}">
        <p14:creationId xmlns:p14="http://schemas.microsoft.com/office/powerpoint/2010/main" val="3836746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6927ADA-127D-46CB-A3B6-C8B0BFBA0EA6}"/>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a:lnSpc>
                <a:spcPct val="104000"/>
              </a:lnSpc>
              <a:buNone/>
            </a:pPr>
            <a:r>
              <a:rPr lang="tr-TR" sz="4400" b="1" dirty="0">
                <a:solidFill>
                  <a:srgbClr val="1E2A4E"/>
                </a:solidFill>
                <a:latin typeface="Calibri"/>
                <a:ea typeface="Calibri"/>
                <a:cs typeface="Calibri"/>
              </a:rPr>
              <a:t>Sayısal ve kategorik değişkenler</a:t>
            </a:r>
            <a:endParaRPr lang="tr-TR" sz="4400" dirty="0"/>
          </a:p>
        </p:txBody>
      </p:sp>
      <p:sp>
        <p:nvSpPr>
          <p:cNvPr id="8" name="Text 1">
            <a:extLst>
              <a:ext uri="{FF2B5EF4-FFF2-40B4-BE49-F238E27FC236}">
                <a16:creationId xmlns:a16="http://schemas.microsoft.com/office/drawing/2014/main" id="{5A5CF3BB-A497-4067-A961-3951DE49E3DD}"/>
              </a:ext>
            </a:extLst>
          </p:cNvPr>
          <p:cNvSpPr/>
          <p:nvPr/>
        </p:nvSpPr>
        <p:spPr>
          <a:xfrm>
            <a:off x="680287" y="2328264"/>
            <a:ext cx="5867400" cy="791312"/>
          </a:xfrm>
          <a:prstGeom prst="rect">
            <a:avLst/>
          </a:prstGeom>
          <a:noFill/>
          <a:ln/>
        </p:spPr>
        <p:txBody>
          <a:bodyPr wrap="none" lIns="0" tIns="0" rIns="0" bIns="0" rtlCol="0" anchor="t"/>
          <a:lstStyle/>
          <a:p>
            <a:pPr marL="0" indent="0" algn="l">
              <a:lnSpc>
                <a:spcPct val="104000"/>
              </a:lnSpc>
              <a:buNone/>
            </a:pPr>
            <a:r>
              <a:rPr lang="en-US" sz="3200" dirty="0">
                <a:solidFill>
                  <a:srgbClr val="1B1B27"/>
                </a:solidFill>
                <a:ea typeface="Calibri" pitchFamily="34" charset="-122"/>
                <a:cs typeface="Calibri" pitchFamily="34" charset="-120"/>
              </a:rPr>
              <a:t>Veri setimizden örnekler:</a:t>
            </a:r>
            <a:endParaRPr lang="en-US" sz="3200" dirty="0"/>
          </a:p>
        </p:txBody>
      </p:sp>
      <p:sp>
        <p:nvSpPr>
          <p:cNvPr id="9" name="Text 2">
            <a:extLst>
              <a:ext uri="{FF2B5EF4-FFF2-40B4-BE49-F238E27FC236}">
                <a16:creationId xmlns:a16="http://schemas.microsoft.com/office/drawing/2014/main" id="{45BD4953-C477-427D-B3D8-DB55ED652555}"/>
              </a:ext>
            </a:extLst>
          </p:cNvPr>
          <p:cNvSpPr/>
          <p:nvPr/>
        </p:nvSpPr>
        <p:spPr>
          <a:xfrm>
            <a:off x="623915" y="2955057"/>
            <a:ext cx="6529841" cy="2615653"/>
          </a:xfrm>
          <a:prstGeom prst="rect">
            <a:avLst/>
          </a:prstGeom>
          <a:noFill/>
          <a:ln/>
        </p:spPr>
        <p:txBody>
          <a:bodyPr wrap="square" lIns="0" tIns="75608" rIns="0" bIns="0" rtlCol="0" anchor="t">
            <a:noAutofit/>
          </a:bodyPr>
          <a:lstStyle/>
          <a:p>
            <a:pPr marL="457200" indent="-457200" algn="l">
              <a:lnSpc>
                <a:spcPct val="133000"/>
              </a:lnSpc>
              <a:buSzPct val="100000"/>
              <a:buFont typeface="Arial" panose="020B0604020202020204" pitchFamily="34" charset="0"/>
              <a:buChar char="•"/>
            </a:pPr>
            <a:r>
              <a:rPr lang="tr-TR" sz="2800" b="1" dirty="0">
                <a:solidFill>
                  <a:srgbClr val="3C3939"/>
                </a:solidFill>
                <a:ea typeface="Calibri"/>
                <a:cs typeface="Calibri"/>
              </a:rPr>
              <a:t>Alan</a:t>
            </a:r>
            <a:r>
              <a:rPr lang="en-US" sz="2800" b="1" dirty="0">
                <a:solidFill>
                  <a:srgbClr val="3C3939"/>
                </a:solidFill>
                <a:ea typeface="Roboto" pitchFamily="34" charset="-122"/>
                <a:cs typeface="Roboto" pitchFamily="34" charset="-120"/>
              </a:rPr>
              <a:t> →</a:t>
            </a:r>
            <a:r>
              <a:rPr lang="tr-TR" sz="2800" b="1" dirty="0">
                <a:solidFill>
                  <a:srgbClr val="3C3939"/>
                </a:solidFill>
                <a:ea typeface="Calibri"/>
                <a:cs typeface="Calibri"/>
              </a:rPr>
              <a:t> </a:t>
            </a:r>
            <a:r>
              <a:rPr lang="tr-TR" sz="2800" b="0" dirty="0">
                <a:solidFill>
                  <a:srgbClr val="3C3939"/>
                </a:solidFill>
                <a:ea typeface="Calibri"/>
                <a:cs typeface="Calibri"/>
              </a:rPr>
              <a:t>120 m²</a:t>
            </a:r>
            <a:endParaRPr lang="tr-TR" sz="2800" dirty="0"/>
          </a:p>
          <a:p>
            <a:pPr marL="457200" indent="-457200" algn="l">
              <a:lnSpc>
                <a:spcPct val="133000"/>
              </a:lnSpc>
              <a:buSzPct val="100000"/>
              <a:buFont typeface="Arial" panose="020B0604020202020204" pitchFamily="34" charset="0"/>
              <a:buChar char="•"/>
            </a:pPr>
            <a:r>
              <a:rPr lang="tr-TR" sz="2800" b="1" dirty="0">
                <a:solidFill>
                  <a:srgbClr val="3C3939"/>
                </a:solidFill>
                <a:ea typeface="Calibri"/>
                <a:cs typeface="Calibri"/>
              </a:rPr>
              <a:t>Oda sayısı</a:t>
            </a:r>
            <a:r>
              <a:rPr lang="en-US" sz="2800" b="1" dirty="0">
                <a:solidFill>
                  <a:srgbClr val="3C3939"/>
                </a:solidFill>
                <a:ea typeface="Roboto" pitchFamily="34" charset="-122"/>
                <a:cs typeface="Roboto" pitchFamily="34" charset="-120"/>
              </a:rPr>
              <a:t> →</a:t>
            </a:r>
            <a:r>
              <a:rPr lang="tr-TR" sz="2800" b="1" dirty="0">
                <a:solidFill>
                  <a:srgbClr val="3C3939"/>
                </a:solidFill>
                <a:ea typeface="Calibri"/>
                <a:cs typeface="Calibri"/>
              </a:rPr>
              <a:t> </a:t>
            </a:r>
            <a:r>
              <a:rPr lang="tr-TR" sz="2800" b="0" dirty="0">
                <a:solidFill>
                  <a:srgbClr val="3C3939"/>
                </a:solidFill>
                <a:ea typeface="Calibri"/>
                <a:cs typeface="Calibri"/>
              </a:rPr>
              <a:t>2, 3, 4</a:t>
            </a:r>
            <a:endParaRPr lang="tr-TR" sz="2800" dirty="0"/>
          </a:p>
          <a:p>
            <a:pPr marL="457200" indent="-457200" algn="l">
              <a:lnSpc>
                <a:spcPct val="133000"/>
              </a:lnSpc>
              <a:buSzPct val="100000"/>
              <a:buFont typeface="Arial" panose="020B0604020202020204" pitchFamily="34" charset="0"/>
              <a:buChar char="•"/>
            </a:pPr>
            <a:r>
              <a:rPr lang="tr-TR" sz="2800" b="1" dirty="0">
                <a:solidFill>
                  <a:srgbClr val="3C3939"/>
                </a:solidFill>
                <a:ea typeface="Calibri"/>
                <a:cs typeface="Calibri"/>
              </a:rPr>
              <a:t>Şehir</a:t>
            </a:r>
            <a:r>
              <a:rPr lang="en-US" sz="2800" dirty="0">
                <a:solidFill>
                  <a:srgbClr val="3C3939"/>
                </a:solidFill>
                <a:ea typeface="Roboto" pitchFamily="34" charset="-122"/>
                <a:cs typeface="Roboto" pitchFamily="34" charset="-120"/>
              </a:rPr>
              <a:t> </a:t>
            </a:r>
            <a:r>
              <a:rPr lang="en-US" sz="2800" b="1" dirty="0">
                <a:solidFill>
                  <a:srgbClr val="3C3939"/>
                </a:solidFill>
                <a:ea typeface="Roboto" pitchFamily="34" charset="-122"/>
                <a:cs typeface="Roboto" pitchFamily="34" charset="-120"/>
              </a:rPr>
              <a:t>→</a:t>
            </a:r>
            <a:r>
              <a:rPr lang="tr-TR" sz="2800" b="0" dirty="0">
                <a:solidFill>
                  <a:srgbClr val="3C3939"/>
                </a:solidFill>
                <a:ea typeface="Calibri"/>
                <a:cs typeface="Calibri"/>
              </a:rPr>
              <a:t> Kayseri, Ankara</a:t>
            </a:r>
            <a:endParaRPr lang="tr-TR" sz="2800" dirty="0"/>
          </a:p>
        </p:txBody>
      </p:sp>
      <p:sp>
        <p:nvSpPr>
          <p:cNvPr id="10" name="Shape 3">
            <a:extLst>
              <a:ext uri="{FF2B5EF4-FFF2-40B4-BE49-F238E27FC236}">
                <a16:creationId xmlns:a16="http://schemas.microsoft.com/office/drawing/2014/main" id="{5D011FC7-9D66-4D4A-AD02-59922427B467}"/>
              </a:ext>
            </a:extLst>
          </p:cNvPr>
          <p:cNvSpPr/>
          <p:nvPr/>
        </p:nvSpPr>
        <p:spPr>
          <a:xfrm>
            <a:off x="592537" y="5388320"/>
            <a:ext cx="6113063" cy="2489463"/>
          </a:xfrm>
          <a:prstGeom prst="roundRect">
            <a:avLst>
              <a:gd name="adj" fmla="val 7638"/>
            </a:avLst>
          </a:prstGeom>
          <a:solidFill>
            <a:srgbClr val="F0E6C0">
              <a:alpha val="25000"/>
            </a:srgbClr>
          </a:solidFill>
          <a:ln/>
        </p:spPr>
        <p:txBody>
          <a:bodyPr/>
          <a:lstStyle/>
          <a:p>
            <a:endParaRPr lang="tr-TR" sz="2800" dirty="0"/>
          </a:p>
        </p:txBody>
      </p:sp>
      <p:pic>
        <p:nvPicPr>
          <p:cNvPr id="11" name="Image 0" descr="preencoded.png">
            <a:extLst>
              <a:ext uri="{FF2B5EF4-FFF2-40B4-BE49-F238E27FC236}">
                <a16:creationId xmlns:a16="http://schemas.microsoft.com/office/drawing/2014/main" id="{C2CF2F3F-30A1-494B-91C8-4E00615D5D48}"/>
              </a:ext>
            </a:extLst>
          </p:cNvPr>
          <p:cNvPicPr>
            <a:picLocks noChangeAspect="1"/>
          </p:cNvPicPr>
          <p:nvPr/>
        </p:nvPicPr>
        <p:blipFill>
          <a:blip r:embed="rId3"/>
          <a:stretch>
            <a:fillRect/>
          </a:stretch>
        </p:blipFill>
        <p:spPr>
          <a:xfrm>
            <a:off x="680287" y="5812062"/>
            <a:ext cx="502234" cy="401840"/>
          </a:xfrm>
          <a:prstGeom prst="rect">
            <a:avLst/>
          </a:prstGeom>
        </p:spPr>
      </p:pic>
      <p:sp>
        <p:nvSpPr>
          <p:cNvPr id="12" name="Text 4">
            <a:extLst>
              <a:ext uri="{FF2B5EF4-FFF2-40B4-BE49-F238E27FC236}">
                <a16:creationId xmlns:a16="http://schemas.microsoft.com/office/drawing/2014/main" id="{452079C7-B1D9-4930-813A-FF4BC5985B60}"/>
              </a:ext>
            </a:extLst>
          </p:cNvPr>
          <p:cNvSpPr/>
          <p:nvPr/>
        </p:nvSpPr>
        <p:spPr>
          <a:xfrm>
            <a:off x="1316436" y="5753100"/>
            <a:ext cx="4977067" cy="1285887"/>
          </a:xfrm>
          <a:prstGeom prst="rect">
            <a:avLst/>
          </a:prstGeom>
          <a:noFill/>
          <a:ln/>
        </p:spPr>
        <p:txBody>
          <a:bodyPr wrap="square" lIns="0" tIns="0" rIns="0" bIns="0" rtlCol="0" anchor="t">
            <a:noAutofit/>
          </a:bodyPr>
          <a:lstStyle/>
          <a:p>
            <a:pPr marL="0" indent="0" algn="l">
              <a:lnSpc>
                <a:spcPct val="133000"/>
              </a:lnSpc>
              <a:buNone/>
            </a:pPr>
            <a:r>
              <a:rPr lang="tr-TR" sz="2800" b="0" dirty="0">
                <a:solidFill>
                  <a:srgbClr val="000000"/>
                </a:solidFill>
                <a:ea typeface="Calibri"/>
                <a:cs typeface="Calibri"/>
              </a:rPr>
              <a:t>Veri türü, uygun analiz yöntemini seçmeye yardımcı olur.</a:t>
            </a:r>
            <a:endParaRPr lang="tr-TR" sz="2800" dirty="0"/>
          </a:p>
        </p:txBody>
      </p:sp>
      <p:sp>
        <p:nvSpPr>
          <p:cNvPr id="15" name="Shape 5">
            <a:extLst>
              <a:ext uri="{FF2B5EF4-FFF2-40B4-BE49-F238E27FC236}">
                <a16:creationId xmlns:a16="http://schemas.microsoft.com/office/drawing/2014/main" id="{E985D0ED-EB69-4D93-8E3D-DD78F6357A1F}"/>
              </a:ext>
            </a:extLst>
          </p:cNvPr>
          <p:cNvSpPr/>
          <p:nvPr/>
        </p:nvSpPr>
        <p:spPr>
          <a:xfrm>
            <a:off x="7500790" y="2131300"/>
            <a:ext cx="4827528" cy="2956475"/>
          </a:xfrm>
          <a:prstGeom prst="roundRect">
            <a:avLst>
              <a:gd name="adj" fmla="val 4812"/>
            </a:avLst>
          </a:prstGeom>
          <a:solidFill>
            <a:srgbClr val="E1E1EA">
              <a:alpha val="45000"/>
            </a:srgbClr>
          </a:solidFill>
          <a:ln w="6350">
            <a:solidFill>
              <a:srgbClr val="C7C7D0"/>
            </a:solidFill>
            <a:prstDash val="solid"/>
          </a:ln>
        </p:spPr>
      </p:sp>
      <p:sp>
        <p:nvSpPr>
          <p:cNvPr id="16" name="Text 6">
            <a:extLst>
              <a:ext uri="{FF2B5EF4-FFF2-40B4-BE49-F238E27FC236}">
                <a16:creationId xmlns:a16="http://schemas.microsoft.com/office/drawing/2014/main" id="{A5BDAB54-B921-4744-A0AA-BE85348CB2CF}"/>
              </a:ext>
            </a:extLst>
          </p:cNvPr>
          <p:cNvSpPr/>
          <p:nvPr/>
        </p:nvSpPr>
        <p:spPr>
          <a:xfrm>
            <a:off x="7745807" y="2288381"/>
            <a:ext cx="4151612" cy="929555"/>
          </a:xfrm>
          <a:prstGeom prst="rect">
            <a:avLst/>
          </a:prstGeom>
          <a:noFill/>
          <a:ln/>
        </p:spPr>
        <p:txBody>
          <a:bodyPr wrap="none" lIns="0" tIns="0" rIns="0" bIns="0" rtlCol="0" anchor="t"/>
          <a:lstStyle/>
          <a:p>
            <a:pPr marL="0" indent="0" algn="l">
              <a:lnSpc>
                <a:spcPct val="104000"/>
              </a:lnSpc>
              <a:buNone/>
            </a:pPr>
            <a:r>
              <a:rPr lang="en-US" sz="3600" b="1" dirty="0">
                <a:solidFill>
                  <a:srgbClr val="000000"/>
                </a:solidFill>
                <a:ea typeface="Calibri" pitchFamily="34" charset="-122"/>
                <a:cs typeface="Calibri" pitchFamily="34" charset="-120"/>
              </a:rPr>
              <a:t>📈</a:t>
            </a:r>
            <a:r>
              <a:rPr lang="en-US" sz="3600" b="1" dirty="0">
                <a:solidFill>
                  <a:srgbClr val="3C3939"/>
                </a:solidFill>
                <a:ea typeface="Calibri" pitchFamily="34" charset="-122"/>
                <a:cs typeface="Calibri" pitchFamily="34" charset="-120"/>
              </a:rPr>
              <a:t> Sürekli Veri</a:t>
            </a:r>
            <a:endParaRPr lang="en-US" sz="3600" b="1" dirty="0"/>
          </a:p>
        </p:txBody>
      </p:sp>
      <p:sp>
        <p:nvSpPr>
          <p:cNvPr id="17" name="Text 7">
            <a:extLst>
              <a:ext uri="{FF2B5EF4-FFF2-40B4-BE49-F238E27FC236}">
                <a16:creationId xmlns:a16="http://schemas.microsoft.com/office/drawing/2014/main" id="{B297C93D-FC76-47A0-8E5B-7D5AF1E198E8}"/>
              </a:ext>
            </a:extLst>
          </p:cNvPr>
          <p:cNvSpPr/>
          <p:nvPr/>
        </p:nvSpPr>
        <p:spPr>
          <a:xfrm>
            <a:off x="7745807" y="3038342"/>
            <a:ext cx="4151612" cy="1476375"/>
          </a:xfrm>
          <a:prstGeom prst="rect">
            <a:avLst/>
          </a:prstGeom>
          <a:noFill/>
          <a:ln/>
        </p:spPr>
        <p:txBody>
          <a:bodyPr wrap="square" lIns="0" tIns="0" rIns="0" bIns="0" rtlCol="0" anchor="t">
            <a:noAutofit/>
          </a:bodyPr>
          <a:lstStyle/>
          <a:p>
            <a:pPr marL="0" indent="0" algn="l">
              <a:lnSpc>
                <a:spcPct val="133000"/>
              </a:lnSpc>
              <a:spcAft>
                <a:spcPts val="1300"/>
              </a:spcAft>
              <a:buNone/>
            </a:pPr>
            <a:r>
              <a:rPr lang="tr-TR" sz="2800" b="0" dirty="0">
                <a:solidFill>
                  <a:srgbClr val="3C3939"/>
                </a:solidFill>
                <a:ea typeface="Calibri"/>
                <a:cs typeface="Calibri"/>
              </a:rPr>
              <a:t>Ara değerler alabilir.</a:t>
            </a:r>
            <a:endParaRPr lang="tr-TR" sz="2800" dirty="0"/>
          </a:p>
          <a:p>
            <a:pPr marL="0" indent="0" algn="l">
              <a:lnSpc>
                <a:spcPct val="133000"/>
              </a:lnSpc>
              <a:spcAft>
                <a:spcPts val="1300"/>
              </a:spcAft>
              <a:buNone/>
            </a:pPr>
            <a:r>
              <a:rPr lang="tr-TR" sz="2800" b="0" dirty="0">
                <a:solidFill>
                  <a:srgbClr val="3C3939"/>
                </a:solidFill>
                <a:ea typeface="Calibri"/>
                <a:cs typeface="Calibri"/>
              </a:rPr>
              <a:t>Alan: 120,5 m²</a:t>
            </a:r>
            <a:endParaRPr lang="tr-TR" sz="2800" dirty="0"/>
          </a:p>
        </p:txBody>
      </p:sp>
      <p:sp>
        <p:nvSpPr>
          <p:cNvPr id="18" name="Shape 8">
            <a:extLst>
              <a:ext uri="{FF2B5EF4-FFF2-40B4-BE49-F238E27FC236}">
                <a16:creationId xmlns:a16="http://schemas.microsoft.com/office/drawing/2014/main" id="{C384B018-F99C-4BA7-A25F-B9518E87C415}"/>
              </a:ext>
            </a:extLst>
          </p:cNvPr>
          <p:cNvSpPr/>
          <p:nvPr/>
        </p:nvSpPr>
        <p:spPr>
          <a:xfrm>
            <a:off x="12496800" y="2131300"/>
            <a:ext cx="5105400" cy="2918195"/>
          </a:xfrm>
          <a:prstGeom prst="roundRect">
            <a:avLst>
              <a:gd name="adj" fmla="val 4812"/>
            </a:avLst>
          </a:prstGeom>
          <a:solidFill>
            <a:srgbClr val="E1E1EA">
              <a:alpha val="45000"/>
            </a:srgbClr>
          </a:solidFill>
          <a:ln w="6350">
            <a:solidFill>
              <a:srgbClr val="C7C7D0"/>
            </a:solidFill>
            <a:prstDash val="solid"/>
          </a:ln>
        </p:spPr>
        <p:txBody>
          <a:bodyPr/>
          <a:lstStyle/>
          <a:p>
            <a:endParaRPr lang="tr-TR" dirty="0"/>
          </a:p>
        </p:txBody>
      </p:sp>
      <p:sp>
        <p:nvSpPr>
          <p:cNvPr id="19" name="Text 9">
            <a:extLst>
              <a:ext uri="{FF2B5EF4-FFF2-40B4-BE49-F238E27FC236}">
                <a16:creationId xmlns:a16="http://schemas.microsoft.com/office/drawing/2014/main" id="{C813344E-4557-4160-A7AE-FD60365D5364}"/>
              </a:ext>
            </a:extLst>
          </p:cNvPr>
          <p:cNvSpPr/>
          <p:nvPr/>
        </p:nvSpPr>
        <p:spPr>
          <a:xfrm>
            <a:off x="12850533" y="2365849"/>
            <a:ext cx="4151783" cy="929555"/>
          </a:xfrm>
          <a:prstGeom prst="rect">
            <a:avLst/>
          </a:prstGeom>
          <a:noFill/>
          <a:ln/>
        </p:spPr>
        <p:txBody>
          <a:bodyPr wrap="none" lIns="0" tIns="0" rIns="0" bIns="0" rtlCol="0" anchor="t"/>
          <a:lstStyle/>
          <a:p>
            <a:pPr marL="0" indent="0" algn="l">
              <a:lnSpc>
                <a:spcPct val="104000"/>
              </a:lnSpc>
              <a:buNone/>
            </a:pPr>
            <a:r>
              <a:rPr lang="en-US" sz="3600" b="1" dirty="0">
                <a:solidFill>
                  <a:srgbClr val="000000"/>
                </a:solidFill>
                <a:ea typeface="Calibri" pitchFamily="34" charset="-122"/>
                <a:cs typeface="Calibri" pitchFamily="34" charset="-120"/>
              </a:rPr>
              <a:t>🔢</a:t>
            </a:r>
            <a:r>
              <a:rPr lang="en-US" sz="3600" b="1" dirty="0">
                <a:solidFill>
                  <a:srgbClr val="3C3939"/>
                </a:solidFill>
                <a:ea typeface="Calibri" pitchFamily="34" charset="-122"/>
                <a:cs typeface="Calibri" pitchFamily="34" charset="-120"/>
              </a:rPr>
              <a:t> Kesikli Veri</a:t>
            </a:r>
            <a:endParaRPr lang="en-US" sz="3600" b="1" dirty="0"/>
          </a:p>
        </p:txBody>
      </p:sp>
      <p:sp>
        <p:nvSpPr>
          <p:cNvPr id="20" name="Text 10">
            <a:extLst>
              <a:ext uri="{FF2B5EF4-FFF2-40B4-BE49-F238E27FC236}">
                <a16:creationId xmlns:a16="http://schemas.microsoft.com/office/drawing/2014/main" id="{D0341C31-63AB-4F57-9104-3EDB158E1AD9}"/>
              </a:ext>
            </a:extLst>
          </p:cNvPr>
          <p:cNvSpPr/>
          <p:nvPr/>
        </p:nvSpPr>
        <p:spPr>
          <a:xfrm>
            <a:off x="12879337" y="3038341"/>
            <a:ext cx="4151783" cy="1476375"/>
          </a:xfrm>
          <a:prstGeom prst="rect">
            <a:avLst/>
          </a:prstGeom>
          <a:noFill/>
          <a:ln/>
        </p:spPr>
        <p:txBody>
          <a:bodyPr wrap="square" lIns="0" tIns="0" rIns="0" bIns="0" rtlCol="0" anchor="t">
            <a:noAutofit/>
          </a:bodyPr>
          <a:lstStyle/>
          <a:p>
            <a:pPr marL="0" indent="0" algn="l">
              <a:lnSpc>
                <a:spcPct val="133000"/>
              </a:lnSpc>
              <a:spcAft>
                <a:spcPts val="1300"/>
              </a:spcAft>
              <a:buNone/>
            </a:pPr>
            <a:r>
              <a:rPr lang="tr-TR" sz="2800" b="0" dirty="0">
                <a:solidFill>
                  <a:srgbClr val="3C3939"/>
                </a:solidFill>
                <a:ea typeface="Calibri"/>
                <a:cs typeface="Calibri"/>
              </a:rPr>
              <a:t>Ayrık değerler alır.</a:t>
            </a:r>
            <a:endParaRPr lang="tr-TR" sz="2800" dirty="0"/>
          </a:p>
          <a:p>
            <a:pPr marL="0" indent="0" algn="l">
              <a:lnSpc>
                <a:spcPct val="133000"/>
              </a:lnSpc>
              <a:spcAft>
                <a:spcPts val="1300"/>
              </a:spcAft>
              <a:buNone/>
            </a:pPr>
            <a:r>
              <a:rPr lang="tr-TR" sz="2800" b="0" dirty="0">
                <a:solidFill>
                  <a:srgbClr val="3C3939"/>
                </a:solidFill>
                <a:ea typeface="Calibri"/>
                <a:cs typeface="Calibri"/>
              </a:rPr>
              <a:t>Oda sayısı: 2, 3, 4</a:t>
            </a:r>
            <a:endParaRPr lang="tr-TR" sz="2800" dirty="0"/>
          </a:p>
        </p:txBody>
      </p:sp>
      <p:sp>
        <p:nvSpPr>
          <p:cNvPr id="21" name="Shape 11">
            <a:extLst>
              <a:ext uri="{FF2B5EF4-FFF2-40B4-BE49-F238E27FC236}">
                <a16:creationId xmlns:a16="http://schemas.microsoft.com/office/drawing/2014/main" id="{C53926F9-3A0C-4945-B3A2-4202D6F6329C}"/>
              </a:ext>
            </a:extLst>
          </p:cNvPr>
          <p:cNvSpPr/>
          <p:nvPr/>
        </p:nvSpPr>
        <p:spPr>
          <a:xfrm>
            <a:off x="7505700" y="5333791"/>
            <a:ext cx="9982200" cy="2543992"/>
          </a:xfrm>
          <a:prstGeom prst="roundRect">
            <a:avLst>
              <a:gd name="adj" fmla="val 4812"/>
            </a:avLst>
          </a:prstGeom>
          <a:solidFill>
            <a:srgbClr val="E1E1EA">
              <a:alpha val="45000"/>
            </a:srgbClr>
          </a:solidFill>
          <a:ln w="6350">
            <a:solidFill>
              <a:srgbClr val="C7C7D0"/>
            </a:solidFill>
            <a:prstDash val="solid"/>
          </a:ln>
        </p:spPr>
        <p:txBody>
          <a:bodyPr/>
          <a:lstStyle/>
          <a:p>
            <a:endParaRPr lang="tr-TR" dirty="0"/>
          </a:p>
        </p:txBody>
      </p:sp>
      <p:sp>
        <p:nvSpPr>
          <p:cNvPr id="22" name="Text 12">
            <a:extLst>
              <a:ext uri="{FF2B5EF4-FFF2-40B4-BE49-F238E27FC236}">
                <a16:creationId xmlns:a16="http://schemas.microsoft.com/office/drawing/2014/main" id="{A953ABD4-006B-4638-8BD0-DEBCF2402B8A}"/>
              </a:ext>
            </a:extLst>
          </p:cNvPr>
          <p:cNvSpPr/>
          <p:nvPr/>
        </p:nvSpPr>
        <p:spPr>
          <a:xfrm>
            <a:off x="7724836" y="5525936"/>
            <a:ext cx="9306284" cy="929555"/>
          </a:xfrm>
          <a:prstGeom prst="rect">
            <a:avLst/>
          </a:prstGeom>
          <a:noFill/>
          <a:ln/>
        </p:spPr>
        <p:txBody>
          <a:bodyPr wrap="none" lIns="0" tIns="0" rIns="0" bIns="0" rtlCol="0" anchor="t"/>
          <a:lstStyle/>
          <a:p>
            <a:pPr marL="0" indent="0" algn="l">
              <a:lnSpc>
                <a:spcPct val="104000"/>
              </a:lnSpc>
              <a:buNone/>
            </a:pPr>
            <a:r>
              <a:rPr lang="en-US" sz="3600" b="1" dirty="0">
                <a:solidFill>
                  <a:srgbClr val="000000"/>
                </a:solidFill>
                <a:ea typeface="Calibri" pitchFamily="34" charset="-122"/>
                <a:cs typeface="Calibri" pitchFamily="34" charset="-120"/>
              </a:rPr>
              <a:t>🏷️</a:t>
            </a:r>
            <a:r>
              <a:rPr lang="en-US" sz="3600" b="1" dirty="0">
                <a:solidFill>
                  <a:srgbClr val="3C3939"/>
                </a:solidFill>
                <a:ea typeface="Calibri" pitchFamily="34" charset="-122"/>
                <a:cs typeface="Calibri" pitchFamily="34" charset="-120"/>
              </a:rPr>
              <a:t> Kategorik Veri</a:t>
            </a:r>
            <a:endParaRPr lang="en-US" sz="3600" b="1" dirty="0"/>
          </a:p>
        </p:txBody>
      </p:sp>
      <p:sp>
        <p:nvSpPr>
          <p:cNvPr id="23" name="Text 13">
            <a:extLst>
              <a:ext uri="{FF2B5EF4-FFF2-40B4-BE49-F238E27FC236}">
                <a16:creationId xmlns:a16="http://schemas.microsoft.com/office/drawing/2014/main" id="{BE5F21E3-ADE4-4E07-AA2D-52C75F0D470A}"/>
              </a:ext>
            </a:extLst>
          </p:cNvPr>
          <p:cNvSpPr/>
          <p:nvPr/>
        </p:nvSpPr>
        <p:spPr>
          <a:xfrm>
            <a:off x="7843658" y="6252125"/>
            <a:ext cx="9306284" cy="1295400"/>
          </a:xfrm>
          <a:prstGeom prst="rect">
            <a:avLst/>
          </a:prstGeom>
          <a:noFill/>
          <a:ln/>
        </p:spPr>
        <p:txBody>
          <a:bodyPr wrap="square" lIns="0" tIns="0" rIns="0" bIns="0" rtlCol="0" anchor="t">
            <a:noAutofit/>
          </a:bodyPr>
          <a:lstStyle/>
          <a:p>
            <a:pPr marL="0" indent="0" algn="l">
              <a:lnSpc>
                <a:spcPct val="133000"/>
              </a:lnSpc>
              <a:spcAft>
                <a:spcPts val="1300"/>
              </a:spcAft>
              <a:buNone/>
            </a:pPr>
            <a:r>
              <a:rPr lang="tr-TR" sz="2800" b="0" dirty="0">
                <a:solidFill>
                  <a:srgbClr val="3C3939"/>
                </a:solidFill>
                <a:ea typeface="Calibri"/>
                <a:cs typeface="Calibri"/>
              </a:rPr>
              <a:t>Bir sınıfı veya grubu belirtir.</a:t>
            </a:r>
            <a:endParaRPr lang="tr-TR" sz="2800" dirty="0"/>
          </a:p>
          <a:p>
            <a:pPr marL="0" indent="0" algn="l">
              <a:lnSpc>
                <a:spcPct val="133000"/>
              </a:lnSpc>
              <a:spcAft>
                <a:spcPts val="1300"/>
              </a:spcAft>
              <a:buNone/>
            </a:pPr>
            <a:r>
              <a:rPr lang="tr-TR" sz="2800" b="0" dirty="0">
                <a:solidFill>
                  <a:srgbClr val="3C3939"/>
                </a:solidFill>
                <a:ea typeface="Calibri"/>
                <a:cs typeface="Calibri"/>
              </a:rPr>
              <a:t>Şehir: Kayseri, Ankara, İstanbul</a:t>
            </a:r>
            <a:endParaRPr lang="tr-TR" sz="2800" dirty="0"/>
          </a:p>
        </p:txBody>
      </p:sp>
    </p:spTree>
    <p:extLst>
      <p:ext uri="{BB962C8B-B14F-4D97-AF65-F5344CB8AC3E}">
        <p14:creationId xmlns:p14="http://schemas.microsoft.com/office/powerpoint/2010/main" val="3649168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58A5DE2-A806-4832-9E1A-1791C3454BA2}"/>
              </a:ext>
            </a:extLst>
          </p:cNvPr>
          <p:cNvSpPr/>
          <p:nvPr/>
        </p:nvSpPr>
        <p:spPr>
          <a:xfrm>
            <a:off x="304800" y="647700"/>
            <a:ext cx="10868745" cy="590649"/>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B1B27"/>
                </a:solidFill>
                <a:effectLst/>
                <a:uLnTx/>
                <a:uFillTx/>
                <a:latin typeface="Calibri"/>
                <a:ea typeface="Raleway" pitchFamily="34" charset="-122"/>
                <a:cs typeface="Raleway" pitchFamily="34" charset="-120"/>
              </a:rPr>
              <a:t>Kategorik Veri: Nominal vs Ordinal</a:t>
            </a:r>
            <a:endParaRPr kumimoji="0" lang="en-US" sz="4800" b="1" i="0" u="none" strike="noStrike" kern="1200" cap="none" spc="0" normalizeH="0" baseline="0" noProof="0" dirty="0">
              <a:ln>
                <a:noFill/>
              </a:ln>
              <a:solidFill>
                <a:prstClr val="black"/>
              </a:solidFill>
              <a:effectLst/>
              <a:uLnTx/>
              <a:uFillTx/>
              <a:latin typeface="Calibri"/>
              <a:ea typeface="+mn-ea"/>
              <a:cs typeface="+mn-cs"/>
            </a:endParaRPr>
          </a:p>
        </p:txBody>
      </p:sp>
      <p:sp>
        <p:nvSpPr>
          <p:cNvPr id="5" name="Shape 2">
            <a:extLst>
              <a:ext uri="{FF2B5EF4-FFF2-40B4-BE49-F238E27FC236}">
                <a16:creationId xmlns:a16="http://schemas.microsoft.com/office/drawing/2014/main" id="{E2314907-07E2-4842-9DB1-CC5E9A355320}"/>
              </a:ext>
            </a:extLst>
          </p:cNvPr>
          <p:cNvSpPr/>
          <p:nvPr/>
        </p:nvSpPr>
        <p:spPr>
          <a:xfrm>
            <a:off x="1314027" y="2165699"/>
            <a:ext cx="15282874" cy="3713143"/>
          </a:xfrm>
          <a:prstGeom prst="roundRect">
            <a:avLst>
              <a:gd name="adj" fmla="val 4106"/>
            </a:avLst>
          </a:prstGeom>
          <a:solidFill>
            <a:srgbClr val="E1E1EA">
              <a:alpha val="45000"/>
            </a:srgbClr>
          </a:solidFill>
          <a:ln w="6350">
            <a:solidFill>
              <a:srgbClr val="C7C7D0"/>
            </a:solidFill>
            <a:prstDash val="solid"/>
          </a:ln>
        </p:spPr>
      </p:sp>
      <p:sp>
        <p:nvSpPr>
          <p:cNvPr id="8" name="Text 4">
            <a:extLst>
              <a:ext uri="{FF2B5EF4-FFF2-40B4-BE49-F238E27FC236}">
                <a16:creationId xmlns:a16="http://schemas.microsoft.com/office/drawing/2014/main" id="{6EBC6E3D-86C5-45D0-8CFA-4BB6E9D9250E}"/>
              </a:ext>
            </a:extLst>
          </p:cNvPr>
          <p:cNvSpPr/>
          <p:nvPr/>
        </p:nvSpPr>
        <p:spPr>
          <a:xfrm>
            <a:off x="3124200" y="2484256"/>
            <a:ext cx="5638800" cy="49243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800" i="0" u="none" strike="noStrike" kern="1200" cap="none" spc="0" normalizeH="0" baseline="0" noProof="0" dirty="0">
                <a:ln>
                  <a:noFill/>
                </a:ln>
                <a:effectLst/>
                <a:uLnTx/>
                <a:uFillTx/>
                <a:latin typeface="Calibri"/>
                <a:ea typeface="Raleway" pitchFamily="34" charset="-122"/>
                <a:cs typeface="Raleway" pitchFamily="34" charset="-120"/>
              </a:rPr>
              <a:t>🏙️</a:t>
            </a:r>
            <a:r>
              <a:rPr kumimoji="0" lang="en-US" sz="1850" b="1" i="0" u="none" strike="noStrike" kern="1200" cap="none" spc="0" normalizeH="0" baseline="0" noProof="0" dirty="0">
                <a:ln>
                  <a:noFill/>
                </a:ln>
                <a:effectLst/>
                <a:uLnTx/>
                <a:uFillTx/>
                <a:latin typeface="Calibri"/>
                <a:ea typeface="Raleway" pitchFamily="34" charset="-122"/>
                <a:cs typeface="Raleway" pitchFamily="34" charset="-120"/>
              </a:rPr>
              <a:t> </a:t>
            </a:r>
            <a:r>
              <a:rPr kumimoji="0" lang="en-US" sz="2800" b="1" i="0" u="none" strike="noStrike" kern="1200" cap="none" spc="0" normalizeH="0" baseline="0" noProof="0" dirty="0">
                <a:ln>
                  <a:noFill/>
                </a:ln>
                <a:effectLst/>
                <a:uLnTx/>
                <a:uFillTx/>
                <a:latin typeface="Calibri"/>
                <a:ea typeface="Raleway" pitchFamily="34" charset="-122"/>
                <a:cs typeface="Raleway" pitchFamily="34" charset="-120"/>
              </a:rPr>
              <a:t>Nominal (Sırasız)</a:t>
            </a:r>
            <a:endParaRPr kumimoji="0" lang="en-US" sz="2800" b="1" i="0" u="none" strike="noStrike" kern="1200" cap="none" spc="0" normalizeH="0" baseline="0" noProof="0" dirty="0">
              <a:ln>
                <a:noFill/>
              </a:ln>
              <a:effectLst/>
              <a:uLnTx/>
              <a:uFillTx/>
              <a:latin typeface="Calibri"/>
              <a:ea typeface="+mn-ea"/>
              <a:cs typeface="+mn-cs"/>
            </a:endParaRPr>
          </a:p>
        </p:txBody>
      </p:sp>
      <p:sp>
        <p:nvSpPr>
          <p:cNvPr id="9" name="Text 5">
            <a:extLst>
              <a:ext uri="{FF2B5EF4-FFF2-40B4-BE49-F238E27FC236}">
                <a16:creationId xmlns:a16="http://schemas.microsoft.com/office/drawing/2014/main" id="{0DAC02DA-C862-4633-BB9C-85A277A1649A}"/>
              </a:ext>
            </a:extLst>
          </p:cNvPr>
          <p:cNvSpPr/>
          <p:nvPr/>
        </p:nvSpPr>
        <p:spPr>
          <a:xfrm>
            <a:off x="1731162" y="3295250"/>
            <a:ext cx="6284861" cy="2321568"/>
          </a:xfrm>
          <a:prstGeom prst="rect">
            <a:avLst/>
          </a:prstGeom>
          <a:noFill/>
          <a:ln/>
        </p:spPr>
        <p:txBody>
          <a:bodyPr wrap="square" lIns="0" tIns="0" rIns="0" bIns="0" rtlCol="0" anchor="t"/>
          <a:lstStyle/>
          <a:p>
            <a:pPr marL="0" marR="0" lvl="0" indent="0" algn="l" defTabSz="914400" rtl="0" eaLnBrk="1" fontAlgn="auto" latinLnBrk="0" hangingPunct="1">
              <a:lnSpc>
                <a:spcPct val="133000"/>
              </a:lnSpc>
              <a:spcBef>
                <a:spcPts val="0"/>
              </a:spcBef>
              <a:spcAft>
                <a:spcPts val="850"/>
              </a:spcAft>
              <a:buClrTx/>
              <a:buSzTx/>
              <a:buFontTx/>
              <a:buNone/>
              <a:tabLst/>
              <a:defRPr/>
            </a:pP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Kategoriler</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ar</a:t>
            </a:r>
            <a:r>
              <a:rPr kumimoji="0" lang="tr-TR"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a</a:t>
            </a: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sında</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doğal bir sıra </a:t>
            </a:r>
            <a:r>
              <a:rPr kumimoji="0" lang="en-US" sz="2800" b="1" i="0" u="none" strike="noStrike" kern="1200" cap="none" spc="0" normalizeH="0" baseline="0" noProof="0" dirty="0">
                <a:ln>
                  <a:noFill/>
                </a:ln>
                <a:solidFill>
                  <a:srgbClr val="3C3939"/>
                </a:solidFill>
                <a:effectLst/>
                <a:uLnTx/>
                <a:uFillTx/>
                <a:latin typeface="Calibri"/>
                <a:ea typeface="Roboto Bold" pitchFamily="34" charset="-122"/>
                <a:cs typeface="Roboto Bold" pitchFamily="34" charset="-120"/>
              </a:rPr>
              <a:t>yoktur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33000"/>
              </a:lnSpc>
              <a:spcBef>
                <a:spcPts val="0"/>
              </a:spcBef>
              <a:spcAft>
                <a:spcPts val="850"/>
              </a:spcAft>
              <a:buClrTx/>
              <a:buSzTx/>
              <a:buFontTx/>
              <a:buNone/>
              <a:tabLst/>
              <a:defRPr/>
            </a:pPr>
            <a:r>
              <a:rPr kumimoji="0" lang="en-US" sz="2800" b="0" i="1"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Örn: Şehir → Kayseri, Ankara, İstanbul</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Kayseri &gt; Ankara demek anlamsız!</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Shape 7">
            <a:extLst>
              <a:ext uri="{FF2B5EF4-FFF2-40B4-BE49-F238E27FC236}">
                <a16:creationId xmlns:a16="http://schemas.microsoft.com/office/drawing/2014/main" id="{2801081F-2FE6-4E86-B8B9-35A1FB212E47}"/>
              </a:ext>
            </a:extLst>
          </p:cNvPr>
          <p:cNvSpPr/>
          <p:nvPr/>
        </p:nvSpPr>
        <p:spPr>
          <a:xfrm>
            <a:off x="8261362" y="2767110"/>
            <a:ext cx="45719" cy="2527586"/>
          </a:xfrm>
          <a:prstGeom prst="roundRect">
            <a:avLst>
              <a:gd name="adj" fmla="val 50001"/>
            </a:avLst>
          </a:prstGeom>
          <a:solidFill>
            <a:srgbClr val="C7C7D0"/>
          </a:solidFill>
          <a:ln/>
        </p:spPr>
      </p:sp>
      <p:sp>
        <p:nvSpPr>
          <p:cNvPr id="12" name="Text 8">
            <a:extLst>
              <a:ext uri="{FF2B5EF4-FFF2-40B4-BE49-F238E27FC236}">
                <a16:creationId xmlns:a16="http://schemas.microsoft.com/office/drawing/2014/main" id="{45058A9B-7149-4B31-B412-6CBD39A07D2D}"/>
              </a:ext>
            </a:extLst>
          </p:cNvPr>
          <p:cNvSpPr/>
          <p:nvPr/>
        </p:nvSpPr>
        <p:spPr>
          <a:xfrm>
            <a:off x="10467745" y="2474716"/>
            <a:ext cx="3962400" cy="492437"/>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800" i="0" u="none" strike="noStrike" kern="1200" cap="none" spc="0" normalizeH="0" baseline="0" noProof="0" dirty="0">
                <a:ln>
                  <a:noFill/>
                </a:ln>
                <a:effectLst/>
                <a:uLnTx/>
                <a:uFillTx/>
                <a:latin typeface="Calibri"/>
                <a:ea typeface="Raleway" pitchFamily="34" charset="-122"/>
                <a:cs typeface="Raleway" pitchFamily="34" charset="-120"/>
              </a:rPr>
              <a:t>📊</a:t>
            </a:r>
            <a:r>
              <a:rPr kumimoji="0" lang="en-US" sz="2800" b="1" i="0" u="none" strike="noStrike" kern="1200" cap="none" spc="0" normalizeH="0" baseline="0" noProof="0" dirty="0">
                <a:ln>
                  <a:noFill/>
                </a:ln>
                <a:effectLst/>
                <a:uLnTx/>
                <a:uFillTx/>
                <a:latin typeface="Calibri"/>
                <a:ea typeface="Raleway" pitchFamily="34" charset="-122"/>
                <a:cs typeface="Raleway" pitchFamily="34" charset="-120"/>
              </a:rPr>
              <a:t> Ordinal (</a:t>
            </a:r>
            <a:r>
              <a:rPr kumimoji="0" lang="en-US" sz="2800" b="1" i="0" u="none" strike="noStrike" kern="1200" cap="none" spc="0" normalizeH="0" baseline="0" noProof="0" dirty="0" err="1">
                <a:ln>
                  <a:noFill/>
                </a:ln>
                <a:effectLst/>
                <a:uLnTx/>
                <a:uFillTx/>
                <a:latin typeface="Calibri"/>
                <a:ea typeface="Raleway" pitchFamily="34" charset="-122"/>
                <a:cs typeface="Raleway" pitchFamily="34" charset="-120"/>
              </a:rPr>
              <a:t>Sıralı</a:t>
            </a:r>
            <a:r>
              <a:rPr kumimoji="0" lang="en-US" sz="2800" b="1" i="0" u="none" strike="noStrike" kern="1200" cap="none" spc="0" normalizeH="0" baseline="0" noProof="0" dirty="0">
                <a:ln>
                  <a:noFill/>
                </a:ln>
                <a:effectLst/>
                <a:uLnTx/>
                <a:uFillTx/>
                <a:latin typeface="Calibri"/>
                <a:ea typeface="Raleway" pitchFamily="34" charset="-122"/>
                <a:cs typeface="Raleway" pitchFamily="34" charset="-120"/>
              </a:rPr>
              <a:t>)</a:t>
            </a:r>
            <a:endParaRPr kumimoji="0" lang="en-US" sz="2800" b="1" i="0" u="none" strike="noStrike" kern="1200" cap="none" spc="0" normalizeH="0" baseline="0" noProof="0" dirty="0">
              <a:ln>
                <a:noFill/>
              </a:ln>
              <a:effectLst/>
              <a:uLnTx/>
              <a:uFillTx/>
              <a:latin typeface="Calibri"/>
              <a:ea typeface="+mn-ea"/>
              <a:cs typeface="+mn-cs"/>
            </a:endParaRPr>
          </a:p>
        </p:txBody>
      </p:sp>
      <p:sp>
        <p:nvSpPr>
          <p:cNvPr id="13" name="Text 9">
            <a:extLst>
              <a:ext uri="{FF2B5EF4-FFF2-40B4-BE49-F238E27FC236}">
                <a16:creationId xmlns:a16="http://schemas.microsoft.com/office/drawing/2014/main" id="{7E61FC7F-627F-4DB5-AF7C-3CF6E328FB27}"/>
              </a:ext>
            </a:extLst>
          </p:cNvPr>
          <p:cNvSpPr/>
          <p:nvPr/>
        </p:nvSpPr>
        <p:spPr>
          <a:xfrm>
            <a:off x="8917961" y="3295250"/>
            <a:ext cx="6733519" cy="2069755"/>
          </a:xfrm>
          <a:prstGeom prst="rect">
            <a:avLst/>
          </a:prstGeom>
          <a:noFill/>
          <a:ln/>
        </p:spPr>
        <p:txBody>
          <a:bodyPr wrap="square" lIns="0" tIns="0" rIns="0" bIns="0" rtlCol="0" anchor="t"/>
          <a:lstStyle/>
          <a:p>
            <a:pPr marL="0" marR="0" lvl="0" indent="0" algn="l" defTabSz="914400" rtl="0" eaLnBrk="1" fontAlgn="auto" latinLnBrk="0" hangingPunct="1">
              <a:lnSpc>
                <a:spcPct val="133000"/>
              </a:lnSpc>
              <a:spcBef>
                <a:spcPts val="0"/>
              </a:spcBef>
              <a:spcAft>
                <a:spcPts val="850"/>
              </a:spcAft>
              <a:buClrTx/>
              <a:buSzTx/>
              <a:buFontTx/>
              <a:buNone/>
              <a:tabLst/>
              <a:defRPr/>
            </a:pP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Kategoriler arasında doğal bir sıra </a:t>
            </a:r>
            <a:r>
              <a:rPr kumimoji="0" lang="en-US" sz="2800" b="1" i="0" u="none" strike="noStrike" kern="1200" cap="none" spc="0" normalizeH="0" baseline="0" noProof="0" dirty="0">
                <a:ln>
                  <a:noFill/>
                </a:ln>
                <a:solidFill>
                  <a:srgbClr val="3C3939"/>
                </a:solidFill>
                <a:effectLst/>
                <a:uLnTx/>
                <a:uFillTx/>
                <a:latin typeface="Calibri"/>
                <a:ea typeface="Roboto Bold" pitchFamily="34" charset="-122"/>
                <a:cs typeface="Roboto Bold" pitchFamily="34" charset="-120"/>
              </a:rPr>
              <a:t>vardır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33000"/>
              </a:lnSpc>
              <a:spcBef>
                <a:spcPts val="0"/>
              </a:spcBef>
              <a:spcAft>
                <a:spcPts val="850"/>
              </a:spcAft>
              <a:buClrTx/>
              <a:buSzTx/>
              <a:buFontTx/>
              <a:buNone/>
              <a:tabLst/>
              <a:defRPr/>
            </a:pPr>
            <a:r>
              <a:rPr kumimoji="0" lang="en-US" sz="2800" b="0" i="1"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Örn: Ev Büyüklüğü → Küçük &lt; Orta &lt; Büyük</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Sıralama anlamlı ve korunmalı!</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Shape 10">
            <a:extLst>
              <a:ext uri="{FF2B5EF4-FFF2-40B4-BE49-F238E27FC236}">
                <a16:creationId xmlns:a16="http://schemas.microsoft.com/office/drawing/2014/main" id="{76E77A47-E6A2-4717-9A3C-FE8B5DC7DE86}"/>
              </a:ext>
            </a:extLst>
          </p:cNvPr>
          <p:cNvSpPr/>
          <p:nvPr/>
        </p:nvSpPr>
        <p:spPr>
          <a:xfrm>
            <a:off x="1404926" y="6276947"/>
            <a:ext cx="15282874" cy="1685953"/>
          </a:xfrm>
          <a:prstGeom prst="roundRect">
            <a:avLst>
              <a:gd name="adj" fmla="val 7501"/>
            </a:avLst>
          </a:prstGeom>
          <a:solidFill>
            <a:srgbClr val="F0E6C0">
              <a:alpha val="25000"/>
            </a:srgbClr>
          </a:solidFill>
          <a:ln/>
        </p:spPr>
      </p:sp>
      <p:pic>
        <p:nvPicPr>
          <p:cNvPr id="15" name="Image 0" descr="preencoded.png">
            <a:extLst>
              <a:ext uri="{FF2B5EF4-FFF2-40B4-BE49-F238E27FC236}">
                <a16:creationId xmlns:a16="http://schemas.microsoft.com/office/drawing/2014/main" id="{AE1FC335-1CD2-4F5F-8FDB-66F17BD1F687}"/>
              </a:ext>
            </a:extLst>
          </p:cNvPr>
          <p:cNvPicPr>
            <a:picLocks noChangeAspect="1"/>
          </p:cNvPicPr>
          <p:nvPr/>
        </p:nvPicPr>
        <p:blipFill>
          <a:blip r:embed="rId2"/>
          <a:stretch>
            <a:fillRect/>
          </a:stretch>
        </p:blipFill>
        <p:spPr>
          <a:xfrm>
            <a:off x="1481126" y="6747369"/>
            <a:ext cx="652474" cy="522048"/>
          </a:xfrm>
          <a:prstGeom prst="rect">
            <a:avLst/>
          </a:prstGeom>
        </p:spPr>
      </p:pic>
      <p:sp>
        <p:nvSpPr>
          <p:cNvPr id="16" name="Text 11">
            <a:extLst>
              <a:ext uri="{FF2B5EF4-FFF2-40B4-BE49-F238E27FC236}">
                <a16:creationId xmlns:a16="http://schemas.microsoft.com/office/drawing/2014/main" id="{6B0DD45E-62C1-440B-BFBE-FA690823FC27}"/>
              </a:ext>
            </a:extLst>
          </p:cNvPr>
          <p:cNvSpPr/>
          <p:nvPr/>
        </p:nvSpPr>
        <p:spPr>
          <a:xfrm>
            <a:off x="2209800" y="6699547"/>
            <a:ext cx="14173200" cy="1027657"/>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a:ea typeface="Roboto Bold" pitchFamily="34" charset="-122"/>
                <a:cs typeface="Roboto Bold" pitchFamily="34" charset="-120"/>
              </a:rPr>
              <a:t>Neden önemli?</a:t>
            </a:r>
            <a:r>
              <a:rPr kumimoji="0" lang="en-US" sz="2800" b="0" i="0" u="none" strike="noStrike" kern="1200" cap="none" spc="0" normalizeH="0" baseline="0" noProof="0" dirty="0">
                <a:ln>
                  <a:noFill/>
                </a:ln>
                <a:solidFill>
                  <a:srgbClr val="000000"/>
                </a:solidFill>
                <a:effectLst/>
                <a:uLnTx/>
                <a:uFillTx/>
                <a:latin typeface="Calibri"/>
                <a:ea typeface="Roboto" pitchFamily="34" charset="-122"/>
                <a:cs typeface="Roboto" pitchFamily="34" charset="-120"/>
              </a:rPr>
              <a:t> Encoding yöntemi seçimini etkiler — One-Hot Encoding mi, </a:t>
            </a:r>
            <a:r>
              <a:rPr kumimoji="0" lang="tr-TR" sz="2800" b="0" i="0" u="none" strike="noStrike" kern="1200" cap="none" spc="0" normalizeH="0" baseline="0" noProof="0" dirty="0" err="1">
                <a:ln>
                  <a:noFill/>
                </a:ln>
                <a:solidFill>
                  <a:srgbClr val="000000"/>
                </a:solidFill>
                <a:effectLst/>
                <a:uLnTx/>
                <a:uFillTx/>
                <a:latin typeface="Calibri"/>
                <a:ea typeface="Roboto" pitchFamily="34" charset="-122"/>
                <a:cs typeface="Roboto" pitchFamily="34" charset="-120"/>
              </a:rPr>
              <a:t>Ordinal</a:t>
            </a:r>
            <a:r>
              <a:rPr kumimoji="0" lang="en-US" sz="2800" b="0" i="0" u="none" strike="noStrike" kern="1200" cap="none" spc="0" normalizeH="0" baseline="0" noProof="0" dirty="0">
                <a:ln>
                  <a:noFill/>
                </a:ln>
                <a:solidFill>
                  <a:srgbClr val="000000"/>
                </a:solidFill>
                <a:effectLst/>
                <a:uLnTx/>
                <a:uFillTx/>
                <a:latin typeface="Calibri"/>
                <a:ea typeface="Roboto" pitchFamily="34" charset="-122"/>
                <a:cs typeface="Roboto" pitchFamily="34" charset="-120"/>
              </a:rPr>
              <a:t> Encoding mi?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08946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7" name="Metin kutusu 6">
            <a:extLst>
              <a:ext uri="{FF2B5EF4-FFF2-40B4-BE49-F238E27FC236}">
                <a16:creationId xmlns:a16="http://schemas.microsoft.com/office/drawing/2014/main" id="{D080B65A-E934-40A8-9E43-A3CA7AAF0A48}"/>
              </a:ext>
            </a:extLst>
          </p:cNvPr>
          <p:cNvSpPr txBox="1"/>
          <p:nvPr/>
        </p:nvSpPr>
        <p:spPr>
          <a:xfrm>
            <a:off x="762000" y="457200"/>
            <a:ext cx="16764000" cy="990600"/>
          </a:xfrm>
          <a:prstGeom prst="rect">
            <a:avLst/>
          </a:prstGeom>
          <a:noFill/>
        </p:spPr>
        <p:txBody>
          <a:bodyPr wrap="square">
            <a:noAutofit/>
          </a:bodyPr>
          <a:lstStyle/>
          <a:p>
            <a:pPr marL="0" indent="0" algn="l"/>
            <a:r>
              <a:rPr lang="tr-TR" sz="4400" b="1" dirty="0">
                <a:solidFill>
                  <a:srgbClr val="1E2A4E"/>
                </a:solidFill>
                <a:latin typeface="Calibri"/>
                <a:ea typeface="Calibri"/>
                <a:cs typeface="Calibri"/>
              </a:rPr>
              <a:t>Metin verisi</a:t>
            </a:r>
            <a:endParaRPr lang="tr-TR" sz="4400" dirty="0"/>
          </a:p>
        </p:txBody>
      </p:sp>
      <p:sp>
        <p:nvSpPr>
          <p:cNvPr id="9" name="Metin kutusu 8">
            <a:extLst>
              <a:ext uri="{FF2B5EF4-FFF2-40B4-BE49-F238E27FC236}">
                <a16:creationId xmlns:a16="http://schemas.microsoft.com/office/drawing/2014/main" id="{2A0A831F-8577-4946-B06F-2D4D8FD55DF3}"/>
              </a:ext>
            </a:extLst>
          </p:cNvPr>
          <p:cNvSpPr txBox="1"/>
          <p:nvPr/>
        </p:nvSpPr>
        <p:spPr>
          <a:xfrm>
            <a:off x="874697" y="1674372"/>
            <a:ext cx="9564704" cy="831049"/>
          </a:xfrm>
          <a:prstGeom prst="rect">
            <a:avLst/>
          </a:prstGeom>
          <a:noFill/>
        </p:spPr>
        <p:txBody>
          <a:bodyPr wrap="square">
            <a:noAutofit/>
          </a:bodyPr>
          <a:lstStyle/>
          <a:p>
            <a:pPr marL="0" indent="0"/>
            <a:r>
              <a:rPr lang="tr-TR" sz="3200" b="0" dirty="0">
                <a:ea typeface="Calibri"/>
                <a:cs typeface="Calibri"/>
              </a:rPr>
              <a:t>Metinler, uygun modellerle sınıflandırılabilir.</a:t>
            </a:r>
            <a:endParaRPr lang="tr-TR" sz="3200" dirty="0"/>
          </a:p>
        </p:txBody>
      </p:sp>
      <p:sp>
        <p:nvSpPr>
          <p:cNvPr id="10" name="Rectangle 1">
            <a:extLst>
              <a:ext uri="{FF2B5EF4-FFF2-40B4-BE49-F238E27FC236}">
                <a16:creationId xmlns:a16="http://schemas.microsoft.com/office/drawing/2014/main" id="{8941589D-E911-4223-9DEF-49BB75C447CD}"/>
              </a:ext>
            </a:extLst>
          </p:cNvPr>
          <p:cNvSpPr>
            <a:spLocks noChangeArrowheads="1"/>
          </p:cNvSpPr>
          <p:nvPr/>
        </p:nvSpPr>
        <p:spPr bwMode="auto">
          <a:xfrm>
            <a:off x="905177" y="2497665"/>
            <a:ext cx="9762823" cy="2584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tr-TR" altLang="tr-TR" sz="2800" b="1" i="0" u="none" strike="noStrike" cap="none" normalizeH="0" baseline="0" dirty="0">
                <a:ln>
                  <a:noFill/>
                </a:ln>
                <a:solidFill>
                  <a:schemeClr val="tx1"/>
                </a:solidFill>
                <a:effectLst/>
              </a:rPr>
              <a:t>Ev ilanı örneği:</a:t>
            </a:r>
            <a:endParaRPr kumimoji="0" lang="tr-TR" altLang="tr-TR"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tr-TR" altLang="tr-TR" sz="2800" b="0" i="1" u="none" strike="noStrike" cap="none" normalizeH="0" baseline="0" dirty="0">
                <a:ln>
                  <a:noFill/>
                </a:ln>
                <a:solidFill>
                  <a:schemeClr val="tx1"/>
                </a:solidFill>
                <a:effectLst/>
              </a:rPr>
              <a:t>"Deniz manzaralı, ferah daire, merkezi konumda, yeni bina"</a:t>
            </a:r>
            <a:endParaRPr kumimoji="0" lang="tr-TR" altLang="tr-TR"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tr-TR" altLang="tr-TR" sz="2800" b="0" i="0" u="none" strike="noStrike" cap="none" normalizeH="0" baseline="0" dirty="0">
                <a:ln>
                  <a:noFill/>
                </a:ln>
                <a:solidFill>
                  <a:schemeClr val="tx1"/>
                </a:solidFill>
                <a:effectLst/>
              </a:rPr>
              <a:t>Bu metin verisidir → sayısal değil, ama makine öğrenmesiyle analiz edilebilir</a:t>
            </a:r>
            <a:endParaRPr lang="tr-TR" sz="2800" dirty="0"/>
          </a:p>
        </p:txBody>
      </p:sp>
      <p:grpSp>
        <p:nvGrpSpPr>
          <p:cNvPr id="2" name="Grup 1">
            <a:extLst>
              <a:ext uri="{FF2B5EF4-FFF2-40B4-BE49-F238E27FC236}">
                <a16:creationId xmlns:a16="http://schemas.microsoft.com/office/drawing/2014/main" id="{81E7DA8D-C437-4C4B-ACE0-70F6E2EA3D6D}"/>
              </a:ext>
            </a:extLst>
          </p:cNvPr>
          <p:cNvGrpSpPr/>
          <p:nvPr/>
        </p:nvGrpSpPr>
        <p:grpSpPr>
          <a:xfrm>
            <a:off x="1914331" y="5642115"/>
            <a:ext cx="13946193" cy="3213485"/>
            <a:chOff x="711673" y="5816215"/>
            <a:chExt cx="13946193" cy="3213485"/>
          </a:xfrm>
        </p:grpSpPr>
        <p:pic>
          <p:nvPicPr>
            <p:cNvPr id="11" name="Image 0">
              <a:extLst>
                <a:ext uri="{FF2B5EF4-FFF2-40B4-BE49-F238E27FC236}">
                  <a16:creationId xmlns:a16="http://schemas.microsoft.com/office/drawing/2014/main" id="{D6EEC55E-6E8E-4DFD-AC58-55731D4F0AC8}"/>
                </a:ext>
              </a:extLst>
            </p:cNvPr>
            <p:cNvPicPr>
              <a:picLocks noChangeAspect="1"/>
            </p:cNvPicPr>
            <p:nvPr/>
          </p:nvPicPr>
          <p:blipFill>
            <a:blip r:embed="rId3">
              <a:alphaModFix amt="45000"/>
            </a:blip>
            <a:stretch>
              <a:fillRect/>
            </a:stretch>
          </p:blipFill>
          <p:spPr>
            <a:xfrm>
              <a:off x="711673" y="5887254"/>
              <a:ext cx="4680000" cy="1479321"/>
            </a:xfrm>
            <a:prstGeom prst="rect">
              <a:avLst/>
            </a:prstGeom>
            <a:effectLst>
              <a:glow rad="127000">
                <a:schemeClr val="accent1">
                  <a:alpha val="0"/>
                </a:schemeClr>
              </a:glow>
            </a:effectLst>
          </p:spPr>
        </p:pic>
        <p:sp>
          <p:nvSpPr>
            <p:cNvPr id="12" name="Text 2">
              <a:extLst>
                <a:ext uri="{FF2B5EF4-FFF2-40B4-BE49-F238E27FC236}">
                  <a16:creationId xmlns:a16="http://schemas.microsoft.com/office/drawing/2014/main" id="{B07163BF-E9B2-442A-8CEC-D0CCE526412F}"/>
                </a:ext>
              </a:extLst>
            </p:cNvPr>
            <p:cNvSpPr/>
            <p:nvPr/>
          </p:nvSpPr>
          <p:spPr>
            <a:xfrm>
              <a:off x="958842" y="7531366"/>
              <a:ext cx="3244868" cy="295275"/>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lnSpc>
                  <a:spcPct val="104000"/>
                </a:lnSpc>
                <a:buNone/>
              </a:pPr>
              <a:r>
                <a:rPr lang="en-US" sz="2800" b="1" dirty="0">
                  <a:solidFill>
                    <a:srgbClr val="3C3939"/>
                  </a:solidFill>
                  <a:ea typeface="Calibri" pitchFamily="34" charset="-122"/>
                  <a:cs typeface="Calibri" pitchFamily="34" charset="-120"/>
                </a:rPr>
                <a:t>Duygu Analizi</a:t>
              </a:r>
              <a:endParaRPr lang="en-US" sz="2800" b="1" dirty="0"/>
            </a:p>
          </p:txBody>
        </p:sp>
        <p:sp>
          <p:nvSpPr>
            <p:cNvPr id="13" name="Text 3">
              <a:extLst>
                <a:ext uri="{FF2B5EF4-FFF2-40B4-BE49-F238E27FC236}">
                  <a16:creationId xmlns:a16="http://schemas.microsoft.com/office/drawing/2014/main" id="{26D619C3-748D-40FE-B3D4-BC77FEF11BFE}"/>
                </a:ext>
              </a:extLst>
            </p:cNvPr>
            <p:cNvSpPr/>
            <p:nvPr/>
          </p:nvSpPr>
          <p:spPr>
            <a:xfrm>
              <a:off x="958842" y="7929134"/>
              <a:ext cx="3244868" cy="302419"/>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lnSpc>
                  <a:spcPct val="133000"/>
                </a:lnSpc>
                <a:buNone/>
              </a:pPr>
              <a:r>
                <a:rPr lang="en-US" sz="2800" dirty="0">
                  <a:solidFill>
                    <a:srgbClr val="3C3939"/>
                  </a:solidFill>
                  <a:ea typeface="Calibri" pitchFamily="34" charset="-122"/>
                  <a:cs typeface="Calibri" pitchFamily="34" charset="-120"/>
                </a:rPr>
                <a:t>Pozitif / Negatif / Nötr</a:t>
              </a:r>
              <a:endParaRPr lang="en-US" sz="2800" dirty="0"/>
            </a:p>
          </p:txBody>
        </p:sp>
        <p:pic>
          <p:nvPicPr>
            <p:cNvPr id="14" name="Image 1">
              <a:extLst>
                <a:ext uri="{FF2B5EF4-FFF2-40B4-BE49-F238E27FC236}">
                  <a16:creationId xmlns:a16="http://schemas.microsoft.com/office/drawing/2014/main" id="{372B9A04-7AE6-4F31-928F-D5C7B416530D}"/>
                </a:ext>
              </a:extLst>
            </p:cNvPr>
            <p:cNvPicPr>
              <a:picLocks noChangeAspect="1"/>
            </p:cNvPicPr>
            <p:nvPr/>
          </p:nvPicPr>
          <p:blipFill>
            <a:blip r:embed="rId4">
              <a:alphaModFix amt="45000"/>
            </a:blip>
            <a:stretch>
              <a:fillRect/>
            </a:stretch>
          </p:blipFill>
          <p:spPr>
            <a:xfrm>
              <a:off x="5350737" y="5860856"/>
              <a:ext cx="4680000" cy="1461078"/>
            </a:xfrm>
            <a:prstGeom prst="rect">
              <a:avLst/>
            </a:prstGeom>
          </p:spPr>
        </p:pic>
        <p:sp>
          <p:nvSpPr>
            <p:cNvPr id="15" name="Text 4">
              <a:extLst>
                <a:ext uri="{FF2B5EF4-FFF2-40B4-BE49-F238E27FC236}">
                  <a16:creationId xmlns:a16="http://schemas.microsoft.com/office/drawing/2014/main" id="{86039971-F4D3-45E7-9B81-EC27808E93CF}"/>
                </a:ext>
              </a:extLst>
            </p:cNvPr>
            <p:cNvSpPr/>
            <p:nvPr/>
          </p:nvSpPr>
          <p:spPr>
            <a:xfrm>
              <a:off x="5618869" y="7502023"/>
              <a:ext cx="3244868" cy="348721"/>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lnSpc>
                  <a:spcPct val="104000"/>
                </a:lnSpc>
                <a:buNone/>
              </a:pPr>
              <a:r>
                <a:rPr lang="en-US" sz="2800" b="1" dirty="0">
                  <a:solidFill>
                    <a:srgbClr val="3C3939"/>
                  </a:solidFill>
                  <a:ea typeface="Calibri" pitchFamily="34" charset="-122"/>
                  <a:cs typeface="Calibri" pitchFamily="34" charset="-120"/>
                </a:rPr>
                <a:t>Spam Tespiti</a:t>
              </a:r>
              <a:endParaRPr lang="en-US" sz="2800" b="1" dirty="0"/>
            </a:p>
          </p:txBody>
        </p:sp>
        <p:sp>
          <p:nvSpPr>
            <p:cNvPr id="16" name="Text 5">
              <a:extLst>
                <a:ext uri="{FF2B5EF4-FFF2-40B4-BE49-F238E27FC236}">
                  <a16:creationId xmlns:a16="http://schemas.microsoft.com/office/drawing/2014/main" id="{51F26323-6802-444A-B38F-ADF45E256730}"/>
                </a:ext>
              </a:extLst>
            </p:cNvPr>
            <p:cNvSpPr/>
            <p:nvPr/>
          </p:nvSpPr>
          <p:spPr>
            <a:xfrm>
              <a:off x="5618869" y="7926510"/>
              <a:ext cx="3244868" cy="302419"/>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lnSpc>
                  <a:spcPct val="133000"/>
                </a:lnSpc>
                <a:buNone/>
              </a:pPr>
              <a:r>
                <a:rPr lang="en-US" sz="2800" dirty="0">
                  <a:solidFill>
                    <a:srgbClr val="3C3939"/>
                  </a:solidFill>
                  <a:ea typeface="Calibri" pitchFamily="34" charset="-122"/>
                  <a:cs typeface="Calibri" pitchFamily="34" charset="-120"/>
                </a:rPr>
                <a:t>Spam / Spam Değil</a:t>
              </a:r>
              <a:endParaRPr lang="en-US" sz="2800" dirty="0"/>
            </a:p>
          </p:txBody>
        </p:sp>
        <p:pic>
          <p:nvPicPr>
            <p:cNvPr id="17" name="Image 2">
              <a:extLst>
                <a:ext uri="{FF2B5EF4-FFF2-40B4-BE49-F238E27FC236}">
                  <a16:creationId xmlns:a16="http://schemas.microsoft.com/office/drawing/2014/main" id="{3DE501D0-3D3B-4C4E-8B79-65EA18AF655D}"/>
                </a:ext>
              </a:extLst>
            </p:cNvPr>
            <p:cNvPicPr>
              <a:picLocks noChangeAspect="1"/>
            </p:cNvPicPr>
            <p:nvPr/>
          </p:nvPicPr>
          <p:blipFill>
            <a:blip r:embed="rId5">
              <a:alphaModFix amt="45000"/>
            </a:blip>
            <a:stretch>
              <a:fillRect/>
            </a:stretch>
          </p:blipFill>
          <p:spPr>
            <a:xfrm>
              <a:off x="9977866" y="5816215"/>
              <a:ext cx="4680000" cy="1461078"/>
            </a:xfrm>
            <a:prstGeom prst="rect">
              <a:avLst/>
            </a:prstGeom>
          </p:spPr>
        </p:pic>
        <p:sp>
          <p:nvSpPr>
            <p:cNvPr id="18" name="Text 6">
              <a:extLst>
                <a:ext uri="{FF2B5EF4-FFF2-40B4-BE49-F238E27FC236}">
                  <a16:creationId xmlns:a16="http://schemas.microsoft.com/office/drawing/2014/main" id="{DFEE8370-BB60-47CF-B9B8-2EEF4B589D91}"/>
                </a:ext>
              </a:extLst>
            </p:cNvPr>
            <p:cNvSpPr/>
            <p:nvPr/>
          </p:nvSpPr>
          <p:spPr>
            <a:xfrm>
              <a:off x="10176831" y="7433514"/>
              <a:ext cx="3244868" cy="363732"/>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lnSpc>
                  <a:spcPct val="104000"/>
                </a:lnSpc>
                <a:buNone/>
              </a:pPr>
              <a:r>
                <a:rPr lang="en-US" sz="2800" b="1" dirty="0" err="1">
                  <a:solidFill>
                    <a:srgbClr val="3C3939"/>
                  </a:solidFill>
                  <a:ea typeface="Calibri" pitchFamily="34" charset="-122"/>
                  <a:cs typeface="Calibri" pitchFamily="34" charset="-120"/>
                </a:rPr>
                <a:t>Konu</a:t>
              </a:r>
              <a:r>
                <a:rPr lang="tr-TR" sz="2800" b="1" dirty="0">
                  <a:solidFill>
                    <a:srgbClr val="3C3939"/>
                  </a:solidFill>
                  <a:ea typeface="Calibri" pitchFamily="34" charset="-122"/>
                  <a:cs typeface="Calibri" pitchFamily="34" charset="-120"/>
                </a:rPr>
                <a:t> </a:t>
              </a:r>
              <a:r>
                <a:rPr lang="en-US" sz="2800" b="1" dirty="0" err="1">
                  <a:solidFill>
                    <a:srgbClr val="3C3939"/>
                  </a:solidFill>
                  <a:ea typeface="Calibri" pitchFamily="34" charset="-122"/>
                  <a:cs typeface="Calibri" pitchFamily="34" charset="-120"/>
                </a:rPr>
                <a:t>Sınıflandırma</a:t>
              </a:r>
              <a:endParaRPr lang="en-US" sz="2800" b="1" dirty="0"/>
            </a:p>
          </p:txBody>
        </p:sp>
        <p:sp>
          <p:nvSpPr>
            <p:cNvPr id="19" name="Text 7">
              <a:extLst>
                <a:ext uri="{FF2B5EF4-FFF2-40B4-BE49-F238E27FC236}">
                  <a16:creationId xmlns:a16="http://schemas.microsoft.com/office/drawing/2014/main" id="{9EA7F582-B85E-4D14-ACB1-0B901FFDCF97}"/>
                </a:ext>
              </a:extLst>
            </p:cNvPr>
            <p:cNvSpPr/>
            <p:nvPr/>
          </p:nvSpPr>
          <p:spPr>
            <a:xfrm>
              <a:off x="10176831" y="7882265"/>
              <a:ext cx="3244868" cy="302419"/>
            </a:xfrm>
            <a:prstGeom prst="rect">
              <a:avLst/>
            </a:prstGeom>
            <a:noFill/>
            <a:ln/>
          </p:spPr>
          <p:txBody>
            <a:bodyPr wrap="none" lIns="0" tIns="0" rIns="0" bIns="0" rtlCol="0" anchor="t"/>
            <a:lstStyle>
              <a:lvl1pPr marL="0" algn="l" defTabSz="914400" rtl="0" eaLnBrk="1" latinLnBrk="0" hangingPunct="1">
                <a:defRPr sz="1800" kern="1200">
                  <a:solidFill>
                    <a:schemeClr val="tx1"/>
                  </a:solidFill>
                  <a:latin typeface="Calibri"/>
                  <a:ea typeface="Calibri"/>
                  <a:cs typeface="Calibri"/>
                </a:defRPr>
              </a:lvl1pPr>
              <a:lvl2pPr marL="457200" algn="l" defTabSz="914400" rtl="0" eaLnBrk="1" latinLnBrk="0" hangingPunct="1">
                <a:defRPr sz="1800" kern="1200">
                  <a:solidFill>
                    <a:schemeClr val="tx1"/>
                  </a:solidFill>
                  <a:latin typeface="Calibri"/>
                  <a:ea typeface="Calibri"/>
                  <a:cs typeface="Calibri"/>
                </a:defRPr>
              </a:lvl2pPr>
              <a:lvl3pPr marL="914400" algn="l" defTabSz="914400" rtl="0" eaLnBrk="1" latinLnBrk="0" hangingPunct="1">
                <a:defRPr sz="1800" kern="1200">
                  <a:solidFill>
                    <a:schemeClr val="tx1"/>
                  </a:solidFill>
                  <a:latin typeface="Calibri"/>
                  <a:ea typeface="Calibri"/>
                  <a:cs typeface="Calibri"/>
                </a:defRPr>
              </a:lvl3pPr>
              <a:lvl4pPr marL="1371600" algn="l" defTabSz="914400" rtl="0" eaLnBrk="1" latinLnBrk="0" hangingPunct="1">
                <a:defRPr sz="1800" kern="1200">
                  <a:solidFill>
                    <a:schemeClr val="tx1"/>
                  </a:solidFill>
                  <a:latin typeface="Calibri"/>
                  <a:ea typeface="Calibri"/>
                  <a:cs typeface="Calibri"/>
                </a:defRPr>
              </a:lvl4pPr>
              <a:lvl5pPr marL="1828800" algn="l" defTabSz="914400" rtl="0" eaLnBrk="1" latinLnBrk="0" hangingPunct="1">
                <a:defRPr sz="1800" kern="1200">
                  <a:solidFill>
                    <a:schemeClr val="tx1"/>
                  </a:solidFill>
                  <a:latin typeface="Calibri"/>
                  <a:ea typeface="Calibri"/>
                  <a:cs typeface="Calibri"/>
                </a:defRPr>
              </a:lvl5pPr>
              <a:lvl6pPr marL="2286000" algn="l" defTabSz="914400" rtl="0" eaLnBrk="1" latinLnBrk="0" hangingPunct="1">
                <a:defRPr sz="1800" kern="1200">
                  <a:solidFill>
                    <a:schemeClr val="tx1"/>
                  </a:solidFill>
                  <a:latin typeface="Calibri"/>
                  <a:ea typeface="Calibri"/>
                  <a:cs typeface="Calibri"/>
                </a:defRPr>
              </a:lvl6pPr>
              <a:lvl7pPr marL="2743200" algn="l" defTabSz="914400" rtl="0" eaLnBrk="1" latinLnBrk="0" hangingPunct="1">
                <a:defRPr sz="1800" kern="1200">
                  <a:solidFill>
                    <a:schemeClr val="tx1"/>
                  </a:solidFill>
                  <a:latin typeface="Calibri"/>
                  <a:ea typeface="Calibri"/>
                  <a:cs typeface="Calibri"/>
                </a:defRPr>
              </a:lvl7pPr>
              <a:lvl8pPr marL="3200400" algn="l" defTabSz="914400" rtl="0" eaLnBrk="1" latinLnBrk="0" hangingPunct="1">
                <a:defRPr sz="1800" kern="1200">
                  <a:solidFill>
                    <a:schemeClr val="tx1"/>
                  </a:solidFill>
                  <a:latin typeface="Calibri"/>
                  <a:ea typeface="Calibri"/>
                  <a:cs typeface="Calibri"/>
                </a:defRPr>
              </a:lvl8pPr>
              <a:lvl9pPr marL="3657600" algn="l" defTabSz="914400" rtl="0" eaLnBrk="1" latinLnBrk="0" hangingPunct="1">
                <a:defRPr sz="1800" kern="1200">
                  <a:solidFill>
                    <a:schemeClr val="tx1"/>
                  </a:solidFill>
                  <a:latin typeface="Calibri"/>
                  <a:ea typeface="Calibri"/>
                  <a:cs typeface="Calibri"/>
                </a:defRPr>
              </a:lvl9pPr>
            </a:lstStyle>
            <a:p>
              <a:pPr marL="0" indent="0" algn="l">
                <a:lnSpc>
                  <a:spcPct val="133000"/>
                </a:lnSpc>
                <a:buNone/>
              </a:pPr>
              <a:r>
                <a:rPr lang="en-US" sz="2800" dirty="0">
                  <a:solidFill>
                    <a:srgbClr val="3C3939"/>
                  </a:solidFill>
                  <a:ea typeface="Calibri" pitchFamily="34" charset="-122"/>
                  <a:cs typeface="Calibri" pitchFamily="34" charset="-120"/>
                </a:rPr>
                <a:t>Spor / Ekonomi / Sağlık / Teknoloji</a:t>
              </a:r>
              <a:endParaRPr lang="en-US" sz="2800" dirty="0"/>
            </a:p>
          </p:txBody>
        </p:sp>
        <p:sp>
          <p:nvSpPr>
            <p:cNvPr id="22" name="Text 9">
              <a:extLst>
                <a:ext uri="{FF2B5EF4-FFF2-40B4-BE49-F238E27FC236}">
                  <a16:creationId xmlns:a16="http://schemas.microsoft.com/office/drawing/2014/main" id="{C3EA7EF4-ABFC-4633-9441-9E9F0E0A397E}"/>
                </a:ext>
              </a:extLst>
            </p:cNvPr>
            <p:cNvSpPr/>
            <p:nvPr/>
          </p:nvSpPr>
          <p:spPr>
            <a:xfrm>
              <a:off x="5943601" y="8379555"/>
              <a:ext cx="6629399" cy="650145"/>
            </a:xfrm>
            <a:prstGeom prst="rect">
              <a:avLst/>
            </a:prstGeom>
            <a:noFill/>
            <a:ln/>
          </p:spPr>
          <p:txBody>
            <a:bodyPr wrap="none" lIns="0" tIns="0" rIns="0" bIns="0" rtlCol="0" anchor="t"/>
            <a:lstStyle/>
            <a:p>
              <a:pPr marL="0" indent="0" algn="l">
                <a:lnSpc>
                  <a:spcPct val="133000"/>
                </a:lnSpc>
                <a:buNone/>
              </a:pPr>
              <a:endParaRPr lang="en-US" sz="1450" dirty="0"/>
            </a:p>
          </p:txBody>
        </p:sp>
      </p:grpSp>
      <p:sp>
        <p:nvSpPr>
          <p:cNvPr id="25" name="Shape 8">
            <a:extLst>
              <a:ext uri="{FF2B5EF4-FFF2-40B4-BE49-F238E27FC236}">
                <a16:creationId xmlns:a16="http://schemas.microsoft.com/office/drawing/2014/main" id="{4180EBF4-AEAE-4AC2-9609-A0F417F287E0}"/>
              </a:ext>
            </a:extLst>
          </p:cNvPr>
          <p:cNvSpPr/>
          <p:nvPr/>
        </p:nvSpPr>
        <p:spPr>
          <a:xfrm>
            <a:off x="11049000" y="2709398"/>
            <a:ext cx="4680001" cy="2392953"/>
          </a:xfrm>
          <a:prstGeom prst="roundRect">
            <a:avLst>
              <a:gd name="adj" fmla="val 10502"/>
            </a:avLst>
          </a:prstGeom>
          <a:solidFill>
            <a:srgbClr val="F5F2E3"/>
          </a:solidFill>
          <a:ln/>
        </p:spPr>
        <p:txBody>
          <a:bodyPr/>
          <a:lstStyle/>
          <a:p>
            <a:pPr marL="0" indent="0" algn="l">
              <a:lnSpc>
                <a:spcPct val="133000"/>
              </a:lnSpc>
              <a:buNone/>
            </a:pPr>
            <a:endParaRPr lang="tr-TR" sz="1800" dirty="0"/>
          </a:p>
        </p:txBody>
      </p:sp>
      <p:pic>
        <p:nvPicPr>
          <p:cNvPr id="29" name="Image 3" descr="preencoded.png">
            <a:extLst>
              <a:ext uri="{FF2B5EF4-FFF2-40B4-BE49-F238E27FC236}">
                <a16:creationId xmlns:a16="http://schemas.microsoft.com/office/drawing/2014/main" id="{DDA516CB-9A02-413A-A07C-B432CC837AB2}"/>
              </a:ext>
            </a:extLst>
          </p:cNvPr>
          <p:cNvPicPr>
            <a:picLocks noChangeAspect="1"/>
          </p:cNvPicPr>
          <p:nvPr/>
        </p:nvPicPr>
        <p:blipFill>
          <a:blip r:embed="rId6"/>
          <a:stretch>
            <a:fillRect/>
          </a:stretch>
        </p:blipFill>
        <p:spPr>
          <a:xfrm>
            <a:off x="11249775" y="3131150"/>
            <a:ext cx="507860" cy="413807"/>
          </a:xfrm>
          <a:prstGeom prst="rect">
            <a:avLst/>
          </a:prstGeom>
        </p:spPr>
      </p:pic>
      <p:sp>
        <p:nvSpPr>
          <p:cNvPr id="6" name="Metin kutusu 5">
            <a:extLst>
              <a:ext uri="{FF2B5EF4-FFF2-40B4-BE49-F238E27FC236}">
                <a16:creationId xmlns:a16="http://schemas.microsoft.com/office/drawing/2014/main" id="{69F5BE57-D77E-4955-A8AE-0F77FF939F52}"/>
              </a:ext>
            </a:extLst>
          </p:cNvPr>
          <p:cNvSpPr txBox="1"/>
          <p:nvPr/>
        </p:nvSpPr>
        <p:spPr>
          <a:xfrm>
            <a:off x="11794924" y="2954843"/>
            <a:ext cx="3451200" cy="1763175"/>
          </a:xfrm>
          <a:prstGeom prst="rect">
            <a:avLst/>
          </a:prstGeom>
          <a:noFill/>
        </p:spPr>
        <p:txBody>
          <a:bodyPr wrap="square" rtlCol="0">
            <a:spAutoFit/>
          </a:bodyPr>
          <a:lstStyle/>
          <a:p>
            <a:pPr marL="0" indent="0" algn="l">
              <a:lnSpc>
                <a:spcPct val="133000"/>
              </a:lnSpc>
              <a:buNone/>
            </a:pPr>
            <a:r>
              <a:rPr lang="tr-TR" sz="2800" b="0" dirty="0">
                <a:solidFill>
                  <a:srgbClr val="000000"/>
                </a:solidFill>
                <a:ea typeface="Calibri"/>
                <a:cs typeface="Calibri"/>
              </a:rPr>
              <a:t>Model için metin,</a:t>
            </a:r>
            <a:endParaRPr lang="tr-TR" sz="2800" dirty="0"/>
          </a:p>
          <a:p>
            <a:pPr marL="0" indent="0" algn="l">
              <a:lnSpc>
                <a:spcPct val="133000"/>
              </a:lnSpc>
              <a:buNone/>
            </a:pPr>
            <a:r>
              <a:rPr lang="tr-TR" sz="2800" b="0" dirty="0">
                <a:solidFill>
                  <a:srgbClr val="000000"/>
                </a:solidFill>
                <a:ea typeface="Calibri"/>
                <a:cs typeface="Calibri"/>
              </a:rPr>
              <a:t>sayısal temsillere</a:t>
            </a:r>
            <a:endParaRPr lang="tr-TR" sz="2800" dirty="0"/>
          </a:p>
          <a:p>
            <a:pPr marL="0" indent="0" algn="l">
              <a:lnSpc>
                <a:spcPct val="133000"/>
              </a:lnSpc>
              <a:buNone/>
            </a:pPr>
            <a:r>
              <a:rPr lang="tr-TR" sz="2800" b="0" dirty="0">
                <a:solidFill>
                  <a:srgbClr val="000000"/>
                </a:solidFill>
                <a:ea typeface="Calibri"/>
                <a:cs typeface="Calibri"/>
              </a:rPr>
              <a:t>dönüştürülür.</a:t>
            </a:r>
            <a:endParaRPr lang="tr-TR" sz="2800" dirty="0"/>
          </a:p>
        </p:txBody>
      </p:sp>
    </p:spTree>
    <p:extLst>
      <p:ext uri="{BB962C8B-B14F-4D97-AF65-F5344CB8AC3E}">
        <p14:creationId xmlns:p14="http://schemas.microsoft.com/office/powerpoint/2010/main" val="3073113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3" name="TextBox 3"/>
          <p:cNvSpPr txBox="1"/>
          <p:nvPr/>
        </p:nvSpPr>
        <p:spPr>
          <a:xfrm>
            <a:off x="465566" y="714375"/>
            <a:ext cx="4490178" cy="682944"/>
          </a:xfrm>
          <a:prstGeom prst="rect">
            <a:avLst/>
          </a:prstGeom>
        </p:spPr>
        <p:txBody>
          <a:bodyPr lIns="0" tIns="0" rIns="0" bIns="0" rtlCol="0" anchor="t">
            <a:spAutoFit/>
          </a:bodyPr>
          <a:lstStyle/>
          <a:p>
            <a:pPr marL="0" marR="0" lvl="0" indent="0" algn="l" defTabSz="914400" rtl="0" eaLnBrk="1" fontAlgn="auto" latinLnBrk="0" hangingPunct="1">
              <a:lnSpc>
                <a:spcPts val="5159"/>
              </a:lnSpc>
              <a:spcBef>
                <a:spcPts val="0"/>
              </a:spcBef>
              <a:spcAft>
                <a:spcPts val="0"/>
              </a:spcAft>
              <a:buClrTx/>
              <a:buSzTx/>
              <a:buFontTx/>
              <a:buNone/>
              <a:tabLst/>
              <a:defRPr/>
            </a:pPr>
            <a:r>
              <a:rPr kumimoji="0" lang="en-US" sz="4400" b="1" i="0" u="none" strike="noStrike" kern="1200" cap="none" spc="0" normalizeH="0" baseline="0" noProof="0" dirty="0" err="1">
                <a:ln>
                  <a:noFill/>
                </a:ln>
                <a:solidFill>
                  <a:srgbClr val="000000"/>
                </a:solidFill>
                <a:effectLst/>
                <a:uLnTx/>
                <a:uFillTx/>
                <a:latin typeface="Calibri"/>
                <a:ea typeface="Calibri"/>
                <a:cs typeface="Calibri"/>
                <a:sym typeface="Calibri"/>
              </a:rPr>
              <a:t>Görsel</a:t>
            </a:r>
            <a:r>
              <a:rPr kumimoji="0" lang="en-US" sz="4400" b="1" i="0" u="none" strike="noStrike" kern="1200" cap="none" spc="0" normalizeH="0" baseline="0" noProof="0" dirty="0">
                <a:ln>
                  <a:noFill/>
                </a:ln>
                <a:solidFill>
                  <a:srgbClr val="000000"/>
                </a:solidFill>
                <a:effectLst/>
                <a:uLnTx/>
                <a:uFillTx/>
                <a:latin typeface="Calibri"/>
                <a:ea typeface="Calibri"/>
                <a:cs typeface="Calibri"/>
                <a:sym typeface="Calibri"/>
              </a:rPr>
              <a:t> </a:t>
            </a:r>
            <a:r>
              <a:rPr kumimoji="0" lang="en-US" sz="4400" b="1" i="0" u="none" strike="noStrike" kern="1200" cap="none" spc="0" normalizeH="0" baseline="0" noProof="0" dirty="0" err="1">
                <a:ln>
                  <a:noFill/>
                </a:ln>
                <a:solidFill>
                  <a:srgbClr val="000000"/>
                </a:solidFill>
                <a:effectLst/>
                <a:uLnTx/>
                <a:uFillTx/>
                <a:latin typeface="Calibri"/>
                <a:ea typeface="Calibri"/>
                <a:cs typeface="Calibri"/>
                <a:sym typeface="Calibri"/>
              </a:rPr>
              <a:t>Veriler</a:t>
            </a:r>
            <a:endParaRPr kumimoji="0" lang="en-US" sz="4400" b="1" i="0" u="none" strike="noStrike" kern="1200" cap="none" spc="0" normalizeH="0" baseline="0" noProof="0" dirty="0">
              <a:ln>
                <a:noFill/>
              </a:ln>
              <a:solidFill>
                <a:srgbClr val="000000"/>
              </a:solidFill>
              <a:effectLst/>
              <a:uLnTx/>
              <a:uFillTx/>
              <a:latin typeface="Calibri"/>
              <a:ea typeface="Calibri"/>
              <a:cs typeface="Calibri"/>
              <a:sym typeface="Calibri"/>
            </a:endParaRPr>
          </a:p>
        </p:txBody>
      </p:sp>
      <p:pic>
        <p:nvPicPr>
          <p:cNvPr id="5" name="Resim 4">
            <a:extLst>
              <a:ext uri="{FF2B5EF4-FFF2-40B4-BE49-F238E27FC236}">
                <a16:creationId xmlns:a16="http://schemas.microsoft.com/office/drawing/2014/main" id="{9130A00E-74CC-4DE3-A5DF-751F04656FB6}"/>
              </a:ext>
            </a:extLst>
          </p:cNvPr>
          <p:cNvPicPr>
            <a:picLocks noChangeAspect="1"/>
          </p:cNvPicPr>
          <p:nvPr/>
        </p:nvPicPr>
        <p:blipFill rotWithShape="1">
          <a:blip r:embed="rId3">
            <a:alphaModFix/>
          </a:blip>
          <a:srcRect l="1271" t="5943" r="7362" b="12721"/>
          <a:stretch/>
        </p:blipFill>
        <p:spPr>
          <a:xfrm>
            <a:off x="538414" y="3306823"/>
            <a:ext cx="9167767" cy="6417437"/>
          </a:xfrm>
          <a:prstGeom prst="rect">
            <a:avLst/>
          </a:prstGeom>
          <a:effectLst>
            <a:softEdge rad="76200"/>
          </a:effectLst>
        </p:spPr>
      </p:pic>
      <p:sp>
        <p:nvSpPr>
          <p:cNvPr id="6" name="Metin kutusu 5">
            <a:extLst>
              <a:ext uri="{FF2B5EF4-FFF2-40B4-BE49-F238E27FC236}">
                <a16:creationId xmlns:a16="http://schemas.microsoft.com/office/drawing/2014/main" id="{5218FE2E-9BFB-4EDB-89E1-3471A3CC215F}"/>
              </a:ext>
            </a:extLst>
          </p:cNvPr>
          <p:cNvSpPr txBox="1"/>
          <p:nvPr/>
        </p:nvSpPr>
        <p:spPr>
          <a:xfrm>
            <a:off x="524157" y="1959964"/>
            <a:ext cx="16940584" cy="954107"/>
          </a:xfrm>
          <a:prstGeom prst="rect">
            <a:avLst/>
          </a:prstGeom>
          <a:noFill/>
        </p:spPr>
        <p:txBody>
          <a:bodyPr wrap="square" rtlCol="0">
            <a:spAutoFit/>
          </a:bodyPr>
          <a:lstStyle/>
          <a:p>
            <a:pPr>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Ev ilanlarındaki fotoğraflar birer görsel veridir. Bilgisayar bu görselleri piksel matrisi olarak işler. Renkli görüntülerde her piksel üç sayıyla (RGB) tutulur.</a:t>
            </a:r>
          </a:p>
        </p:txBody>
      </p:sp>
      <p:sp>
        <p:nvSpPr>
          <p:cNvPr id="48" name="Shape 4">
            <a:extLst>
              <a:ext uri="{FF2B5EF4-FFF2-40B4-BE49-F238E27FC236}">
                <a16:creationId xmlns:a16="http://schemas.microsoft.com/office/drawing/2014/main" id="{CD9722DE-4A82-4280-8944-31D64C24560C}"/>
              </a:ext>
            </a:extLst>
          </p:cNvPr>
          <p:cNvSpPr/>
          <p:nvPr/>
        </p:nvSpPr>
        <p:spPr>
          <a:xfrm>
            <a:off x="11047711" y="3306823"/>
            <a:ext cx="54000" cy="5044200"/>
          </a:xfrm>
          <a:prstGeom prst="roundRect">
            <a:avLst>
              <a:gd name="adj" fmla="val 49999"/>
            </a:avLst>
          </a:prstGeom>
          <a:solidFill>
            <a:srgbClr val="C7C7D0">
              <a:alpha val="45000"/>
            </a:srgbClr>
          </a:solidFill>
          <a:ln/>
        </p:spPr>
      </p:sp>
      <p:sp>
        <p:nvSpPr>
          <p:cNvPr id="49" name="Shape 4">
            <a:extLst>
              <a:ext uri="{FF2B5EF4-FFF2-40B4-BE49-F238E27FC236}">
                <a16:creationId xmlns:a16="http://schemas.microsoft.com/office/drawing/2014/main" id="{5D0410AC-1F00-44A5-B785-D44C2662F6DC}"/>
              </a:ext>
            </a:extLst>
          </p:cNvPr>
          <p:cNvSpPr/>
          <p:nvPr/>
        </p:nvSpPr>
        <p:spPr>
          <a:xfrm rot="5400000">
            <a:off x="11407711" y="3853796"/>
            <a:ext cx="54000" cy="720000"/>
          </a:xfrm>
          <a:prstGeom prst="roundRect">
            <a:avLst>
              <a:gd name="adj" fmla="val 49999"/>
            </a:avLst>
          </a:prstGeom>
          <a:solidFill>
            <a:srgbClr val="C7C7D0">
              <a:alpha val="45000"/>
            </a:srgbClr>
          </a:solidFill>
          <a:ln/>
        </p:spPr>
      </p:sp>
      <p:sp>
        <p:nvSpPr>
          <p:cNvPr id="50" name="Shape 4">
            <a:extLst>
              <a:ext uri="{FF2B5EF4-FFF2-40B4-BE49-F238E27FC236}">
                <a16:creationId xmlns:a16="http://schemas.microsoft.com/office/drawing/2014/main" id="{C5C66BEF-A8A9-4A7A-8071-D9C728D4C03A}"/>
              </a:ext>
            </a:extLst>
          </p:cNvPr>
          <p:cNvSpPr/>
          <p:nvPr/>
        </p:nvSpPr>
        <p:spPr>
          <a:xfrm rot="5400000">
            <a:off x="11417909" y="5506150"/>
            <a:ext cx="54000" cy="720000"/>
          </a:xfrm>
          <a:prstGeom prst="roundRect">
            <a:avLst>
              <a:gd name="adj" fmla="val 49999"/>
            </a:avLst>
          </a:prstGeom>
          <a:solidFill>
            <a:srgbClr val="C7C7D0">
              <a:alpha val="45000"/>
            </a:srgbClr>
          </a:solidFill>
          <a:ln/>
        </p:spPr>
      </p:sp>
      <p:sp>
        <p:nvSpPr>
          <p:cNvPr id="51" name="Shape 4">
            <a:extLst>
              <a:ext uri="{FF2B5EF4-FFF2-40B4-BE49-F238E27FC236}">
                <a16:creationId xmlns:a16="http://schemas.microsoft.com/office/drawing/2014/main" id="{4B0C545E-83B5-4A8D-8145-0BBF050C2947}"/>
              </a:ext>
            </a:extLst>
          </p:cNvPr>
          <p:cNvSpPr/>
          <p:nvPr/>
        </p:nvSpPr>
        <p:spPr>
          <a:xfrm rot="5400000" flipH="1">
            <a:off x="11422050" y="7274586"/>
            <a:ext cx="45719" cy="720000"/>
          </a:xfrm>
          <a:prstGeom prst="roundRect">
            <a:avLst>
              <a:gd name="adj" fmla="val 49999"/>
            </a:avLst>
          </a:prstGeom>
          <a:solidFill>
            <a:srgbClr val="C7C7D0">
              <a:alpha val="45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2" name="Shape 6">
            <a:extLst>
              <a:ext uri="{FF2B5EF4-FFF2-40B4-BE49-F238E27FC236}">
                <a16:creationId xmlns:a16="http://schemas.microsoft.com/office/drawing/2014/main" id="{D7F6E43F-F35B-4E7B-9291-E23425B16648}"/>
              </a:ext>
            </a:extLst>
          </p:cNvPr>
          <p:cNvSpPr/>
          <p:nvPr/>
        </p:nvSpPr>
        <p:spPr>
          <a:xfrm>
            <a:off x="11028661" y="4116506"/>
            <a:ext cx="190500" cy="188306"/>
          </a:xfrm>
          <a:prstGeom prst="ellipse">
            <a:avLst/>
          </a:prstGeom>
          <a:solidFill>
            <a:srgbClr val="1B1B27">
              <a:alpha val="45000"/>
            </a:srgbClr>
          </a:solidFill>
          <a:ln/>
        </p:spPr>
      </p:sp>
      <p:sp>
        <p:nvSpPr>
          <p:cNvPr id="54" name="Shape 6">
            <a:extLst>
              <a:ext uri="{FF2B5EF4-FFF2-40B4-BE49-F238E27FC236}">
                <a16:creationId xmlns:a16="http://schemas.microsoft.com/office/drawing/2014/main" id="{22493D7C-9D79-4324-AA1B-C936CA0E06AD}"/>
              </a:ext>
            </a:extLst>
          </p:cNvPr>
          <p:cNvSpPr/>
          <p:nvPr/>
        </p:nvSpPr>
        <p:spPr>
          <a:xfrm>
            <a:off x="11028661" y="5773862"/>
            <a:ext cx="190500" cy="188306"/>
          </a:xfrm>
          <a:prstGeom prst="ellipse">
            <a:avLst/>
          </a:prstGeom>
          <a:solidFill>
            <a:srgbClr val="1B1B27">
              <a:alpha val="45000"/>
            </a:srgbClr>
          </a:solidFill>
          <a:ln/>
        </p:spPr>
      </p:sp>
      <p:sp>
        <p:nvSpPr>
          <p:cNvPr id="55" name="Shape 6">
            <a:extLst>
              <a:ext uri="{FF2B5EF4-FFF2-40B4-BE49-F238E27FC236}">
                <a16:creationId xmlns:a16="http://schemas.microsoft.com/office/drawing/2014/main" id="{F1D3B75E-48CC-4188-B6AC-0D273C8C45A5}"/>
              </a:ext>
            </a:extLst>
          </p:cNvPr>
          <p:cNvSpPr/>
          <p:nvPr/>
        </p:nvSpPr>
        <p:spPr>
          <a:xfrm>
            <a:off x="11059095" y="7545504"/>
            <a:ext cx="190500" cy="188306"/>
          </a:xfrm>
          <a:prstGeom prst="ellipse">
            <a:avLst/>
          </a:prstGeom>
          <a:solidFill>
            <a:srgbClr val="1B1B27">
              <a:alpha val="45000"/>
            </a:srgbClr>
          </a:solidFill>
          <a:ln/>
        </p:spPr>
      </p:sp>
      <p:sp>
        <p:nvSpPr>
          <p:cNvPr id="56" name="Metin kutusu 55">
            <a:extLst>
              <a:ext uri="{FF2B5EF4-FFF2-40B4-BE49-F238E27FC236}">
                <a16:creationId xmlns:a16="http://schemas.microsoft.com/office/drawing/2014/main" id="{FFE52E65-2393-4BBC-AC57-085F4C9B83C6}"/>
              </a:ext>
            </a:extLst>
          </p:cNvPr>
          <p:cNvSpPr txBox="1"/>
          <p:nvPr/>
        </p:nvSpPr>
        <p:spPr>
          <a:xfrm>
            <a:off x="11971710" y="3467100"/>
            <a:ext cx="5662568"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1" i="0" u="none" strike="noStrike" kern="1200" cap="none" spc="0" normalizeH="0" baseline="0" noProof="0" dirty="0">
                <a:ln>
                  <a:noFill/>
                </a:ln>
                <a:solidFill>
                  <a:prstClr val="black"/>
                </a:solidFill>
                <a:effectLst/>
                <a:uLnTx/>
                <a:uFillTx/>
                <a:latin typeface="Calibri"/>
                <a:ea typeface="+mn-ea"/>
                <a:cs typeface="+mn-cs"/>
              </a:rPr>
              <a:t>Fotoğraf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Ham görsel — ev ilanı fotoğrafı</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1" i="0" u="none" strike="noStrike" kern="1200" cap="none" spc="0" normalizeH="0" baseline="0" noProof="0" dirty="0">
                <a:ln>
                  <a:noFill/>
                </a:ln>
                <a:solidFill>
                  <a:prstClr val="black"/>
                </a:solidFill>
                <a:effectLst/>
                <a:uLnTx/>
                <a:uFillTx/>
                <a:latin typeface="Calibri"/>
                <a:ea typeface="+mn-ea"/>
                <a:cs typeface="+mn-cs"/>
              </a:rPr>
              <a:t>Piksel Matrisi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Her piksel bir sayı değerine dönüşür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(8 bit gri: 0 siyah, 255 beyaz)</a:t>
            </a:r>
          </a:p>
        </p:txBody>
      </p:sp>
      <p:sp>
        <p:nvSpPr>
          <p:cNvPr id="59" name="Metin kutusu 58">
            <a:extLst>
              <a:ext uri="{FF2B5EF4-FFF2-40B4-BE49-F238E27FC236}">
                <a16:creationId xmlns:a16="http://schemas.microsoft.com/office/drawing/2014/main" id="{A5170818-F0E0-474A-9AFA-9A56CE9432C6}"/>
              </a:ext>
            </a:extLst>
          </p:cNvPr>
          <p:cNvSpPr txBox="1"/>
          <p:nvPr/>
        </p:nvSpPr>
        <p:spPr>
          <a:xfrm>
            <a:off x="11991750" y="7256756"/>
            <a:ext cx="541440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1" i="0" u="none" strike="noStrike" kern="1200" cap="none" spc="0" normalizeH="0" baseline="0" noProof="0" dirty="0">
                <a:ln>
                  <a:noFill/>
                </a:ln>
                <a:solidFill>
                  <a:prstClr val="black"/>
                </a:solidFill>
                <a:effectLst/>
                <a:uLnTx/>
                <a:uFillTx/>
                <a:latin typeface="Calibri"/>
                <a:ea typeface="+mn-ea"/>
                <a:cs typeface="+mn-cs"/>
              </a:rPr>
              <a:t>Model Girişi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Sayısal matris modele beslenir</a:t>
            </a:r>
          </a:p>
        </p:txBody>
      </p:sp>
      <p:sp>
        <p:nvSpPr>
          <p:cNvPr id="7" name="Metin kutusu 6">
            <a:extLst>
              <a:ext uri="{FF2B5EF4-FFF2-40B4-BE49-F238E27FC236}">
                <a16:creationId xmlns:a16="http://schemas.microsoft.com/office/drawing/2014/main" id="{7B13783E-AACC-4C0A-9A2B-EB1E9741B0B8}"/>
              </a:ext>
            </a:extLst>
          </p:cNvPr>
          <p:cNvSpPr txBox="1"/>
          <p:nvPr/>
        </p:nvSpPr>
        <p:spPr>
          <a:xfrm>
            <a:off x="5791200" y="3543300"/>
            <a:ext cx="324000" cy="184666"/>
          </a:xfrm>
          <a:prstGeom prst="rect">
            <a:avLst/>
          </a:prstGeom>
          <a:solidFill>
            <a:srgbClr val="9F9F9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600" b="1"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mn-cs"/>
              </a:rPr>
              <a:t>218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2" name="Shape 5">
            <a:extLst>
              <a:ext uri="{FF2B5EF4-FFF2-40B4-BE49-F238E27FC236}">
                <a16:creationId xmlns:a16="http://schemas.microsoft.com/office/drawing/2014/main" id="{D65E6EEB-07F3-421D-A372-1D39E98310BC}"/>
              </a:ext>
            </a:extLst>
          </p:cNvPr>
          <p:cNvSpPr/>
          <p:nvPr/>
        </p:nvSpPr>
        <p:spPr>
          <a:xfrm>
            <a:off x="12877800" y="5570661"/>
            <a:ext cx="5186226" cy="3086052"/>
          </a:xfrm>
          <a:prstGeom prst="roundRect">
            <a:avLst>
              <a:gd name="adj" fmla="val 4812"/>
            </a:avLst>
          </a:prstGeom>
          <a:solidFill>
            <a:srgbClr val="E1E1EA">
              <a:alpha val="45000"/>
            </a:srgbClr>
          </a:solidFill>
          <a:ln w="6350">
            <a:solidFill>
              <a:srgbClr val="C7C7D0"/>
            </a:solidFill>
            <a:prstDash val="solid"/>
          </a:ln>
        </p:spPr>
      </p:sp>
      <p:sp>
        <p:nvSpPr>
          <p:cNvPr id="11" name="Shape 5">
            <a:extLst>
              <a:ext uri="{FF2B5EF4-FFF2-40B4-BE49-F238E27FC236}">
                <a16:creationId xmlns:a16="http://schemas.microsoft.com/office/drawing/2014/main" id="{42EA1ED3-BEB3-4FD5-9C0A-04504FD9BE6C}"/>
              </a:ext>
            </a:extLst>
          </p:cNvPr>
          <p:cNvSpPr/>
          <p:nvPr/>
        </p:nvSpPr>
        <p:spPr>
          <a:xfrm>
            <a:off x="12877800" y="1943100"/>
            <a:ext cx="5033826" cy="2965077"/>
          </a:xfrm>
          <a:prstGeom prst="roundRect">
            <a:avLst>
              <a:gd name="adj" fmla="val 4812"/>
            </a:avLst>
          </a:prstGeom>
          <a:solidFill>
            <a:srgbClr val="E1E1EA">
              <a:alpha val="45000"/>
            </a:srgbClr>
          </a:solidFill>
          <a:ln w="6350">
            <a:solidFill>
              <a:srgbClr val="C7C7D0"/>
            </a:solidFill>
            <a:prstDash val="solid"/>
          </a:ln>
        </p:spPr>
      </p:sp>
      <p:sp>
        <p:nvSpPr>
          <p:cNvPr id="4" name="TextBox 4">
            <a:extLst>
              <a:ext uri="{FF2B5EF4-FFF2-40B4-BE49-F238E27FC236}">
                <a16:creationId xmlns:a16="http://schemas.microsoft.com/office/drawing/2014/main" id="{CC57E805-6413-429E-A93B-39A356481D1F}"/>
              </a:ext>
            </a:extLst>
          </p:cNvPr>
          <p:cNvSpPr txBox="1"/>
          <p:nvPr/>
        </p:nvSpPr>
        <p:spPr>
          <a:xfrm>
            <a:off x="762000" y="457200"/>
            <a:ext cx="16764000" cy="990600"/>
          </a:xfrm>
          <a:prstGeom prst="rect">
            <a:avLst/>
          </a:prstGeom>
        </p:spPr>
        <p:txBody>
          <a:bodyPr wrap="square" lIns="0" tIns="0" rIns="0" bIns="0" rtlCol="0" anchor="ctr">
            <a:noAutofit/>
          </a:bodyPr>
          <a:lstStyle/>
          <a:p>
            <a:pPr marL="0" indent="0" algn="l">
              <a:lnSpc>
                <a:spcPts val="4644"/>
              </a:lnSpc>
            </a:pPr>
            <a:r>
              <a:rPr lang="tr-TR" sz="4400" b="1" dirty="0" err="1">
                <a:solidFill>
                  <a:srgbClr val="1E2A4E"/>
                </a:solidFill>
                <a:latin typeface="Calibri"/>
                <a:ea typeface="Calibri"/>
                <a:cs typeface="Calibri"/>
                <a:sym typeface="Calibri"/>
              </a:rPr>
              <a:t>Ses verisi</a:t>
            </a:r>
            <a:endParaRPr lang="tr-TR" sz="4400"/>
          </a:p>
        </p:txBody>
      </p:sp>
      <p:pic>
        <p:nvPicPr>
          <p:cNvPr id="5" name="Image 0" descr="preencoded.png">
            <a:extLst>
              <a:ext uri="{FF2B5EF4-FFF2-40B4-BE49-F238E27FC236}">
                <a16:creationId xmlns:a16="http://schemas.microsoft.com/office/drawing/2014/main" id="{00E6BB3F-5D25-436E-982C-09E2AAB317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12437" y="2002711"/>
            <a:ext cx="637162" cy="637178"/>
          </a:xfrm>
          <a:prstGeom prst="rect">
            <a:avLst/>
          </a:prstGeom>
        </p:spPr>
      </p:pic>
      <p:sp>
        <p:nvSpPr>
          <p:cNvPr id="6" name="Text 3">
            <a:extLst>
              <a:ext uri="{FF2B5EF4-FFF2-40B4-BE49-F238E27FC236}">
                <a16:creationId xmlns:a16="http://schemas.microsoft.com/office/drawing/2014/main" id="{A98E86B8-2624-4F9D-ACCD-FCAB6705DC89}"/>
              </a:ext>
            </a:extLst>
          </p:cNvPr>
          <p:cNvSpPr/>
          <p:nvPr/>
        </p:nvSpPr>
        <p:spPr>
          <a:xfrm>
            <a:off x="13926671" y="2166506"/>
            <a:ext cx="3581400" cy="533400"/>
          </a:xfrm>
          <a:prstGeom prst="rect">
            <a:avLst/>
          </a:prstGeom>
          <a:noFill/>
          <a:ln/>
        </p:spPr>
        <p:txBody>
          <a:bodyPr wrap="none" lIns="0" tIns="0" rIns="0" bIns="0" rtlCol="0" anchor="t"/>
          <a:lstStyle/>
          <a:p>
            <a:pPr marL="0" marR="0" lvl="0" indent="0" defTabSz="914400" eaLnBrk="1" fontAlgn="auto" latinLnBrk="0" hangingPunct="1">
              <a:lnSpc>
                <a:spcPct val="104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3C3939"/>
                </a:solidFill>
                <a:effectLst/>
                <a:uLnTx/>
                <a:uFillTx/>
                <a:ea typeface="Calibri" pitchFamily="34" charset="-122"/>
                <a:cs typeface="Calibri" pitchFamily="34" charset="-120"/>
              </a:rPr>
              <a:t>Ses Kayıtları</a:t>
            </a:r>
            <a:endParaRPr kumimoji="0" lang="en-US" sz="2800" b="1" i="0" u="none" strike="noStrike" kern="0" cap="none" spc="0" normalizeH="0" baseline="0" noProof="0" dirty="0">
              <a:ln>
                <a:noFill/>
              </a:ln>
              <a:solidFill>
                <a:prstClr val="black"/>
              </a:solidFill>
              <a:effectLst/>
              <a:uLnTx/>
              <a:uFillTx/>
            </a:endParaRPr>
          </a:p>
        </p:txBody>
      </p:sp>
      <p:sp>
        <p:nvSpPr>
          <p:cNvPr id="7" name="Text 4">
            <a:extLst>
              <a:ext uri="{FF2B5EF4-FFF2-40B4-BE49-F238E27FC236}">
                <a16:creationId xmlns:a16="http://schemas.microsoft.com/office/drawing/2014/main" id="{18872004-BF41-46CC-B129-A9CF685672B1}"/>
              </a:ext>
            </a:extLst>
          </p:cNvPr>
          <p:cNvSpPr/>
          <p:nvPr/>
        </p:nvSpPr>
        <p:spPr>
          <a:xfrm>
            <a:off x="13031021" y="2847817"/>
            <a:ext cx="4862019" cy="1960621"/>
          </a:xfrm>
          <a:prstGeom prst="rect">
            <a:avLst/>
          </a:prstGeom>
          <a:noFill/>
          <a:ln/>
        </p:spPr>
        <p:txBody>
          <a:bodyPr wrap="square" lIns="0" tIns="0" rIns="0" bIns="0" rtlCol="0" anchor="t">
            <a:noAutofit/>
          </a:bodyPr>
          <a:lstStyle/>
          <a:p>
            <a:pPr marL="0" marR="0" lvl="0" indent="0" defTabSz="914400" eaLnBrk="1" fontAlgn="auto" latinLnBrk="0" hangingPunct="1">
              <a:lnSpc>
                <a:spcPct val="133000"/>
              </a:lnSpc>
              <a:spcBef>
                <a:spcPts val="0"/>
              </a:spcBef>
              <a:spcAft>
                <a:spcPts val="0"/>
              </a:spcAft>
              <a:buClrTx/>
              <a:buSzTx/>
              <a:buFontTx/>
              <a:buNone/>
              <a:tabLst/>
              <a:defRPr/>
            </a:pPr>
            <a:r>
              <a:rPr kumimoji="0" lang="tr-TR" sz="2800" b="0" i="0" u="none" strike="noStrike" kern="0" cap="none" spc="0" normalizeH="0" baseline="0" noProof="0" dirty="0">
                <a:ln>
                  <a:noFill/>
                </a:ln>
                <a:solidFill>
                  <a:srgbClr val="3C3939"/>
                </a:solidFill>
                <a:effectLst/>
                <a:uLnTx/>
                <a:uFillTx/>
                <a:ea typeface="Calibri"/>
                <a:cs typeface="Calibri"/>
              </a:rPr>
              <a:t>Konuşma, müzik ve ortam sesleri</a:t>
            </a:r>
            <a:endParaRPr lang="tr-TR" sz="2800" dirty="0"/>
          </a:p>
          <a:p>
            <a:pPr marL="0" marR="0" lvl="0" indent="0" defTabSz="914400" eaLnBrk="1" fontAlgn="auto" latinLnBrk="0" hangingPunct="1">
              <a:lnSpc>
                <a:spcPct val="133000"/>
              </a:lnSpc>
              <a:spcBef>
                <a:spcPts val="0"/>
              </a:spcBef>
              <a:spcAft>
                <a:spcPts val="0"/>
              </a:spcAft>
              <a:buClrTx/>
              <a:buSzTx/>
              <a:buFontTx/>
              <a:buNone/>
              <a:tabLst/>
              <a:defRPr/>
            </a:pPr>
            <a:r>
              <a:rPr kumimoji="0" lang="tr-TR" sz="2800" b="0" i="0" u="none" strike="noStrike" kern="0" cap="none" spc="0" normalizeH="0" baseline="0" noProof="0" dirty="0">
                <a:ln>
                  <a:noFill/>
                </a:ln>
                <a:solidFill>
                  <a:srgbClr val="3C3939"/>
                </a:solidFill>
                <a:effectLst/>
                <a:uLnTx/>
                <a:uFillTx/>
                <a:ea typeface="Calibri"/>
                <a:cs typeface="Calibri"/>
              </a:rPr>
              <a:t>sayısal örneklerle kaydedilir.</a:t>
            </a:r>
            <a:endParaRPr lang="tr-TR" sz="2800" dirty="0"/>
          </a:p>
        </p:txBody>
      </p:sp>
      <p:pic>
        <p:nvPicPr>
          <p:cNvPr id="8" name="Image 1" descr="preencoded.png">
            <a:extLst>
              <a:ext uri="{FF2B5EF4-FFF2-40B4-BE49-F238E27FC236}">
                <a16:creationId xmlns:a16="http://schemas.microsoft.com/office/drawing/2014/main" id="{A4ED7AB4-8B50-47CE-9BCB-DC1E1FD91B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049608" y="5703965"/>
            <a:ext cx="599992" cy="600008"/>
          </a:xfrm>
          <a:prstGeom prst="rect">
            <a:avLst/>
          </a:prstGeom>
        </p:spPr>
      </p:pic>
      <p:sp>
        <p:nvSpPr>
          <p:cNvPr id="9" name="Text 5">
            <a:extLst>
              <a:ext uri="{FF2B5EF4-FFF2-40B4-BE49-F238E27FC236}">
                <a16:creationId xmlns:a16="http://schemas.microsoft.com/office/drawing/2014/main" id="{D07EFFAA-3D57-4719-BC5E-BACE9127BC42}"/>
              </a:ext>
            </a:extLst>
          </p:cNvPr>
          <p:cNvSpPr/>
          <p:nvPr/>
        </p:nvSpPr>
        <p:spPr>
          <a:xfrm>
            <a:off x="13807961" y="5800261"/>
            <a:ext cx="4256065" cy="600009"/>
          </a:xfrm>
          <a:prstGeom prst="rect">
            <a:avLst/>
          </a:prstGeom>
          <a:noFill/>
          <a:ln/>
        </p:spPr>
        <p:txBody>
          <a:bodyPr wrap="square" lIns="0" tIns="0" rIns="0" bIns="0" rtlCol="0" anchor="t">
            <a:noAutofit/>
          </a:bodyPr>
          <a:lstStyle/>
          <a:p>
            <a:pPr marL="0" marR="0" lvl="0" indent="0" defTabSz="914400" eaLnBrk="1" fontAlgn="auto" latinLnBrk="0" hangingPunct="1">
              <a:lnSpc>
                <a:spcPct val="104000"/>
              </a:lnSpc>
              <a:spcBef>
                <a:spcPts val="0"/>
              </a:spcBef>
              <a:spcAft>
                <a:spcPts val="0"/>
              </a:spcAft>
              <a:buClrTx/>
              <a:buSzTx/>
              <a:buFontTx/>
              <a:buNone/>
              <a:tabLst/>
              <a:defRPr/>
            </a:pPr>
            <a:r>
              <a:rPr kumimoji="0" lang="tr-TR" sz="2800" b="1" i="0" u="none" strike="noStrike" kern="0" cap="none" spc="0" normalizeH="0" baseline="0" noProof="0" dirty="0">
                <a:ln>
                  <a:noFill/>
                </a:ln>
                <a:solidFill>
                  <a:srgbClr val="3C3939"/>
                </a:solidFill>
                <a:effectLst/>
                <a:uLnTx/>
                <a:uFillTx/>
                <a:latin typeface="Calibri"/>
                <a:ea typeface="Calibri"/>
                <a:cs typeface="Calibri"/>
              </a:rPr>
              <a:t>Dalga biçimi / Spektrogram</a:t>
            </a:r>
            <a:endParaRPr lang="tr-TR" sz="2800" dirty="0"/>
          </a:p>
        </p:txBody>
      </p:sp>
      <p:sp>
        <p:nvSpPr>
          <p:cNvPr id="10" name="Text 6">
            <a:extLst>
              <a:ext uri="{FF2B5EF4-FFF2-40B4-BE49-F238E27FC236}">
                <a16:creationId xmlns:a16="http://schemas.microsoft.com/office/drawing/2014/main" id="{9E88A350-142D-4598-AEC2-0AD0FED36C95}"/>
              </a:ext>
            </a:extLst>
          </p:cNvPr>
          <p:cNvSpPr/>
          <p:nvPr/>
        </p:nvSpPr>
        <p:spPr>
          <a:xfrm>
            <a:off x="13012437" y="6535602"/>
            <a:ext cx="4899189" cy="1893963"/>
          </a:xfrm>
          <a:prstGeom prst="rect">
            <a:avLst/>
          </a:prstGeom>
          <a:noFill/>
          <a:ln/>
        </p:spPr>
        <p:txBody>
          <a:bodyPr wrap="square" lIns="0" tIns="0" rIns="0" bIns="0" rtlCol="0" anchor="t">
            <a:noAutofit/>
          </a:bodyPr>
          <a:lstStyle/>
          <a:p>
            <a:pPr marL="0" marR="0" lvl="0" indent="0" defTabSz="914400" eaLnBrk="1" fontAlgn="auto" latinLnBrk="0" hangingPunct="1">
              <a:lnSpc>
                <a:spcPct val="133000"/>
              </a:lnSpc>
              <a:spcBef>
                <a:spcPts val="0"/>
              </a:spcBef>
              <a:spcAft>
                <a:spcPts val="0"/>
              </a:spcAft>
              <a:buClrTx/>
              <a:buSzTx/>
              <a:buFontTx/>
              <a:buNone/>
              <a:tabLst/>
              <a:defRPr/>
            </a:pPr>
            <a:r>
              <a:rPr kumimoji="0" lang="tr-TR" sz="2800" b="1" i="0" u="none" strike="noStrike" kern="0" cap="none" spc="0" normalizeH="0" baseline="0" noProof="0" dirty="0">
                <a:ln>
                  <a:noFill/>
                </a:ln>
                <a:solidFill>
                  <a:srgbClr val="3C3939"/>
                </a:solidFill>
                <a:effectLst/>
                <a:uLnTx/>
                <a:uFillTx/>
                <a:ea typeface="Calibri"/>
                <a:cs typeface="Calibri"/>
              </a:rPr>
              <a:t>Dalga</a:t>
            </a:r>
            <a:r>
              <a:rPr kumimoji="0" lang="tr-TR" sz="2800" b="0" i="0" u="none" strike="noStrike" kern="0" cap="none" spc="0" normalizeH="0" baseline="0" noProof="0" dirty="0">
                <a:ln>
                  <a:noFill/>
                </a:ln>
                <a:solidFill>
                  <a:srgbClr val="3C3939"/>
                </a:solidFill>
                <a:effectLst/>
                <a:uLnTx/>
                <a:uFillTx/>
                <a:ea typeface="Calibri"/>
                <a:cs typeface="Calibri"/>
              </a:rPr>
              <a:t> </a:t>
            </a:r>
            <a:r>
              <a:rPr kumimoji="0" lang="tr-TR" sz="2800" b="1" i="0" u="none" strike="noStrike" kern="0" cap="none" spc="0" normalizeH="0" baseline="0" noProof="0" dirty="0">
                <a:ln>
                  <a:noFill/>
                </a:ln>
                <a:solidFill>
                  <a:srgbClr val="3C3939"/>
                </a:solidFill>
                <a:effectLst/>
                <a:uLnTx/>
                <a:uFillTx/>
                <a:ea typeface="Calibri"/>
                <a:cs typeface="Calibri"/>
              </a:rPr>
              <a:t>biçimi</a:t>
            </a:r>
            <a:r>
              <a:rPr lang="en-US" sz="2800" b="1" dirty="0">
                <a:solidFill>
                  <a:srgbClr val="3C3939"/>
                </a:solidFill>
                <a:ea typeface="Roboto" pitchFamily="34" charset="-122"/>
                <a:cs typeface="Roboto" pitchFamily="34" charset="-120"/>
              </a:rPr>
              <a:t> →</a:t>
            </a:r>
            <a:r>
              <a:rPr kumimoji="0" lang="tr-TR" sz="2800" b="0" i="0" u="none" strike="noStrike" kern="0" cap="none" spc="0" normalizeH="0" baseline="0" noProof="0" dirty="0">
                <a:ln>
                  <a:noFill/>
                </a:ln>
                <a:solidFill>
                  <a:srgbClr val="3C3939"/>
                </a:solidFill>
                <a:effectLst/>
                <a:uLnTx/>
                <a:uFillTx/>
                <a:ea typeface="Calibri"/>
                <a:cs typeface="Calibri"/>
              </a:rPr>
              <a:t> Genlik ve zaman</a:t>
            </a:r>
            <a:endParaRPr lang="tr-TR" sz="2800" dirty="0"/>
          </a:p>
          <a:p>
            <a:pPr marL="0" marR="0" lvl="0" indent="0" defTabSz="914400" eaLnBrk="1" fontAlgn="auto" latinLnBrk="0" hangingPunct="1">
              <a:lnSpc>
                <a:spcPct val="133000"/>
              </a:lnSpc>
              <a:spcBef>
                <a:spcPts val="0"/>
              </a:spcBef>
              <a:spcAft>
                <a:spcPts val="0"/>
              </a:spcAft>
              <a:buClrTx/>
              <a:buSzTx/>
              <a:buFontTx/>
              <a:buNone/>
              <a:tabLst/>
              <a:defRPr/>
            </a:pPr>
            <a:r>
              <a:rPr kumimoji="0" lang="tr-TR" sz="2800" b="1" i="0" u="none" strike="noStrike" kern="0" cap="none" spc="0" normalizeH="0" baseline="0" noProof="0" dirty="0" err="1">
                <a:ln>
                  <a:noFill/>
                </a:ln>
                <a:solidFill>
                  <a:srgbClr val="3C3939"/>
                </a:solidFill>
                <a:effectLst/>
                <a:uLnTx/>
                <a:uFillTx/>
                <a:ea typeface="Calibri"/>
                <a:cs typeface="Calibri"/>
              </a:rPr>
              <a:t>Spektrogram</a:t>
            </a:r>
            <a:r>
              <a:rPr lang="en-US" sz="2800" b="1" dirty="0">
                <a:solidFill>
                  <a:srgbClr val="3C3939"/>
                </a:solidFill>
                <a:ea typeface="Roboto" pitchFamily="34" charset="-122"/>
                <a:cs typeface="Roboto" pitchFamily="34" charset="-120"/>
              </a:rPr>
              <a:t> →</a:t>
            </a:r>
            <a:r>
              <a:rPr kumimoji="0" lang="tr-TR" sz="2800" b="0" i="0" u="none" strike="noStrike" kern="0" cap="none" spc="0" normalizeH="0" baseline="0" noProof="0" dirty="0">
                <a:ln>
                  <a:noFill/>
                </a:ln>
                <a:solidFill>
                  <a:srgbClr val="3C3939"/>
                </a:solidFill>
                <a:effectLst/>
                <a:uLnTx/>
                <a:uFillTx/>
                <a:ea typeface="Calibri"/>
                <a:cs typeface="Calibri"/>
              </a:rPr>
              <a:t> Zaman, frekans ve güç</a:t>
            </a:r>
            <a:endParaRPr lang="tr-TR" sz="2800" dirty="0"/>
          </a:p>
        </p:txBody>
      </p:sp>
      <p:pic>
        <p:nvPicPr>
          <p:cNvPr id="13" name="Resim 12">
            <a:extLst>
              <a:ext uri="{FF2B5EF4-FFF2-40B4-BE49-F238E27FC236}">
                <a16:creationId xmlns:a16="http://schemas.microsoft.com/office/drawing/2014/main" id="{A2F26C38-5FB9-43E3-9E4F-1FA6AEDCDBB2}"/>
              </a:ext>
            </a:extLst>
          </p:cNvPr>
          <p:cNvPicPr>
            <a:picLocks noChangeAspect="1"/>
          </p:cNvPicPr>
          <p:nvPr/>
        </p:nvPicPr>
        <p:blipFill rotWithShape="1">
          <a:blip r:embed="rId7">
            <a:extLst>
              <a:ext uri="{28A0092B-C50C-407E-A947-70E740481C1C}">
                <a14:useLocalDpi xmlns:a14="http://schemas.microsoft.com/office/drawing/2010/main" val="0"/>
              </a:ext>
            </a:extLst>
          </a:blip>
          <a:srcRect l="1196" t="14292" r="28830" b="9193"/>
          <a:stretch/>
        </p:blipFill>
        <p:spPr>
          <a:xfrm>
            <a:off x="440473" y="1714499"/>
            <a:ext cx="11940353" cy="7348165"/>
          </a:xfrm>
          <a:prstGeom prst="rect">
            <a:avLst/>
          </a:prstGeom>
        </p:spPr>
      </p:pic>
      <p:sp>
        <p:nvSpPr>
          <p:cNvPr id="100" name="Spektrogram (Zaman–Frekans)"/>
          <p:cNvSpPr txBox="1"/>
          <p:nvPr/>
        </p:nvSpPr>
        <p:spPr>
          <a:xfrm>
            <a:off x="8201025" y="1895475"/>
            <a:ext cx="3228975" cy="314325"/>
          </a:xfrm>
          <a:prstGeom prst="rect">
            <a:avLst/>
          </a:prstGeom>
          <a:solidFill>
            <a:srgbClr val="704DA5"/>
          </a:solidFill>
          <a:ln>
            <a:noFill/>
          </a:ln>
        </p:spPr>
        <p:txBody>
          <a:bodyPr wrap="square" lIns="0" tIns="0" rIns="0" bIns="0">
            <a:noAutofit/>
          </a:bodyPr>
          <a:lstStyle/>
          <a:p>
            <a:pPr marL="0" indent="0" algn="ctr"/>
            <a:r>
              <a:rPr lang="tr-TR" sz="1550" b="1" dirty="0" err="1">
                <a:solidFill>
                  <a:srgbClr val="FFFFFF"/>
                </a:solidFill>
                <a:latin typeface="Calibri"/>
                <a:ea typeface="Calibri"/>
                <a:cs typeface="Calibri"/>
              </a:rPr>
              <a:t>Spektrogram</a:t>
            </a:r>
            <a:r>
              <a:rPr lang="tr-TR" sz="1550" b="1" dirty="0">
                <a:solidFill>
                  <a:srgbClr val="FFFFFF"/>
                </a:solidFill>
                <a:latin typeface="Calibri"/>
                <a:ea typeface="Calibri"/>
                <a:cs typeface="Calibri"/>
              </a:rPr>
              <a:t> (Zaman–Frekans)</a:t>
            </a:r>
            <a:endParaRPr lang="tr-TR" sz="1550" dirty="0"/>
          </a:p>
        </p:txBody>
      </p:sp>
    </p:spTree>
    <p:extLst>
      <p:ext uri="{BB962C8B-B14F-4D97-AF65-F5344CB8AC3E}">
        <p14:creationId xmlns:p14="http://schemas.microsoft.com/office/powerpoint/2010/main" val="977362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09324C13-6070-4830-8DA2-95BB6A2BF86C}"/>
              </a:ext>
            </a:extLst>
          </p:cNvPr>
          <p:cNvSpPr/>
          <p:nvPr/>
        </p:nvSpPr>
        <p:spPr>
          <a:xfrm>
            <a:off x="762000" y="457200"/>
            <a:ext cx="16764000" cy="990600"/>
          </a:xfrm>
          <a:prstGeom prst="rect">
            <a:avLst/>
          </a:prstGeom>
          <a:noFill/>
          <a:ln/>
        </p:spPr>
        <p:txBody>
          <a:bodyPr wrap="square" lIns="0" tIns="0" rIns="0" bIns="0" rtlCol="0" anchor="t">
            <a:noAutofit/>
          </a:bodyPr>
          <a:lstStyle/>
          <a:p>
            <a:pPr marL="0" marR="0" lvl="0" indent="0" defTabSz="914400" eaLnBrk="1" fontAlgn="auto" latinLnBrk="0" hangingPunct="1">
              <a:lnSpc>
                <a:spcPct val="104000"/>
              </a:lnSpc>
              <a:spcBef>
                <a:spcPts val="0"/>
              </a:spcBef>
              <a:spcAft>
                <a:spcPts val="0"/>
              </a:spcAft>
              <a:buClrTx/>
              <a:buSzTx/>
              <a:buFontTx/>
              <a:buNone/>
              <a:tabLst/>
              <a:defRPr/>
            </a:pPr>
            <a:r>
              <a:rPr kumimoji="0" lang="en-US" sz="4400" b="1" i="0" u="none" strike="noStrike" kern="0" cap="none" spc="0" normalizeH="0" baseline="0" noProof="0" dirty="0">
                <a:ln>
                  <a:noFill/>
                </a:ln>
                <a:solidFill>
                  <a:srgbClr val="1B1B27"/>
                </a:solidFill>
                <a:effectLst/>
                <a:uLnTx/>
                <a:uFillTx/>
                <a:latin typeface="+mj-lt"/>
                <a:ea typeface="Raleway" pitchFamily="34" charset="-122"/>
                <a:cs typeface="Raleway" pitchFamily="34" charset="-120"/>
              </a:rPr>
              <a:t>Bir Veri </a:t>
            </a:r>
            <a:r>
              <a:rPr kumimoji="0" lang="en-US" sz="4400" b="1" i="0" u="none" strike="noStrike" kern="0" cap="none" spc="0" normalizeH="0" baseline="0" noProof="0" dirty="0" err="1">
                <a:ln>
                  <a:noFill/>
                </a:ln>
                <a:solidFill>
                  <a:srgbClr val="1B1B27"/>
                </a:solidFill>
                <a:effectLst/>
                <a:uLnTx/>
                <a:uFillTx/>
                <a:latin typeface="+mj-lt"/>
                <a:ea typeface="Raleway" pitchFamily="34" charset="-122"/>
                <a:cs typeface="Raleway" pitchFamily="34" charset="-120"/>
              </a:rPr>
              <a:t>Setini</a:t>
            </a:r>
            <a:r>
              <a:rPr kumimoji="0" lang="en-US" sz="4400" b="1" i="0" u="none" strike="noStrike" kern="0" cap="none" spc="0" normalizeH="0" baseline="0" noProof="0" dirty="0">
                <a:ln>
                  <a:noFill/>
                </a:ln>
                <a:solidFill>
                  <a:srgbClr val="1B1B27"/>
                </a:solidFill>
                <a:effectLst/>
                <a:uLnTx/>
                <a:uFillTx/>
                <a:latin typeface="+mj-lt"/>
                <a:ea typeface="Raleway" pitchFamily="34" charset="-122"/>
                <a:cs typeface="Raleway" pitchFamily="34" charset="-120"/>
              </a:rPr>
              <a:t> </a:t>
            </a:r>
            <a:r>
              <a:rPr kumimoji="0" lang="en-US" sz="4400" b="1" i="0" u="none" strike="noStrike" kern="0" cap="none" spc="0" normalizeH="0" baseline="0" noProof="0" dirty="0" err="1">
                <a:ln>
                  <a:noFill/>
                </a:ln>
                <a:solidFill>
                  <a:srgbClr val="1B1B27"/>
                </a:solidFill>
                <a:effectLst/>
                <a:uLnTx/>
                <a:uFillTx/>
                <a:latin typeface="+mj-lt"/>
                <a:ea typeface="Raleway" pitchFamily="34" charset="-122"/>
                <a:cs typeface="Raleway" pitchFamily="34" charset="-120"/>
              </a:rPr>
              <a:t>Tanıma</a:t>
            </a:r>
            <a:r>
              <a:rPr kumimoji="0" lang="en-US" sz="4400" b="1" i="0" u="none" strike="noStrike" kern="0" cap="none" spc="0" normalizeH="0" baseline="0" noProof="0" dirty="0">
                <a:ln>
                  <a:noFill/>
                </a:ln>
                <a:solidFill>
                  <a:srgbClr val="1B1B27"/>
                </a:solidFill>
                <a:effectLst/>
                <a:uLnTx/>
                <a:uFillTx/>
                <a:latin typeface="+mj-lt"/>
                <a:ea typeface="Raleway" pitchFamily="34" charset="-122"/>
                <a:cs typeface="Raleway" pitchFamily="34" charset="-120"/>
              </a:rPr>
              <a:t>: İlk </a:t>
            </a:r>
            <a:r>
              <a:rPr kumimoji="0" lang="en-US" sz="4400" b="1" i="0" u="none" strike="noStrike" kern="0" cap="none" spc="0" normalizeH="0" baseline="0" noProof="0" dirty="0" err="1">
                <a:ln>
                  <a:noFill/>
                </a:ln>
                <a:solidFill>
                  <a:srgbClr val="1B1B27"/>
                </a:solidFill>
                <a:effectLst/>
                <a:uLnTx/>
                <a:uFillTx/>
                <a:latin typeface="+mj-lt"/>
                <a:ea typeface="Raleway" pitchFamily="34" charset="-122"/>
                <a:cs typeface="Raleway" pitchFamily="34" charset="-120"/>
              </a:rPr>
              <a:t>Sorular</a:t>
            </a:r>
            <a:endParaRPr kumimoji="0" lang="en-US" sz="4400" b="1" i="0" u="none" strike="noStrike" kern="0" cap="none" spc="0" normalizeH="0" baseline="0" noProof="0" dirty="0">
              <a:ln>
                <a:noFill/>
              </a:ln>
              <a:solidFill>
                <a:prstClr val="black"/>
              </a:solidFill>
              <a:effectLst/>
              <a:uLnTx/>
              <a:uFillTx/>
              <a:latin typeface="+mj-lt"/>
            </a:endParaRPr>
          </a:p>
        </p:txBody>
      </p:sp>
      <p:grpSp>
        <p:nvGrpSpPr>
          <p:cNvPr id="2" name="Grup 1">
            <a:extLst>
              <a:ext uri="{FF2B5EF4-FFF2-40B4-BE49-F238E27FC236}">
                <a16:creationId xmlns:a16="http://schemas.microsoft.com/office/drawing/2014/main" id="{B1AE91BA-AB5A-4043-83E5-E9A9D0D997B0}"/>
              </a:ext>
            </a:extLst>
          </p:cNvPr>
          <p:cNvGrpSpPr/>
          <p:nvPr/>
        </p:nvGrpSpPr>
        <p:grpSpPr>
          <a:xfrm>
            <a:off x="685800" y="2095500"/>
            <a:ext cx="16558501" cy="6629400"/>
            <a:chOff x="685800" y="2095500"/>
            <a:chExt cx="16558501" cy="6629400"/>
          </a:xfrm>
        </p:grpSpPr>
        <p:pic>
          <p:nvPicPr>
            <p:cNvPr id="48" name="Resim 47">
              <a:extLst>
                <a:ext uri="{FF2B5EF4-FFF2-40B4-BE49-F238E27FC236}">
                  <a16:creationId xmlns:a16="http://schemas.microsoft.com/office/drawing/2014/main" id="{C072393F-52B4-479F-ABA6-2F56B6953C05}"/>
                </a:ext>
              </a:extLst>
            </p:cNvPr>
            <p:cNvPicPr>
              <a:picLocks noChangeAspect="1"/>
            </p:cNvPicPr>
            <p:nvPr/>
          </p:nvPicPr>
          <p:blipFill>
            <a:blip r:embed="rId3"/>
            <a:stretch>
              <a:fillRect/>
            </a:stretch>
          </p:blipFill>
          <p:spPr>
            <a:xfrm>
              <a:off x="685800" y="2095500"/>
              <a:ext cx="16558501" cy="6629400"/>
            </a:xfrm>
            <a:prstGeom prst="rect">
              <a:avLst/>
            </a:prstGeom>
          </p:spPr>
        </p:pic>
        <p:sp>
          <p:nvSpPr>
            <p:cNvPr id="49" name="Metin kutusu 48">
              <a:extLst>
                <a:ext uri="{FF2B5EF4-FFF2-40B4-BE49-F238E27FC236}">
                  <a16:creationId xmlns:a16="http://schemas.microsoft.com/office/drawing/2014/main" id="{7BFB24B4-B403-4F84-968D-3F733D275580}"/>
                </a:ext>
              </a:extLst>
            </p:cNvPr>
            <p:cNvSpPr txBox="1"/>
            <p:nvPr/>
          </p:nvSpPr>
          <p:spPr>
            <a:xfrm>
              <a:off x="1043699" y="3102781"/>
              <a:ext cx="7162800" cy="1815882"/>
            </a:xfrm>
            <a:prstGeom prst="rect">
              <a:avLst/>
            </a:prstGeom>
            <a:solidFill>
              <a:srgbClr val="FFFFFE"/>
            </a:solidFill>
          </p:spPr>
          <p:txBody>
            <a:bodyPr wrap="square" rtlCol="0">
              <a:noAutofit/>
            </a:bodyPr>
            <a:lstStyle/>
            <a:p>
              <a:pPr marL="0" indent="0"/>
              <a:r>
                <a:rPr lang="tr-TR" sz="2800" b="1" dirty="0">
                  <a:ea typeface="Calibri"/>
                  <a:cs typeface="Calibri"/>
                </a:rPr>
                <a:t>Boyut</a:t>
              </a:r>
              <a:endParaRPr lang="tr-TR" sz="2800" b="1" dirty="0"/>
            </a:p>
            <a:p>
              <a:pPr marL="0" indent="0"/>
              <a:r>
                <a:rPr lang="tr-TR" sz="2800" b="0" dirty="0">
                  <a:ea typeface="Calibri"/>
                  <a:cs typeface="Calibri"/>
                </a:rPr>
                <a:t>Kaç satır ve sütun var?</a:t>
              </a:r>
              <a:endParaRPr lang="tr-TR" sz="2800" dirty="0"/>
            </a:p>
          </p:txBody>
        </p:sp>
        <p:sp>
          <p:nvSpPr>
            <p:cNvPr id="50" name="Metin kutusu 49">
              <a:extLst>
                <a:ext uri="{FF2B5EF4-FFF2-40B4-BE49-F238E27FC236}">
                  <a16:creationId xmlns:a16="http://schemas.microsoft.com/office/drawing/2014/main" id="{54B2ABE0-77F5-4FF8-B3F4-27E9BE189804}"/>
                </a:ext>
              </a:extLst>
            </p:cNvPr>
            <p:cNvSpPr txBox="1"/>
            <p:nvPr/>
          </p:nvSpPr>
          <p:spPr>
            <a:xfrm>
              <a:off x="9296400" y="3092559"/>
              <a:ext cx="7239000" cy="1815882"/>
            </a:xfrm>
            <a:prstGeom prst="rect">
              <a:avLst/>
            </a:prstGeom>
            <a:solidFill>
              <a:srgbClr val="FFFFFE"/>
            </a:solidFill>
          </p:spPr>
          <p:txBody>
            <a:bodyPr wrap="square" rtlCol="0">
              <a:noAutofit/>
            </a:bodyPr>
            <a:lstStyle/>
            <a:p>
              <a:pPr marL="0" indent="0"/>
              <a:r>
                <a:rPr lang="tr-TR" sz="2800" b="1" dirty="0">
                  <a:ea typeface="Calibri"/>
                  <a:cs typeface="Calibri"/>
                </a:rPr>
                <a:t>Tür ve birim</a:t>
              </a:r>
              <a:endParaRPr lang="tr-TR" sz="2800" b="1" dirty="0"/>
            </a:p>
            <a:p>
              <a:pPr marL="0" indent="0"/>
              <a:r>
                <a:rPr lang="tr-TR" sz="2800" b="0" dirty="0">
                  <a:ea typeface="Calibri"/>
                  <a:cs typeface="Calibri"/>
                </a:rPr>
                <a:t>Sayısal mı, kategorik mi? Birimler tutarlı mı?</a:t>
              </a:r>
              <a:endParaRPr lang="tr-TR" sz="2800" dirty="0"/>
            </a:p>
          </p:txBody>
        </p:sp>
        <p:sp>
          <p:nvSpPr>
            <p:cNvPr id="51" name="Metin kutusu 50">
              <a:extLst>
                <a:ext uri="{FF2B5EF4-FFF2-40B4-BE49-F238E27FC236}">
                  <a16:creationId xmlns:a16="http://schemas.microsoft.com/office/drawing/2014/main" id="{379C5118-29F4-4673-9422-4B1676DCF68D}"/>
                </a:ext>
              </a:extLst>
            </p:cNvPr>
            <p:cNvSpPr txBox="1"/>
            <p:nvPr/>
          </p:nvSpPr>
          <p:spPr>
            <a:xfrm>
              <a:off x="1143000" y="6438900"/>
              <a:ext cx="7162800" cy="1857375"/>
            </a:xfrm>
            <a:prstGeom prst="rect">
              <a:avLst/>
            </a:prstGeom>
            <a:solidFill>
              <a:srgbClr val="FFFFFE"/>
            </a:solidFill>
          </p:spPr>
          <p:txBody>
            <a:bodyPr wrap="square" rtlCol="0">
              <a:noAutofit/>
            </a:bodyPr>
            <a:lstStyle/>
            <a:p>
              <a:pPr marL="0" indent="0"/>
              <a:r>
                <a:rPr lang="tr-TR" sz="2800" b="1" dirty="0">
                  <a:ea typeface="Calibri"/>
                  <a:cs typeface="Calibri"/>
                </a:rPr>
                <a:t>Eksik ve yinelenen kayıt</a:t>
              </a:r>
              <a:endParaRPr lang="tr-TR" sz="2800" b="1" dirty="0"/>
            </a:p>
            <a:p>
              <a:pPr marL="0" indent="0"/>
              <a:r>
                <a:rPr lang="tr-TR" sz="2800" b="0" dirty="0">
                  <a:ea typeface="Calibri"/>
                  <a:cs typeface="Calibri"/>
                </a:rPr>
                <a:t>Bilinmeyen veya tekrarlı değer var mı?</a:t>
              </a:r>
              <a:endParaRPr lang="tr-TR" sz="2800" dirty="0"/>
            </a:p>
          </p:txBody>
        </p:sp>
        <p:sp>
          <p:nvSpPr>
            <p:cNvPr id="52" name="Metin kutusu 51">
              <a:extLst>
                <a:ext uri="{FF2B5EF4-FFF2-40B4-BE49-F238E27FC236}">
                  <a16:creationId xmlns:a16="http://schemas.microsoft.com/office/drawing/2014/main" id="{D9612B47-6F08-4EAC-AA0F-DC88172D598E}"/>
                </a:ext>
              </a:extLst>
            </p:cNvPr>
            <p:cNvSpPr txBox="1"/>
            <p:nvPr/>
          </p:nvSpPr>
          <p:spPr>
            <a:xfrm>
              <a:off x="9372600" y="6286500"/>
              <a:ext cx="7525871" cy="1815882"/>
            </a:xfrm>
            <a:prstGeom prst="rect">
              <a:avLst/>
            </a:prstGeom>
            <a:solidFill>
              <a:srgbClr val="FFFFFE"/>
            </a:solidFill>
          </p:spPr>
          <p:txBody>
            <a:bodyPr wrap="square" rtlCol="0">
              <a:noAutofit/>
            </a:bodyPr>
            <a:lstStyle/>
            <a:p>
              <a:pPr marL="0" indent="0"/>
              <a:r>
                <a:rPr lang="tr-TR" sz="2800" b="1" dirty="0">
                  <a:ea typeface="Calibri"/>
                  <a:cs typeface="Calibri"/>
                </a:rPr>
                <a:t>Değer aralıkları</a:t>
              </a:r>
              <a:endParaRPr lang="tr-TR" sz="2800" b="1" dirty="0"/>
            </a:p>
            <a:p>
              <a:pPr marL="0" indent="0"/>
              <a:r>
                <a:rPr lang="tr-TR" sz="2800" b="0" dirty="0">
                  <a:ea typeface="Calibri"/>
                  <a:cs typeface="Calibri"/>
                </a:rPr>
                <a:t>Beklenmedik veya mantıksız değer var mı?</a:t>
              </a:r>
              <a:endParaRPr lang="tr-TR" sz="28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A7157704-169F-4872-A44B-04789CF9D072}"/>
              </a:ext>
            </a:extLst>
          </p:cNvPr>
          <p:cNvSpPr txBox="1"/>
          <p:nvPr/>
        </p:nvSpPr>
        <p:spPr>
          <a:xfrm>
            <a:off x="762000" y="457200"/>
            <a:ext cx="16764000" cy="990600"/>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4400" b="1" i="0" u="none" strike="noStrike" kern="1200" cap="none" spc="0" normalizeH="0" baseline="0" noProof="0" dirty="0">
                <a:ln>
                  <a:noFill/>
                </a:ln>
                <a:solidFill>
                  <a:srgbClr val="1E2A4E"/>
                </a:solidFill>
                <a:effectLst/>
                <a:uLnTx/>
                <a:uFillTx/>
                <a:latin typeface="Calibri"/>
                <a:ea typeface="Calibri"/>
                <a:cs typeface="Calibri"/>
              </a:rPr>
              <a:t>Örnek veri seti: Ev fiyatları</a:t>
            </a:r>
            <a:endParaRPr kumimoji="0" lang="tr-TR" sz="4400" b="0" i="0" u="none" strike="noStrike" kern="1200" cap="none" spc="0" normalizeH="0" baseline="0" noProof="0">
              <a:ln>
                <a:noFill/>
              </a:ln>
              <a:solidFill>
                <a:prstClr val="black"/>
              </a:solidFill>
              <a:effectLst/>
              <a:uLnTx/>
              <a:uFillTx/>
              <a:latin typeface="Calibri"/>
              <a:ea typeface="+mn-ea"/>
              <a:cs typeface="+mn-cs"/>
            </a:endParaRPr>
          </a:p>
        </p:txBody>
      </p:sp>
      <p:sp>
        <p:nvSpPr>
          <p:cNvPr id="55" name="Shape 55">
            <a:extLst>
              <a:ext uri="{FF2B5EF4-FFF2-40B4-BE49-F238E27FC236}">
                <a16:creationId xmlns:a16="http://schemas.microsoft.com/office/drawing/2014/main" id="{BCA6893B-B821-4528-B89C-4190CCCA2BBA}"/>
              </a:ext>
            </a:extLst>
          </p:cNvPr>
          <p:cNvSpPr/>
          <p:nvPr/>
        </p:nvSpPr>
        <p:spPr>
          <a:xfrm>
            <a:off x="1524000" y="7780796"/>
            <a:ext cx="14825949" cy="914400"/>
          </a:xfrm>
          <a:prstGeom prst="roundRect">
            <a:avLst>
              <a:gd name="adj" fmla="val 10502"/>
            </a:avLst>
          </a:prstGeom>
          <a:solidFill>
            <a:srgbClr val="E1E1EA">
              <a:alpha val="45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6" name="Metin kutusu 55">
            <a:extLst>
              <a:ext uri="{FF2B5EF4-FFF2-40B4-BE49-F238E27FC236}">
                <a16:creationId xmlns:a16="http://schemas.microsoft.com/office/drawing/2014/main" id="{AC48CD74-922C-41BB-9CD8-0D23D2A695D6}"/>
              </a:ext>
            </a:extLst>
          </p:cNvPr>
          <p:cNvSpPr txBox="1"/>
          <p:nvPr/>
        </p:nvSpPr>
        <p:spPr>
          <a:xfrm>
            <a:off x="2514600" y="7810500"/>
            <a:ext cx="13335000" cy="628650"/>
          </a:xfrm>
          <a:prstGeom prst="rect">
            <a:avLst/>
          </a:prstGeom>
          <a:noFill/>
        </p:spPr>
        <p:txBody>
          <a:bodyPr wrap="square" rtlCol="0">
            <a:no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kumimoji="0" lang="tr-TR" sz="2800" b="0" i="0" u="none" strike="noStrike" kern="1200" cap="none" spc="0" normalizeH="0" baseline="0" noProof="0" dirty="0" err="1">
                <a:ln>
                  <a:noFill/>
                </a:ln>
                <a:solidFill>
                  <a:srgbClr val="000000"/>
                </a:solidFill>
                <a:effectLst/>
                <a:uLnTx/>
                <a:uFillTx/>
                <a:latin typeface="Calibri"/>
                <a:ea typeface="Calibri"/>
                <a:cs typeface="Calibri"/>
              </a:rPr>
              <a:t>Temsili veri seti. </a:t>
            </a:r>
            <a:r>
              <a:rPr kumimoji="0" lang="tr-TR" sz="2800" b="0" i="0" u="none" strike="noStrike" kern="1200" cap="none" spc="0" normalizeH="0" baseline="0" noProof="0" dirty="0">
                <a:ln>
                  <a:noFill/>
                </a:ln>
                <a:solidFill>
                  <a:srgbClr val="000000"/>
                </a:solidFill>
                <a:effectLst/>
                <a:uLnTx/>
                <a:uFillTx/>
                <a:latin typeface="Calibri"/>
                <a:ea typeface="Calibri"/>
                <a:cs typeface="Calibri"/>
              </a:rPr>
              <a:t>Ev 2’nin fiyatı bilinmiyor.</a:t>
            </a:r>
            <a:endParaRPr kumimoji="0" lang="tr-TR"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6" name="Image 0" descr="preencoded.png">
            <a:extLst>
              <a:ext uri="{FF2B5EF4-FFF2-40B4-BE49-F238E27FC236}">
                <a16:creationId xmlns:a16="http://schemas.microsoft.com/office/drawing/2014/main" id="{A32EBE6D-D196-47A0-9E08-4B9602A8D59D}"/>
              </a:ext>
            </a:extLst>
          </p:cNvPr>
          <p:cNvPicPr>
            <a:picLocks noChangeAspect="1"/>
          </p:cNvPicPr>
          <p:nvPr/>
        </p:nvPicPr>
        <p:blipFill>
          <a:blip r:embed="rId3"/>
          <a:stretch>
            <a:fillRect/>
          </a:stretch>
        </p:blipFill>
        <p:spPr>
          <a:xfrm>
            <a:off x="1760875" y="8015496"/>
            <a:ext cx="354351" cy="283518"/>
          </a:xfrm>
          <a:prstGeom prst="rect">
            <a:avLst/>
          </a:prstGeom>
        </p:spPr>
      </p:pic>
      <p:sp>
        <p:nvSpPr>
          <p:cNvPr id="100" name="Her satır bir ev, her sütun bir değişken. 1.850 bi"/>
          <p:cNvSpPr txBox="1"/>
          <p:nvPr/>
        </p:nvSpPr>
        <p:spPr>
          <a:xfrm>
            <a:off x="1524000" y="9144000"/>
            <a:ext cx="15430500" cy="590550"/>
          </a:xfrm>
          <a:prstGeom prst="rect">
            <a:avLst/>
          </a:prstGeom>
          <a:noFill/>
          <a:ln>
            <a:noFill/>
          </a:ln>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400" b="1" i="0" u="none" strike="noStrike" kern="1200" cap="none" spc="0" normalizeH="0" baseline="0" noProof="0" dirty="0">
                <a:ln>
                  <a:noFill/>
                </a:ln>
                <a:solidFill>
                  <a:srgbClr val="596173"/>
                </a:solidFill>
                <a:effectLst/>
                <a:uLnTx/>
                <a:uFillTx/>
                <a:latin typeface="Calibri"/>
                <a:ea typeface="Calibri"/>
                <a:cs typeface="Calibri"/>
              </a:rPr>
              <a:t>Her satır bir ev, her sütun bir değişken. 1.850 bin TL = 1.850.000 TL.</a:t>
            </a:r>
            <a:endParaRPr kumimoji="0" lang="tr-TR" sz="2400" b="1" i="0" u="none" strike="noStrike" kern="1200" cap="none" spc="0" normalizeH="0" baseline="0" noProof="0" dirty="0">
              <a:ln>
                <a:noFill/>
              </a:ln>
              <a:solidFill>
                <a:prstClr val="black"/>
              </a:solidFill>
              <a:effectLst/>
              <a:uLnTx/>
              <a:uFillTx/>
              <a:latin typeface="Calibri"/>
              <a:ea typeface="+mn-ea"/>
              <a:cs typeface="+mn-cs"/>
            </a:endParaRPr>
          </a:p>
        </p:txBody>
      </p:sp>
      <p:graphicFrame>
        <p:nvGraphicFramePr>
          <p:cNvPr id="101" name="Tablo 100"/>
          <p:cNvGraphicFramePr/>
          <p:nvPr/>
        </p:nvGraphicFramePr>
        <p:xfrm>
          <a:off x="1524000" y="2000250"/>
          <a:ext cx="14830425" cy="5429250"/>
        </p:xfrm>
        <a:graphic>
          <a:graphicData uri="http://schemas.openxmlformats.org/drawingml/2006/table">
            <a:tbl>
              <a:tblPr/>
              <a:tblGrid>
                <a:gridCol w="1619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2524125">
                  <a:extLst>
                    <a:ext uri="{9D8B030D-6E8A-4147-A177-3AD203B41FA5}">
                      <a16:colId xmlns:a16="http://schemas.microsoft.com/office/drawing/2014/main" val="20003"/>
                    </a:ext>
                  </a:extLst>
                </a:gridCol>
                <a:gridCol w="2857500">
                  <a:extLst>
                    <a:ext uri="{9D8B030D-6E8A-4147-A177-3AD203B41FA5}">
                      <a16:colId xmlns:a16="http://schemas.microsoft.com/office/drawing/2014/main" val="20004"/>
                    </a:ext>
                  </a:extLst>
                </a:gridCol>
                <a:gridCol w="2971800">
                  <a:extLst>
                    <a:ext uri="{9D8B030D-6E8A-4147-A177-3AD203B41FA5}">
                      <a16:colId xmlns:a16="http://schemas.microsoft.com/office/drawing/2014/main" val="20005"/>
                    </a:ext>
                  </a:extLst>
                </a:gridCol>
              </a:tblGrid>
              <a:tr h="904875">
                <a:tc>
                  <a:txBody>
                    <a:bodyPr/>
                    <a:lstStyle/>
                    <a:p>
                      <a:r>
                        <a:rPr sz="2550" b="1">
                          <a:solidFill>
                            <a:srgbClr val="FFFFFF"/>
                          </a:solidFill>
                          <a:latin typeface="Calibri"/>
                          <a:ea typeface="Calibri"/>
                          <a:cs typeface="Calibri"/>
                        </a:rPr>
                        <a:t>Ev ID</a:t>
                      </a:r>
                    </a:p>
                  </a:txBody>
                  <a:tcPr marL="152400" marR="152400" marT="114300" marB="114300" anchor="ctr">
                    <a:solidFill>
                      <a:srgbClr val="1E2A4E"/>
                    </a:solidFill>
                  </a:tcPr>
                </a:tc>
                <a:tc>
                  <a:txBody>
                    <a:bodyPr/>
                    <a:lstStyle/>
                    <a:p>
                      <a:r>
                        <a:rPr sz="2550" b="1">
                          <a:solidFill>
                            <a:srgbClr val="FFFFFF"/>
                          </a:solidFill>
                          <a:latin typeface="Calibri"/>
                          <a:ea typeface="Calibri"/>
                          <a:cs typeface="Calibri"/>
                        </a:rPr>
                        <a:t>Yaş (yıl)</a:t>
                      </a:r>
                    </a:p>
                  </a:txBody>
                  <a:tcPr marL="152400" marR="152400" marT="114300" marB="114300" anchor="ctr">
                    <a:solidFill>
                      <a:srgbClr val="1E2A4E"/>
                    </a:solidFill>
                  </a:tcPr>
                </a:tc>
                <a:tc>
                  <a:txBody>
                    <a:bodyPr/>
                    <a:lstStyle/>
                    <a:p>
                      <a:r>
                        <a:rPr sz="2550" b="1">
                          <a:solidFill>
                            <a:srgbClr val="FFFFFF"/>
                          </a:solidFill>
                          <a:latin typeface="Calibri"/>
                          <a:ea typeface="Calibri"/>
                          <a:cs typeface="Calibri"/>
                        </a:rPr>
                        <a:t>Alan (m²)</a:t>
                      </a:r>
                    </a:p>
                  </a:txBody>
                  <a:tcPr marL="152400" marR="152400" marT="114300" marB="114300" anchor="ctr">
                    <a:solidFill>
                      <a:srgbClr val="1E2A4E"/>
                    </a:solidFill>
                  </a:tcPr>
                </a:tc>
                <a:tc>
                  <a:txBody>
                    <a:bodyPr/>
                    <a:lstStyle/>
                    <a:p>
                      <a:r>
                        <a:rPr sz="2550" b="1">
                          <a:solidFill>
                            <a:srgbClr val="FFFFFF"/>
                          </a:solidFill>
                          <a:latin typeface="Calibri"/>
                          <a:ea typeface="Calibri"/>
                          <a:cs typeface="Calibri"/>
                        </a:rPr>
                        <a:t>Oda sayısı</a:t>
                      </a:r>
                    </a:p>
                  </a:txBody>
                  <a:tcPr marL="152400" marR="152400" marT="114300" marB="114300" anchor="ctr">
                    <a:solidFill>
                      <a:srgbClr val="1E2A4E"/>
                    </a:solidFill>
                  </a:tcPr>
                </a:tc>
                <a:tc>
                  <a:txBody>
                    <a:bodyPr/>
                    <a:lstStyle/>
                    <a:p>
                      <a:r>
                        <a:rPr sz="2550" b="1">
                          <a:solidFill>
                            <a:srgbClr val="FFFFFF"/>
                          </a:solidFill>
                          <a:latin typeface="Calibri"/>
                          <a:ea typeface="Calibri"/>
                          <a:cs typeface="Calibri"/>
                        </a:rPr>
                        <a:t>Şehir</a:t>
                      </a:r>
                    </a:p>
                  </a:txBody>
                  <a:tcPr marL="152400" marR="152400" marT="114300" marB="114300" anchor="ctr">
                    <a:solidFill>
                      <a:srgbClr val="1E2A4E"/>
                    </a:solidFill>
                  </a:tcPr>
                </a:tc>
                <a:tc>
                  <a:txBody>
                    <a:bodyPr/>
                    <a:lstStyle/>
                    <a:p>
                      <a:r>
                        <a:rPr sz="2550" b="1">
                          <a:solidFill>
                            <a:srgbClr val="FFFFFF"/>
                          </a:solidFill>
                          <a:latin typeface="Calibri"/>
                          <a:ea typeface="Calibri"/>
                          <a:cs typeface="Calibri"/>
                        </a:rPr>
                        <a:t>Fiyat (bin TL)</a:t>
                      </a:r>
                    </a:p>
                  </a:txBody>
                  <a:tcPr marL="152400" marR="152400" marT="114300" marB="114300" anchor="ctr">
                    <a:solidFill>
                      <a:srgbClr val="1E2A4E"/>
                    </a:solidFill>
                  </a:tcPr>
                </a:tc>
                <a:extLst>
                  <a:ext uri="{0D108BD9-81ED-4DB2-BD59-A6C34878D82A}">
                    <a16:rowId xmlns:a16="http://schemas.microsoft.com/office/drawing/2014/main" val="10000"/>
                  </a:ext>
                </a:extLst>
              </a:tr>
              <a:tr h="904875">
                <a:tc>
                  <a:txBody>
                    <a:bodyPr/>
                    <a:lstStyle/>
                    <a:p>
                      <a:r>
                        <a:rPr sz="2550" b="0">
                          <a:solidFill>
                            <a:srgbClr val="30343B"/>
                          </a:solidFill>
                          <a:latin typeface="Calibri"/>
                          <a:ea typeface="Calibri"/>
                          <a:cs typeface="Calibri"/>
                        </a:rPr>
                        <a:t>Ev 1</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5</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120</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3</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Kayseri</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1.850</a:t>
                      </a:r>
                    </a:p>
                  </a:txBody>
                  <a:tcPr marL="152400" marR="152400" marT="114300" marB="114300" anchor="ctr">
                    <a:solidFill>
                      <a:srgbClr val="FFFFFF"/>
                    </a:solidFill>
                  </a:tcPr>
                </a:tc>
                <a:extLst>
                  <a:ext uri="{0D108BD9-81ED-4DB2-BD59-A6C34878D82A}">
                    <a16:rowId xmlns:a16="http://schemas.microsoft.com/office/drawing/2014/main" val="10001"/>
                  </a:ext>
                </a:extLst>
              </a:tr>
              <a:tr h="904875">
                <a:tc>
                  <a:txBody>
                    <a:bodyPr/>
                    <a:lstStyle/>
                    <a:p>
                      <a:r>
                        <a:rPr sz="2550" b="0">
                          <a:solidFill>
                            <a:srgbClr val="30343B"/>
                          </a:solidFill>
                          <a:latin typeface="Calibri"/>
                          <a:ea typeface="Calibri"/>
                          <a:cs typeface="Calibri"/>
                        </a:rPr>
                        <a:t>Ev 2</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30</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85</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2</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Ankara</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Eksik</a:t>
                      </a:r>
                    </a:p>
                  </a:txBody>
                  <a:tcPr marL="152400" marR="152400" marT="114300" marB="114300" anchor="ctr">
                    <a:solidFill>
                      <a:srgbClr val="F0F0F2"/>
                    </a:solidFill>
                  </a:tcPr>
                </a:tc>
                <a:extLst>
                  <a:ext uri="{0D108BD9-81ED-4DB2-BD59-A6C34878D82A}">
                    <a16:rowId xmlns:a16="http://schemas.microsoft.com/office/drawing/2014/main" val="10002"/>
                  </a:ext>
                </a:extLst>
              </a:tr>
              <a:tr h="904875">
                <a:tc>
                  <a:txBody>
                    <a:bodyPr/>
                    <a:lstStyle/>
                    <a:p>
                      <a:r>
                        <a:rPr sz="2550" b="0">
                          <a:solidFill>
                            <a:srgbClr val="30343B"/>
                          </a:solidFill>
                          <a:latin typeface="Calibri"/>
                          <a:ea typeface="Calibri"/>
                          <a:cs typeface="Calibri"/>
                        </a:rPr>
                        <a:t>Ev 3</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12</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145</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4</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İstanbul</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3.100</a:t>
                      </a:r>
                    </a:p>
                  </a:txBody>
                  <a:tcPr marL="152400" marR="152400" marT="114300" marB="114300" anchor="ctr">
                    <a:solidFill>
                      <a:srgbClr val="FFFFFF"/>
                    </a:solidFill>
                  </a:tcPr>
                </a:tc>
                <a:extLst>
                  <a:ext uri="{0D108BD9-81ED-4DB2-BD59-A6C34878D82A}">
                    <a16:rowId xmlns:a16="http://schemas.microsoft.com/office/drawing/2014/main" val="10003"/>
                  </a:ext>
                </a:extLst>
              </a:tr>
              <a:tr h="904875">
                <a:tc>
                  <a:txBody>
                    <a:bodyPr/>
                    <a:lstStyle/>
                    <a:p>
                      <a:r>
                        <a:rPr sz="2550" b="0">
                          <a:solidFill>
                            <a:srgbClr val="30343B"/>
                          </a:solidFill>
                          <a:latin typeface="Calibri"/>
                          <a:ea typeface="Calibri"/>
                          <a:cs typeface="Calibri"/>
                        </a:rPr>
                        <a:t>Ev 4</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8</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95</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2</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Kayseri</a:t>
                      </a:r>
                    </a:p>
                  </a:txBody>
                  <a:tcPr marL="152400" marR="152400" marT="114300" marB="114300" anchor="ctr">
                    <a:solidFill>
                      <a:srgbClr val="F0F0F2"/>
                    </a:solidFill>
                  </a:tcPr>
                </a:tc>
                <a:tc>
                  <a:txBody>
                    <a:bodyPr/>
                    <a:lstStyle/>
                    <a:p>
                      <a:r>
                        <a:rPr sz="2550" b="0">
                          <a:solidFill>
                            <a:srgbClr val="30343B"/>
                          </a:solidFill>
                          <a:latin typeface="Calibri"/>
                          <a:ea typeface="Calibri"/>
                          <a:cs typeface="Calibri"/>
                        </a:rPr>
                        <a:t>1.650</a:t>
                      </a:r>
                    </a:p>
                  </a:txBody>
                  <a:tcPr marL="152400" marR="152400" marT="114300" marB="114300" anchor="ctr">
                    <a:solidFill>
                      <a:srgbClr val="F0F0F2"/>
                    </a:solidFill>
                  </a:tcPr>
                </a:tc>
                <a:extLst>
                  <a:ext uri="{0D108BD9-81ED-4DB2-BD59-A6C34878D82A}">
                    <a16:rowId xmlns:a16="http://schemas.microsoft.com/office/drawing/2014/main" val="10004"/>
                  </a:ext>
                </a:extLst>
              </a:tr>
              <a:tr h="904875">
                <a:tc>
                  <a:txBody>
                    <a:bodyPr/>
                    <a:lstStyle/>
                    <a:p>
                      <a:r>
                        <a:rPr sz="2550" b="0">
                          <a:solidFill>
                            <a:srgbClr val="30343B"/>
                          </a:solidFill>
                          <a:latin typeface="Calibri"/>
                          <a:ea typeface="Calibri"/>
                          <a:cs typeface="Calibri"/>
                        </a:rPr>
                        <a:t>Ev 5</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40</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210</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5</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İstanbul</a:t>
                      </a:r>
                    </a:p>
                  </a:txBody>
                  <a:tcPr marL="152400" marR="152400" marT="114300" marB="114300" anchor="ctr">
                    <a:solidFill>
                      <a:srgbClr val="FFFFFF"/>
                    </a:solidFill>
                  </a:tcPr>
                </a:tc>
                <a:tc>
                  <a:txBody>
                    <a:bodyPr/>
                    <a:lstStyle/>
                    <a:p>
                      <a:r>
                        <a:rPr sz="2550" b="0">
                          <a:solidFill>
                            <a:srgbClr val="30343B"/>
                          </a:solidFill>
                          <a:latin typeface="Calibri"/>
                          <a:ea typeface="Calibri"/>
                          <a:cs typeface="Calibri"/>
                        </a:rPr>
                        <a:t>9.800</a:t>
                      </a:r>
                    </a:p>
                  </a:txBody>
                  <a:tcPr marL="152400" marR="152400" marT="114300" marB="11430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5824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7" name="Text 0">
            <a:extLst>
              <a:ext uri="{FF2B5EF4-FFF2-40B4-BE49-F238E27FC236}">
                <a16:creationId xmlns:a16="http://schemas.microsoft.com/office/drawing/2014/main" id="{CC72EDAA-47B3-46E7-8157-976574A5C952}"/>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a:lnSpc>
                <a:spcPct val="104000"/>
              </a:lnSpc>
              <a:buNone/>
            </a:pPr>
            <a:r>
              <a:rPr lang="en-US" sz="4400" b="1" dirty="0" err="1">
                <a:solidFill>
                  <a:srgbClr val="1B1B27"/>
                </a:solidFill>
                <a:latin typeface="+mj-lt"/>
                <a:ea typeface="Raleway" pitchFamily="34" charset="-122"/>
                <a:cs typeface="Raleway" pitchFamily="34" charset="-120"/>
              </a:rPr>
              <a:t>Değişkenleri</a:t>
            </a:r>
            <a:r>
              <a:rPr lang="en-US" sz="4400" b="1" dirty="0">
                <a:solidFill>
                  <a:srgbClr val="1B1B27"/>
                </a:solidFill>
                <a:latin typeface="+mj-lt"/>
                <a:ea typeface="Raleway" pitchFamily="34" charset="-122"/>
                <a:cs typeface="Raleway" pitchFamily="34" charset="-120"/>
              </a:rPr>
              <a:t> </a:t>
            </a:r>
            <a:r>
              <a:rPr lang="en-US" sz="4400" b="1" dirty="0" err="1">
                <a:solidFill>
                  <a:srgbClr val="1B1B27"/>
                </a:solidFill>
                <a:latin typeface="+mj-lt"/>
                <a:ea typeface="Raleway" pitchFamily="34" charset="-122"/>
                <a:cs typeface="Raleway" pitchFamily="34" charset="-120"/>
              </a:rPr>
              <a:t>Tanıma</a:t>
            </a:r>
            <a:endParaRPr lang="en-US" sz="4400" b="1" dirty="0">
              <a:latin typeface="+mj-lt"/>
            </a:endParaRPr>
          </a:p>
        </p:txBody>
      </p:sp>
      <p:sp>
        <p:nvSpPr>
          <p:cNvPr id="28" name="Text 1">
            <a:extLst>
              <a:ext uri="{FF2B5EF4-FFF2-40B4-BE49-F238E27FC236}">
                <a16:creationId xmlns:a16="http://schemas.microsoft.com/office/drawing/2014/main" id="{8DB99A8E-F2EF-4825-A8BE-F68725504B10}"/>
              </a:ext>
            </a:extLst>
          </p:cNvPr>
          <p:cNvSpPr/>
          <p:nvPr/>
        </p:nvSpPr>
        <p:spPr>
          <a:xfrm>
            <a:off x="838201" y="1641863"/>
            <a:ext cx="13598908" cy="724396"/>
          </a:xfrm>
          <a:prstGeom prst="rect">
            <a:avLst/>
          </a:prstGeom>
          <a:noFill/>
          <a:ln/>
        </p:spPr>
        <p:txBody>
          <a:bodyPr wrap="square" lIns="0" tIns="0" rIns="0" bIns="0" rtlCol="0" anchor="t">
            <a:noAutofit/>
          </a:bodyPr>
          <a:lstStyle/>
          <a:p>
            <a:pPr marL="0" indent="0" algn="l">
              <a:lnSpc>
                <a:spcPct val="133000"/>
              </a:lnSpc>
              <a:buNone/>
            </a:pPr>
            <a:r>
              <a:rPr lang="tr-TR" sz="2800" b="0" dirty="0">
                <a:solidFill>
                  <a:srgbClr val="3C3939"/>
                </a:solidFill>
                <a:ea typeface="Calibri"/>
                <a:cs typeface="Calibri"/>
              </a:rPr>
              <a:t>Her sütun bir değişkeni temsil eder. Tahmin sorumuz: Evin fiyatı nedir?</a:t>
            </a:r>
            <a:endParaRPr lang="tr-TR" sz="2800"/>
          </a:p>
        </p:txBody>
      </p:sp>
      <p:grpSp>
        <p:nvGrpSpPr>
          <p:cNvPr id="4" name="Grup 3">
            <a:extLst>
              <a:ext uri="{FF2B5EF4-FFF2-40B4-BE49-F238E27FC236}">
                <a16:creationId xmlns:a16="http://schemas.microsoft.com/office/drawing/2014/main" id="{746AA804-42AC-478D-9C6A-1BCA25CDADF1}"/>
              </a:ext>
            </a:extLst>
          </p:cNvPr>
          <p:cNvGrpSpPr/>
          <p:nvPr/>
        </p:nvGrpSpPr>
        <p:grpSpPr>
          <a:xfrm>
            <a:off x="2057401" y="3009901"/>
            <a:ext cx="15087600" cy="5029200"/>
            <a:chOff x="1053080" y="2933930"/>
            <a:chExt cx="15796127" cy="5105169"/>
          </a:xfrm>
        </p:grpSpPr>
        <p:sp>
          <p:nvSpPr>
            <p:cNvPr id="21" name="Shape 10">
              <a:extLst>
                <a:ext uri="{FF2B5EF4-FFF2-40B4-BE49-F238E27FC236}">
                  <a16:creationId xmlns:a16="http://schemas.microsoft.com/office/drawing/2014/main" id="{7F8EFAC1-5C5A-4F9E-90A0-84B589FA35F6}"/>
                </a:ext>
              </a:extLst>
            </p:cNvPr>
            <p:cNvSpPr/>
            <p:nvPr/>
          </p:nvSpPr>
          <p:spPr>
            <a:xfrm>
              <a:off x="9482531" y="5617588"/>
              <a:ext cx="6367070" cy="2421511"/>
            </a:xfrm>
            <a:prstGeom prst="roundRect">
              <a:avLst>
                <a:gd name="adj" fmla="val 4469"/>
              </a:avLst>
            </a:prstGeom>
            <a:solidFill>
              <a:srgbClr val="F0E6C0">
                <a:alpha val="45000"/>
              </a:srgbClr>
            </a:solidFill>
            <a:ln/>
          </p:spPr>
        </p:sp>
        <p:pic>
          <p:nvPicPr>
            <p:cNvPr id="59" name="Image 0" descr="preencoded.png">
              <a:extLst>
                <a:ext uri="{FF2B5EF4-FFF2-40B4-BE49-F238E27FC236}">
                  <a16:creationId xmlns:a16="http://schemas.microsoft.com/office/drawing/2014/main" id="{159571FC-7833-480A-B219-4CA4992045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60479" y="2933930"/>
              <a:ext cx="3926995" cy="2432998"/>
            </a:xfrm>
            <a:prstGeom prst="rect">
              <a:avLst/>
            </a:prstGeom>
          </p:spPr>
        </p:pic>
        <p:pic>
          <p:nvPicPr>
            <p:cNvPr id="47" name="Image 0" descr="preencoded.png">
              <a:extLst>
                <a:ext uri="{FF2B5EF4-FFF2-40B4-BE49-F238E27FC236}">
                  <a16:creationId xmlns:a16="http://schemas.microsoft.com/office/drawing/2014/main" id="{CBF0FAA1-95D2-4786-9404-F120050376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3080" y="2933931"/>
              <a:ext cx="3753400" cy="2325446"/>
            </a:xfrm>
            <a:prstGeom prst="rect">
              <a:avLst/>
            </a:prstGeom>
          </p:spPr>
        </p:pic>
        <p:sp>
          <p:nvSpPr>
            <p:cNvPr id="48" name="Text 2">
              <a:extLst>
                <a:ext uri="{FF2B5EF4-FFF2-40B4-BE49-F238E27FC236}">
                  <a16:creationId xmlns:a16="http://schemas.microsoft.com/office/drawing/2014/main" id="{111FD016-B35F-4128-A622-EC5887529DFD}"/>
                </a:ext>
              </a:extLst>
            </p:cNvPr>
            <p:cNvSpPr/>
            <p:nvPr/>
          </p:nvSpPr>
          <p:spPr>
            <a:xfrm>
              <a:off x="1438793" y="3096641"/>
              <a:ext cx="3190875" cy="1428750"/>
            </a:xfrm>
            <a:prstGeom prst="rect">
              <a:avLst/>
            </a:prstGeom>
            <a:noFill/>
            <a:ln/>
          </p:spPr>
          <p:txBody>
            <a:bodyPr wrap="square" lIns="0" tIns="0" rIns="0" bIns="0" rtlCol="0" anchor="t">
              <a:noAutofit/>
            </a:bodyPr>
            <a:lstStyle/>
            <a:p>
              <a:pPr marL="0" indent="0"/>
              <a:r>
                <a:rPr lang="tr-TR" sz="2800" b="1" dirty="0">
                  <a:ea typeface="Calibri"/>
                  <a:cs typeface="Calibri"/>
                </a:rPr>
                <a:t>Yaş (yıl)</a:t>
              </a:r>
              <a:endParaRPr lang="tr-TR" sz="2800" b="1" dirty="0"/>
            </a:p>
            <a:p>
              <a:pPr marL="0" indent="0"/>
              <a:r>
                <a:rPr lang="tr-TR" sz="2800" b="0" dirty="0">
                  <a:ea typeface="Calibri"/>
                  <a:cs typeface="Calibri"/>
                </a:rPr>
                <a:t>Tam yıl olarak kayıtlı</a:t>
              </a:r>
              <a:endParaRPr lang="tr-TR" sz="2800" dirty="0"/>
            </a:p>
          </p:txBody>
        </p:sp>
        <p:sp>
          <p:nvSpPr>
            <p:cNvPr id="51" name="Text 4">
              <a:extLst>
                <a:ext uri="{FF2B5EF4-FFF2-40B4-BE49-F238E27FC236}">
                  <a16:creationId xmlns:a16="http://schemas.microsoft.com/office/drawing/2014/main" id="{A6F2F06A-0D61-44DA-BD24-87F41F14847B}"/>
                </a:ext>
              </a:extLst>
            </p:cNvPr>
            <p:cNvSpPr/>
            <p:nvPr/>
          </p:nvSpPr>
          <p:spPr>
            <a:xfrm>
              <a:off x="5388992" y="3135373"/>
              <a:ext cx="3006605" cy="1015056"/>
            </a:xfrm>
            <a:prstGeom prst="rect">
              <a:avLst/>
            </a:prstGeom>
            <a:noFill/>
            <a:ln/>
          </p:spPr>
          <p:txBody>
            <a:bodyPr wrap="square" lIns="0" tIns="0" rIns="0" bIns="0" rtlCol="0" anchor="t">
              <a:noAutofit/>
            </a:bodyPr>
            <a:lstStyle/>
            <a:p>
              <a:pPr marL="0" indent="0"/>
              <a:r>
                <a:rPr lang="tr-TR" sz="2800" b="1" dirty="0">
                  <a:ea typeface="Calibri"/>
                  <a:cs typeface="Calibri"/>
                </a:rPr>
                <a:t>Alan (m²)</a:t>
              </a:r>
              <a:endParaRPr lang="tr-TR" sz="2800" b="1" dirty="0"/>
            </a:p>
            <a:p>
              <a:pPr marL="0" indent="0"/>
              <a:r>
                <a:rPr lang="tr-TR" sz="2800" b="0" dirty="0">
                  <a:ea typeface="Calibri"/>
                  <a:cs typeface="Calibri"/>
                </a:rPr>
                <a:t>Sayısal / sürekli</a:t>
              </a:r>
              <a:endParaRPr lang="tr-TR" sz="2800" dirty="0"/>
            </a:p>
          </p:txBody>
        </p:sp>
        <p:pic>
          <p:nvPicPr>
            <p:cNvPr id="53" name="Image 2" descr="preencoded.png">
              <a:extLst>
                <a:ext uri="{FF2B5EF4-FFF2-40B4-BE49-F238E27FC236}">
                  <a16:creationId xmlns:a16="http://schemas.microsoft.com/office/drawing/2014/main" id="{09A55568-A2E9-4F01-8110-67DA0564CD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3080" y="5828936"/>
              <a:ext cx="3625713" cy="2210163"/>
            </a:xfrm>
            <a:prstGeom prst="rect">
              <a:avLst/>
            </a:prstGeom>
          </p:spPr>
        </p:pic>
        <p:sp>
          <p:nvSpPr>
            <p:cNvPr id="54" name="Text 6">
              <a:extLst>
                <a:ext uri="{FF2B5EF4-FFF2-40B4-BE49-F238E27FC236}">
                  <a16:creationId xmlns:a16="http://schemas.microsoft.com/office/drawing/2014/main" id="{24415E5D-4131-4B4D-B7D6-0348D2D9BAB3}"/>
                </a:ext>
              </a:extLst>
            </p:cNvPr>
            <p:cNvSpPr/>
            <p:nvPr/>
          </p:nvSpPr>
          <p:spPr>
            <a:xfrm>
              <a:off x="1397616" y="6023392"/>
              <a:ext cx="2952750" cy="1428750"/>
            </a:xfrm>
            <a:prstGeom prst="rect">
              <a:avLst/>
            </a:prstGeom>
            <a:noFill/>
            <a:ln/>
          </p:spPr>
          <p:txBody>
            <a:bodyPr wrap="square" lIns="0" tIns="0" rIns="0" bIns="0" rtlCol="0" anchor="t">
              <a:noAutofit/>
            </a:bodyPr>
            <a:lstStyle/>
            <a:p>
              <a:pPr marL="0" indent="0"/>
              <a:r>
                <a:rPr lang="tr-TR" sz="2800" b="1" dirty="0">
                  <a:ea typeface="Calibri"/>
                  <a:cs typeface="Calibri"/>
                </a:rPr>
                <a:t>Oda sayısı</a:t>
              </a:r>
              <a:endParaRPr lang="tr-TR" sz="2800" b="1" dirty="0"/>
            </a:p>
            <a:p>
              <a:pPr marL="0" indent="0"/>
              <a:r>
                <a:rPr lang="tr-TR" sz="2800" b="0" dirty="0">
                  <a:ea typeface="Calibri"/>
                  <a:cs typeface="Calibri"/>
                </a:rPr>
                <a:t>Sayısal / kesikli</a:t>
              </a:r>
              <a:endParaRPr lang="tr-TR" sz="2800" dirty="0"/>
            </a:p>
          </p:txBody>
        </p:sp>
        <p:sp>
          <p:nvSpPr>
            <p:cNvPr id="55" name="Text 7">
              <a:extLst>
                <a:ext uri="{FF2B5EF4-FFF2-40B4-BE49-F238E27FC236}">
                  <a16:creationId xmlns:a16="http://schemas.microsoft.com/office/drawing/2014/main" id="{F6C69BC0-D943-4B45-A8B5-B69848F67551}"/>
                </a:ext>
              </a:extLst>
            </p:cNvPr>
            <p:cNvSpPr/>
            <p:nvPr/>
          </p:nvSpPr>
          <p:spPr>
            <a:xfrm>
              <a:off x="2247652" y="6070798"/>
              <a:ext cx="1732654" cy="439224"/>
            </a:xfrm>
            <a:prstGeom prst="rect">
              <a:avLst/>
            </a:prstGeom>
            <a:noFill/>
            <a:ln/>
          </p:spPr>
          <p:txBody>
            <a:bodyPr wrap="none" lIns="0" tIns="0" rIns="0" bIns="0" rtlCol="0" anchor="t"/>
            <a:lstStyle/>
            <a:p>
              <a:pPr marL="0" indent="0" algn="l">
                <a:lnSpc>
                  <a:spcPct val="133000"/>
                </a:lnSpc>
                <a:buNone/>
              </a:pPr>
              <a:endParaRPr lang="en-US" sz="2800" dirty="0"/>
            </a:p>
          </p:txBody>
        </p:sp>
        <p:pic>
          <p:nvPicPr>
            <p:cNvPr id="56" name="Image 3" descr="preencoded.png">
              <a:extLst>
                <a:ext uri="{FF2B5EF4-FFF2-40B4-BE49-F238E27FC236}">
                  <a16:creationId xmlns:a16="http://schemas.microsoft.com/office/drawing/2014/main" id="{FDABFC17-3030-401D-8603-B0D7BF93B22D}"/>
                </a:ext>
              </a:extLst>
            </p:cNvPr>
            <p:cNvPicPr preferRelativeResize="0">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38694" y="5699494"/>
              <a:ext cx="3926995" cy="2339605"/>
            </a:xfrm>
            <a:prstGeom prst="rect">
              <a:avLst/>
            </a:prstGeom>
          </p:spPr>
        </p:pic>
        <p:sp>
          <p:nvSpPr>
            <p:cNvPr id="57" name="Text 8">
              <a:extLst>
                <a:ext uri="{FF2B5EF4-FFF2-40B4-BE49-F238E27FC236}">
                  <a16:creationId xmlns:a16="http://schemas.microsoft.com/office/drawing/2014/main" id="{DAF5B1CC-E558-43D6-81DC-22095BE872A9}"/>
                </a:ext>
              </a:extLst>
            </p:cNvPr>
            <p:cNvSpPr/>
            <p:nvPr/>
          </p:nvSpPr>
          <p:spPr>
            <a:xfrm>
              <a:off x="5291094" y="6022025"/>
              <a:ext cx="3006605" cy="1143137"/>
            </a:xfrm>
            <a:prstGeom prst="rect">
              <a:avLst/>
            </a:prstGeom>
            <a:noFill/>
            <a:ln/>
          </p:spPr>
          <p:txBody>
            <a:bodyPr wrap="square" lIns="0" tIns="0" rIns="0" bIns="0" rtlCol="0" anchor="t">
              <a:noAutofit/>
            </a:bodyPr>
            <a:lstStyle/>
            <a:p>
              <a:pPr marL="0" indent="0"/>
              <a:r>
                <a:rPr lang="tr-TR" sz="2800" b="1" dirty="0">
                  <a:ea typeface="Calibri"/>
                  <a:cs typeface="Calibri"/>
                </a:rPr>
                <a:t>Şehir</a:t>
              </a:r>
              <a:endParaRPr lang="tr-TR" sz="2800" b="1" dirty="0"/>
            </a:p>
            <a:p>
              <a:pPr marL="0" indent="0"/>
              <a:r>
                <a:rPr lang="tr-TR" sz="2800" b="0" dirty="0">
                  <a:ea typeface="Calibri"/>
                  <a:cs typeface="Calibri"/>
                </a:rPr>
                <a:t>Kategorik / nominal</a:t>
              </a:r>
              <a:endParaRPr lang="tr-TR" sz="2800" dirty="0"/>
            </a:p>
          </p:txBody>
        </p:sp>
        <p:sp>
          <p:nvSpPr>
            <p:cNvPr id="58" name="Text 9">
              <a:extLst>
                <a:ext uri="{FF2B5EF4-FFF2-40B4-BE49-F238E27FC236}">
                  <a16:creationId xmlns:a16="http://schemas.microsoft.com/office/drawing/2014/main" id="{0FD4239A-8127-4AAF-B3BC-738D42BBE83A}"/>
                </a:ext>
              </a:extLst>
            </p:cNvPr>
            <p:cNvSpPr/>
            <p:nvPr/>
          </p:nvSpPr>
          <p:spPr>
            <a:xfrm>
              <a:off x="5403901" y="5666041"/>
              <a:ext cx="1488394" cy="454998"/>
            </a:xfrm>
            <a:prstGeom prst="rect">
              <a:avLst/>
            </a:prstGeom>
            <a:noFill/>
            <a:ln/>
          </p:spPr>
          <p:txBody>
            <a:bodyPr wrap="none" lIns="0" tIns="0" rIns="0" bIns="0" rtlCol="0" anchor="t"/>
            <a:lstStyle/>
            <a:p>
              <a:pPr marL="0" indent="0" algn="l">
                <a:lnSpc>
                  <a:spcPct val="133000"/>
                </a:lnSpc>
                <a:buNone/>
              </a:pPr>
              <a:endParaRPr lang="en-US" sz="2800" dirty="0"/>
            </a:p>
          </p:txBody>
        </p:sp>
        <p:sp>
          <p:nvSpPr>
            <p:cNvPr id="60" name="Shape 10">
              <a:extLst>
                <a:ext uri="{FF2B5EF4-FFF2-40B4-BE49-F238E27FC236}">
                  <a16:creationId xmlns:a16="http://schemas.microsoft.com/office/drawing/2014/main" id="{1EF56700-01E9-4260-A442-6CB29C7CD1E5}"/>
                </a:ext>
              </a:extLst>
            </p:cNvPr>
            <p:cNvSpPr/>
            <p:nvPr/>
          </p:nvSpPr>
          <p:spPr>
            <a:xfrm>
              <a:off x="9420738" y="2933930"/>
              <a:ext cx="6428864" cy="2341279"/>
            </a:xfrm>
            <a:prstGeom prst="roundRect">
              <a:avLst>
                <a:gd name="adj" fmla="val 4469"/>
              </a:avLst>
            </a:prstGeom>
            <a:solidFill>
              <a:srgbClr val="F0E6C0">
                <a:alpha val="45000"/>
              </a:srgbClr>
            </a:solidFill>
            <a:ln/>
          </p:spPr>
        </p:sp>
        <p:sp>
          <p:nvSpPr>
            <p:cNvPr id="26" name="Metin kutusu 25">
              <a:extLst>
                <a:ext uri="{FF2B5EF4-FFF2-40B4-BE49-F238E27FC236}">
                  <a16:creationId xmlns:a16="http://schemas.microsoft.com/office/drawing/2014/main" id="{7026FA21-FAA0-411F-8100-A1B0189ABA0D}"/>
                </a:ext>
              </a:extLst>
            </p:cNvPr>
            <p:cNvSpPr txBox="1"/>
            <p:nvPr/>
          </p:nvSpPr>
          <p:spPr>
            <a:xfrm>
              <a:off x="9449089" y="3043939"/>
              <a:ext cx="7400118" cy="1481452"/>
            </a:xfrm>
            <a:prstGeom prst="rect">
              <a:avLst/>
            </a:prstGeom>
            <a:noFill/>
          </p:spPr>
          <p:txBody>
            <a:bodyPr wrap="square" rtlCol="0">
              <a:noAutofit/>
            </a:bodyPr>
            <a:lstStyle/>
            <a:p>
              <a:pPr marL="0" indent="0"/>
              <a:r>
                <a:rPr lang="tr-TR" sz="2800" b="1" dirty="0">
                  <a:ea typeface="Calibri"/>
                  <a:cs typeface="Calibri"/>
                </a:rPr>
                <a:t>Hedef</a:t>
              </a:r>
              <a:r>
                <a:rPr lang="en-US" sz="2800" b="1" dirty="0">
                  <a:solidFill>
                    <a:srgbClr val="3C3939"/>
                  </a:solidFill>
                  <a:ea typeface="Roboto" pitchFamily="34" charset="-122"/>
                  <a:cs typeface="Roboto" pitchFamily="34" charset="-120"/>
                </a:rPr>
                <a:t> →</a:t>
              </a:r>
              <a:r>
                <a:rPr lang="tr-TR" sz="2800" b="0" dirty="0">
                  <a:ea typeface="Calibri"/>
                  <a:cs typeface="Calibri"/>
                </a:rPr>
                <a:t> Fiyat</a:t>
              </a:r>
              <a:endParaRPr lang="tr-TR" sz="2800" dirty="0"/>
            </a:p>
            <a:p>
              <a:pPr marL="0" indent="0"/>
              <a:endParaRPr lang="tr-TR" sz="2800" dirty="0"/>
            </a:p>
            <a:p>
              <a:pPr marL="0" indent="0"/>
              <a:r>
                <a:rPr lang="tr-TR" sz="2800" b="1" dirty="0">
                  <a:ea typeface="Calibri"/>
                  <a:cs typeface="Calibri"/>
                </a:rPr>
                <a:t>Girdiler</a:t>
              </a:r>
              <a:r>
                <a:rPr lang="en-US" sz="2800" b="1" dirty="0">
                  <a:solidFill>
                    <a:srgbClr val="3C3939"/>
                  </a:solidFill>
                  <a:ea typeface="Roboto" pitchFamily="34" charset="-122"/>
                  <a:cs typeface="Roboto" pitchFamily="34" charset="-120"/>
                </a:rPr>
                <a:t> →</a:t>
              </a:r>
              <a:r>
                <a:rPr lang="tr-TR" sz="2800" b="0" dirty="0">
                  <a:ea typeface="Calibri"/>
                  <a:cs typeface="Calibri"/>
                </a:rPr>
                <a:t> Yaş, alan, oda sayısı, şehir</a:t>
              </a:r>
            </a:p>
            <a:p>
              <a:pPr marL="0" indent="0"/>
              <a:endParaRPr lang="tr-TR" sz="2800" dirty="0"/>
            </a:p>
          </p:txBody>
        </p:sp>
        <p:sp>
          <p:nvSpPr>
            <p:cNvPr id="62" name="Shape 13">
              <a:extLst>
                <a:ext uri="{FF2B5EF4-FFF2-40B4-BE49-F238E27FC236}">
                  <a16:creationId xmlns:a16="http://schemas.microsoft.com/office/drawing/2014/main" id="{5D650DCE-BBBE-4B1E-93C0-BB13A49A0901}"/>
                </a:ext>
              </a:extLst>
            </p:cNvPr>
            <p:cNvSpPr/>
            <p:nvPr/>
          </p:nvSpPr>
          <p:spPr>
            <a:xfrm>
              <a:off x="9498951" y="5703289"/>
              <a:ext cx="5554250" cy="1154264"/>
            </a:xfrm>
            <a:prstGeom prst="roundRect">
              <a:avLst>
                <a:gd name="adj" fmla="val 7638"/>
              </a:avLst>
            </a:prstGeom>
            <a:noFill/>
            <a:ln/>
          </p:spPr>
        </p:sp>
        <p:sp>
          <p:nvSpPr>
            <p:cNvPr id="61" name="Metin kutusu 60">
              <a:extLst>
                <a:ext uri="{FF2B5EF4-FFF2-40B4-BE49-F238E27FC236}">
                  <a16:creationId xmlns:a16="http://schemas.microsoft.com/office/drawing/2014/main" id="{A0C61B21-79DE-4334-B799-C5A6FCAA410A}"/>
                </a:ext>
              </a:extLst>
            </p:cNvPr>
            <p:cNvSpPr txBox="1"/>
            <p:nvPr/>
          </p:nvSpPr>
          <p:spPr>
            <a:xfrm>
              <a:off x="10111225" y="5844418"/>
              <a:ext cx="6477000" cy="1457672"/>
            </a:xfrm>
            <a:prstGeom prst="rect">
              <a:avLst/>
            </a:prstGeom>
            <a:noFill/>
          </p:spPr>
          <p:txBody>
            <a:bodyPr wrap="square" rtlCol="0">
              <a:noAutofit/>
            </a:bodyPr>
            <a:lstStyle/>
            <a:p>
              <a:pPr marL="0" indent="0"/>
              <a:r>
                <a:rPr lang="tr-TR" sz="2800" b="1" dirty="0">
                  <a:ea typeface="Calibri"/>
                  <a:cs typeface="Calibri"/>
                </a:rPr>
                <a:t>Ev ID </a:t>
              </a:r>
              <a:r>
                <a:rPr lang="en-US" sz="2800" b="1" dirty="0">
                  <a:solidFill>
                    <a:srgbClr val="3C3939"/>
                  </a:solidFill>
                  <a:ea typeface="Roboto" pitchFamily="34" charset="-122"/>
                  <a:cs typeface="Roboto" pitchFamily="34" charset="-120"/>
                </a:rPr>
                <a:t>→ </a:t>
              </a:r>
              <a:r>
                <a:rPr lang="tr-TR" sz="2800" b="0" dirty="0">
                  <a:ea typeface="Calibri"/>
                  <a:cs typeface="Calibri"/>
                </a:rPr>
                <a:t>Kayıt kimliği</a:t>
              </a:r>
            </a:p>
            <a:p>
              <a:pPr marL="0" indent="0"/>
              <a:endParaRPr lang="tr-TR" sz="2800" dirty="0"/>
            </a:p>
            <a:p>
              <a:pPr marL="0" indent="0"/>
              <a:r>
                <a:rPr lang="tr-TR" sz="2800" b="0" dirty="0">
                  <a:ea typeface="Calibri"/>
                  <a:cs typeface="Calibri"/>
                </a:rPr>
                <a:t>Bu örnekte model girdisi değildir.</a:t>
              </a:r>
              <a:endParaRPr lang="tr-TR" sz="2800" dirty="0"/>
            </a:p>
          </p:txBody>
        </p:sp>
        <p:pic>
          <p:nvPicPr>
            <p:cNvPr id="65" name="Image 0" descr="preencoded.png">
              <a:extLst>
                <a:ext uri="{FF2B5EF4-FFF2-40B4-BE49-F238E27FC236}">
                  <a16:creationId xmlns:a16="http://schemas.microsoft.com/office/drawing/2014/main" id="{D464C976-50C0-4E61-B5EA-2F83A5C0A961}"/>
                </a:ext>
              </a:extLst>
            </p:cNvPr>
            <p:cNvPicPr>
              <a:picLocks noChangeAspect="1"/>
            </p:cNvPicPr>
            <p:nvPr/>
          </p:nvPicPr>
          <p:blipFill>
            <a:blip r:embed="rId5"/>
            <a:stretch>
              <a:fillRect/>
            </a:stretch>
          </p:blipFill>
          <p:spPr>
            <a:xfrm>
              <a:off x="9578673" y="5924650"/>
              <a:ext cx="475242" cy="363694"/>
            </a:xfrm>
            <a:prstGeom prst="rect">
              <a:avLst/>
            </a:prstGeom>
          </p:spPr>
        </p:pic>
        <p:sp>
          <p:nvSpPr>
            <p:cNvPr id="3" name="Metin kutusu 2">
              <a:extLst>
                <a:ext uri="{FF2B5EF4-FFF2-40B4-BE49-F238E27FC236}">
                  <a16:creationId xmlns:a16="http://schemas.microsoft.com/office/drawing/2014/main" id="{CF25CA2E-BE82-4DC5-8EF2-BF45BE971D52}"/>
                </a:ext>
              </a:extLst>
            </p:cNvPr>
            <p:cNvSpPr txBox="1"/>
            <p:nvPr/>
          </p:nvSpPr>
          <p:spPr>
            <a:xfrm>
              <a:off x="9560744" y="4621371"/>
              <a:ext cx="6045849" cy="523220"/>
            </a:xfrm>
            <a:prstGeom prst="rect">
              <a:avLst/>
            </a:prstGeom>
            <a:noFill/>
          </p:spPr>
          <p:txBody>
            <a:bodyPr wrap="square" rtlCol="0">
              <a:spAutoFit/>
            </a:bodyPr>
            <a:lstStyle/>
            <a:p>
              <a:pPr marL="0" indent="0"/>
              <a:r>
                <a:rPr lang="tr-TR" sz="2800" b="0" dirty="0">
                  <a:ea typeface="Calibri"/>
                  <a:cs typeface="Calibri"/>
                </a:rPr>
                <a:t>Model bu girdilerle fiyatı tahmin eder.</a:t>
              </a:r>
              <a:endParaRPr lang="tr-TR" sz="2800" dirty="0"/>
            </a:p>
          </p:txBody>
        </p:sp>
      </p:grpSp>
    </p:spTree>
    <p:extLst>
      <p:ext uri="{BB962C8B-B14F-4D97-AF65-F5344CB8AC3E}">
        <p14:creationId xmlns:p14="http://schemas.microsoft.com/office/powerpoint/2010/main" val="424246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03DC624-C3EC-4A98-8D06-8C8FA966C643}"/>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a:lnSpc>
                <a:spcPct val="104000"/>
              </a:lnSpc>
            </a:pPr>
            <a:r>
              <a:rPr lang="tr-TR" sz="4400" b="1" dirty="0">
                <a:solidFill>
                  <a:srgbClr val="1E2A4E"/>
                </a:solidFill>
                <a:latin typeface="Calibri"/>
                <a:ea typeface="Calibri"/>
                <a:cs typeface="Calibri"/>
              </a:rPr>
              <a:t>Eksik değerleri fark etme</a:t>
            </a:r>
            <a:endParaRPr lang="tr-TR" sz="4400"/>
          </a:p>
        </p:txBody>
      </p:sp>
      <p:graphicFrame>
        <p:nvGraphicFramePr>
          <p:cNvPr id="3" name="Table 0">
            <a:extLst>
              <a:ext uri="{FF2B5EF4-FFF2-40B4-BE49-F238E27FC236}">
                <a16:creationId xmlns:a16="http://schemas.microsoft.com/office/drawing/2014/main" id="{62F76833-C0FA-478E-85FB-49EB643D0848}"/>
              </a:ext>
            </a:extLst>
          </p:cNvPr>
          <p:cNvGraphicFramePr>
            <a:graphicFrameLocks noGrp="1"/>
          </p:cNvGraphicFramePr>
          <p:nvPr>
            <p:extLst>
              <p:ext uri="{D42A27DB-BD31-4B8C-83A1-F6EECF244321}">
                <p14:modId xmlns:p14="http://schemas.microsoft.com/office/powerpoint/2010/main" val="759843060"/>
              </p:ext>
            </p:extLst>
          </p:nvPr>
        </p:nvGraphicFramePr>
        <p:xfrm>
          <a:off x="1066800" y="2705100"/>
          <a:ext cx="8686800" cy="6324600"/>
        </p:xfrm>
        <a:graphic>
          <a:graphicData uri="http://schemas.openxmlformats.org/drawingml/2006/table">
            <a:tbl>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1576436">
                <a:tc>
                  <a:txBody>
                    <a:bodyPr/>
                    <a:lstStyle/>
                    <a:p>
                      <a:pPr marL="0" indent="0">
                        <a:buNone/>
                      </a:pPr>
                      <a:r>
                        <a:rPr lang="en-US" sz="2800" b="1" dirty="0">
                          <a:solidFill>
                            <a:srgbClr val="FFFFFF"/>
                          </a:solidFill>
                          <a:latin typeface="Calibri"/>
                          <a:ea typeface="Calibri" pitchFamily="34" charset="-122"/>
                          <a:cs typeface="Calibri" pitchFamily="34" charset="-120"/>
                        </a:rPr>
                        <a:t>Ev</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tc>
                  <a:txBody>
                    <a:bodyPr/>
                    <a:lstStyle/>
                    <a:p>
                      <a:pPr marL="0" indent="0">
                        <a:buNone/>
                      </a:pPr>
                      <a:r>
                        <a:rPr lang="en-US" sz="2800" b="1" dirty="0">
                          <a:solidFill>
                            <a:srgbClr val="FFFFFF"/>
                          </a:solidFill>
                          <a:latin typeface="Calibri"/>
                          <a:ea typeface="Calibri" pitchFamily="34" charset="-122"/>
                          <a:cs typeface="Calibri" pitchFamily="34" charset="-120"/>
                        </a:rPr>
                        <a:t>m²</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tc>
                  <a:txBody>
                    <a:bodyPr/>
                    <a:lstStyle/>
                    <a:p>
                      <a:pPr marL="0" indent="0">
                        <a:buNone/>
                      </a:pPr>
                      <a:r>
                        <a:rPr lang="en-US" sz="2800" b="1" dirty="0">
                          <a:solidFill>
                            <a:srgbClr val="FFFFFF"/>
                          </a:solidFill>
                          <a:latin typeface="Calibri"/>
                          <a:ea typeface="Calibri" pitchFamily="34" charset="-122"/>
                          <a:cs typeface="Calibri" pitchFamily="34" charset="-120"/>
                        </a:rPr>
                        <a:t>Oda</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tc>
                  <a:txBody>
                    <a:bodyPr/>
                    <a:lstStyle/>
                    <a:p>
                      <a:pPr marL="0" indent="0">
                        <a:buNone/>
                      </a:pPr>
                      <a:r>
                        <a:rPr lang="en-US" sz="2800" b="1" dirty="0" err="1">
                          <a:solidFill>
                            <a:srgbClr val="FFFFFF"/>
                          </a:solidFill>
                          <a:latin typeface="Calibri"/>
                          <a:ea typeface="Calibri" pitchFamily="34" charset="-122"/>
                          <a:cs typeface="Calibri" pitchFamily="34" charset="-120"/>
                        </a:rPr>
                        <a:t>Fiyat</a:t>
                      </a:r>
                    </a:p>
                    <a:p>
                      <a:pPr marL="0" indent="0">
                        <a:buNone/>
                      </a:pPr>
                      <a:r>
                        <a:rPr lang="tr-TR" sz="2800" b="1" dirty="0">
                          <a:solidFill>
                            <a:srgbClr val="FFFFFF"/>
                          </a:solidFill>
                          <a:latin typeface="+mn-lt"/>
                          <a:ea typeface="Calibri" pitchFamily="34" charset="-122"/>
                          <a:cs typeface="Calibri" pitchFamily="34" charset="-120"/>
                        </a:rPr>
                        <a:t>(bin TL)</a:t>
                      </a:r>
                      <a:endParaRPr lang="en-US" sz="2800" dirty="0">
                        <a:latin typeface="+mn-lt"/>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1B1B27"/>
                    </a:solidFill>
                  </a:tcPr>
                </a:tc>
                <a:extLst>
                  <a:ext uri="{0D108BD9-81ED-4DB2-BD59-A6C34878D82A}">
                    <a16:rowId xmlns:a16="http://schemas.microsoft.com/office/drawing/2014/main" val="10000"/>
                  </a:ext>
                </a:extLst>
              </a:tr>
              <a:tr h="1585864">
                <a:tc>
                  <a:txBody>
                    <a:bodyPr/>
                    <a:lstStyle/>
                    <a:p>
                      <a:pPr marL="0" indent="0">
                        <a:buNone/>
                      </a:pPr>
                      <a:r>
                        <a:rPr lang="en-US" sz="2800" dirty="0">
                          <a:solidFill>
                            <a:srgbClr val="3C3939"/>
                          </a:solidFill>
                          <a:latin typeface="Calibri"/>
                          <a:ea typeface="Calibri" pitchFamily="34" charset="-122"/>
                          <a:cs typeface="Calibri" pitchFamily="34" charset="-120"/>
                        </a:rPr>
                        <a:t>Ev 1</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2800" dirty="0">
                          <a:solidFill>
                            <a:srgbClr val="3C3939"/>
                          </a:solidFill>
                          <a:latin typeface="Calibri"/>
                          <a:ea typeface="Calibri" pitchFamily="34" charset="-122"/>
                          <a:cs typeface="Calibri" pitchFamily="34" charset="-120"/>
                        </a:rPr>
                        <a:t>120</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2800" dirty="0">
                          <a:solidFill>
                            <a:srgbClr val="3C3939"/>
                          </a:solidFill>
                          <a:latin typeface="Calibri"/>
                          <a:ea typeface="Calibri" pitchFamily="34" charset="-122"/>
                          <a:cs typeface="Calibri" pitchFamily="34" charset="-120"/>
                        </a:rPr>
                        <a:t>3</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tr-TR" sz="2800" dirty="0">
                          <a:solidFill>
                            <a:srgbClr val="3C3939"/>
                          </a:solidFill>
                          <a:latin typeface="Calibri"/>
                          <a:ea typeface="Calibri" pitchFamily="34" charset="-122"/>
                          <a:cs typeface="Calibri" pitchFamily="34" charset="-120"/>
                        </a:rPr>
                        <a:t>1.</a:t>
                      </a:r>
                      <a:r>
                        <a:rPr lang="en-US" sz="2800" dirty="0">
                          <a:solidFill>
                            <a:srgbClr val="3C3939"/>
                          </a:solidFill>
                          <a:latin typeface="Calibri"/>
                          <a:ea typeface="Calibri" pitchFamily="34" charset="-122"/>
                          <a:cs typeface="Calibri" pitchFamily="34" charset="-120"/>
                        </a:rPr>
                        <a:t>850</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extLst>
                  <a:ext uri="{0D108BD9-81ED-4DB2-BD59-A6C34878D82A}">
                    <a16:rowId xmlns:a16="http://schemas.microsoft.com/office/drawing/2014/main" val="10001"/>
                  </a:ext>
                </a:extLst>
              </a:tr>
              <a:tr h="1585864">
                <a:tc>
                  <a:txBody>
                    <a:bodyPr/>
                    <a:lstStyle/>
                    <a:p>
                      <a:pPr marL="0" indent="0">
                        <a:buNone/>
                      </a:pPr>
                      <a:r>
                        <a:rPr lang="en-US" sz="2800" dirty="0">
                          <a:solidFill>
                            <a:srgbClr val="3C3939"/>
                          </a:solidFill>
                          <a:latin typeface="Calibri"/>
                          <a:ea typeface="Calibri" pitchFamily="34" charset="-122"/>
                          <a:cs typeface="Calibri" pitchFamily="34" charset="-120"/>
                        </a:rPr>
                        <a:t>Ev 2</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tr-TR" sz="2800" dirty="0">
                          <a:solidFill>
                            <a:srgbClr val="3C3939"/>
                          </a:solidFill>
                          <a:latin typeface="Calibri"/>
                          <a:ea typeface="Calibri" pitchFamily="34" charset="-122"/>
                          <a:cs typeface="Calibri" pitchFamily="34" charset="-120"/>
                        </a:rPr>
                        <a:t>8</a:t>
                      </a:r>
                      <a:r>
                        <a:rPr lang="en-US" sz="2800" dirty="0">
                          <a:solidFill>
                            <a:srgbClr val="3C3939"/>
                          </a:solidFill>
                          <a:latin typeface="Calibri"/>
                          <a:ea typeface="Calibri" pitchFamily="34" charset="-122"/>
                          <a:cs typeface="Calibri" pitchFamily="34" charset="-120"/>
                        </a:rPr>
                        <a:t>5</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2800" dirty="0">
                          <a:solidFill>
                            <a:srgbClr val="3C3939"/>
                          </a:solidFill>
                          <a:latin typeface="Calibri"/>
                          <a:ea typeface="Calibri" pitchFamily="34" charset="-122"/>
                          <a:cs typeface="Calibri" pitchFamily="34" charset="-120"/>
                        </a:rPr>
                        <a:t>2</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2800" b="1" dirty="0" err="1">
                          <a:solidFill>
                            <a:srgbClr val="3C3939"/>
                          </a:solidFill>
                          <a:latin typeface="+mn-lt"/>
                          <a:ea typeface="Calibri" pitchFamily="34" charset="-122"/>
                          <a:cs typeface="Calibri" pitchFamily="34" charset="-120"/>
                        </a:rPr>
                        <a:t>Eksik</a:t>
                      </a:r>
                      <a:endParaRPr lang="en-US" sz="2800" dirty="0">
                        <a:latin typeface="+mn-lt"/>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extLst>
                  <a:ext uri="{0D108BD9-81ED-4DB2-BD59-A6C34878D82A}">
                    <a16:rowId xmlns:a16="http://schemas.microsoft.com/office/drawing/2014/main" val="10002"/>
                  </a:ext>
                </a:extLst>
              </a:tr>
              <a:tr h="1576436">
                <a:tc>
                  <a:txBody>
                    <a:bodyPr/>
                    <a:lstStyle/>
                    <a:p>
                      <a:pPr marL="0" indent="0">
                        <a:buNone/>
                      </a:pPr>
                      <a:r>
                        <a:rPr lang="en-US" sz="2800" dirty="0">
                          <a:solidFill>
                            <a:srgbClr val="3C3939"/>
                          </a:solidFill>
                          <a:latin typeface="Calibri"/>
                          <a:ea typeface="Calibri" pitchFamily="34" charset="-122"/>
                          <a:cs typeface="Calibri" pitchFamily="34" charset="-120"/>
                        </a:rPr>
                        <a:t>Ev 3</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2800" dirty="0">
                          <a:solidFill>
                            <a:srgbClr val="3C3939"/>
                          </a:solidFill>
                          <a:latin typeface="Calibri"/>
                          <a:ea typeface="Calibri" pitchFamily="34" charset="-122"/>
                          <a:cs typeface="Calibri" pitchFamily="34" charset="-120"/>
                        </a:rPr>
                        <a:t>1</a:t>
                      </a:r>
                      <a:r>
                        <a:rPr lang="tr-TR" sz="2800" dirty="0">
                          <a:solidFill>
                            <a:srgbClr val="3C3939"/>
                          </a:solidFill>
                          <a:latin typeface="Calibri"/>
                          <a:ea typeface="Calibri" pitchFamily="34" charset="-122"/>
                          <a:cs typeface="Calibri" pitchFamily="34" charset="-120"/>
                        </a:rPr>
                        <a:t>45</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en-US" sz="2800" dirty="0">
                          <a:solidFill>
                            <a:srgbClr val="3C3939"/>
                          </a:solidFill>
                          <a:latin typeface="Calibri"/>
                          <a:ea typeface="Calibri" pitchFamily="34" charset="-122"/>
                          <a:cs typeface="Calibri" pitchFamily="34" charset="-120"/>
                        </a:rPr>
                        <a:t>4</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marL="0" indent="0">
                        <a:buNone/>
                      </a:pPr>
                      <a:r>
                        <a:rPr lang="tr-TR" sz="2800" dirty="0">
                          <a:solidFill>
                            <a:srgbClr val="3C3939"/>
                          </a:solidFill>
                          <a:latin typeface="Calibri"/>
                          <a:ea typeface="Calibri" pitchFamily="34" charset="-122"/>
                          <a:cs typeface="Calibri" pitchFamily="34" charset="-120"/>
                        </a:rPr>
                        <a:t>3.100</a:t>
                      </a:r>
                      <a:endParaRPr lang="en-US" sz="2800" dirty="0">
                        <a:latin typeface="Calibri"/>
                        <a:ea typeface="Calibri" charset="0"/>
                        <a:cs typeface="Calibri" charset="0"/>
                      </a:endParaRPr>
                    </a:p>
                  </a:txBody>
                  <a:tcPr marL="279098" marR="279098" marT="9525" marB="9525" anchor="ctr">
                    <a:lnL w="12700" cap="flat" cmpd="sng" algn="ctr">
                      <a:solidFill>
                        <a:srgbClr val="C7C7D0"/>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extLst>
                  <a:ext uri="{0D108BD9-81ED-4DB2-BD59-A6C34878D82A}">
                    <a16:rowId xmlns:a16="http://schemas.microsoft.com/office/drawing/2014/main" val="10003"/>
                  </a:ext>
                </a:extLst>
              </a:tr>
            </a:tbl>
          </a:graphicData>
        </a:graphic>
      </p:graphicFrame>
      <p:sp>
        <p:nvSpPr>
          <p:cNvPr id="4" name="Text 2">
            <a:extLst>
              <a:ext uri="{FF2B5EF4-FFF2-40B4-BE49-F238E27FC236}">
                <a16:creationId xmlns:a16="http://schemas.microsoft.com/office/drawing/2014/main" id="{C791AA80-80BA-4243-B840-71F8382CCD5E}"/>
              </a:ext>
            </a:extLst>
          </p:cNvPr>
          <p:cNvSpPr/>
          <p:nvPr/>
        </p:nvSpPr>
        <p:spPr>
          <a:xfrm>
            <a:off x="10369355" y="3384713"/>
            <a:ext cx="7958752" cy="746101"/>
          </a:xfrm>
          <a:prstGeom prst="rect">
            <a:avLst/>
          </a:prstGeom>
          <a:noFill/>
          <a:ln/>
        </p:spPr>
        <p:txBody>
          <a:bodyPr wrap="none" lIns="0" tIns="0" rIns="0" bIns="0" rtlCol="0" anchor="t"/>
          <a:lstStyle/>
          <a:p>
            <a:pPr>
              <a:lnSpc>
                <a:spcPct val="104000"/>
              </a:lnSpc>
            </a:pPr>
            <a:r>
              <a:rPr lang="en-US" sz="3600" b="1" dirty="0">
                <a:solidFill>
                  <a:srgbClr val="1B1B27"/>
                </a:solidFill>
                <a:ea typeface="Calibri" pitchFamily="34" charset="-122"/>
                <a:cs typeface="Calibri" pitchFamily="34" charset="-120"/>
              </a:rPr>
              <a:t>Neden Eksik Olabilir?</a:t>
            </a:r>
            <a:endParaRPr lang="en-US" sz="3600" b="1" dirty="0"/>
          </a:p>
        </p:txBody>
      </p:sp>
      <p:pic>
        <p:nvPicPr>
          <p:cNvPr id="5" name="Image 0" descr="preencoded.png">
            <a:extLst>
              <a:ext uri="{FF2B5EF4-FFF2-40B4-BE49-F238E27FC236}">
                <a16:creationId xmlns:a16="http://schemas.microsoft.com/office/drawing/2014/main" id="{745A5DBF-DE9C-48CF-B95D-C502981917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82478" y="4334020"/>
            <a:ext cx="418643" cy="418653"/>
          </a:xfrm>
          <a:prstGeom prst="rect">
            <a:avLst/>
          </a:prstGeom>
        </p:spPr>
      </p:pic>
      <p:sp>
        <p:nvSpPr>
          <p:cNvPr id="6" name="Text 3">
            <a:extLst>
              <a:ext uri="{FF2B5EF4-FFF2-40B4-BE49-F238E27FC236}">
                <a16:creationId xmlns:a16="http://schemas.microsoft.com/office/drawing/2014/main" id="{7E326769-C680-41B0-BB35-A166227948CA}"/>
              </a:ext>
            </a:extLst>
          </p:cNvPr>
          <p:cNvSpPr/>
          <p:nvPr/>
        </p:nvSpPr>
        <p:spPr>
          <a:xfrm>
            <a:off x="10896600" y="4223551"/>
            <a:ext cx="6904262" cy="442913"/>
          </a:xfrm>
          <a:prstGeom prst="rect">
            <a:avLst/>
          </a:prstGeom>
          <a:noFill/>
          <a:ln/>
        </p:spPr>
        <p:txBody>
          <a:bodyPr wrap="none" lIns="0" tIns="0" rIns="0" bIns="0" rtlCol="0" anchor="t"/>
          <a:lstStyle/>
          <a:p>
            <a:pPr>
              <a:lnSpc>
                <a:spcPct val="132000"/>
              </a:lnSpc>
            </a:pPr>
            <a:r>
              <a:rPr lang="en-US" sz="2800" dirty="0">
                <a:solidFill>
                  <a:srgbClr val="3C3939"/>
                </a:solidFill>
                <a:ea typeface="Calibri" pitchFamily="34" charset="-122"/>
                <a:cs typeface="Calibri" pitchFamily="34" charset="-120"/>
              </a:rPr>
              <a:t>Veri </a:t>
            </a:r>
            <a:r>
              <a:rPr lang="en-US" sz="2800" b="1" dirty="0">
                <a:solidFill>
                  <a:srgbClr val="3C3939"/>
                </a:solidFill>
                <a:ea typeface="Calibri" pitchFamily="34" charset="-122"/>
                <a:cs typeface="Calibri" pitchFamily="34" charset="-120"/>
              </a:rPr>
              <a:t>girilmemiş</a:t>
            </a:r>
            <a:r>
              <a:rPr lang="en-US" sz="2800" dirty="0">
                <a:solidFill>
                  <a:srgbClr val="3C3939"/>
                </a:solidFill>
                <a:ea typeface="Calibri" pitchFamily="34" charset="-122"/>
                <a:cs typeface="Calibri" pitchFamily="34" charset="-120"/>
              </a:rPr>
              <a:t> olabilir</a:t>
            </a:r>
            <a:endParaRPr lang="en-US" sz="2800" dirty="0"/>
          </a:p>
        </p:txBody>
      </p:sp>
      <p:pic>
        <p:nvPicPr>
          <p:cNvPr id="7" name="Image 1" descr="preencoded.png">
            <a:extLst>
              <a:ext uri="{FF2B5EF4-FFF2-40B4-BE49-F238E27FC236}">
                <a16:creationId xmlns:a16="http://schemas.microsoft.com/office/drawing/2014/main" id="{07CB8831-AD1C-43AE-A892-CDABF0B401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82478" y="5734642"/>
            <a:ext cx="418643" cy="418653"/>
          </a:xfrm>
          <a:prstGeom prst="rect">
            <a:avLst/>
          </a:prstGeom>
        </p:spPr>
      </p:pic>
      <p:sp>
        <p:nvSpPr>
          <p:cNvPr id="8" name="Text 4">
            <a:extLst>
              <a:ext uri="{FF2B5EF4-FFF2-40B4-BE49-F238E27FC236}">
                <a16:creationId xmlns:a16="http://schemas.microsoft.com/office/drawing/2014/main" id="{6517F8C3-85E1-445D-BB81-8D050C7196AB}"/>
              </a:ext>
            </a:extLst>
          </p:cNvPr>
          <p:cNvSpPr/>
          <p:nvPr/>
        </p:nvSpPr>
        <p:spPr>
          <a:xfrm>
            <a:off x="10913165" y="5645943"/>
            <a:ext cx="6904262" cy="442913"/>
          </a:xfrm>
          <a:prstGeom prst="rect">
            <a:avLst/>
          </a:prstGeom>
          <a:noFill/>
          <a:ln/>
        </p:spPr>
        <p:txBody>
          <a:bodyPr wrap="none" lIns="0" tIns="0" rIns="0" bIns="0" rtlCol="0" anchor="t"/>
          <a:lstStyle/>
          <a:p>
            <a:pPr>
              <a:lnSpc>
                <a:spcPct val="132000"/>
              </a:lnSpc>
            </a:pPr>
            <a:r>
              <a:rPr lang="en-US" sz="2800" dirty="0">
                <a:solidFill>
                  <a:srgbClr val="3C3939"/>
                </a:solidFill>
                <a:ea typeface="Calibri" pitchFamily="34" charset="-122"/>
                <a:cs typeface="Calibri" pitchFamily="34" charset="-120"/>
              </a:rPr>
              <a:t>Değer </a:t>
            </a:r>
            <a:r>
              <a:rPr lang="en-US" sz="2800" b="1" dirty="0">
                <a:solidFill>
                  <a:srgbClr val="3C3939"/>
                </a:solidFill>
                <a:ea typeface="Calibri" pitchFamily="34" charset="-122"/>
                <a:cs typeface="Calibri" pitchFamily="34" charset="-120"/>
              </a:rPr>
              <a:t>ölçülememiş</a:t>
            </a:r>
            <a:r>
              <a:rPr lang="en-US" sz="2800" dirty="0">
                <a:solidFill>
                  <a:srgbClr val="3C3939"/>
                </a:solidFill>
                <a:ea typeface="Calibri" pitchFamily="34" charset="-122"/>
                <a:cs typeface="Calibri" pitchFamily="34" charset="-120"/>
              </a:rPr>
              <a:t> olabilir</a:t>
            </a:r>
            <a:endParaRPr lang="en-US" sz="2800" dirty="0"/>
          </a:p>
        </p:txBody>
      </p:sp>
      <p:pic>
        <p:nvPicPr>
          <p:cNvPr id="9" name="Image 2" descr="preencoded.png">
            <a:extLst>
              <a:ext uri="{FF2B5EF4-FFF2-40B4-BE49-F238E27FC236}">
                <a16:creationId xmlns:a16="http://schemas.microsoft.com/office/drawing/2014/main" id="{5CBED54A-DDA3-4FF1-B1D8-8B96381562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82478" y="7135262"/>
            <a:ext cx="418643" cy="418653"/>
          </a:xfrm>
          <a:prstGeom prst="rect">
            <a:avLst/>
          </a:prstGeom>
        </p:spPr>
      </p:pic>
      <p:sp>
        <p:nvSpPr>
          <p:cNvPr id="10" name="Text 5">
            <a:extLst>
              <a:ext uri="{FF2B5EF4-FFF2-40B4-BE49-F238E27FC236}">
                <a16:creationId xmlns:a16="http://schemas.microsoft.com/office/drawing/2014/main" id="{C8CEF10A-B91C-487F-9D3E-42DC2830E57B}"/>
              </a:ext>
            </a:extLst>
          </p:cNvPr>
          <p:cNvSpPr/>
          <p:nvPr/>
        </p:nvSpPr>
        <p:spPr>
          <a:xfrm>
            <a:off x="10896600" y="7111002"/>
            <a:ext cx="6904262" cy="442913"/>
          </a:xfrm>
          <a:prstGeom prst="rect">
            <a:avLst/>
          </a:prstGeom>
          <a:noFill/>
          <a:ln/>
        </p:spPr>
        <p:txBody>
          <a:bodyPr wrap="none" lIns="0" tIns="0" rIns="0" bIns="0" rtlCol="0" anchor="t"/>
          <a:lstStyle/>
          <a:p>
            <a:pPr>
              <a:lnSpc>
                <a:spcPct val="132000"/>
              </a:lnSpc>
            </a:pPr>
            <a:r>
              <a:rPr lang="en-US" sz="2800" dirty="0">
                <a:solidFill>
                  <a:srgbClr val="3C3939"/>
                </a:solidFill>
                <a:ea typeface="Calibri" pitchFamily="34" charset="-122"/>
                <a:cs typeface="Calibri" pitchFamily="34" charset="-120"/>
              </a:rPr>
              <a:t>Kayıt sırasında </a:t>
            </a:r>
            <a:r>
              <a:rPr lang="en-US" sz="2800" b="1" dirty="0">
                <a:solidFill>
                  <a:srgbClr val="3C3939"/>
                </a:solidFill>
                <a:ea typeface="Calibri" pitchFamily="34" charset="-122"/>
                <a:cs typeface="Calibri" pitchFamily="34" charset="-120"/>
              </a:rPr>
              <a:t>kaybolmuş</a:t>
            </a:r>
            <a:r>
              <a:rPr lang="en-US" sz="2800" dirty="0">
                <a:solidFill>
                  <a:srgbClr val="3C3939"/>
                </a:solidFill>
                <a:ea typeface="Calibri" pitchFamily="34" charset="-122"/>
                <a:cs typeface="Calibri" pitchFamily="34" charset="-120"/>
              </a:rPr>
              <a:t> olabilir</a:t>
            </a:r>
            <a:endParaRPr lang="en-US" sz="2800" dirty="0"/>
          </a:p>
        </p:txBody>
      </p:sp>
      <p:sp>
        <p:nvSpPr>
          <p:cNvPr id="14" name="Metin kutusu 13">
            <a:extLst>
              <a:ext uri="{FF2B5EF4-FFF2-40B4-BE49-F238E27FC236}">
                <a16:creationId xmlns:a16="http://schemas.microsoft.com/office/drawing/2014/main" id="{7D247FDD-72EC-4D8D-A1AA-0BFF5E6EBAF0}"/>
              </a:ext>
            </a:extLst>
          </p:cNvPr>
          <p:cNvSpPr txBox="1"/>
          <p:nvPr/>
        </p:nvSpPr>
        <p:spPr>
          <a:xfrm>
            <a:off x="1066800" y="1704499"/>
            <a:ext cx="15888168" cy="688265"/>
          </a:xfrm>
          <a:prstGeom prst="rect">
            <a:avLst/>
          </a:prstGeom>
          <a:noFill/>
        </p:spPr>
        <p:txBody>
          <a:bodyPr wrap="square">
            <a:noAutofit/>
          </a:bodyPr>
          <a:lstStyle/>
          <a:p>
            <a:pPr marL="0" indent="0" algn="l">
              <a:lnSpc>
                <a:spcPct val="132000"/>
              </a:lnSpc>
              <a:buNone/>
            </a:pPr>
            <a:r>
              <a:rPr lang="tr-TR" sz="2800" b="0" dirty="0" err="1">
                <a:solidFill>
                  <a:srgbClr val="3C3939"/>
                </a:solidFill>
                <a:latin typeface="Calibri"/>
                <a:ea typeface="Calibri"/>
                <a:cs typeface="Calibri"/>
              </a:rPr>
              <a:t>Eksik değer, bilinmeyen değerdir. </a:t>
            </a:r>
            <a:r>
              <a:rPr lang="tr-TR" sz="2800" b="0" dirty="0">
                <a:solidFill>
                  <a:srgbClr val="3C3939"/>
                </a:solidFill>
                <a:latin typeface="Calibri"/>
                <a:ea typeface="Calibri"/>
                <a:cs typeface="Calibri"/>
              </a:rPr>
              <a:t>Sıfırla aynı anlamı taşımaz.</a:t>
            </a:r>
            <a:endParaRPr lang="tr-TR" sz="2800" dirty="0"/>
          </a:p>
        </p:txBody>
      </p:sp>
    </p:spTree>
    <p:extLst>
      <p:ext uri="{BB962C8B-B14F-4D97-AF65-F5344CB8AC3E}">
        <p14:creationId xmlns:p14="http://schemas.microsoft.com/office/powerpoint/2010/main" val="2259142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6B27650-D6FA-4A81-B51E-334BC6E84642}"/>
              </a:ext>
            </a:extLst>
          </p:cNvPr>
          <p:cNvSpPr/>
          <p:nvPr/>
        </p:nvSpPr>
        <p:spPr>
          <a:xfrm>
            <a:off x="762000" y="402135"/>
            <a:ext cx="16764000" cy="990600"/>
          </a:xfrm>
          <a:prstGeom prst="rect">
            <a:avLst/>
          </a:prstGeom>
          <a:noFill/>
          <a:ln/>
        </p:spPr>
        <p:txBody>
          <a:bodyPr wrap="square" lIns="0" tIns="0" rIns="0" bIns="0" rtlCol="0" anchor="t">
            <a:noAutofit/>
          </a:bodyPr>
          <a:lstStyle/>
          <a:p>
            <a:pPr marL="0" indent="0" algn="l" defTabSz="1371600">
              <a:lnSpc>
                <a:spcPct val="104000"/>
              </a:lnSpc>
            </a:pPr>
            <a:r>
              <a:rPr lang="tr-TR" sz="4400" b="1" dirty="0">
                <a:solidFill>
                  <a:srgbClr val="1E2A4E"/>
                </a:solidFill>
                <a:latin typeface="Calibri"/>
                <a:ea typeface="Calibri"/>
                <a:cs typeface="Calibri"/>
              </a:rPr>
              <a:t>Aykırı değerleri inceleme</a:t>
            </a:r>
            <a:endParaRPr lang="tr-TR" sz="4400"/>
          </a:p>
        </p:txBody>
      </p:sp>
      <p:sp>
        <p:nvSpPr>
          <p:cNvPr id="4" name="Text 1">
            <a:extLst>
              <a:ext uri="{FF2B5EF4-FFF2-40B4-BE49-F238E27FC236}">
                <a16:creationId xmlns:a16="http://schemas.microsoft.com/office/drawing/2014/main" id="{2A2AA79C-ABE2-4FB6-9166-543958931793}"/>
              </a:ext>
            </a:extLst>
          </p:cNvPr>
          <p:cNvSpPr/>
          <p:nvPr/>
        </p:nvSpPr>
        <p:spPr>
          <a:xfrm>
            <a:off x="9631017" y="2213787"/>
            <a:ext cx="7805691" cy="442913"/>
          </a:xfrm>
          <a:prstGeom prst="rect">
            <a:avLst/>
          </a:prstGeom>
          <a:noFill/>
          <a:ln/>
        </p:spPr>
        <p:txBody>
          <a:bodyPr wrap="square" lIns="0" tIns="0" rIns="0" bIns="0" rtlCol="0" anchor="t">
            <a:noAutofit/>
          </a:bodyPr>
          <a:lstStyle/>
          <a:p>
            <a:pPr marL="0" indent="0" defTabSz="1371600">
              <a:lnSpc>
                <a:spcPct val="104000"/>
              </a:lnSpc>
            </a:pPr>
            <a:r>
              <a:rPr lang="tr-TR" sz="2800" b="1" dirty="0">
                <a:solidFill>
                  <a:srgbClr val="1B1B27"/>
                </a:solidFill>
                <a:latin typeface="Calibri"/>
                <a:ea typeface="Calibri"/>
                <a:cs typeface="Calibri"/>
              </a:rPr>
              <a:t>Ev 5: 9.800 bin TL</a:t>
            </a:r>
            <a:endParaRPr lang="tr-TR" sz="2800" dirty="0"/>
          </a:p>
        </p:txBody>
      </p:sp>
      <p:sp>
        <p:nvSpPr>
          <p:cNvPr id="5" name="Text 2">
            <a:extLst>
              <a:ext uri="{FF2B5EF4-FFF2-40B4-BE49-F238E27FC236}">
                <a16:creationId xmlns:a16="http://schemas.microsoft.com/office/drawing/2014/main" id="{5278E3C9-DD16-4FA2-80BE-35C241C7AC16}"/>
              </a:ext>
            </a:extLst>
          </p:cNvPr>
          <p:cNvSpPr/>
          <p:nvPr/>
        </p:nvSpPr>
        <p:spPr>
          <a:xfrm>
            <a:off x="9624391" y="2735773"/>
            <a:ext cx="8262730" cy="1171739"/>
          </a:xfrm>
          <a:prstGeom prst="rect">
            <a:avLst/>
          </a:prstGeom>
          <a:noFill/>
          <a:ln/>
        </p:spPr>
        <p:txBody>
          <a:bodyPr wrap="square" lIns="0" tIns="0" rIns="0" bIns="0" rtlCol="0" anchor="t">
            <a:noAutofit/>
          </a:bodyPr>
          <a:lstStyle/>
          <a:p>
            <a:pPr marL="0" indent="0" defTabSz="1371600">
              <a:lnSpc>
                <a:spcPct val="133000"/>
              </a:lnSpc>
            </a:pPr>
            <a:r>
              <a:rPr lang="tr-TR" sz="2800" b="0" dirty="0">
                <a:solidFill>
                  <a:srgbClr val="3C3939"/>
                </a:solidFill>
                <a:ea typeface="Calibri"/>
                <a:cs typeface="Calibri"/>
              </a:rPr>
              <a:t>Diğer evlerden belirgin biçimde yüksek.</a:t>
            </a:r>
            <a:endParaRPr lang="tr-TR" sz="2800" dirty="0"/>
          </a:p>
          <a:p>
            <a:pPr marL="0" indent="0" defTabSz="1371600">
              <a:lnSpc>
                <a:spcPct val="133000"/>
              </a:lnSpc>
            </a:pPr>
            <a:r>
              <a:rPr lang="tr-TR" sz="2800" b="0" dirty="0">
                <a:solidFill>
                  <a:srgbClr val="3C3939"/>
                </a:solidFill>
                <a:ea typeface="Calibri"/>
                <a:cs typeface="Calibri"/>
              </a:rPr>
              <a:t>Önce nedenini araştırırız</a:t>
            </a:r>
            <a:r>
              <a:rPr lang="tr-TR" sz="2600" b="0" dirty="0">
                <a:solidFill>
                  <a:srgbClr val="3C3939"/>
                </a:solidFill>
                <a:latin typeface="Calibri"/>
                <a:ea typeface="Calibri"/>
                <a:cs typeface="Calibri"/>
              </a:rPr>
              <a:t>.</a:t>
            </a:r>
            <a:endParaRPr lang="tr-TR" sz="2600" dirty="0"/>
          </a:p>
        </p:txBody>
      </p:sp>
      <p:sp>
        <p:nvSpPr>
          <p:cNvPr id="6" name="Shape 3">
            <a:extLst>
              <a:ext uri="{FF2B5EF4-FFF2-40B4-BE49-F238E27FC236}">
                <a16:creationId xmlns:a16="http://schemas.microsoft.com/office/drawing/2014/main" id="{4D370755-B140-4117-837B-280B58D1CFCE}"/>
              </a:ext>
            </a:extLst>
          </p:cNvPr>
          <p:cNvSpPr/>
          <p:nvPr/>
        </p:nvSpPr>
        <p:spPr>
          <a:xfrm>
            <a:off x="9601200" y="4486350"/>
            <a:ext cx="3761091" cy="2219772"/>
          </a:xfrm>
          <a:prstGeom prst="roundRect">
            <a:avLst>
              <a:gd name="adj" fmla="val 5365"/>
            </a:avLst>
          </a:prstGeom>
          <a:solidFill>
            <a:srgbClr val="E1E1EA">
              <a:alpha val="45000"/>
            </a:srgbClr>
          </a:solidFill>
          <a:ln w="6350">
            <a:solidFill>
              <a:srgbClr val="C7C7D0"/>
            </a:solidFill>
            <a:prstDash val="solid"/>
          </a:ln>
        </p:spPr>
      </p:sp>
      <p:sp>
        <p:nvSpPr>
          <p:cNvPr id="7" name="Text 4">
            <a:extLst>
              <a:ext uri="{FF2B5EF4-FFF2-40B4-BE49-F238E27FC236}">
                <a16:creationId xmlns:a16="http://schemas.microsoft.com/office/drawing/2014/main" id="{2C2BBB44-3FEE-4A85-A615-409C440EE9C9}"/>
              </a:ext>
            </a:extLst>
          </p:cNvPr>
          <p:cNvSpPr/>
          <p:nvPr/>
        </p:nvSpPr>
        <p:spPr>
          <a:xfrm>
            <a:off x="9894236" y="4779394"/>
            <a:ext cx="3175020" cy="442913"/>
          </a:xfrm>
          <a:prstGeom prst="rect">
            <a:avLst/>
          </a:prstGeom>
          <a:noFill/>
          <a:ln/>
        </p:spPr>
        <p:txBody>
          <a:bodyPr wrap="none" lIns="0" tIns="0" rIns="0" bIns="0" rtlCol="0" anchor="t"/>
          <a:lstStyle/>
          <a:p>
            <a:pPr defTabSz="1371600">
              <a:lnSpc>
                <a:spcPct val="104000"/>
              </a:lnSpc>
            </a:pPr>
            <a:r>
              <a:rPr lang="en-US" sz="2800" b="1" dirty="0">
                <a:solidFill>
                  <a:srgbClr val="3C3939"/>
                </a:solidFill>
                <a:ea typeface="Calibri" pitchFamily="34" charset="-122"/>
                <a:cs typeface="Calibri" pitchFamily="34" charset="-120"/>
              </a:rPr>
              <a:t>Gerçek mi?</a:t>
            </a:r>
            <a:endParaRPr lang="en-US" sz="2800" b="1" dirty="0">
              <a:solidFill>
                <a:prstClr val="black"/>
              </a:solidFill>
            </a:endParaRPr>
          </a:p>
        </p:txBody>
      </p:sp>
      <p:sp>
        <p:nvSpPr>
          <p:cNvPr id="8" name="Text 5">
            <a:extLst>
              <a:ext uri="{FF2B5EF4-FFF2-40B4-BE49-F238E27FC236}">
                <a16:creationId xmlns:a16="http://schemas.microsoft.com/office/drawing/2014/main" id="{FA118F6A-CBF8-445A-8EF0-3A183047B0F2}"/>
              </a:ext>
            </a:extLst>
          </p:cNvPr>
          <p:cNvSpPr/>
          <p:nvPr/>
        </p:nvSpPr>
        <p:spPr>
          <a:xfrm>
            <a:off x="9755282" y="5328493"/>
            <a:ext cx="3175020" cy="453629"/>
          </a:xfrm>
          <a:prstGeom prst="rect">
            <a:avLst/>
          </a:prstGeom>
          <a:noFill/>
          <a:ln/>
        </p:spPr>
        <p:txBody>
          <a:bodyPr wrap="none" lIns="0" tIns="0" rIns="0" bIns="0" rtlCol="0" anchor="t"/>
          <a:lstStyle/>
          <a:p>
            <a:pPr defTabSz="1371600">
              <a:lnSpc>
                <a:spcPct val="133000"/>
              </a:lnSpc>
            </a:pPr>
            <a:r>
              <a:rPr lang="en-US" sz="2800" dirty="0">
                <a:solidFill>
                  <a:srgbClr val="3C3939"/>
                </a:solidFill>
                <a:ea typeface="Calibri" pitchFamily="34" charset="-122"/>
                <a:cs typeface="Calibri" pitchFamily="34" charset="-120"/>
              </a:rPr>
              <a:t>Lüks bir villa olabilir</a:t>
            </a:r>
            <a:endParaRPr lang="en-US" sz="2800" dirty="0">
              <a:solidFill>
                <a:prstClr val="black"/>
              </a:solidFill>
            </a:endParaRPr>
          </a:p>
        </p:txBody>
      </p:sp>
      <p:sp>
        <p:nvSpPr>
          <p:cNvPr id="9" name="Shape 6">
            <a:extLst>
              <a:ext uri="{FF2B5EF4-FFF2-40B4-BE49-F238E27FC236}">
                <a16:creationId xmlns:a16="http://schemas.microsoft.com/office/drawing/2014/main" id="{BCBBCD38-D24D-4300-A4F7-7F2590AE58B9}"/>
              </a:ext>
            </a:extLst>
          </p:cNvPr>
          <p:cNvSpPr/>
          <p:nvPr/>
        </p:nvSpPr>
        <p:spPr>
          <a:xfrm>
            <a:off x="13645800" y="4486350"/>
            <a:ext cx="3761091" cy="2219772"/>
          </a:xfrm>
          <a:prstGeom prst="roundRect">
            <a:avLst>
              <a:gd name="adj" fmla="val 5365"/>
            </a:avLst>
          </a:prstGeom>
          <a:solidFill>
            <a:srgbClr val="E1E1EA">
              <a:alpha val="45000"/>
            </a:srgbClr>
          </a:solidFill>
          <a:ln w="6350">
            <a:solidFill>
              <a:srgbClr val="C7C7D0"/>
            </a:solidFill>
            <a:prstDash val="solid"/>
          </a:ln>
        </p:spPr>
      </p:sp>
      <p:sp>
        <p:nvSpPr>
          <p:cNvPr id="10" name="Text 7">
            <a:extLst>
              <a:ext uri="{FF2B5EF4-FFF2-40B4-BE49-F238E27FC236}">
                <a16:creationId xmlns:a16="http://schemas.microsoft.com/office/drawing/2014/main" id="{BED95384-CFC5-407C-ADAD-AD0E68118BD1}"/>
              </a:ext>
            </a:extLst>
          </p:cNvPr>
          <p:cNvSpPr/>
          <p:nvPr/>
        </p:nvSpPr>
        <p:spPr>
          <a:xfrm>
            <a:off x="13938836" y="4779394"/>
            <a:ext cx="3175020" cy="442913"/>
          </a:xfrm>
          <a:prstGeom prst="rect">
            <a:avLst/>
          </a:prstGeom>
          <a:noFill/>
          <a:ln/>
        </p:spPr>
        <p:txBody>
          <a:bodyPr wrap="none" lIns="0" tIns="0" rIns="0" bIns="0" rtlCol="0" anchor="t"/>
          <a:lstStyle/>
          <a:p>
            <a:pPr defTabSz="1371600">
              <a:lnSpc>
                <a:spcPct val="104000"/>
              </a:lnSpc>
            </a:pPr>
            <a:r>
              <a:rPr lang="en-US" sz="2800" b="1" dirty="0" err="1">
                <a:solidFill>
                  <a:srgbClr val="3C3939"/>
                </a:solidFill>
                <a:ea typeface="Calibri" pitchFamily="34" charset="-122"/>
                <a:cs typeface="Calibri" pitchFamily="34" charset="-120"/>
              </a:rPr>
              <a:t>Hata</a:t>
            </a:r>
            <a:r>
              <a:rPr lang="en-US" sz="2800" b="1" dirty="0">
                <a:solidFill>
                  <a:srgbClr val="3C3939"/>
                </a:solidFill>
                <a:ea typeface="Calibri" pitchFamily="34" charset="-122"/>
                <a:cs typeface="Calibri" pitchFamily="34" charset="-120"/>
              </a:rPr>
              <a:t> mı?</a:t>
            </a:r>
            <a:endParaRPr lang="en-US" sz="2800" b="1" dirty="0">
              <a:solidFill>
                <a:prstClr val="black"/>
              </a:solidFill>
            </a:endParaRPr>
          </a:p>
        </p:txBody>
      </p:sp>
      <p:sp>
        <p:nvSpPr>
          <p:cNvPr id="11" name="Text 8">
            <a:extLst>
              <a:ext uri="{FF2B5EF4-FFF2-40B4-BE49-F238E27FC236}">
                <a16:creationId xmlns:a16="http://schemas.microsoft.com/office/drawing/2014/main" id="{63F48881-E18B-4ECA-977A-D839169CBF9F}"/>
              </a:ext>
            </a:extLst>
          </p:cNvPr>
          <p:cNvSpPr/>
          <p:nvPr/>
        </p:nvSpPr>
        <p:spPr>
          <a:xfrm>
            <a:off x="13938835" y="5328494"/>
            <a:ext cx="3175020" cy="907257"/>
          </a:xfrm>
          <a:prstGeom prst="rect">
            <a:avLst/>
          </a:prstGeom>
          <a:noFill/>
          <a:ln/>
        </p:spPr>
        <p:txBody>
          <a:bodyPr wrap="square" lIns="0" tIns="0" rIns="0" bIns="0" rtlCol="0" anchor="t">
            <a:noAutofit/>
          </a:bodyPr>
          <a:lstStyle/>
          <a:p>
            <a:pPr defTabSz="1371600">
              <a:lnSpc>
                <a:spcPct val="133000"/>
              </a:lnSpc>
            </a:pPr>
            <a:r>
              <a:rPr lang="en-US" sz="2800" dirty="0">
                <a:solidFill>
                  <a:srgbClr val="3C3939"/>
                </a:solidFill>
                <a:ea typeface="Calibri" pitchFamily="34" charset="-122"/>
                <a:cs typeface="Calibri" pitchFamily="34" charset="-120"/>
              </a:rPr>
              <a:t>Veri girişi yanlış yapılmış olabilir</a:t>
            </a:r>
            <a:endParaRPr lang="en-US" sz="2800" dirty="0">
              <a:solidFill>
                <a:prstClr val="black"/>
              </a:solidFill>
            </a:endParaRPr>
          </a:p>
        </p:txBody>
      </p:sp>
      <p:sp>
        <p:nvSpPr>
          <p:cNvPr id="12" name="Shape 9">
            <a:extLst>
              <a:ext uri="{FF2B5EF4-FFF2-40B4-BE49-F238E27FC236}">
                <a16:creationId xmlns:a16="http://schemas.microsoft.com/office/drawing/2014/main" id="{F6E8D979-F800-4F11-A996-427D67B7A8F8}"/>
              </a:ext>
            </a:extLst>
          </p:cNvPr>
          <p:cNvSpPr/>
          <p:nvPr/>
        </p:nvSpPr>
        <p:spPr>
          <a:xfrm>
            <a:off x="9601200" y="7025060"/>
            <a:ext cx="7805691" cy="1559124"/>
          </a:xfrm>
          <a:prstGeom prst="roundRect">
            <a:avLst>
              <a:gd name="adj" fmla="val 7638"/>
            </a:avLst>
          </a:prstGeom>
          <a:solidFill>
            <a:srgbClr val="E1E1EA">
              <a:alpha val="45000"/>
            </a:srgbClr>
          </a:solidFill>
          <a:ln/>
        </p:spPr>
      </p:sp>
      <p:pic>
        <p:nvPicPr>
          <p:cNvPr id="13" name="Image 1" descr="preencoded.png">
            <a:extLst>
              <a:ext uri="{FF2B5EF4-FFF2-40B4-BE49-F238E27FC236}">
                <a16:creationId xmlns:a16="http://schemas.microsoft.com/office/drawing/2014/main" id="{A5271D29-3EEE-4F52-87C1-26AB16E03921}"/>
              </a:ext>
            </a:extLst>
          </p:cNvPr>
          <p:cNvPicPr>
            <a:picLocks noChangeAspect="1"/>
          </p:cNvPicPr>
          <p:nvPr/>
        </p:nvPicPr>
        <p:blipFill>
          <a:blip r:embed="rId3"/>
          <a:stretch>
            <a:fillRect/>
          </a:stretch>
        </p:blipFill>
        <p:spPr>
          <a:xfrm>
            <a:off x="9884711" y="7455174"/>
            <a:ext cx="354351" cy="283518"/>
          </a:xfrm>
          <a:prstGeom prst="rect">
            <a:avLst/>
          </a:prstGeom>
        </p:spPr>
      </p:pic>
      <p:sp>
        <p:nvSpPr>
          <p:cNvPr id="14" name="Text 10">
            <a:extLst>
              <a:ext uri="{FF2B5EF4-FFF2-40B4-BE49-F238E27FC236}">
                <a16:creationId xmlns:a16="http://schemas.microsoft.com/office/drawing/2014/main" id="{2DF6168C-616F-467B-8D5F-191F8D7C4F00}"/>
              </a:ext>
            </a:extLst>
          </p:cNvPr>
          <p:cNvSpPr/>
          <p:nvPr/>
        </p:nvSpPr>
        <p:spPr>
          <a:xfrm>
            <a:off x="10392263" y="7285063"/>
            <a:ext cx="6600809" cy="907257"/>
          </a:xfrm>
          <a:prstGeom prst="rect">
            <a:avLst/>
          </a:prstGeom>
          <a:noFill/>
          <a:ln/>
        </p:spPr>
        <p:txBody>
          <a:bodyPr wrap="square" lIns="0" tIns="0" rIns="0" bIns="0" rtlCol="0" anchor="t">
            <a:noAutofit/>
          </a:bodyPr>
          <a:lstStyle/>
          <a:p>
            <a:pPr marL="0" indent="0" defTabSz="1371600">
              <a:lnSpc>
                <a:spcPct val="133000"/>
              </a:lnSpc>
            </a:pPr>
            <a:r>
              <a:rPr lang="tr-TR" sz="2600" b="0" dirty="0">
                <a:solidFill>
                  <a:srgbClr val="000000"/>
                </a:solidFill>
                <a:latin typeface="Calibri"/>
                <a:ea typeface="Calibri"/>
                <a:cs typeface="Calibri"/>
              </a:rPr>
              <a:t>Aykırı değer otomatik olarak silinmez.</a:t>
            </a:r>
            <a:endParaRPr lang="tr-TR" sz="2600" dirty="0"/>
          </a:p>
        </p:txBody>
      </p:sp>
      <p:sp>
        <p:nvSpPr>
          <p:cNvPr id="100" name="Ev 2’nin fiyatı bilinmediği için grafikte yer almı"/>
          <p:cNvSpPr txBox="1"/>
          <p:nvPr/>
        </p:nvSpPr>
        <p:spPr>
          <a:xfrm>
            <a:off x="952500" y="9144000"/>
            <a:ext cx="16192500" cy="619125"/>
          </a:xfrm>
          <a:prstGeom prst="rect">
            <a:avLst/>
          </a:prstGeom>
          <a:noFill/>
          <a:ln>
            <a:noFill/>
          </a:ln>
        </p:spPr>
        <p:txBody>
          <a:bodyPr wrap="square" lIns="0" tIns="0" rIns="0" bIns="0">
            <a:noAutofit/>
          </a:bodyPr>
          <a:lstStyle/>
          <a:p>
            <a:pPr marL="0" indent="0"/>
            <a:r>
              <a:rPr lang="tr-TR" sz="2300" b="1" dirty="0">
                <a:solidFill>
                  <a:srgbClr val="596173"/>
                </a:solidFill>
                <a:latin typeface="Calibri"/>
                <a:ea typeface="Calibri"/>
                <a:cs typeface="Calibri"/>
              </a:rPr>
              <a:t>Ev 2’nin fiyatı bilinmediği için grafikte yer almıyor.</a:t>
            </a:r>
            <a:endParaRPr lang="tr-TR" sz="2300" b="1" dirty="0"/>
          </a:p>
        </p:txBody>
      </p:sp>
      <p:graphicFrame>
        <p:nvGraphicFramePr>
          <p:cNvPr id="101" name="Chart"/>
          <p:cNvGraphicFramePr/>
          <p:nvPr/>
        </p:nvGraphicFramePr>
        <p:xfrm>
          <a:off x="685800" y="2381250"/>
          <a:ext cx="8763000" cy="6381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33069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CE9792D-4ACE-40BD-AAEB-DD80F750C7F0}"/>
              </a:ext>
            </a:extLst>
          </p:cNvPr>
          <p:cNvSpPr/>
          <p:nvPr/>
        </p:nvSpPr>
        <p:spPr>
          <a:xfrm>
            <a:off x="487476" y="762292"/>
            <a:ext cx="16303118" cy="885974"/>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1B1B27"/>
                </a:solidFill>
                <a:effectLst/>
                <a:uLnTx/>
                <a:uFillTx/>
                <a:latin typeface="Calibri"/>
                <a:ea typeface="Raleway" pitchFamily="34" charset="-122"/>
                <a:cs typeface="Raleway" pitchFamily="34" charset="-120"/>
              </a:rPr>
              <a:t>Ortalama / Medyan / Mod</a:t>
            </a:r>
            <a:endParaRPr kumimoji="0" lang="en-US" sz="4800" b="1"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6" name="Grup 15">
            <a:extLst>
              <a:ext uri="{FF2B5EF4-FFF2-40B4-BE49-F238E27FC236}">
                <a16:creationId xmlns:a16="http://schemas.microsoft.com/office/drawing/2014/main" id="{EEFC7D59-3D5E-46AC-B31F-A5B3C898CDD4}"/>
              </a:ext>
            </a:extLst>
          </p:cNvPr>
          <p:cNvGrpSpPr/>
          <p:nvPr/>
        </p:nvGrpSpPr>
        <p:grpSpPr>
          <a:xfrm>
            <a:off x="957739" y="4439034"/>
            <a:ext cx="16372522" cy="3458384"/>
            <a:chOff x="705803" y="4600574"/>
            <a:chExt cx="16372522" cy="3458384"/>
          </a:xfrm>
        </p:grpSpPr>
        <p:sp>
          <p:nvSpPr>
            <p:cNvPr id="3" name="Shape 2">
              <a:extLst>
                <a:ext uri="{FF2B5EF4-FFF2-40B4-BE49-F238E27FC236}">
                  <a16:creationId xmlns:a16="http://schemas.microsoft.com/office/drawing/2014/main" id="{F7CCA26B-B087-4AD8-B42D-F260BDCA92DE}"/>
                </a:ext>
              </a:extLst>
            </p:cNvPr>
            <p:cNvSpPr/>
            <p:nvPr/>
          </p:nvSpPr>
          <p:spPr>
            <a:xfrm>
              <a:off x="705803" y="4600574"/>
              <a:ext cx="16362997" cy="3449641"/>
            </a:xfrm>
            <a:prstGeom prst="roundRect">
              <a:avLst>
                <a:gd name="adj" fmla="val 3740"/>
              </a:avLst>
            </a:prstGeom>
            <a:solidFill>
              <a:srgbClr val="E1E1EA"/>
            </a:solidFill>
            <a:ln w="6350">
              <a:solidFill>
                <a:srgbClr val="C7C7D0"/>
              </a:solidFill>
              <a:prstDash val="solid"/>
            </a:ln>
          </p:spPr>
        </p:sp>
        <p:sp>
          <p:nvSpPr>
            <p:cNvPr id="4" name="Shape 3">
              <a:extLst>
                <a:ext uri="{FF2B5EF4-FFF2-40B4-BE49-F238E27FC236}">
                  <a16:creationId xmlns:a16="http://schemas.microsoft.com/office/drawing/2014/main" id="{3F8953B5-245D-47C2-B99D-3CDE3A334DF8}"/>
                </a:ext>
              </a:extLst>
            </p:cNvPr>
            <p:cNvSpPr/>
            <p:nvPr/>
          </p:nvSpPr>
          <p:spPr>
            <a:xfrm>
              <a:off x="715328" y="4610100"/>
              <a:ext cx="5725919" cy="3429000"/>
            </a:xfrm>
            <a:custGeom>
              <a:avLst/>
              <a:gdLst/>
              <a:ahLst/>
              <a:cxnLst/>
              <a:rect l="l" t="t" r="r" b="b"/>
              <a:pathLst>
                <a:path w="3618616" h="2109788">
                  <a:moveTo>
                    <a:pt x="66156" y="0"/>
                  </a:moveTo>
                  <a:lnTo>
                    <a:pt x="3618616" y="0"/>
                  </a:lnTo>
                  <a:lnTo>
                    <a:pt x="3618616" y="2109788"/>
                  </a:lnTo>
                  <a:lnTo>
                    <a:pt x="66156" y="2109788"/>
                  </a:lnTo>
                  <a:arcTo wR="66156" hR="66158" stAng="5400000" swAng="5400000"/>
                  <a:lnTo>
                    <a:pt x="0" y="66158"/>
                  </a:lnTo>
                  <a:arcTo wR="66156" hR="66158" stAng="10800000" swAng="5400000"/>
                  <a:close/>
                </a:path>
              </a:pathLst>
            </a:custGeom>
            <a:solidFill>
              <a:srgbClr val="E1E1EA"/>
            </a:solidFill>
            <a:ln/>
          </p:spPr>
        </p:sp>
        <p:sp>
          <p:nvSpPr>
            <p:cNvPr id="5" name="Text 4">
              <a:extLst>
                <a:ext uri="{FF2B5EF4-FFF2-40B4-BE49-F238E27FC236}">
                  <a16:creationId xmlns:a16="http://schemas.microsoft.com/office/drawing/2014/main" id="{54270715-BBFC-49E7-AD64-DB7691C56093}"/>
                </a:ext>
              </a:extLst>
            </p:cNvPr>
            <p:cNvSpPr/>
            <p:nvPr/>
          </p:nvSpPr>
          <p:spPr>
            <a:xfrm>
              <a:off x="998839" y="4893618"/>
              <a:ext cx="5127768" cy="47990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a:ea typeface="Raleway" pitchFamily="34" charset="-122"/>
                  <a:cs typeface="Raleway" pitchFamily="34" charset="-120"/>
                </a:rPr>
                <a:t>📊</a:t>
              </a:r>
              <a:r>
                <a:rPr kumimoji="0" lang="en-US" sz="2800" b="1" i="0" u="none" strike="noStrike" kern="1200" cap="none" spc="0" normalizeH="0" baseline="0" noProof="0" dirty="0">
                  <a:ln>
                    <a:noFill/>
                  </a:ln>
                  <a:solidFill>
                    <a:srgbClr val="3C3939"/>
                  </a:solidFill>
                  <a:effectLst/>
                  <a:uLnTx/>
                  <a:uFillTx/>
                  <a:latin typeface="Calibri"/>
                  <a:ea typeface="Raleway" pitchFamily="34" charset="-122"/>
                  <a:cs typeface="Raleway" pitchFamily="34" charset="-120"/>
                </a:rPr>
                <a:t> Ortalama</a:t>
              </a:r>
              <a:endParaRPr kumimoji="0" lang="en-US" sz="2800" b="1"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 5">
              <a:extLst>
                <a:ext uri="{FF2B5EF4-FFF2-40B4-BE49-F238E27FC236}">
                  <a16:creationId xmlns:a16="http://schemas.microsoft.com/office/drawing/2014/main" id="{9820725F-5604-43E5-8382-4C93AAE39305}"/>
                </a:ext>
              </a:extLst>
            </p:cNvPr>
            <p:cNvSpPr/>
            <p:nvPr/>
          </p:nvSpPr>
          <p:spPr>
            <a:xfrm>
              <a:off x="998839" y="5506641"/>
              <a:ext cx="5127768" cy="2150381"/>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3000"/>
                </a:lnSpc>
                <a:spcBef>
                  <a:spcPts val="0"/>
                </a:spcBef>
                <a:spcAft>
                  <a:spcPts val="1275"/>
                </a:spcAft>
                <a:buClrTx/>
                <a:buSzTx/>
                <a:buFontTx/>
                <a:buNone/>
                <a:tabLst/>
                <a:defRPr/>
              </a:pP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Tüm değerlerin toplamı ÷ eleman sayısı</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3C3939"/>
                  </a:solidFill>
                  <a:effectLst/>
                  <a:uLnTx/>
                  <a:uFillTx/>
                  <a:latin typeface="Calibri"/>
                  <a:ea typeface="Roboto Bold" pitchFamily="34" charset="-122"/>
                  <a:cs typeface="Roboto Bold" pitchFamily="34" charset="-120"/>
                </a:rPr>
                <a:t>Zayıf yön:</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Aykırı değerden kolayca etkilenir.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hape 6">
              <a:extLst>
                <a:ext uri="{FF2B5EF4-FFF2-40B4-BE49-F238E27FC236}">
                  <a16:creationId xmlns:a16="http://schemas.microsoft.com/office/drawing/2014/main" id="{45DC628B-E679-4CC6-894F-3D1AEA7A14C9}"/>
                </a:ext>
              </a:extLst>
            </p:cNvPr>
            <p:cNvSpPr/>
            <p:nvPr/>
          </p:nvSpPr>
          <p:spPr>
            <a:xfrm>
              <a:off x="6143252" y="4610100"/>
              <a:ext cx="5726076" cy="3429000"/>
            </a:xfrm>
            <a:prstGeom prst="rect">
              <a:avLst/>
            </a:prstGeom>
            <a:solidFill>
              <a:srgbClr val="E1E1EA"/>
            </a:solidFill>
            <a:ln/>
          </p:spPr>
        </p:sp>
        <p:sp>
          <p:nvSpPr>
            <p:cNvPr id="8" name="Shape 7">
              <a:extLst>
                <a:ext uri="{FF2B5EF4-FFF2-40B4-BE49-F238E27FC236}">
                  <a16:creationId xmlns:a16="http://schemas.microsoft.com/office/drawing/2014/main" id="{A43626BA-B6C2-44BA-892C-4ADB53835A0A}"/>
                </a:ext>
              </a:extLst>
            </p:cNvPr>
            <p:cNvSpPr/>
            <p:nvPr/>
          </p:nvSpPr>
          <p:spPr>
            <a:xfrm>
              <a:off x="6143252" y="4610100"/>
              <a:ext cx="45719" cy="3429000"/>
            </a:xfrm>
            <a:prstGeom prst="roundRect">
              <a:avLst>
                <a:gd name="adj" fmla="val 50001"/>
              </a:avLst>
            </a:prstGeom>
            <a:solidFill>
              <a:srgbClr val="C7C7D0"/>
            </a:solidFill>
            <a:ln/>
          </p:spPr>
        </p:sp>
        <p:sp>
          <p:nvSpPr>
            <p:cNvPr id="9" name="Text 8">
              <a:extLst>
                <a:ext uri="{FF2B5EF4-FFF2-40B4-BE49-F238E27FC236}">
                  <a16:creationId xmlns:a16="http://schemas.microsoft.com/office/drawing/2014/main" id="{407E2FA7-CF5F-4875-A66A-9883ABCA7260}"/>
                </a:ext>
              </a:extLst>
            </p:cNvPr>
            <p:cNvSpPr/>
            <p:nvPr/>
          </p:nvSpPr>
          <p:spPr>
            <a:xfrm>
              <a:off x="6426761" y="4893618"/>
              <a:ext cx="5127925" cy="47990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Raleway" pitchFamily="34" charset="-122"/>
                  <a:cs typeface="Raleway" pitchFamily="34" charset="-120"/>
                </a:rPr>
                <a:t>📍</a:t>
              </a:r>
              <a:r>
                <a:rPr kumimoji="0" lang="en-US" sz="2800" b="0" i="0" u="none" strike="noStrike" kern="1200" cap="none" spc="0" normalizeH="0" baseline="0" noProof="0" dirty="0">
                  <a:ln>
                    <a:noFill/>
                  </a:ln>
                  <a:solidFill>
                    <a:srgbClr val="3C3939"/>
                  </a:solidFill>
                  <a:effectLst/>
                  <a:uLnTx/>
                  <a:uFillTx/>
                  <a:latin typeface="Calibri"/>
                  <a:ea typeface="Raleway" pitchFamily="34" charset="-122"/>
                  <a:cs typeface="Raleway" pitchFamily="34" charset="-120"/>
                </a:rPr>
                <a:t> </a:t>
              </a:r>
              <a:r>
                <a:rPr kumimoji="0" lang="en-US" sz="2800" b="1" i="0" u="none" strike="noStrike" kern="1200" cap="none" spc="0" normalizeH="0" baseline="0" noProof="0" dirty="0">
                  <a:ln>
                    <a:noFill/>
                  </a:ln>
                  <a:solidFill>
                    <a:srgbClr val="3C3939"/>
                  </a:solidFill>
                  <a:effectLst/>
                  <a:uLnTx/>
                  <a:uFillTx/>
                  <a:latin typeface="Calibri"/>
                  <a:ea typeface="Raleway" pitchFamily="34" charset="-122"/>
                  <a:cs typeface="Raleway" pitchFamily="34" charset="-120"/>
                </a:rPr>
                <a:t>Medyan</a:t>
              </a:r>
              <a:endParaRPr kumimoji="0" lang="en-US" sz="2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 9">
              <a:extLst>
                <a:ext uri="{FF2B5EF4-FFF2-40B4-BE49-F238E27FC236}">
                  <a16:creationId xmlns:a16="http://schemas.microsoft.com/office/drawing/2014/main" id="{4F188907-51E3-40A1-ACE8-5B728ABA7961}"/>
                </a:ext>
              </a:extLst>
            </p:cNvPr>
            <p:cNvSpPr/>
            <p:nvPr/>
          </p:nvSpPr>
          <p:spPr>
            <a:xfrm>
              <a:off x="6426761" y="5506641"/>
              <a:ext cx="5127925" cy="1658866"/>
            </a:xfrm>
            <a:prstGeom prst="rect">
              <a:avLst/>
            </a:prstGeom>
            <a:noFill/>
            <a:ln/>
          </p:spPr>
          <p:txBody>
            <a:bodyPr wrap="square" lIns="0" tIns="0" rIns="0" bIns="0" rtlCol="0" anchor="t"/>
            <a:lstStyle/>
            <a:p>
              <a:pPr marL="0" marR="0" lvl="0" indent="0" algn="l" defTabSz="914400" rtl="0" eaLnBrk="1" fontAlgn="auto" latinLnBrk="0" hangingPunct="1">
                <a:lnSpc>
                  <a:spcPct val="133000"/>
                </a:lnSpc>
                <a:spcBef>
                  <a:spcPts val="0"/>
                </a:spcBef>
                <a:spcAft>
                  <a:spcPts val="1275"/>
                </a:spcAft>
                <a:buClrTx/>
                <a:buSzTx/>
                <a:buFontTx/>
                <a:buNone/>
                <a:tabLst/>
                <a:defRPr/>
              </a:pP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Sıralandığında ortadaki değer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3C3939"/>
                  </a:solidFill>
                  <a:effectLst/>
                  <a:uLnTx/>
                  <a:uFillTx/>
                  <a:latin typeface="Calibri"/>
                  <a:ea typeface="Roboto Bold" pitchFamily="34" charset="-122"/>
                  <a:cs typeface="Roboto Bold" pitchFamily="34" charset="-120"/>
                </a:rPr>
                <a:t>Güçlü yön:</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Aykırı</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değerden</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daha</a:t>
              </a:r>
              <a:endParaRPr kumimoji="0" lang="tr-TR"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endParaRPr>
            </a:p>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az</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28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etkilenir</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Shape 10">
              <a:extLst>
                <a:ext uri="{FF2B5EF4-FFF2-40B4-BE49-F238E27FC236}">
                  <a16:creationId xmlns:a16="http://schemas.microsoft.com/office/drawing/2014/main" id="{65135571-9326-44C0-A715-F441FE6392FB}"/>
                </a:ext>
              </a:extLst>
            </p:cNvPr>
            <p:cNvSpPr/>
            <p:nvPr/>
          </p:nvSpPr>
          <p:spPr>
            <a:xfrm>
              <a:off x="11571324" y="4629958"/>
              <a:ext cx="5507001" cy="3429000"/>
            </a:xfrm>
            <a:custGeom>
              <a:avLst/>
              <a:gdLst/>
              <a:ahLst/>
              <a:cxnLst/>
              <a:rect l="l" t="t" r="r" b="b"/>
              <a:pathLst>
                <a:path w="3618715" h="2109788">
                  <a:moveTo>
                    <a:pt x="0" y="0"/>
                  </a:moveTo>
                  <a:lnTo>
                    <a:pt x="3552558" y="0"/>
                  </a:lnTo>
                  <a:arcTo wR="66156" hR="66158" stAng="16200000" swAng="5400000"/>
                  <a:lnTo>
                    <a:pt x="3618715" y="2043629"/>
                  </a:lnTo>
                  <a:arcTo wR="66156" hR="66158" stAng="0" swAng="5400000"/>
                  <a:lnTo>
                    <a:pt x="0" y="2109788"/>
                  </a:lnTo>
                  <a:lnTo>
                    <a:pt x="0" y="0"/>
                  </a:lnTo>
                  <a:close/>
                </a:path>
              </a:pathLst>
            </a:custGeom>
            <a:solidFill>
              <a:srgbClr val="E1E1EA"/>
            </a:solidFill>
            <a:ln/>
          </p:spPr>
        </p:sp>
        <p:sp>
          <p:nvSpPr>
            <p:cNvPr id="12" name="Shape 11">
              <a:extLst>
                <a:ext uri="{FF2B5EF4-FFF2-40B4-BE49-F238E27FC236}">
                  <a16:creationId xmlns:a16="http://schemas.microsoft.com/office/drawing/2014/main" id="{526FBCDA-BD20-47AE-B41E-8C7D817B63FD}"/>
                </a:ext>
              </a:extLst>
            </p:cNvPr>
            <p:cNvSpPr/>
            <p:nvPr/>
          </p:nvSpPr>
          <p:spPr>
            <a:xfrm>
              <a:off x="11571324" y="4610100"/>
              <a:ext cx="45719" cy="3429000"/>
            </a:xfrm>
            <a:prstGeom prst="roundRect">
              <a:avLst>
                <a:gd name="adj" fmla="val 50001"/>
              </a:avLst>
            </a:prstGeom>
            <a:solidFill>
              <a:srgbClr val="C7C7D0"/>
            </a:solidFill>
            <a:ln/>
          </p:spPr>
        </p:sp>
        <p:sp>
          <p:nvSpPr>
            <p:cNvPr id="13" name="Text 12">
              <a:extLst>
                <a:ext uri="{FF2B5EF4-FFF2-40B4-BE49-F238E27FC236}">
                  <a16:creationId xmlns:a16="http://schemas.microsoft.com/office/drawing/2014/main" id="{B1442094-5C4D-4582-9FD5-4EAC14C798FB}"/>
                </a:ext>
              </a:extLst>
            </p:cNvPr>
            <p:cNvSpPr/>
            <p:nvPr/>
          </p:nvSpPr>
          <p:spPr>
            <a:xfrm>
              <a:off x="11854834" y="4893618"/>
              <a:ext cx="5127925" cy="479906"/>
            </a:xfrm>
            <a:prstGeom prst="rect">
              <a:avLst/>
            </a:prstGeom>
            <a:noFill/>
            <a:ln/>
          </p:spPr>
          <p:txBody>
            <a:bodyPr wrap="none" lIns="0" tIns="0" rIns="0" bIns="0" rtlCol="0" anchor="t"/>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2775" b="0" i="0" u="none" strike="noStrike" kern="1200" cap="none" spc="0" normalizeH="0" baseline="0" noProof="0" dirty="0">
                  <a:ln>
                    <a:noFill/>
                  </a:ln>
                  <a:solidFill>
                    <a:srgbClr val="000000"/>
                  </a:solidFill>
                  <a:effectLst/>
                  <a:uLnTx/>
                  <a:uFillTx/>
                  <a:latin typeface="Raleway" pitchFamily="34" charset="0"/>
                  <a:ea typeface="Raleway" pitchFamily="34" charset="-122"/>
                  <a:cs typeface="Raleway" pitchFamily="34" charset="-120"/>
                </a:rPr>
                <a:t>🔁</a:t>
              </a:r>
              <a:r>
                <a:rPr kumimoji="0" lang="en-US" sz="2775" b="0" i="0" u="none" strike="noStrike" kern="1200" cap="none" spc="0" normalizeH="0" baseline="0" noProof="0" dirty="0">
                  <a:ln>
                    <a:noFill/>
                  </a:ln>
                  <a:solidFill>
                    <a:srgbClr val="3C3939"/>
                  </a:solidFill>
                  <a:effectLst/>
                  <a:uLnTx/>
                  <a:uFillTx/>
                  <a:latin typeface="Raleway" pitchFamily="34" charset="0"/>
                  <a:ea typeface="Raleway" pitchFamily="34" charset="-122"/>
                  <a:cs typeface="Raleway" pitchFamily="34" charset="-120"/>
                </a:rPr>
                <a:t> </a:t>
              </a:r>
              <a:r>
                <a:rPr kumimoji="0" lang="en-US" sz="2800" b="1" i="0" u="none" strike="noStrike" kern="1200" cap="none" spc="0" normalizeH="0" baseline="0" noProof="0" dirty="0">
                  <a:ln>
                    <a:noFill/>
                  </a:ln>
                  <a:solidFill>
                    <a:srgbClr val="3C3939"/>
                  </a:solidFill>
                  <a:effectLst/>
                  <a:uLnTx/>
                  <a:uFillTx/>
                  <a:latin typeface="Calibri"/>
                  <a:ea typeface="Raleway" pitchFamily="34" charset="-122"/>
                  <a:cs typeface="Raleway" pitchFamily="34" charset="-120"/>
                </a:rPr>
                <a:t>Mod</a:t>
              </a:r>
              <a:endParaRPr kumimoji="0" lang="en-US" sz="2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Text 13">
              <a:extLst>
                <a:ext uri="{FF2B5EF4-FFF2-40B4-BE49-F238E27FC236}">
                  <a16:creationId xmlns:a16="http://schemas.microsoft.com/office/drawing/2014/main" id="{9F35D8A6-A438-49E2-A25A-6C99DC9F5474}"/>
                </a:ext>
              </a:extLst>
            </p:cNvPr>
            <p:cNvSpPr/>
            <p:nvPr/>
          </p:nvSpPr>
          <p:spPr>
            <a:xfrm>
              <a:off x="11854834" y="5506641"/>
              <a:ext cx="5127925" cy="1658866"/>
            </a:xfrm>
            <a:prstGeom prst="rect">
              <a:avLst/>
            </a:prstGeom>
            <a:noFill/>
            <a:ln/>
          </p:spPr>
          <p:txBody>
            <a:bodyPr wrap="square" lIns="0" tIns="0" rIns="0" bIns="0" rtlCol="0" anchor="t"/>
            <a:lstStyle/>
            <a:p>
              <a:pPr marL="0" marR="0" lvl="0" indent="0" algn="l" defTabSz="914400" rtl="0" eaLnBrk="1" fontAlgn="auto" latinLnBrk="0" hangingPunct="1">
                <a:lnSpc>
                  <a:spcPct val="133000"/>
                </a:lnSpc>
                <a:spcBef>
                  <a:spcPts val="0"/>
                </a:spcBef>
                <a:spcAft>
                  <a:spcPts val="1275"/>
                </a:spcAft>
                <a:buClrTx/>
                <a:buSzTx/>
                <a:buFontTx/>
                <a:buNone/>
                <a:tabLst/>
                <a:defRPr/>
              </a:pP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En sık tekrarlanan değer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33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3C3939"/>
                  </a:solidFill>
                  <a:effectLst/>
                  <a:uLnTx/>
                  <a:uFillTx/>
                  <a:latin typeface="Calibri"/>
                  <a:ea typeface="Roboto Bold" pitchFamily="34" charset="-122"/>
                  <a:cs typeface="Roboto Bold" pitchFamily="34" charset="-120"/>
                </a:rPr>
                <a:t>Kullanım alanı:</a:t>
              </a:r>
              <a:r>
                <a:rPr kumimoji="0" lang="en-US" sz="28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Kategorik veriler için uygundur.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5" name="Metin kutusu 14">
            <a:extLst>
              <a:ext uri="{FF2B5EF4-FFF2-40B4-BE49-F238E27FC236}">
                <a16:creationId xmlns:a16="http://schemas.microsoft.com/office/drawing/2014/main" id="{DB5565CD-ACE7-4254-BE53-4E4EF8039F39}"/>
              </a:ext>
            </a:extLst>
          </p:cNvPr>
          <p:cNvSpPr txBox="1"/>
          <p:nvPr/>
        </p:nvSpPr>
        <p:spPr>
          <a:xfrm>
            <a:off x="477537" y="2228042"/>
            <a:ext cx="17198165"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Merkezi</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eğilim</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ölçüleri</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veri</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setinin</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tipik</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değerini</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özetler</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Ancak</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her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birinin</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güçlü</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ve</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zayıf</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yönleri</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 </a:t>
            </a:r>
            <a:r>
              <a:rPr kumimoji="0" lang="en-US" sz="3200" b="0" i="0" u="none" strike="noStrike" kern="1200" cap="none" spc="0" normalizeH="0" baseline="0" noProof="0" dirty="0" err="1">
                <a:ln>
                  <a:noFill/>
                </a:ln>
                <a:solidFill>
                  <a:srgbClr val="3C3939"/>
                </a:solidFill>
                <a:effectLst/>
                <a:uLnTx/>
                <a:uFillTx/>
                <a:latin typeface="Calibri"/>
                <a:ea typeface="Roboto" pitchFamily="34" charset="-122"/>
                <a:cs typeface="Roboto" pitchFamily="34" charset="-120"/>
              </a:rPr>
              <a:t>vardır</a:t>
            </a:r>
            <a:r>
              <a:rPr kumimoji="0" lang="en-US" sz="3200" b="0" i="0" u="none" strike="noStrike" kern="1200" cap="none" spc="0" normalizeH="0" baseline="0" noProof="0" dirty="0">
                <a:ln>
                  <a:noFill/>
                </a:ln>
                <a:solidFill>
                  <a:srgbClr val="3C3939"/>
                </a:solidFill>
                <a:effectLst/>
                <a:uLnTx/>
                <a:uFillTx/>
                <a:latin typeface="Calibri"/>
                <a:ea typeface="Roboto" pitchFamily="34" charset="-122"/>
                <a:cs typeface="Roboto" pitchFamily="34" charset="-120"/>
              </a:rPr>
              <a:t>.</a:t>
            </a: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3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6040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grpSp>
        <p:nvGrpSpPr>
          <p:cNvPr id="5" name="Grup 4">
            <a:extLst>
              <a:ext uri="{FF2B5EF4-FFF2-40B4-BE49-F238E27FC236}">
                <a16:creationId xmlns:a16="http://schemas.microsoft.com/office/drawing/2014/main" id="{91E5C482-9645-42B8-9127-1EFD281A81FF}"/>
              </a:ext>
            </a:extLst>
          </p:cNvPr>
          <p:cNvGrpSpPr/>
          <p:nvPr/>
        </p:nvGrpSpPr>
        <p:grpSpPr>
          <a:xfrm>
            <a:off x="637806" y="6208672"/>
            <a:ext cx="8353794" cy="2287628"/>
            <a:chOff x="653305" y="5389893"/>
            <a:chExt cx="8152207" cy="1467564"/>
          </a:xfrm>
        </p:grpSpPr>
        <p:sp>
          <p:nvSpPr>
            <p:cNvPr id="37" name="Shape 10">
              <a:extLst>
                <a:ext uri="{FF2B5EF4-FFF2-40B4-BE49-F238E27FC236}">
                  <a16:creationId xmlns:a16="http://schemas.microsoft.com/office/drawing/2014/main" id="{2779CFA7-0A4A-41DC-B95F-E7FC3BCC1995}"/>
                </a:ext>
              </a:extLst>
            </p:cNvPr>
            <p:cNvSpPr/>
            <p:nvPr/>
          </p:nvSpPr>
          <p:spPr>
            <a:xfrm>
              <a:off x="653305" y="5389893"/>
              <a:ext cx="8152207" cy="1467564"/>
            </a:xfrm>
            <a:prstGeom prst="roundRect">
              <a:avLst>
                <a:gd name="adj" fmla="val 7501"/>
              </a:avLst>
            </a:prstGeom>
            <a:solidFill>
              <a:srgbClr val="F0E6C0">
                <a:alpha val="25000"/>
              </a:srgbClr>
            </a:solidFill>
            <a:ln/>
          </p:spPr>
        </p:sp>
        <p:pic>
          <p:nvPicPr>
            <p:cNvPr id="39" name="Image 0" descr="preencoded.png">
              <a:extLst>
                <a:ext uri="{FF2B5EF4-FFF2-40B4-BE49-F238E27FC236}">
                  <a16:creationId xmlns:a16="http://schemas.microsoft.com/office/drawing/2014/main" id="{AFD38773-5A7D-40F8-9111-DC23DFF16E58}"/>
                </a:ext>
              </a:extLst>
            </p:cNvPr>
            <p:cNvPicPr>
              <a:picLocks noChangeAspect="1"/>
            </p:cNvPicPr>
            <p:nvPr/>
          </p:nvPicPr>
          <p:blipFill>
            <a:blip r:embed="rId3"/>
            <a:stretch>
              <a:fillRect/>
            </a:stretch>
          </p:blipFill>
          <p:spPr>
            <a:xfrm>
              <a:off x="762000" y="5640000"/>
              <a:ext cx="300658" cy="240558"/>
            </a:xfrm>
            <a:prstGeom prst="rect">
              <a:avLst/>
            </a:prstGeom>
          </p:spPr>
        </p:pic>
      </p:grpSp>
      <p:sp>
        <p:nvSpPr>
          <p:cNvPr id="19" name="Text 0">
            <a:extLst>
              <a:ext uri="{FF2B5EF4-FFF2-40B4-BE49-F238E27FC236}">
                <a16:creationId xmlns:a16="http://schemas.microsoft.com/office/drawing/2014/main" id="{8D567443-34B8-4C34-AFBB-9828CB5A5143}"/>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a:lnSpc>
                <a:spcPct val="104000"/>
              </a:lnSpc>
            </a:pPr>
            <a:r>
              <a:rPr lang="tr-TR" sz="4400" b="1" dirty="0">
                <a:solidFill>
                  <a:srgbClr val="1E2A4E"/>
                </a:solidFill>
                <a:latin typeface="Calibri"/>
                <a:ea typeface="Calibri"/>
                <a:cs typeface="Calibri"/>
              </a:rPr>
              <a:t>Varyans ve standart sapma</a:t>
            </a:r>
            <a:endParaRPr lang="tr-TR" sz="4400"/>
          </a:p>
        </p:txBody>
      </p:sp>
      <p:sp>
        <p:nvSpPr>
          <p:cNvPr id="20" name="Text 1">
            <a:extLst>
              <a:ext uri="{FF2B5EF4-FFF2-40B4-BE49-F238E27FC236}">
                <a16:creationId xmlns:a16="http://schemas.microsoft.com/office/drawing/2014/main" id="{23DA6BFB-BF4D-4361-B0F1-DF1488305DD7}"/>
              </a:ext>
            </a:extLst>
          </p:cNvPr>
          <p:cNvSpPr/>
          <p:nvPr/>
        </p:nvSpPr>
        <p:spPr>
          <a:xfrm>
            <a:off x="762000" y="1790700"/>
            <a:ext cx="16459200" cy="1615976"/>
          </a:xfrm>
          <a:prstGeom prst="rect">
            <a:avLst/>
          </a:prstGeom>
          <a:noFill/>
          <a:ln/>
        </p:spPr>
        <p:txBody>
          <a:bodyPr wrap="square" lIns="0" tIns="0" rIns="0" bIns="0" rtlCol="0" anchor="t">
            <a:noAutofit/>
          </a:bodyPr>
          <a:lstStyle/>
          <a:p>
            <a:pPr marL="0" indent="0">
              <a:lnSpc>
                <a:spcPct val="133000"/>
              </a:lnSpc>
              <a:spcAft>
                <a:spcPts val="1950"/>
              </a:spcAft>
            </a:pPr>
            <a:r>
              <a:rPr lang="tr-TR" sz="2800" b="0" dirty="0">
                <a:solidFill>
                  <a:srgbClr val="3C3939"/>
                </a:solidFill>
                <a:latin typeface="Calibri"/>
                <a:ea typeface="Calibri"/>
                <a:cs typeface="Calibri"/>
              </a:rPr>
              <a:t>Yayılım, değerlerin ortalamadan ne kadar uzaklaştığını anlatır.</a:t>
            </a:r>
            <a:endParaRPr lang="tr-TR" sz="2800" dirty="0"/>
          </a:p>
        </p:txBody>
      </p:sp>
      <p:sp>
        <p:nvSpPr>
          <p:cNvPr id="4" name="Metin kutusu 3">
            <a:extLst>
              <a:ext uri="{FF2B5EF4-FFF2-40B4-BE49-F238E27FC236}">
                <a16:creationId xmlns:a16="http://schemas.microsoft.com/office/drawing/2014/main" id="{3633FDC5-FC00-44D1-A72D-393AE98E04D8}"/>
              </a:ext>
            </a:extLst>
          </p:cNvPr>
          <p:cNvSpPr txBox="1"/>
          <p:nvPr/>
        </p:nvSpPr>
        <p:spPr>
          <a:xfrm>
            <a:off x="982706" y="6595999"/>
            <a:ext cx="7920387" cy="1384995"/>
          </a:xfrm>
          <a:prstGeom prst="rect">
            <a:avLst/>
          </a:prstGeom>
          <a:noFill/>
        </p:spPr>
        <p:txBody>
          <a:bodyPr wrap="square" rtlCol="0">
            <a:noAutofit/>
          </a:bodyPr>
          <a:lstStyle/>
          <a:p>
            <a:pPr marL="0" indent="0"/>
            <a:r>
              <a:rPr lang="tr-TR" sz="2800" b="0" i="1" dirty="0">
                <a:solidFill>
                  <a:srgbClr val="0F1115"/>
                </a:solidFill>
                <a:effectLst/>
                <a:latin typeface="Calibri"/>
                <a:ea typeface="Calibri"/>
                <a:cs typeface="Calibri"/>
              </a:rPr>
              <a:t>Standart sapma: </a:t>
            </a:r>
            <a:r>
              <a:rPr lang="tr-TR" sz="2800" b="0" i="1" dirty="0" err="1">
                <a:solidFill>
                  <a:srgbClr val="0F1115"/>
                </a:solidFill>
                <a:effectLst/>
                <a:latin typeface="Calibri"/>
                <a:ea typeface="Calibri"/>
                <a:cs typeface="Calibri"/>
              </a:rPr>
              <a:t>Varyansın</a:t>
            </a:r>
            <a:r>
              <a:rPr lang="tr-TR" sz="2800" b="0" i="1" dirty="0">
                <a:solidFill>
                  <a:srgbClr val="0F1115"/>
                </a:solidFill>
                <a:effectLst/>
                <a:latin typeface="Calibri"/>
                <a:ea typeface="Calibri"/>
                <a:cs typeface="Calibri"/>
              </a:rPr>
              <a:t> karekökü</a:t>
            </a:r>
            <a:endParaRPr lang="tr-TR" sz="2800" dirty="0"/>
          </a:p>
          <a:p>
            <a:pPr marL="0" indent="0"/>
            <a:endParaRPr lang="tr-TR" sz="2800" dirty="0"/>
          </a:p>
          <a:p>
            <a:pPr marL="0" indent="0"/>
            <a:r>
              <a:rPr lang="tr-TR" sz="2800" b="0" i="1" dirty="0" err="1">
                <a:solidFill>
                  <a:srgbClr val="0F1115"/>
                </a:solidFill>
                <a:effectLst/>
                <a:latin typeface="Calibri"/>
                <a:ea typeface="Calibri"/>
                <a:cs typeface="Calibri"/>
              </a:rPr>
              <a:t>Veriyle aynı birimdedir. </a:t>
            </a:r>
            <a:r>
              <a:rPr lang="tr-TR" sz="2800" b="0" i="1" dirty="0">
                <a:solidFill>
                  <a:srgbClr val="0F1115"/>
                </a:solidFill>
                <a:effectLst/>
                <a:latin typeface="Calibri"/>
                <a:ea typeface="Calibri"/>
                <a:cs typeface="Calibri"/>
              </a:rPr>
              <a:t>Fiyat için: bin TL</a:t>
            </a:r>
            <a:endParaRPr lang="tr-TR" sz="2800" dirty="0"/>
          </a:p>
        </p:txBody>
      </p:sp>
      <p:pic>
        <p:nvPicPr>
          <p:cNvPr id="7" name="Resim 6">
            <a:extLst>
              <a:ext uri="{FF2B5EF4-FFF2-40B4-BE49-F238E27FC236}">
                <a16:creationId xmlns:a16="http://schemas.microsoft.com/office/drawing/2014/main" id="{5D530535-D6F6-4CED-A68D-D2842149C0F6}"/>
              </a:ext>
            </a:extLst>
          </p:cNvPr>
          <p:cNvPicPr>
            <a:picLocks noChangeAspect="1"/>
          </p:cNvPicPr>
          <p:nvPr/>
        </p:nvPicPr>
        <p:blipFill>
          <a:blip r:embed="rId4"/>
          <a:stretch>
            <a:fillRect/>
          </a:stretch>
        </p:blipFill>
        <p:spPr>
          <a:xfrm>
            <a:off x="5199709" y="3532072"/>
            <a:ext cx="3235159" cy="1325038"/>
          </a:xfrm>
          <a:prstGeom prst="round2DiagRect">
            <a:avLst>
              <a:gd name="adj1" fmla="val 16667"/>
              <a:gd name="adj2" fmla="val 0"/>
            </a:avLst>
          </a:prstGeom>
          <a:ln w="88900" cap="sq">
            <a:solidFill>
              <a:srgbClr val="D1D5DB"/>
            </a:solidFill>
            <a:miter lim="800000"/>
          </a:ln>
          <a:effectLst>
            <a:outerShdw blurRad="254000" algn="tl" rotWithShape="0">
              <a:srgbClr val="000000">
                <a:alpha val="43000"/>
              </a:srgbClr>
            </a:outerShdw>
          </a:effectLst>
        </p:spPr>
      </p:pic>
      <p:pic>
        <p:nvPicPr>
          <p:cNvPr id="40" name="Resim 39">
            <a:extLst>
              <a:ext uri="{FF2B5EF4-FFF2-40B4-BE49-F238E27FC236}">
                <a16:creationId xmlns:a16="http://schemas.microsoft.com/office/drawing/2014/main" id="{513B47B7-9154-4707-9119-21C4DC87FBFE}"/>
              </a:ext>
            </a:extLst>
          </p:cNvPr>
          <p:cNvPicPr>
            <a:picLocks noChangeAspect="1"/>
          </p:cNvPicPr>
          <p:nvPr/>
        </p:nvPicPr>
        <p:blipFill>
          <a:blip r:embed="rId5">
            <a:extLst>
              <a:ext uri="{28A0092B-C50C-407E-A947-70E740481C1C}">
                <a14:useLocalDpi xmlns:a14="http://schemas.microsoft.com/office/drawing/2010/main" val="0"/>
              </a:ext>
            </a:extLst>
          </a:blip>
          <a:srcRect t="3466" b="3466"/>
          <a:stretch/>
        </p:blipFill>
        <p:spPr>
          <a:xfrm>
            <a:off x="762000" y="3505548"/>
            <a:ext cx="3235159" cy="1325038"/>
          </a:xfrm>
          <a:prstGeom prst="round2DiagRect">
            <a:avLst>
              <a:gd name="adj1" fmla="val 16667"/>
              <a:gd name="adj2" fmla="val 0"/>
            </a:avLst>
          </a:prstGeom>
          <a:ln w="88900" cap="sq">
            <a:solidFill>
              <a:srgbClr val="D1D5DB"/>
            </a:solidFill>
            <a:miter lim="800000"/>
          </a:ln>
          <a:effectLst>
            <a:outerShdw blurRad="254000" algn="tl" rotWithShape="0">
              <a:srgbClr val="000000">
                <a:alpha val="43000"/>
              </a:srgbClr>
            </a:outerShdw>
          </a:effectLst>
        </p:spPr>
      </p:pic>
      <p:sp>
        <p:nvSpPr>
          <p:cNvPr id="100" name="Evren varyansı"/>
          <p:cNvSpPr txBox="1"/>
          <p:nvPr/>
        </p:nvSpPr>
        <p:spPr>
          <a:xfrm>
            <a:off x="857250" y="5200650"/>
            <a:ext cx="3190875" cy="533400"/>
          </a:xfrm>
          <a:prstGeom prst="rect">
            <a:avLst/>
          </a:prstGeom>
          <a:noFill/>
          <a:ln>
            <a:noFill/>
          </a:ln>
        </p:spPr>
        <p:txBody>
          <a:bodyPr wrap="square" lIns="0" tIns="0" rIns="0" bIns="0">
            <a:noAutofit/>
          </a:bodyPr>
          <a:lstStyle/>
          <a:p>
            <a:pPr marL="0" indent="0"/>
            <a:r>
              <a:rPr lang="tr-TR" sz="2400" b="1">
                <a:solidFill>
                  <a:srgbClr val="1E2A4E"/>
                </a:solidFill>
                <a:latin typeface="Calibri"/>
                <a:ea typeface="Calibri"/>
                <a:cs typeface="Calibri"/>
              </a:rPr>
              <a:t>Evren varyansı</a:t>
            </a:r>
            <a:endParaRPr lang="tr-TR" sz="2400"/>
          </a:p>
        </p:txBody>
      </p:sp>
      <p:sp>
        <p:nvSpPr>
          <p:cNvPr id="101" name="Örneklem varyansı"/>
          <p:cNvSpPr txBox="1"/>
          <p:nvPr/>
        </p:nvSpPr>
        <p:spPr>
          <a:xfrm>
            <a:off x="5219700" y="5200650"/>
            <a:ext cx="3476625" cy="533400"/>
          </a:xfrm>
          <a:prstGeom prst="rect">
            <a:avLst/>
          </a:prstGeom>
          <a:noFill/>
          <a:ln>
            <a:noFill/>
          </a:ln>
        </p:spPr>
        <p:txBody>
          <a:bodyPr wrap="square" lIns="0" tIns="0" rIns="0" bIns="0">
            <a:noAutofit/>
          </a:bodyPr>
          <a:lstStyle/>
          <a:p>
            <a:pPr marL="0" indent="0"/>
            <a:r>
              <a:rPr lang="tr-TR" sz="2400" b="1">
                <a:solidFill>
                  <a:srgbClr val="1E2A4E"/>
                </a:solidFill>
                <a:latin typeface="Calibri"/>
                <a:ea typeface="Calibri"/>
                <a:cs typeface="Calibri"/>
              </a:rPr>
              <a:t>Örneklem varyansı</a:t>
            </a:r>
            <a:endParaRPr lang="tr-TR" sz="2400"/>
          </a:p>
        </p:txBody>
      </p:sp>
      <p:sp>
        <p:nvSpPr>
          <p:cNvPr id="102" name="Aynı ortalama, farklı yayılım"/>
          <p:cNvSpPr txBox="1"/>
          <p:nvPr/>
        </p:nvSpPr>
        <p:spPr>
          <a:xfrm>
            <a:off x="9525000" y="7524750"/>
            <a:ext cx="7620000" cy="762000"/>
          </a:xfrm>
          <a:prstGeom prst="rect">
            <a:avLst/>
          </a:prstGeom>
          <a:noFill/>
          <a:ln>
            <a:noFill/>
          </a:ln>
        </p:spPr>
        <p:txBody>
          <a:bodyPr wrap="square" lIns="0" tIns="0" rIns="0" bIns="0">
            <a:noAutofit/>
          </a:bodyPr>
          <a:lstStyle/>
          <a:p>
            <a:pPr marL="0" indent="0" algn="ctr"/>
            <a:r>
              <a:rPr lang="tr-TR" sz="2800" b="1" dirty="0">
                <a:solidFill>
                  <a:srgbClr val="1E2A4E"/>
                </a:solidFill>
                <a:latin typeface="Calibri"/>
                <a:ea typeface="Calibri"/>
                <a:cs typeface="Calibri"/>
              </a:rPr>
              <a:t>Aynı ortalama, farklı yayılım</a:t>
            </a:r>
            <a:endParaRPr lang="tr-TR" sz="2800" dirty="0"/>
          </a:p>
        </p:txBody>
      </p:sp>
      <p:graphicFrame>
        <p:nvGraphicFramePr>
          <p:cNvPr id="103" name="Chart"/>
          <p:cNvGraphicFramePr/>
          <p:nvPr>
            <p:extLst>
              <p:ext uri="{D42A27DB-BD31-4B8C-83A1-F6EECF244321}">
                <p14:modId xmlns:p14="http://schemas.microsoft.com/office/powerpoint/2010/main" val="1116871482"/>
              </p:ext>
            </p:extLst>
          </p:nvPr>
        </p:nvGraphicFramePr>
        <p:xfrm>
          <a:off x="9620250" y="3381375"/>
          <a:ext cx="7524750" cy="3857625"/>
        </p:xfrm>
        <a:graphic>
          <a:graphicData uri="http://schemas.openxmlformats.org/drawingml/2006/chart">
            <c:chart xmlns:c="http://schemas.openxmlformats.org/drawingml/2006/chart" xmlns:r="http://schemas.openxmlformats.org/officeDocument/2006/relationships" r:id="rId6"/>
          </a:graphicData>
        </a:graphic>
      </p:graphicFrame>
      <p:sp>
        <p:nvSpPr>
          <p:cNvPr id="14" name="Rounded Rectangle 103">
            <a:extLst>
              <a:ext uri="{FF2B5EF4-FFF2-40B4-BE49-F238E27FC236}">
                <a16:creationId xmlns:a16="http://schemas.microsoft.com/office/drawing/2014/main" id="{29B479A8-1306-4301-9EAA-1C8EDF235DBD}"/>
              </a:ext>
            </a:extLst>
          </p:cNvPr>
          <p:cNvSpPr/>
          <p:nvPr/>
        </p:nvSpPr>
        <p:spPr>
          <a:xfrm>
            <a:off x="9509760" y="8503920"/>
            <a:ext cx="7787640" cy="830580"/>
          </a:xfrm>
          <a:prstGeom prst="roundRect">
            <a:avLst/>
          </a:prstGeom>
          <a:solidFill>
            <a:srgbClr val="F4EFD9"/>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2400" b="1" dirty="0" err="1">
                <a:solidFill>
                  <a:srgbClr val="1E2B55"/>
                </a:solidFill>
              </a:rPr>
              <a:t>Örneklem</a:t>
            </a:r>
            <a:r>
              <a:rPr sz="2400" b="1" dirty="0">
                <a:solidFill>
                  <a:srgbClr val="1E2B55"/>
                </a:solidFill>
              </a:rPr>
              <a:t> std. </a:t>
            </a:r>
            <a:r>
              <a:rPr sz="2400" b="1" dirty="0" err="1">
                <a:solidFill>
                  <a:srgbClr val="1E2B55"/>
                </a:solidFill>
              </a:rPr>
              <a:t>sapma</a:t>
            </a:r>
            <a:r>
              <a:rPr sz="2400" b="0" dirty="0">
                <a:solidFill>
                  <a:srgbClr val="1E2B55"/>
                </a:solidFill>
              </a:rPr>
              <a:t>:  s = 1  (3, 4, 5)   </a:t>
            </a:r>
            <a:r>
              <a:rPr sz="2400" b="0" dirty="0" err="1">
                <a:solidFill>
                  <a:srgbClr val="1E2B55"/>
                </a:solidFill>
              </a:rPr>
              <a:t>ve</a:t>
            </a:r>
            <a:r>
              <a:rPr sz="2400" b="0" dirty="0">
                <a:solidFill>
                  <a:srgbClr val="1E2B55"/>
                </a:solidFill>
              </a:rPr>
              <a:t>   s = 4  (0, 4, 8)</a:t>
            </a:r>
          </a:p>
        </p:txBody>
      </p:sp>
    </p:spTree>
    <p:extLst>
      <p:ext uri="{BB962C8B-B14F-4D97-AF65-F5344CB8AC3E}">
        <p14:creationId xmlns:p14="http://schemas.microsoft.com/office/powerpoint/2010/main" val="1065251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A7F65F9-0A2F-4FEC-9F26-62439CE484B0}"/>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a:lnSpc>
                <a:spcPct val="104000"/>
              </a:lnSpc>
            </a:pPr>
            <a:r>
              <a:rPr lang="tr-TR" sz="4400" b="1" dirty="0">
                <a:solidFill>
                  <a:srgbClr val="1E2A4E"/>
                </a:solidFill>
                <a:latin typeface="Calibri"/>
                <a:ea typeface="Calibri"/>
                <a:cs typeface="Calibri"/>
              </a:rPr>
              <a:t>Kovaryans: Birlikte değişim</a:t>
            </a:r>
            <a:endParaRPr lang="tr-TR" sz="4400"/>
          </a:p>
        </p:txBody>
      </p:sp>
      <p:pic>
        <p:nvPicPr>
          <p:cNvPr id="3" name="Image 0" descr="preencoded.png">
            <a:extLst>
              <a:ext uri="{FF2B5EF4-FFF2-40B4-BE49-F238E27FC236}">
                <a16:creationId xmlns:a16="http://schemas.microsoft.com/office/drawing/2014/main" id="{F10A453B-E8DA-42F3-90CF-1B55FFD94827}"/>
              </a:ext>
            </a:extLst>
          </p:cNvPr>
          <p:cNvPicPr>
            <a:picLocks noChangeAspect="1"/>
          </p:cNvPicPr>
          <p:nvPr/>
        </p:nvPicPr>
        <p:blipFill>
          <a:blip r:embed="rId3"/>
          <a:stretch>
            <a:fillRect/>
          </a:stretch>
        </p:blipFill>
        <p:spPr>
          <a:xfrm>
            <a:off x="992213" y="3391347"/>
            <a:ext cx="1373204" cy="1676847"/>
          </a:xfrm>
          <a:prstGeom prst="rect">
            <a:avLst/>
          </a:prstGeom>
        </p:spPr>
      </p:pic>
      <p:sp>
        <p:nvSpPr>
          <p:cNvPr id="4" name="Text 2">
            <a:extLst>
              <a:ext uri="{FF2B5EF4-FFF2-40B4-BE49-F238E27FC236}">
                <a16:creationId xmlns:a16="http://schemas.microsoft.com/office/drawing/2014/main" id="{8B5E5F43-B89B-44DA-BE7C-07CABE59ECB2}"/>
              </a:ext>
            </a:extLst>
          </p:cNvPr>
          <p:cNvSpPr/>
          <p:nvPr/>
        </p:nvSpPr>
        <p:spPr>
          <a:xfrm>
            <a:off x="2631365" y="3665934"/>
            <a:ext cx="6177404" cy="429072"/>
          </a:xfrm>
          <a:prstGeom prst="rect">
            <a:avLst/>
          </a:prstGeom>
          <a:noFill/>
          <a:ln/>
        </p:spPr>
        <p:txBody>
          <a:bodyPr wrap="none" lIns="0" tIns="0" rIns="0" bIns="0" rtlCol="0" anchor="t"/>
          <a:lstStyle/>
          <a:p>
            <a:pPr>
              <a:lnSpc>
                <a:spcPct val="104000"/>
              </a:lnSpc>
            </a:pPr>
            <a:r>
              <a:rPr lang="en-US" sz="2800" b="1" dirty="0">
                <a:solidFill>
                  <a:srgbClr val="3C3939"/>
                </a:solidFill>
                <a:ea typeface="Calibri" pitchFamily="34" charset="-122"/>
                <a:cs typeface="Calibri" pitchFamily="34" charset="-120"/>
              </a:rPr>
              <a:t>Pozitif Kovaryans</a:t>
            </a:r>
            <a:endParaRPr lang="en-US" sz="2800" b="1" dirty="0"/>
          </a:p>
        </p:txBody>
      </p:sp>
      <p:sp>
        <p:nvSpPr>
          <p:cNvPr id="5" name="Text 3">
            <a:extLst>
              <a:ext uri="{FF2B5EF4-FFF2-40B4-BE49-F238E27FC236}">
                <a16:creationId xmlns:a16="http://schemas.microsoft.com/office/drawing/2014/main" id="{DEE802A1-E0B4-4400-AEE4-25C45D9F0EE9}"/>
              </a:ext>
            </a:extLst>
          </p:cNvPr>
          <p:cNvSpPr/>
          <p:nvPr/>
        </p:nvSpPr>
        <p:spPr>
          <a:xfrm>
            <a:off x="2631365" y="4360963"/>
            <a:ext cx="6177404" cy="762000"/>
          </a:xfrm>
          <a:prstGeom prst="rect">
            <a:avLst/>
          </a:prstGeom>
          <a:noFill/>
          <a:ln/>
        </p:spPr>
        <p:txBody>
          <a:bodyPr wrap="square" lIns="0" tIns="0" rIns="0" bIns="0" rtlCol="0" anchor="t">
            <a:noAutofit/>
          </a:bodyPr>
          <a:lstStyle/>
          <a:p>
            <a:pPr marL="0" indent="0">
              <a:lnSpc>
                <a:spcPct val="131000"/>
              </a:lnSpc>
            </a:pPr>
            <a:r>
              <a:rPr lang="tr-TR" sz="2800" b="0" dirty="0">
                <a:solidFill>
                  <a:srgbClr val="3C3939"/>
                </a:solidFill>
                <a:latin typeface="Calibri"/>
                <a:ea typeface="Calibri"/>
                <a:cs typeface="Calibri"/>
              </a:rPr>
              <a:t>Aynı yönde değişme eğilimi</a:t>
            </a:r>
            <a:endParaRPr lang="tr-TR" sz="2800" dirty="0"/>
          </a:p>
        </p:txBody>
      </p:sp>
      <p:pic>
        <p:nvPicPr>
          <p:cNvPr id="6" name="Image 1" descr="preencoded.png">
            <a:extLst>
              <a:ext uri="{FF2B5EF4-FFF2-40B4-BE49-F238E27FC236}">
                <a16:creationId xmlns:a16="http://schemas.microsoft.com/office/drawing/2014/main" id="{4D514152-E02F-492F-9BDA-50BAE0A3A1C6}"/>
              </a:ext>
            </a:extLst>
          </p:cNvPr>
          <p:cNvPicPr>
            <a:picLocks noChangeAspect="1"/>
          </p:cNvPicPr>
          <p:nvPr/>
        </p:nvPicPr>
        <p:blipFill>
          <a:blip r:embed="rId4"/>
          <a:stretch>
            <a:fillRect/>
          </a:stretch>
        </p:blipFill>
        <p:spPr>
          <a:xfrm>
            <a:off x="992213" y="5068193"/>
            <a:ext cx="1373204" cy="1676847"/>
          </a:xfrm>
          <a:prstGeom prst="rect">
            <a:avLst/>
          </a:prstGeom>
        </p:spPr>
      </p:pic>
      <p:sp>
        <p:nvSpPr>
          <p:cNvPr id="7" name="Text 4">
            <a:extLst>
              <a:ext uri="{FF2B5EF4-FFF2-40B4-BE49-F238E27FC236}">
                <a16:creationId xmlns:a16="http://schemas.microsoft.com/office/drawing/2014/main" id="{19362700-B540-4A43-B6F2-F829509E3CD6}"/>
              </a:ext>
            </a:extLst>
          </p:cNvPr>
          <p:cNvSpPr/>
          <p:nvPr/>
        </p:nvSpPr>
        <p:spPr>
          <a:xfrm>
            <a:off x="2631365" y="5342781"/>
            <a:ext cx="6177404" cy="429072"/>
          </a:xfrm>
          <a:prstGeom prst="rect">
            <a:avLst/>
          </a:prstGeom>
          <a:noFill/>
          <a:ln/>
        </p:spPr>
        <p:txBody>
          <a:bodyPr wrap="none" lIns="0" tIns="0" rIns="0" bIns="0" rtlCol="0" anchor="t"/>
          <a:lstStyle/>
          <a:p>
            <a:pPr>
              <a:lnSpc>
                <a:spcPct val="104000"/>
              </a:lnSpc>
            </a:pPr>
            <a:r>
              <a:rPr lang="en-US" sz="2800" b="1" dirty="0">
                <a:solidFill>
                  <a:srgbClr val="3C3939"/>
                </a:solidFill>
                <a:ea typeface="Calibri" pitchFamily="34" charset="-122"/>
                <a:cs typeface="Calibri" pitchFamily="34" charset="-120"/>
              </a:rPr>
              <a:t>Negatif Kovaryans</a:t>
            </a:r>
            <a:endParaRPr lang="en-US" sz="2800" b="1" dirty="0"/>
          </a:p>
        </p:txBody>
      </p:sp>
      <p:sp>
        <p:nvSpPr>
          <p:cNvPr id="8" name="Text 5">
            <a:extLst>
              <a:ext uri="{FF2B5EF4-FFF2-40B4-BE49-F238E27FC236}">
                <a16:creationId xmlns:a16="http://schemas.microsoft.com/office/drawing/2014/main" id="{1F34306F-99CA-455E-81A7-674C8BEA62B1}"/>
              </a:ext>
            </a:extLst>
          </p:cNvPr>
          <p:cNvSpPr/>
          <p:nvPr/>
        </p:nvSpPr>
        <p:spPr>
          <a:xfrm>
            <a:off x="2631365" y="6037808"/>
            <a:ext cx="6177404" cy="857250"/>
          </a:xfrm>
          <a:prstGeom prst="rect">
            <a:avLst/>
          </a:prstGeom>
          <a:noFill/>
          <a:ln/>
        </p:spPr>
        <p:txBody>
          <a:bodyPr wrap="square" lIns="0" tIns="0" rIns="0" bIns="0" rtlCol="0" anchor="t">
            <a:noAutofit/>
          </a:bodyPr>
          <a:lstStyle/>
          <a:p>
            <a:pPr marL="0" indent="0">
              <a:lnSpc>
                <a:spcPct val="131000"/>
              </a:lnSpc>
            </a:pPr>
            <a:r>
              <a:rPr lang="tr-TR" sz="2800" b="0" dirty="0">
                <a:solidFill>
                  <a:srgbClr val="3C3939"/>
                </a:solidFill>
                <a:latin typeface="Calibri"/>
                <a:ea typeface="Calibri"/>
                <a:cs typeface="Calibri"/>
              </a:rPr>
              <a:t>Ters yönde değişme eğilimi</a:t>
            </a:r>
            <a:endParaRPr lang="tr-TR" sz="2800"/>
          </a:p>
        </p:txBody>
      </p:sp>
      <p:pic>
        <p:nvPicPr>
          <p:cNvPr id="9" name="Image 2" descr="preencoded.png">
            <a:extLst>
              <a:ext uri="{FF2B5EF4-FFF2-40B4-BE49-F238E27FC236}">
                <a16:creationId xmlns:a16="http://schemas.microsoft.com/office/drawing/2014/main" id="{082F519D-771C-471A-8CD6-7388521B94C7}"/>
              </a:ext>
            </a:extLst>
          </p:cNvPr>
          <p:cNvPicPr>
            <a:picLocks noChangeAspect="1"/>
          </p:cNvPicPr>
          <p:nvPr/>
        </p:nvPicPr>
        <p:blipFill>
          <a:blip r:embed="rId5"/>
          <a:stretch>
            <a:fillRect/>
          </a:stretch>
        </p:blipFill>
        <p:spPr>
          <a:xfrm>
            <a:off x="992213" y="6745040"/>
            <a:ext cx="1373204" cy="1676847"/>
          </a:xfrm>
          <a:prstGeom prst="rect">
            <a:avLst/>
          </a:prstGeom>
        </p:spPr>
      </p:pic>
      <p:sp>
        <p:nvSpPr>
          <p:cNvPr id="10" name="Text 6">
            <a:extLst>
              <a:ext uri="{FF2B5EF4-FFF2-40B4-BE49-F238E27FC236}">
                <a16:creationId xmlns:a16="http://schemas.microsoft.com/office/drawing/2014/main" id="{CCDFA81C-33EF-40E3-A01C-9E2E01751A42}"/>
              </a:ext>
            </a:extLst>
          </p:cNvPr>
          <p:cNvSpPr/>
          <p:nvPr/>
        </p:nvSpPr>
        <p:spPr>
          <a:xfrm>
            <a:off x="2631365" y="7154391"/>
            <a:ext cx="6177404" cy="429072"/>
          </a:xfrm>
          <a:prstGeom prst="rect">
            <a:avLst/>
          </a:prstGeom>
          <a:noFill/>
          <a:ln/>
        </p:spPr>
        <p:txBody>
          <a:bodyPr wrap="square" lIns="0" tIns="0" rIns="0" bIns="0" rtlCol="0" anchor="t">
            <a:noAutofit/>
          </a:bodyPr>
          <a:lstStyle/>
          <a:p>
            <a:pPr marL="0" indent="0">
              <a:lnSpc>
                <a:spcPct val="104000"/>
              </a:lnSpc>
            </a:pPr>
            <a:r>
              <a:rPr lang="tr-TR" sz="2800" b="1" dirty="0">
                <a:solidFill>
                  <a:srgbClr val="3C3939"/>
                </a:solidFill>
                <a:latin typeface="Calibri"/>
                <a:ea typeface="Calibri"/>
                <a:cs typeface="Calibri"/>
              </a:rPr>
              <a:t>Sıfır kovaryans</a:t>
            </a:r>
            <a:endParaRPr lang="tr-TR" sz="2800" dirty="0"/>
          </a:p>
        </p:txBody>
      </p:sp>
      <p:sp>
        <p:nvSpPr>
          <p:cNvPr id="11" name="Text 7">
            <a:extLst>
              <a:ext uri="{FF2B5EF4-FFF2-40B4-BE49-F238E27FC236}">
                <a16:creationId xmlns:a16="http://schemas.microsoft.com/office/drawing/2014/main" id="{48BE479F-586C-4CA2-ABD4-E70968D0FEA9}"/>
              </a:ext>
            </a:extLst>
          </p:cNvPr>
          <p:cNvSpPr/>
          <p:nvPr/>
        </p:nvSpPr>
        <p:spPr>
          <a:xfrm>
            <a:off x="2631365" y="7648575"/>
            <a:ext cx="6177404" cy="1095375"/>
          </a:xfrm>
          <a:prstGeom prst="rect">
            <a:avLst/>
          </a:prstGeom>
          <a:noFill/>
          <a:ln/>
        </p:spPr>
        <p:txBody>
          <a:bodyPr wrap="square" lIns="0" tIns="0" rIns="0" bIns="0" rtlCol="0" anchor="t">
            <a:noAutofit/>
          </a:bodyPr>
          <a:lstStyle/>
          <a:p>
            <a:pPr marL="0" indent="0">
              <a:lnSpc>
                <a:spcPct val="131000"/>
              </a:lnSpc>
            </a:pPr>
            <a:r>
              <a:rPr lang="tr-TR" sz="2800" b="0" dirty="0">
                <a:solidFill>
                  <a:srgbClr val="3C3939"/>
                </a:solidFill>
                <a:latin typeface="Calibri"/>
                <a:ea typeface="Calibri"/>
                <a:cs typeface="Calibri"/>
              </a:rPr>
              <a:t>Doğrusal birlikte değişim yok.</a:t>
            </a:r>
            <a:endParaRPr lang="tr-TR" sz="2800" dirty="0"/>
          </a:p>
          <a:p>
            <a:pPr marL="0" indent="0">
              <a:lnSpc>
                <a:spcPct val="131000"/>
              </a:lnSpc>
            </a:pPr>
            <a:r>
              <a:rPr lang="tr-TR" sz="2800" b="0" dirty="0">
                <a:solidFill>
                  <a:srgbClr val="3C3939"/>
                </a:solidFill>
                <a:latin typeface="Calibri"/>
                <a:ea typeface="Calibri"/>
                <a:cs typeface="Calibri"/>
              </a:rPr>
              <a:t>Başka tür ilişkiler olabilir.</a:t>
            </a:r>
            <a:endParaRPr lang="tr-TR" sz="2800" dirty="0"/>
          </a:p>
        </p:txBody>
      </p:sp>
      <p:sp>
        <p:nvSpPr>
          <p:cNvPr id="13" name="Text 1">
            <a:extLst>
              <a:ext uri="{FF2B5EF4-FFF2-40B4-BE49-F238E27FC236}">
                <a16:creationId xmlns:a16="http://schemas.microsoft.com/office/drawing/2014/main" id="{3287A1C5-17A4-4891-87C3-B08DBDFCB343}"/>
              </a:ext>
            </a:extLst>
          </p:cNvPr>
          <p:cNvSpPr/>
          <p:nvPr/>
        </p:nvSpPr>
        <p:spPr>
          <a:xfrm>
            <a:off x="657210" y="1837804"/>
            <a:ext cx="17217495" cy="432644"/>
          </a:xfrm>
          <a:prstGeom prst="rect">
            <a:avLst/>
          </a:prstGeom>
          <a:noFill/>
          <a:ln/>
        </p:spPr>
        <p:txBody>
          <a:bodyPr wrap="square" lIns="0" tIns="0" rIns="0" bIns="0" rtlCol="0" anchor="t">
            <a:noAutofit/>
          </a:bodyPr>
          <a:lstStyle/>
          <a:p>
            <a:pPr marL="0" indent="0">
              <a:lnSpc>
                <a:spcPct val="131000"/>
              </a:lnSpc>
            </a:pPr>
            <a:r>
              <a:rPr lang="tr-TR" sz="2800" b="0" dirty="0">
                <a:solidFill>
                  <a:srgbClr val="3C3939"/>
                </a:solidFill>
                <a:latin typeface="Calibri"/>
                <a:ea typeface="Calibri"/>
                <a:cs typeface="Calibri"/>
              </a:rPr>
              <a:t>İki sayısal değişkenin birlikte değişiminin yönünü özetler.</a:t>
            </a:r>
            <a:endParaRPr lang="tr-TR" sz="2800" dirty="0"/>
          </a:p>
        </p:txBody>
      </p:sp>
      <p:sp>
        <p:nvSpPr>
          <p:cNvPr id="16" name="Metin kutusu 15">
            <a:extLst>
              <a:ext uri="{FF2B5EF4-FFF2-40B4-BE49-F238E27FC236}">
                <a16:creationId xmlns:a16="http://schemas.microsoft.com/office/drawing/2014/main" id="{1C77D58E-F31D-49B9-ADD7-5687E8D97574}"/>
              </a:ext>
            </a:extLst>
          </p:cNvPr>
          <p:cNvSpPr txBox="1"/>
          <p:nvPr/>
        </p:nvSpPr>
        <p:spPr>
          <a:xfrm>
            <a:off x="10481982" y="8954277"/>
            <a:ext cx="7239000" cy="533400"/>
          </a:xfrm>
          <a:prstGeom prst="rect">
            <a:avLst/>
          </a:prstGeom>
          <a:noFill/>
        </p:spPr>
        <p:txBody>
          <a:bodyPr wrap="square" rtlCol="0">
            <a:noAutofit/>
          </a:bodyPr>
          <a:lstStyle/>
          <a:p>
            <a:r>
              <a:rPr lang="tr-TR" sz="2000" b="1" dirty="0">
                <a:solidFill>
                  <a:srgbClr val="596173"/>
                </a:solidFill>
                <a:latin typeface="Calibri"/>
                <a:ea typeface="Calibri"/>
                <a:cs typeface="Calibri"/>
              </a:rPr>
              <a:t>4 tam kayıt. Ev 2’nin fiyatı eksik. </a:t>
            </a:r>
            <a:endParaRPr lang="tr-TR" sz="2000" b="1" dirty="0"/>
          </a:p>
          <a:p>
            <a:pPr marL="0" indent="0"/>
            <a:endParaRPr lang="tr-TR" sz="2100" dirty="0"/>
          </a:p>
        </p:txBody>
      </p:sp>
      <p:graphicFrame>
        <p:nvGraphicFramePr>
          <p:cNvPr id="18" name="Chart 16">
            <a:extLst>
              <a:ext uri="{FF2B5EF4-FFF2-40B4-BE49-F238E27FC236}">
                <a16:creationId xmlns:a16="http://schemas.microsoft.com/office/drawing/2014/main" id="{532665DF-4653-470C-8DC6-59B326AB185D}"/>
              </a:ext>
            </a:extLst>
          </p:cNvPr>
          <p:cNvGraphicFramePr>
            <a:graphicFrameLocks noGrp="1"/>
          </p:cNvGraphicFramePr>
          <p:nvPr>
            <p:extLst>
              <p:ext uri="{D42A27DB-BD31-4B8C-83A1-F6EECF244321}">
                <p14:modId xmlns:p14="http://schemas.microsoft.com/office/powerpoint/2010/main" val="1109228512"/>
              </p:ext>
            </p:extLst>
          </p:nvPr>
        </p:nvGraphicFramePr>
        <p:xfrm>
          <a:off x="9479233" y="2660452"/>
          <a:ext cx="7589520" cy="603504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44157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1" name="Akış Çizelgesi: Bağlayıcı 20">
            <a:extLst>
              <a:ext uri="{FF2B5EF4-FFF2-40B4-BE49-F238E27FC236}">
                <a16:creationId xmlns:a16="http://schemas.microsoft.com/office/drawing/2014/main" id="{F906BDFD-A525-4E4F-AE05-94A666EA04AE}"/>
              </a:ext>
            </a:extLst>
          </p:cNvPr>
          <p:cNvSpPr/>
          <p:nvPr/>
        </p:nvSpPr>
        <p:spPr>
          <a:xfrm>
            <a:off x="12350425" y="3546964"/>
            <a:ext cx="4674351" cy="4339736"/>
          </a:xfrm>
          <a:prstGeom prst="flowChartConnector">
            <a:avLst/>
          </a:prstGeom>
          <a:solidFill>
            <a:srgbClr val="F0E6C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Akış Çizelgesi: Bağlayıcı 19">
            <a:extLst>
              <a:ext uri="{FF2B5EF4-FFF2-40B4-BE49-F238E27FC236}">
                <a16:creationId xmlns:a16="http://schemas.microsoft.com/office/drawing/2014/main" id="{DCB0D86C-BD1B-46FE-9106-7A47C8D18458}"/>
              </a:ext>
            </a:extLst>
          </p:cNvPr>
          <p:cNvSpPr/>
          <p:nvPr/>
        </p:nvSpPr>
        <p:spPr>
          <a:xfrm>
            <a:off x="6729952" y="3577772"/>
            <a:ext cx="4674351" cy="4339736"/>
          </a:xfrm>
          <a:prstGeom prst="flowChartConnector">
            <a:avLst/>
          </a:prstGeom>
          <a:solidFill>
            <a:srgbClr val="F0E6C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7" name="Akış Çizelgesi: Bağlayıcı 16">
            <a:extLst>
              <a:ext uri="{FF2B5EF4-FFF2-40B4-BE49-F238E27FC236}">
                <a16:creationId xmlns:a16="http://schemas.microsoft.com/office/drawing/2014/main" id="{1D0729B2-F8D5-4C45-8516-822CF1376B6B}"/>
              </a:ext>
            </a:extLst>
          </p:cNvPr>
          <p:cNvSpPr/>
          <p:nvPr/>
        </p:nvSpPr>
        <p:spPr>
          <a:xfrm>
            <a:off x="1230811" y="3546964"/>
            <a:ext cx="4674351" cy="4339736"/>
          </a:xfrm>
          <a:prstGeom prst="flowChartConnector">
            <a:avLst/>
          </a:prstGeom>
          <a:solidFill>
            <a:srgbClr val="F0E6C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Text 0">
            <a:extLst>
              <a:ext uri="{FF2B5EF4-FFF2-40B4-BE49-F238E27FC236}">
                <a16:creationId xmlns:a16="http://schemas.microsoft.com/office/drawing/2014/main" id="{786C78DA-6807-4E0C-A5DF-8A4EE22B6E13}"/>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a:lnSpc>
                <a:spcPct val="104000"/>
              </a:lnSpc>
            </a:pPr>
            <a:r>
              <a:rPr lang="tr-TR" sz="4400" b="1" dirty="0">
                <a:solidFill>
                  <a:srgbClr val="1E2A4E"/>
                </a:solidFill>
                <a:latin typeface="Calibri"/>
                <a:ea typeface="Calibri"/>
                <a:cs typeface="Calibri"/>
              </a:rPr>
              <a:t>Pearson korelasyonu</a:t>
            </a:r>
            <a:endParaRPr lang="tr-TR" sz="4400" dirty="0"/>
          </a:p>
        </p:txBody>
      </p:sp>
      <p:sp>
        <p:nvSpPr>
          <p:cNvPr id="3" name="Text 2">
            <a:extLst>
              <a:ext uri="{FF2B5EF4-FFF2-40B4-BE49-F238E27FC236}">
                <a16:creationId xmlns:a16="http://schemas.microsoft.com/office/drawing/2014/main" id="{6EC6617D-46F8-4E96-A31C-01E288336A40}"/>
              </a:ext>
            </a:extLst>
          </p:cNvPr>
          <p:cNvSpPr/>
          <p:nvPr/>
        </p:nvSpPr>
        <p:spPr>
          <a:xfrm>
            <a:off x="1333500" y="2609038"/>
            <a:ext cx="4286250" cy="742950"/>
          </a:xfrm>
          <a:prstGeom prst="rect">
            <a:avLst/>
          </a:prstGeom>
          <a:noFill/>
          <a:ln/>
        </p:spPr>
        <p:txBody>
          <a:bodyPr wrap="none" lIns="0" tIns="0" rIns="0" bIns="0" rtlCol="0" anchor="t"/>
          <a:lstStyle/>
          <a:p>
            <a:pPr algn="ctr">
              <a:lnSpc>
                <a:spcPct val="83000"/>
              </a:lnSpc>
            </a:pPr>
            <a:r>
              <a:rPr lang="en-US" sz="7350" dirty="0">
                <a:solidFill>
                  <a:srgbClr val="3C3939"/>
                </a:solidFill>
                <a:ea typeface="Calibri" pitchFamily="34" charset="-122"/>
                <a:cs typeface="Calibri" pitchFamily="34" charset="-120"/>
              </a:rPr>
              <a:t>+</a:t>
            </a:r>
            <a:r>
              <a:rPr lang="en-US" sz="6000" dirty="0">
                <a:solidFill>
                  <a:srgbClr val="3C3939"/>
                </a:solidFill>
                <a:ea typeface="Calibri" pitchFamily="34" charset="-122"/>
                <a:cs typeface="Calibri" pitchFamily="34" charset="-120"/>
              </a:rPr>
              <a:t>1</a:t>
            </a:r>
            <a:endParaRPr lang="en-US" sz="6000" dirty="0"/>
          </a:p>
        </p:txBody>
      </p:sp>
      <p:sp>
        <p:nvSpPr>
          <p:cNvPr id="4" name="Text 3">
            <a:extLst>
              <a:ext uri="{FF2B5EF4-FFF2-40B4-BE49-F238E27FC236}">
                <a16:creationId xmlns:a16="http://schemas.microsoft.com/office/drawing/2014/main" id="{F36CA84C-0830-46F7-A23D-FA67D8ECCB2F}"/>
              </a:ext>
            </a:extLst>
          </p:cNvPr>
          <p:cNvSpPr/>
          <p:nvPr/>
        </p:nvSpPr>
        <p:spPr>
          <a:xfrm>
            <a:off x="1545205" y="6112337"/>
            <a:ext cx="4238625" cy="476250"/>
          </a:xfrm>
          <a:prstGeom prst="rect">
            <a:avLst/>
          </a:prstGeom>
          <a:noFill/>
          <a:ln/>
        </p:spPr>
        <p:txBody>
          <a:bodyPr wrap="square" lIns="0" tIns="0" rIns="0" bIns="0" rtlCol="0" anchor="t">
            <a:noAutofit/>
          </a:bodyPr>
          <a:lstStyle/>
          <a:p>
            <a:pPr marL="0" indent="0" algn="ctr">
              <a:lnSpc>
                <a:spcPct val="104000"/>
              </a:lnSpc>
            </a:pPr>
            <a:r>
              <a:rPr lang="tr-TR" sz="2600" b="1" dirty="0">
                <a:solidFill>
                  <a:srgbClr val="3C3939"/>
                </a:solidFill>
                <a:latin typeface="Calibri"/>
                <a:ea typeface="Calibri"/>
                <a:cs typeface="Calibri"/>
              </a:rPr>
              <a:t>Pozitif doğrusal</a:t>
            </a:r>
            <a:endParaRPr lang="tr-TR" sz="2600" dirty="0"/>
          </a:p>
        </p:txBody>
      </p:sp>
      <p:sp>
        <p:nvSpPr>
          <p:cNvPr id="5" name="Text 4">
            <a:extLst>
              <a:ext uri="{FF2B5EF4-FFF2-40B4-BE49-F238E27FC236}">
                <a16:creationId xmlns:a16="http://schemas.microsoft.com/office/drawing/2014/main" id="{128EA6F2-191F-4FB5-8ADC-69A6309E7A21}"/>
              </a:ext>
            </a:extLst>
          </p:cNvPr>
          <p:cNvSpPr/>
          <p:nvPr/>
        </p:nvSpPr>
        <p:spPr>
          <a:xfrm>
            <a:off x="1616252" y="6607549"/>
            <a:ext cx="4000500" cy="819150"/>
          </a:xfrm>
          <a:prstGeom prst="rect">
            <a:avLst/>
          </a:prstGeom>
          <a:noFill/>
          <a:ln/>
        </p:spPr>
        <p:txBody>
          <a:bodyPr wrap="square" lIns="0" tIns="0" rIns="0" bIns="0" rtlCol="0" anchor="t">
            <a:noAutofit/>
          </a:bodyPr>
          <a:lstStyle/>
          <a:p>
            <a:pPr marL="0" indent="0" algn="ctr">
              <a:lnSpc>
                <a:spcPct val="133000"/>
              </a:lnSpc>
            </a:pPr>
            <a:r>
              <a:rPr lang="tr-TR" sz="2500" b="0" dirty="0">
                <a:solidFill>
                  <a:srgbClr val="3C3939"/>
                </a:solidFill>
                <a:latin typeface="Calibri"/>
                <a:ea typeface="Calibri"/>
                <a:cs typeface="Calibri"/>
              </a:rPr>
              <a:t>Birlikte artarlar.</a:t>
            </a:r>
            <a:endParaRPr lang="tr-TR" sz="2500" dirty="0"/>
          </a:p>
        </p:txBody>
      </p:sp>
      <p:sp>
        <p:nvSpPr>
          <p:cNvPr id="6" name="Text 5">
            <a:extLst>
              <a:ext uri="{FF2B5EF4-FFF2-40B4-BE49-F238E27FC236}">
                <a16:creationId xmlns:a16="http://schemas.microsoft.com/office/drawing/2014/main" id="{8940F913-2001-4A52-BB6F-3684C7B675EF}"/>
              </a:ext>
            </a:extLst>
          </p:cNvPr>
          <p:cNvSpPr/>
          <p:nvPr/>
        </p:nvSpPr>
        <p:spPr>
          <a:xfrm>
            <a:off x="6924002" y="2692801"/>
            <a:ext cx="4286250" cy="742950"/>
          </a:xfrm>
          <a:prstGeom prst="rect">
            <a:avLst/>
          </a:prstGeom>
          <a:noFill/>
          <a:ln/>
        </p:spPr>
        <p:txBody>
          <a:bodyPr wrap="none" lIns="0" tIns="0" rIns="0" bIns="0" rtlCol="0" anchor="t"/>
          <a:lstStyle/>
          <a:p>
            <a:pPr algn="ctr">
              <a:lnSpc>
                <a:spcPct val="83000"/>
              </a:lnSpc>
            </a:pPr>
            <a:r>
              <a:rPr lang="en-US" sz="7350" dirty="0">
                <a:solidFill>
                  <a:srgbClr val="3C3939"/>
                </a:solidFill>
                <a:ea typeface="Calibri" pitchFamily="34" charset="-122"/>
                <a:cs typeface="Calibri" pitchFamily="34" charset="-120"/>
              </a:rPr>
              <a:t>0</a:t>
            </a:r>
            <a:endParaRPr lang="en-US" sz="7350" dirty="0"/>
          </a:p>
        </p:txBody>
      </p:sp>
      <p:sp>
        <p:nvSpPr>
          <p:cNvPr id="7" name="Text 6">
            <a:extLst>
              <a:ext uri="{FF2B5EF4-FFF2-40B4-BE49-F238E27FC236}">
                <a16:creationId xmlns:a16="http://schemas.microsoft.com/office/drawing/2014/main" id="{1949129C-6185-4C61-9740-133352B0A050}"/>
              </a:ext>
            </a:extLst>
          </p:cNvPr>
          <p:cNvSpPr/>
          <p:nvPr/>
        </p:nvSpPr>
        <p:spPr>
          <a:xfrm>
            <a:off x="7024687" y="6070949"/>
            <a:ext cx="4238625" cy="476250"/>
          </a:xfrm>
          <a:prstGeom prst="rect">
            <a:avLst/>
          </a:prstGeom>
          <a:noFill/>
          <a:ln/>
        </p:spPr>
        <p:txBody>
          <a:bodyPr wrap="square" lIns="0" tIns="0" rIns="0" bIns="0" rtlCol="0" anchor="t">
            <a:noAutofit/>
          </a:bodyPr>
          <a:lstStyle/>
          <a:p>
            <a:pPr marL="0" indent="0" algn="ctr">
              <a:lnSpc>
                <a:spcPct val="104000"/>
              </a:lnSpc>
            </a:pPr>
            <a:r>
              <a:rPr lang="tr-TR" sz="2500" b="1" dirty="0">
                <a:solidFill>
                  <a:srgbClr val="3C3939"/>
                </a:solidFill>
                <a:latin typeface="Calibri"/>
                <a:ea typeface="Calibri"/>
                <a:cs typeface="Calibri"/>
              </a:rPr>
              <a:t>Doğrusal ilişki yok</a:t>
            </a:r>
            <a:endParaRPr lang="tr-TR" sz="2500" dirty="0"/>
          </a:p>
        </p:txBody>
      </p:sp>
      <p:sp>
        <p:nvSpPr>
          <p:cNvPr id="8" name="Text 7">
            <a:extLst>
              <a:ext uri="{FF2B5EF4-FFF2-40B4-BE49-F238E27FC236}">
                <a16:creationId xmlns:a16="http://schemas.microsoft.com/office/drawing/2014/main" id="{7C3DBAC7-6171-4F4C-8448-7BBE47356F9D}"/>
              </a:ext>
            </a:extLst>
          </p:cNvPr>
          <p:cNvSpPr/>
          <p:nvPr/>
        </p:nvSpPr>
        <p:spPr>
          <a:xfrm>
            <a:off x="7190636" y="6607549"/>
            <a:ext cx="4000500" cy="819150"/>
          </a:xfrm>
          <a:prstGeom prst="rect">
            <a:avLst/>
          </a:prstGeom>
          <a:noFill/>
          <a:ln/>
        </p:spPr>
        <p:txBody>
          <a:bodyPr wrap="square" lIns="0" tIns="0" rIns="0" bIns="0" rtlCol="0" anchor="t">
            <a:noAutofit/>
          </a:bodyPr>
          <a:lstStyle/>
          <a:p>
            <a:pPr marL="0" indent="0" algn="ctr">
              <a:lnSpc>
                <a:spcPct val="133000"/>
              </a:lnSpc>
            </a:pPr>
            <a:r>
              <a:rPr lang="tr-TR" sz="2500" b="0" dirty="0">
                <a:solidFill>
                  <a:srgbClr val="3C3939"/>
                </a:solidFill>
                <a:latin typeface="Calibri"/>
                <a:ea typeface="Calibri"/>
                <a:cs typeface="Calibri"/>
              </a:rPr>
              <a:t>Eğrisel ilişki olabilir.</a:t>
            </a:r>
            <a:endParaRPr lang="tr-TR" sz="2500" dirty="0"/>
          </a:p>
        </p:txBody>
      </p:sp>
      <p:sp>
        <p:nvSpPr>
          <p:cNvPr id="9" name="Text 8">
            <a:extLst>
              <a:ext uri="{FF2B5EF4-FFF2-40B4-BE49-F238E27FC236}">
                <a16:creationId xmlns:a16="http://schemas.microsoft.com/office/drawing/2014/main" id="{E6AD2C77-3047-4894-8CC6-C8231F7A47D9}"/>
              </a:ext>
            </a:extLst>
          </p:cNvPr>
          <p:cNvSpPr/>
          <p:nvPr/>
        </p:nvSpPr>
        <p:spPr>
          <a:xfrm>
            <a:off x="12514504" y="2762333"/>
            <a:ext cx="4286250" cy="742950"/>
          </a:xfrm>
          <a:prstGeom prst="rect">
            <a:avLst/>
          </a:prstGeom>
          <a:noFill/>
          <a:ln/>
        </p:spPr>
        <p:txBody>
          <a:bodyPr wrap="none" lIns="0" tIns="0" rIns="0" bIns="0" rtlCol="0" anchor="t"/>
          <a:lstStyle/>
          <a:p>
            <a:pPr algn="ctr">
              <a:lnSpc>
                <a:spcPct val="83000"/>
              </a:lnSpc>
            </a:pPr>
            <a:r>
              <a:rPr lang="tr-TR" sz="7350" dirty="0"/>
              <a:t>−1</a:t>
            </a:r>
            <a:endParaRPr lang="en-US" sz="7350" dirty="0"/>
          </a:p>
        </p:txBody>
      </p:sp>
      <p:sp>
        <p:nvSpPr>
          <p:cNvPr id="10" name="Text 9">
            <a:extLst>
              <a:ext uri="{FF2B5EF4-FFF2-40B4-BE49-F238E27FC236}">
                <a16:creationId xmlns:a16="http://schemas.microsoft.com/office/drawing/2014/main" id="{B0B8547F-9CD6-470A-9B96-08B2253CF6D9}"/>
              </a:ext>
            </a:extLst>
          </p:cNvPr>
          <p:cNvSpPr/>
          <p:nvPr/>
        </p:nvSpPr>
        <p:spPr>
          <a:xfrm>
            <a:off x="12709203" y="6070949"/>
            <a:ext cx="4238625" cy="476250"/>
          </a:xfrm>
          <a:prstGeom prst="rect">
            <a:avLst/>
          </a:prstGeom>
          <a:noFill/>
          <a:ln/>
        </p:spPr>
        <p:txBody>
          <a:bodyPr wrap="square" lIns="0" tIns="0" rIns="0" bIns="0" rtlCol="0" anchor="t">
            <a:noAutofit/>
          </a:bodyPr>
          <a:lstStyle/>
          <a:p>
            <a:pPr marL="0" indent="0" algn="ctr">
              <a:lnSpc>
                <a:spcPct val="104000"/>
              </a:lnSpc>
            </a:pPr>
            <a:r>
              <a:rPr lang="tr-TR" sz="2600" b="1" dirty="0">
                <a:solidFill>
                  <a:srgbClr val="3C3939"/>
                </a:solidFill>
                <a:latin typeface="Calibri"/>
                <a:ea typeface="Calibri"/>
                <a:cs typeface="Calibri"/>
              </a:rPr>
              <a:t>Negatif doğrusal</a:t>
            </a:r>
            <a:endParaRPr lang="tr-TR" sz="2600" dirty="0"/>
          </a:p>
        </p:txBody>
      </p:sp>
      <p:sp>
        <p:nvSpPr>
          <p:cNvPr id="11" name="Text 10">
            <a:extLst>
              <a:ext uri="{FF2B5EF4-FFF2-40B4-BE49-F238E27FC236}">
                <a16:creationId xmlns:a16="http://schemas.microsoft.com/office/drawing/2014/main" id="{CEC0B880-82B5-40E7-9C48-8CF04E703449}"/>
              </a:ext>
            </a:extLst>
          </p:cNvPr>
          <p:cNvSpPr/>
          <p:nvPr/>
        </p:nvSpPr>
        <p:spPr>
          <a:xfrm>
            <a:off x="13030200" y="6002232"/>
            <a:ext cx="3926593" cy="1568535"/>
          </a:xfrm>
          <a:prstGeom prst="rect">
            <a:avLst/>
          </a:prstGeom>
          <a:noFill/>
          <a:ln/>
        </p:spPr>
        <p:txBody>
          <a:bodyPr wrap="none" lIns="0" tIns="0" rIns="0" bIns="0" rtlCol="0" anchor="t"/>
          <a:lstStyle/>
          <a:p>
            <a:pPr algn="ctr">
              <a:lnSpc>
                <a:spcPct val="133000"/>
              </a:lnSpc>
            </a:pPr>
            <a:endParaRPr lang="en-US" sz="2800" dirty="0"/>
          </a:p>
        </p:txBody>
      </p:sp>
      <p:sp>
        <p:nvSpPr>
          <p:cNvPr id="12" name="Shape 11">
            <a:extLst>
              <a:ext uri="{FF2B5EF4-FFF2-40B4-BE49-F238E27FC236}">
                <a16:creationId xmlns:a16="http://schemas.microsoft.com/office/drawing/2014/main" id="{29029A6C-0425-4964-A3F8-A5104DC91675}"/>
              </a:ext>
            </a:extLst>
          </p:cNvPr>
          <p:cNvSpPr/>
          <p:nvPr/>
        </p:nvSpPr>
        <p:spPr>
          <a:xfrm>
            <a:off x="1060656" y="8215983"/>
            <a:ext cx="15474744" cy="855201"/>
          </a:xfrm>
          <a:prstGeom prst="roundRect">
            <a:avLst>
              <a:gd name="adj" fmla="val 10502"/>
            </a:avLst>
          </a:prstGeom>
          <a:solidFill>
            <a:srgbClr val="E1E1EA">
              <a:alpha val="45000"/>
            </a:srgbClr>
          </a:solidFill>
          <a:ln/>
        </p:spPr>
      </p:sp>
      <p:pic>
        <p:nvPicPr>
          <p:cNvPr id="13" name="Image 0" descr="preencoded.png">
            <a:extLst>
              <a:ext uri="{FF2B5EF4-FFF2-40B4-BE49-F238E27FC236}">
                <a16:creationId xmlns:a16="http://schemas.microsoft.com/office/drawing/2014/main" id="{4DCA3802-2406-4B74-AEC4-F162B6416FEF}"/>
              </a:ext>
            </a:extLst>
          </p:cNvPr>
          <p:cNvPicPr>
            <a:picLocks noChangeAspect="1"/>
          </p:cNvPicPr>
          <p:nvPr/>
        </p:nvPicPr>
        <p:blipFill>
          <a:blip r:embed="rId3"/>
          <a:stretch>
            <a:fillRect/>
          </a:stretch>
        </p:blipFill>
        <p:spPr>
          <a:xfrm>
            <a:off x="1297760" y="8478813"/>
            <a:ext cx="354351" cy="283518"/>
          </a:xfrm>
          <a:prstGeom prst="rect">
            <a:avLst/>
          </a:prstGeom>
        </p:spPr>
      </p:pic>
      <p:sp>
        <p:nvSpPr>
          <p:cNvPr id="14" name="Text 12">
            <a:extLst>
              <a:ext uri="{FF2B5EF4-FFF2-40B4-BE49-F238E27FC236}">
                <a16:creationId xmlns:a16="http://schemas.microsoft.com/office/drawing/2014/main" id="{1E57F531-5335-47DE-9269-E39520B05114}"/>
              </a:ext>
            </a:extLst>
          </p:cNvPr>
          <p:cNvSpPr/>
          <p:nvPr/>
        </p:nvSpPr>
        <p:spPr>
          <a:xfrm>
            <a:off x="1889215" y="8382913"/>
            <a:ext cx="16012613" cy="453629"/>
          </a:xfrm>
          <a:prstGeom prst="rect">
            <a:avLst/>
          </a:prstGeom>
          <a:noFill/>
          <a:ln/>
        </p:spPr>
        <p:txBody>
          <a:bodyPr wrap="square" lIns="0" tIns="0" rIns="0" bIns="0" rtlCol="0" anchor="t">
            <a:noAutofit/>
          </a:bodyPr>
          <a:lstStyle/>
          <a:p>
            <a:pPr marL="0" indent="0">
              <a:lnSpc>
                <a:spcPct val="133000"/>
              </a:lnSpc>
            </a:pPr>
            <a:r>
              <a:rPr lang="tr-TR" sz="2800" b="0" dirty="0">
                <a:solidFill>
                  <a:srgbClr val="000000"/>
                </a:solidFill>
                <a:latin typeface="Calibri"/>
                <a:ea typeface="Calibri"/>
                <a:cs typeface="Calibri"/>
              </a:rPr>
              <a:t>Korelasyon, nedensellik kanıtı değildir.</a:t>
            </a:r>
            <a:endParaRPr lang="tr-TR" sz="2800" dirty="0"/>
          </a:p>
        </p:txBody>
      </p:sp>
      <p:sp>
        <p:nvSpPr>
          <p:cNvPr id="15" name="Text 1">
            <a:extLst>
              <a:ext uri="{FF2B5EF4-FFF2-40B4-BE49-F238E27FC236}">
                <a16:creationId xmlns:a16="http://schemas.microsoft.com/office/drawing/2014/main" id="{992800BC-F815-49CC-AC38-212270051267}"/>
              </a:ext>
            </a:extLst>
          </p:cNvPr>
          <p:cNvSpPr/>
          <p:nvPr/>
        </p:nvSpPr>
        <p:spPr>
          <a:xfrm>
            <a:off x="797859" y="1470130"/>
            <a:ext cx="17217495" cy="809625"/>
          </a:xfrm>
          <a:prstGeom prst="rect">
            <a:avLst/>
          </a:prstGeom>
          <a:noFill/>
          <a:ln/>
        </p:spPr>
        <p:txBody>
          <a:bodyPr wrap="square" lIns="0" tIns="0" rIns="0" bIns="0" rtlCol="0" anchor="t">
            <a:noAutofit/>
          </a:bodyPr>
          <a:lstStyle/>
          <a:p>
            <a:pPr marL="0" indent="0">
              <a:lnSpc>
                <a:spcPct val="133000"/>
              </a:lnSpc>
            </a:pPr>
            <a:r>
              <a:rPr lang="tr-TR" sz="2800" b="0" dirty="0">
                <a:solidFill>
                  <a:srgbClr val="3C3939"/>
                </a:solidFill>
                <a:latin typeface="Calibri"/>
                <a:ea typeface="Calibri"/>
                <a:cs typeface="Calibri"/>
              </a:rPr>
              <a:t>Doğrusal ilişkinin yönünü ve gücünü özetler. Birimsizdir; −1 ile +1 arasındadır.</a:t>
            </a:r>
            <a:endParaRPr lang="tr-TR" sz="2800" dirty="0"/>
          </a:p>
        </p:txBody>
      </p:sp>
      <p:sp>
        <p:nvSpPr>
          <p:cNvPr id="22" name="Metin kutusu 21">
            <a:extLst>
              <a:ext uri="{FF2B5EF4-FFF2-40B4-BE49-F238E27FC236}">
                <a16:creationId xmlns:a16="http://schemas.microsoft.com/office/drawing/2014/main" id="{F9AA47AC-3990-4CD6-A4CC-17A2FB2FFA1A}"/>
              </a:ext>
            </a:extLst>
          </p:cNvPr>
          <p:cNvSpPr txBox="1"/>
          <p:nvPr/>
        </p:nvSpPr>
        <p:spPr>
          <a:xfrm>
            <a:off x="13561359" y="6615916"/>
            <a:ext cx="4000500" cy="819150"/>
          </a:xfrm>
          <a:prstGeom prst="rect">
            <a:avLst/>
          </a:prstGeom>
          <a:noFill/>
        </p:spPr>
        <p:txBody>
          <a:bodyPr wrap="square" rtlCol="0">
            <a:noAutofit/>
          </a:bodyPr>
          <a:lstStyle/>
          <a:p>
            <a:pPr marL="0" indent="0"/>
            <a:r>
              <a:rPr lang="tr-TR" sz="2500" b="0" dirty="0">
                <a:solidFill>
                  <a:srgbClr val="3C3939"/>
                </a:solidFill>
                <a:latin typeface="Calibri"/>
                <a:ea typeface="Calibri"/>
                <a:cs typeface="Calibri"/>
              </a:rPr>
              <a:t>Ters yönde değişirler.</a:t>
            </a:r>
            <a:endParaRPr lang="tr-TR" sz="2500" dirty="0"/>
          </a:p>
        </p:txBody>
      </p:sp>
      <p:graphicFrame>
        <p:nvGraphicFramePr>
          <p:cNvPr id="23" name="Chart"/>
          <p:cNvGraphicFramePr/>
          <p:nvPr>
            <p:extLst>
              <p:ext uri="{D42A27DB-BD31-4B8C-83A1-F6EECF244321}">
                <p14:modId xmlns:p14="http://schemas.microsoft.com/office/powerpoint/2010/main" val="3144355153"/>
              </p:ext>
            </p:extLst>
          </p:nvPr>
        </p:nvGraphicFramePr>
        <p:xfrm>
          <a:off x="2254244" y="4083295"/>
          <a:ext cx="2571750" cy="18097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Chart"/>
          <p:cNvGraphicFramePr/>
          <p:nvPr>
            <p:extLst>
              <p:ext uri="{D42A27DB-BD31-4B8C-83A1-F6EECF244321}">
                <p14:modId xmlns:p14="http://schemas.microsoft.com/office/powerpoint/2010/main" val="1885864056"/>
              </p:ext>
            </p:extLst>
          </p:nvPr>
        </p:nvGraphicFramePr>
        <p:xfrm>
          <a:off x="7905012" y="4028619"/>
          <a:ext cx="2571750" cy="18097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 name="Chart"/>
          <p:cNvGraphicFramePr/>
          <p:nvPr>
            <p:extLst>
              <p:ext uri="{D42A27DB-BD31-4B8C-83A1-F6EECF244321}">
                <p14:modId xmlns:p14="http://schemas.microsoft.com/office/powerpoint/2010/main" val="2773621330"/>
              </p:ext>
            </p:extLst>
          </p:nvPr>
        </p:nvGraphicFramePr>
        <p:xfrm>
          <a:off x="13487400" y="4083295"/>
          <a:ext cx="2571750" cy="180975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901929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49CD47-9CAE-448B-B9B6-C8FE9BEE899A}"/>
              </a:ext>
            </a:extLst>
          </p:cNvPr>
          <p:cNvSpPr/>
          <p:nvPr/>
        </p:nvSpPr>
        <p:spPr>
          <a:xfrm>
            <a:off x="762000" y="457200"/>
            <a:ext cx="16764000" cy="990600"/>
          </a:xfrm>
          <a:prstGeom prst="rect">
            <a:avLst/>
          </a:prstGeom>
          <a:noFill/>
          <a:ln/>
        </p:spPr>
        <p:txBody>
          <a:bodyPr wrap="square" lIns="0" tIns="0" rIns="0" bIns="0" rtlCol="0" anchor="t">
            <a:noAutofit/>
          </a:bodyPr>
          <a:lstStyle/>
          <a:p>
            <a:pPr marL="0" indent="0" algn="l" defTabSz="1371600">
              <a:lnSpc>
                <a:spcPct val="104000"/>
              </a:lnSpc>
            </a:pPr>
            <a:r>
              <a:rPr lang="tr-TR" sz="4400" b="1" dirty="0">
                <a:solidFill>
                  <a:srgbClr val="1E2A4E"/>
                </a:solidFill>
                <a:latin typeface="Calibri"/>
                <a:ea typeface="Calibri"/>
                <a:cs typeface="Calibri"/>
              </a:rPr>
              <a:t>Keşifsel veri analizi: Grafik seçimi</a:t>
            </a:r>
            <a:endParaRPr lang="tr-TR" sz="4400"/>
          </a:p>
        </p:txBody>
      </p:sp>
      <p:sp>
        <p:nvSpPr>
          <p:cNvPr id="17" name="Akış Çizelgesi: Öteki İşlem 16">
            <a:extLst>
              <a:ext uri="{FF2B5EF4-FFF2-40B4-BE49-F238E27FC236}">
                <a16:creationId xmlns:a16="http://schemas.microsoft.com/office/drawing/2014/main" id="{5F023B4B-4488-47C8-BF17-B127128B25DE}"/>
              </a:ext>
            </a:extLst>
          </p:cNvPr>
          <p:cNvSpPr/>
          <p:nvPr/>
        </p:nvSpPr>
        <p:spPr>
          <a:xfrm>
            <a:off x="355108" y="2095017"/>
            <a:ext cx="5689209" cy="2286483"/>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14" name="Text 3">
            <a:extLst>
              <a:ext uri="{FF2B5EF4-FFF2-40B4-BE49-F238E27FC236}">
                <a16:creationId xmlns:a16="http://schemas.microsoft.com/office/drawing/2014/main" id="{EDCD2941-2802-406F-8062-7BBD9A149359}"/>
              </a:ext>
            </a:extLst>
          </p:cNvPr>
          <p:cNvSpPr/>
          <p:nvPr/>
        </p:nvSpPr>
        <p:spPr>
          <a:xfrm>
            <a:off x="420952" y="1457325"/>
            <a:ext cx="17217495" cy="552450"/>
          </a:xfrm>
          <a:prstGeom prst="rect">
            <a:avLst/>
          </a:prstGeom>
          <a:noFill/>
          <a:ln/>
        </p:spPr>
        <p:txBody>
          <a:bodyPr wrap="square" lIns="0" tIns="0" rIns="0" bIns="0" rtlCol="0" anchor="t">
            <a:noAutofit/>
          </a:bodyPr>
          <a:lstStyle/>
          <a:p>
            <a:pPr marL="0" indent="0" defTabSz="1371600">
              <a:lnSpc>
                <a:spcPct val="133000"/>
              </a:lnSpc>
            </a:pPr>
            <a:r>
              <a:rPr lang="tr-TR" sz="2800" b="0" dirty="0">
                <a:solidFill>
                  <a:srgbClr val="3C3939"/>
                </a:solidFill>
                <a:latin typeface="Calibri"/>
                <a:ea typeface="Calibri"/>
                <a:cs typeface="Calibri"/>
              </a:rPr>
              <a:t>EDA: Veriyi tanıma, özet istatistikler ve görselleştirme</a:t>
            </a:r>
            <a:endParaRPr lang="tr-TR" sz="2800" dirty="0"/>
          </a:p>
        </p:txBody>
      </p:sp>
      <p:grpSp>
        <p:nvGrpSpPr>
          <p:cNvPr id="50" name="Grup 49">
            <a:extLst>
              <a:ext uri="{FF2B5EF4-FFF2-40B4-BE49-F238E27FC236}">
                <a16:creationId xmlns:a16="http://schemas.microsoft.com/office/drawing/2014/main" id="{4D1AB371-5C40-4D63-9210-703EDDBA7F99}"/>
              </a:ext>
            </a:extLst>
          </p:cNvPr>
          <p:cNvGrpSpPr/>
          <p:nvPr/>
        </p:nvGrpSpPr>
        <p:grpSpPr>
          <a:xfrm>
            <a:off x="764697" y="2120399"/>
            <a:ext cx="17545715" cy="2261101"/>
            <a:chOff x="474184" y="2120399"/>
            <a:chExt cx="17545715" cy="2743200"/>
          </a:xfrm>
        </p:grpSpPr>
        <p:grpSp>
          <p:nvGrpSpPr>
            <p:cNvPr id="43" name="Grup 42">
              <a:extLst>
                <a:ext uri="{FF2B5EF4-FFF2-40B4-BE49-F238E27FC236}">
                  <a16:creationId xmlns:a16="http://schemas.microsoft.com/office/drawing/2014/main" id="{2448DF11-57D9-4584-A140-A0397E20B257}"/>
                </a:ext>
              </a:extLst>
            </p:cNvPr>
            <p:cNvGrpSpPr/>
            <p:nvPr/>
          </p:nvGrpSpPr>
          <p:grpSpPr>
            <a:xfrm>
              <a:off x="474184" y="2120399"/>
              <a:ext cx="17259359" cy="2743200"/>
              <a:chOff x="573685" y="2843971"/>
              <a:chExt cx="17259359" cy="2743200"/>
            </a:xfrm>
          </p:grpSpPr>
          <p:sp>
            <p:nvSpPr>
              <p:cNvPr id="18" name="Akış Çizelgesi: Öteki İşlem 17">
                <a:extLst>
                  <a:ext uri="{FF2B5EF4-FFF2-40B4-BE49-F238E27FC236}">
                    <a16:creationId xmlns:a16="http://schemas.microsoft.com/office/drawing/2014/main" id="{59ED7345-CD95-45FA-8691-7CEB32C4ACE2}"/>
                  </a:ext>
                </a:extLst>
              </p:cNvPr>
              <p:cNvSpPr/>
              <p:nvPr/>
            </p:nvSpPr>
            <p:spPr>
              <a:xfrm>
                <a:off x="6117249" y="2843971"/>
                <a:ext cx="5780768" cy="2743200"/>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6" name="Text 4">
                <a:extLst>
                  <a:ext uri="{FF2B5EF4-FFF2-40B4-BE49-F238E27FC236}">
                    <a16:creationId xmlns:a16="http://schemas.microsoft.com/office/drawing/2014/main" id="{42599D11-8AFE-4E46-821D-B7FDCF5B6561}"/>
                  </a:ext>
                </a:extLst>
              </p:cNvPr>
              <p:cNvSpPr/>
              <p:nvPr/>
            </p:nvSpPr>
            <p:spPr>
              <a:xfrm>
                <a:off x="1934163" y="3034224"/>
                <a:ext cx="4135086" cy="471055"/>
              </a:xfrm>
              <a:prstGeom prst="rect">
                <a:avLst/>
              </a:prstGeom>
              <a:noFill/>
              <a:ln/>
            </p:spPr>
            <p:txBody>
              <a:bodyPr wrap="none" lIns="0" tIns="0" rIns="0" bIns="0" rtlCol="0" anchor="t"/>
              <a:lstStyle/>
              <a:p>
                <a:pPr defTabSz="1371600">
                  <a:lnSpc>
                    <a:spcPct val="104000"/>
                  </a:lnSpc>
                </a:pPr>
                <a:r>
                  <a:rPr lang="en-US" sz="3600" b="1" dirty="0">
                    <a:solidFill>
                      <a:srgbClr val="3C3939"/>
                    </a:solidFill>
                    <a:ea typeface="Calibri" pitchFamily="34" charset="-122"/>
                    <a:cs typeface="Calibri" pitchFamily="34" charset="-120"/>
                  </a:rPr>
                  <a:t>Histogram</a:t>
                </a:r>
                <a:endParaRPr lang="en-US" sz="3600" b="1" dirty="0">
                  <a:solidFill>
                    <a:prstClr val="black"/>
                  </a:solidFill>
                </a:endParaRPr>
              </a:p>
            </p:txBody>
          </p:sp>
          <p:sp>
            <p:nvSpPr>
              <p:cNvPr id="7" name="Text 5">
                <a:extLst>
                  <a:ext uri="{FF2B5EF4-FFF2-40B4-BE49-F238E27FC236}">
                    <a16:creationId xmlns:a16="http://schemas.microsoft.com/office/drawing/2014/main" id="{2F55B491-82BB-4CFB-8F89-6B8E3F8DFD80}"/>
                  </a:ext>
                </a:extLst>
              </p:cNvPr>
              <p:cNvSpPr/>
              <p:nvPr/>
            </p:nvSpPr>
            <p:spPr>
              <a:xfrm>
                <a:off x="573685" y="3780604"/>
                <a:ext cx="4870030" cy="1428613"/>
              </a:xfrm>
              <a:prstGeom prst="rect">
                <a:avLst/>
              </a:prstGeom>
              <a:noFill/>
              <a:ln/>
            </p:spPr>
            <p:txBody>
              <a:bodyPr wrap="square" lIns="0" tIns="0" rIns="0" bIns="0" rtlCol="0" anchor="t">
                <a:noAutofit/>
              </a:bodyPr>
              <a:lstStyle/>
              <a:p>
                <a:pPr marL="0" indent="0" defTabSz="1371600">
                  <a:lnSpc>
                    <a:spcPct val="133000"/>
                  </a:lnSpc>
                </a:pPr>
                <a:r>
                  <a:rPr lang="tr-TR" sz="2800" b="0" dirty="0">
                    <a:solidFill>
                      <a:srgbClr val="3C3939"/>
                    </a:solidFill>
                    <a:latin typeface="Calibri"/>
                    <a:ea typeface="Calibri"/>
                    <a:cs typeface="Calibri"/>
                  </a:rPr>
                  <a:t>Sayısal değerler hangi</a:t>
                </a:r>
                <a:r>
                  <a:rPr lang="tr-TR" sz="2800" dirty="0"/>
                  <a:t> </a:t>
                </a:r>
                <a:r>
                  <a:rPr lang="tr-TR" sz="2800" b="0" dirty="0">
                    <a:solidFill>
                      <a:srgbClr val="3C3939"/>
                    </a:solidFill>
                    <a:latin typeface="Calibri"/>
                    <a:ea typeface="Calibri"/>
                    <a:cs typeface="Calibri"/>
                  </a:rPr>
                  <a:t>aralıklarda yoğunlaşıyor?</a:t>
                </a:r>
                <a:endParaRPr lang="tr-TR" sz="2800" dirty="0"/>
              </a:p>
            </p:txBody>
          </p:sp>
          <p:sp>
            <p:nvSpPr>
              <p:cNvPr id="9" name="Text 6">
                <a:extLst>
                  <a:ext uri="{FF2B5EF4-FFF2-40B4-BE49-F238E27FC236}">
                    <a16:creationId xmlns:a16="http://schemas.microsoft.com/office/drawing/2014/main" id="{7A4BEFBD-5C08-4115-B0B2-181E20625865}"/>
                  </a:ext>
                </a:extLst>
              </p:cNvPr>
              <p:cNvSpPr/>
              <p:nvPr/>
            </p:nvSpPr>
            <p:spPr>
              <a:xfrm>
                <a:off x="7586829" y="3034851"/>
                <a:ext cx="4135086" cy="470428"/>
              </a:xfrm>
              <a:prstGeom prst="rect">
                <a:avLst/>
              </a:prstGeom>
              <a:noFill/>
              <a:ln/>
            </p:spPr>
            <p:txBody>
              <a:bodyPr wrap="none" lIns="0" tIns="0" rIns="0" bIns="0" rtlCol="0" anchor="t"/>
              <a:lstStyle/>
              <a:p>
                <a:pPr defTabSz="1371600">
                  <a:lnSpc>
                    <a:spcPct val="104000"/>
                  </a:lnSpc>
                </a:pPr>
                <a:r>
                  <a:rPr lang="en-US" sz="3600" b="1" dirty="0">
                    <a:solidFill>
                      <a:srgbClr val="3C3939"/>
                    </a:solidFill>
                    <a:ea typeface="Calibri" pitchFamily="34" charset="-122"/>
                    <a:cs typeface="Calibri" pitchFamily="34" charset="-120"/>
                  </a:rPr>
                  <a:t>Scatter Plot</a:t>
                </a:r>
                <a:endParaRPr lang="en-US" sz="3600" b="1" dirty="0">
                  <a:solidFill>
                    <a:prstClr val="black"/>
                  </a:solidFill>
                </a:endParaRPr>
              </a:p>
            </p:txBody>
          </p:sp>
          <p:sp>
            <p:nvSpPr>
              <p:cNvPr id="10" name="Text 7">
                <a:extLst>
                  <a:ext uri="{FF2B5EF4-FFF2-40B4-BE49-F238E27FC236}">
                    <a16:creationId xmlns:a16="http://schemas.microsoft.com/office/drawing/2014/main" id="{BE36C3EB-C424-4834-8845-89659AF92E1E}"/>
                  </a:ext>
                </a:extLst>
              </p:cNvPr>
              <p:cNvSpPr/>
              <p:nvPr/>
            </p:nvSpPr>
            <p:spPr>
              <a:xfrm>
                <a:off x="6484159" y="3823512"/>
                <a:ext cx="5046948" cy="1445425"/>
              </a:xfrm>
              <a:prstGeom prst="rect">
                <a:avLst/>
              </a:prstGeom>
              <a:noFill/>
              <a:ln/>
            </p:spPr>
            <p:txBody>
              <a:bodyPr wrap="square" lIns="0" tIns="0" rIns="0" bIns="0" rtlCol="0" anchor="t">
                <a:noAutofit/>
              </a:bodyPr>
              <a:lstStyle/>
              <a:p>
                <a:pPr marL="0" indent="0" defTabSz="1371600">
                  <a:lnSpc>
                    <a:spcPct val="133000"/>
                  </a:lnSpc>
                </a:pPr>
                <a:r>
                  <a:rPr lang="tr-TR" sz="2800" b="0" dirty="0">
                    <a:solidFill>
                      <a:srgbClr val="3C3939"/>
                    </a:solidFill>
                    <a:latin typeface="Calibri"/>
                    <a:ea typeface="Calibri"/>
                    <a:cs typeface="Calibri"/>
                  </a:rPr>
                  <a:t>İki sayısal değişkenin</a:t>
                </a:r>
                <a:r>
                  <a:rPr lang="tr-TR" sz="2800" dirty="0"/>
                  <a:t> </a:t>
                </a:r>
                <a:r>
                  <a:rPr lang="tr-TR" sz="2800" b="0" dirty="0">
                    <a:solidFill>
                      <a:srgbClr val="3C3939"/>
                    </a:solidFill>
                    <a:latin typeface="Calibri"/>
                    <a:ea typeface="Calibri"/>
                    <a:cs typeface="Calibri"/>
                  </a:rPr>
                  <a:t>birlikte değişimini gösterir.</a:t>
                </a:r>
                <a:endParaRPr lang="tr-TR" sz="2800" dirty="0"/>
              </a:p>
            </p:txBody>
          </p:sp>
          <p:sp>
            <p:nvSpPr>
              <p:cNvPr id="34" name="Akış Çizelgesi: Öteki İşlem 33">
                <a:extLst>
                  <a:ext uri="{FF2B5EF4-FFF2-40B4-BE49-F238E27FC236}">
                    <a16:creationId xmlns:a16="http://schemas.microsoft.com/office/drawing/2014/main" id="{285C278F-001C-4B88-A676-9CF7297A30CF}"/>
                  </a:ext>
                </a:extLst>
              </p:cNvPr>
              <p:cNvSpPr/>
              <p:nvPr/>
            </p:nvSpPr>
            <p:spPr>
              <a:xfrm>
                <a:off x="12052276" y="2843971"/>
                <a:ext cx="5780768" cy="2743200"/>
              </a:xfrm>
              <a:prstGeom prst="flowChartAlternateProcess">
                <a:avLst/>
              </a:prstGeom>
              <a:solidFill>
                <a:srgbClr val="E1E1EA">
                  <a:alpha val="4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white"/>
                  </a:solidFill>
                  <a:effectLst/>
                  <a:uLnTx/>
                  <a:uFillTx/>
                  <a:latin typeface="Calibri" panose="020F0502020204030204"/>
                  <a:ea typeface="Calibri"/>
                  <a:cs typeface="Calibri"/>
                </a:endParaRPr>
              </a:p>
            </p:txBody>
          </p:sp>
          <p:sp>
            <p:nvSpPr>
              <p:cNvPr id="35" name="Text 8">
                <a:extLst>
                  <a:ext uri="{FF2B5EF4-FFF2-40B4-BE49-F238E27FC236}">
                    <a16:creationId xmlns:a16="http://schemas.microsoft.com/office/drawing/2014/main" id="{E3EFF915-AABC-4B4D-9067-258FFF97F54F}"/>
                  </a:ext>
                </a:extLst>
              </p:cNvPr>
              <p:cNvSpPr/>
              <p:nvPr/>
            </p:nvSpPr>
            <p:spPr>
              <a:xfrm>
                <a:off x="14134588" y="2987158"/>
                <a:ext cx="1356040" cy="806448"/>
              </a:xfrm>
              <a:prstGeom prst="rect">
                <a:avLst/>
              </a:prstGeom>
              <a:noFill/>
              <a:ln/>
            </p:spPr>
            <p:txBody>
              <a:bodyPr wrap="none" lIns="0" tIns="0" rIns="0" bIns="0" rtlCol="0" anchor="t"/>
              <a:lstStyle/>
              <a:p>
                <a:pPr defTabSz="1371600">
                  <a:lnSpc>
                    <a:spcPct val="104000"/>
                  </a:lnSpc>
                </a:pPr>
                <a:r>
                  <a:rPr lang="en-US" sz="3600" b="1" dirty="0">
                    <a:solidFill>
                      <a:srgbClr val="3C3939"/>
                    </a:solidFill>
                    <a:ea typeface="Calibri" pitchFamily="34" charset="-122"/>
                    <a:cs typeface="Calibri" pitchFamily="34" charset="-120"/>
                  </a:rPr>
                  <a:t>Boxplot</a:t>
                </a:r>
                <a:endParaRPr lang="en-US" sz="3600" b="1" dirty="0">
                  <a:solidFill>
                    <a:prstClr val="black"/>
                  </a:solidFill>
                </a:endParaRPr>
              </a:p>
            </p:txBody>
          </p:sp>
        </p:grpSp>
        <p:sp>
          <p:nvSpPr>
            <p:cNvPr id="36" name="Text 9">
              <a:extLst>
                <a:ext uri="{FF2B5EF4-FFF2-40B4-BE49-F238E27FC236}">
                  <a16:creationId xmlns:a16="http://schemas.microsoft.com/office/drawing/2014/main" id="{07CD764F-9591-4A34-AF51-6E87CB5F770E}"/>
                </a:ext>
              </a:extLst>
            </p:cNvPr>
            <p:cNvSpPr/>
            <p:nvPr/>
          </p:nvSpPr>
          <p:spPr>
            <a:xfrm>
              <a:off x="12239131" y="3099940"/>
              <a:ext cx="5780768" cy="1445425"/>
            </a:xfrm>
            <a:prstGeom prst="rect">
              <a:avLst/>
            </a:prstGeom>
            <a:noFill/>
            <a:ln/>
          </p:spPr>
          <p:txBody>
            <a:bodyPr wrap="square" lIns="0" tIns="0" rIns="0" bIns="0" rtlCol="0" anchor="t">
              <a:noAutofit/>
            </a:bodyPr>
            <a:lstStyle/>
            <a:p>
              <a:pPr marL="0" indent="0" defTabSz="1371600">
                <a:lnSpc>
                  <a:spcPct val="133000"/>
                </a:lnSpc>
              </a:pPr>
              <a:r>
                <a:rPr lang="tr-TR" sz="2800" b="0" dirty="0">
                  <a:solidFill>
                    <a:srgbClr val="3C3939"/>
                  </a:solidFill>
                  <a:latin typeface="Calibri"/>
                  <a:ea typeface="Calibri"/>
                  <a:cs typeface="Calibri"/>
                </a:rPr>
                <a:t>Medyanı, çeyrekleri ve</a:t>
              </a:r>
              <a:r>
                <a:rPr lang="tr-TR" sz="2800" dirty="0"/>
                <a:t> </a:t>
              </a:r>
              <a:r>
                <a:rPr lang="tr-TR" sz="2800" b="0" dirty="0">
                  <a:solidFill>
                    <a:srgbClr val="3C3939"/>
                  </a:solidFill>
                  <a:latin typeface="Calibri"/>
                  <a:ea typeface="Calibri"/>
                  <a:cs typeface="Calibri"/>
                </a:rPr>
                <a:t>olası aykırı değerleri gösterir.</a:t>
              </a:r>
              <a:endParaRPr lang="tr-TR" sz="2800" dirty="0"/>
            </a:p>
          </p:txBody>
        </p:sp>
      </p:grpSp>
      <p:pic>
        <p:nvPicPr>
          <p:cNvPr id="45" name="Resim 44">
            <a:extLst>
              <a:ext uri="{FF2B5EF4-FFF2-40B4-BE49-F238E27FC236}">
                <a16:creationId xmlns:a16="http://schemas.microsoft.com/office/drawing/2014/main" id="{3A2EE01A-E538-4D5B-AFF1-DABEEBD7BC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911" y="5496611"/>
            <a:ext cx="5777051" cy="4315103"/>
          </a:xfrm>
          <a:prstGeom prst="rect">
            <a:avLst/>
          </a:prstGeom>
        </p:spPr>
      </p:pic>
      <p:pic>
        <p:nvPicPr>
          <p:cNvPr id="49" name="Resim 48">
            <a:extLst>
              <a:ext uri="{FF2B5EF4-FFF2-40B4-BE49-F238E27FC236}">
                <a16:creationId xmlns:a16="http://schemas.microsoft.com/office/drawing/2014/main" id="{AD0B7E15-0C2C-41A8-A5B0-CA3D3675DE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5180" y="5495271"/>
            <a:ext cx="5777051" cy="4315103"/>
          </a:xfrm>
          <a:prstGeom prst="rect">
            <a:avLst/>
          </a:prstGeom>
        </p:spPr>
      </p:pic>
      <p:graphicFrame>
        <p:nvGraphicFramePr>
          <p:cNvPr id="51" name="Chart"/>
          <p:cNvGraphicFramePr/>
          <p:nvPr/>
        </p:nvGraphicFramePr>
        <p:xfrm>
          <a:off x="6134100" y="5495925"/>
          <a:ext cx="5772150" cy="412432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569349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09324C13-6070-4830-8DA2-95BB6A2BF86C}"/>
              </a:ext>
            </a:extLst>
          </p:cNvPr>
          <p:cNvSpPr/>
          <p:nvPr/>
        </p:nvSpPr>
        <p:spPr>
          <a:xfrm>
            <a:off x="762000" y="457200"/>
            <a:ext cx="16764000" cy="990600"/>
          </a:xfrm>
          <a:prstGeom prst="rect">
            <a:avLst/>
          </a:prstGeom>
          <a:noFill/>
          <a:ln/>
        </p:spPr>
        <p:txBody>
          <a:bodyPr wrap="square" lIns="0" tIns="0" rIns="0" bIns="0" rtlCol="0" anchor="t">
            <a:noAutofit/>
          </a:bodyPr>
          <a:lstStyle/>
          <a:p>
            <a:pPr marL="0" marR="0" lvl="0" indent="0" algn="l" defTabSz="914400" eaLnBrk="1" fontAlgn="auto" latinLnBrk="0" hangingPunct="1">
              <a:lnSpc>
                <a:spcPct val="104000"/>
              </a:lnSpc>
              <a:spcBef>
                <a:spcPts val="0"/>
              </a:spcBef>
              <a:spcAft>
                <a:spcPts val="0"/>
              </a:spcAft>
              <a:buClrTx/>
              <a:buSzTx/>
              <a:buFontTx/>
              <a:buNone/>
              <a:tabLst/>
              <a:defRPr/>
            </a:pPr>
            <a:r>
              <a:rPr kumimoji="0" lang="tr-TR" sz="4400" b="1" i="0" u="none" strike="noStrike" kern="0" cap="none" spc="0" normalizeH="0" baseline="0" noProof="0" dirty="0">
                <a:ln>
                  <a:noFill/>
                </a:ln>
                <a:solidFill>
                  <a:srgbClr val="1E2A4E"/>
                </a:solidFill>
                <a:effectLst/>
                <a:uLnTx/>
                <a:uFillTx/>
                <a:latin typeface="Calibri"/>
                <a:ea typeface="Calibri"/>
                <a:cs typeface="Calibri"/>
              </a:rPr>
              <a:t>Mini uygulama: 5 ev, 4 soru</a:t>
            </a:r>
            <a:endParaRPr lang="tr-TR" sz="4400"/>
          </a:p>
        </p:txBody>
      </p:sp>
      <p:pic>
        <p:nvPicPr>
          <p:cNvPr id="48" name="Resim 47">
            <a:extLst>
              <a:ext uri="{FF2B5EF4-FFF2-40B4-BE49-F238E27FC236}">
                <a16:creationId xmlns:a16="http://schemas.microsoft.com/office/drawing/2014/main" id="{C072393F-52B4-479F-ABA6-2F56B6953C05}"/>
              </a:ext>
            </a:extLst>
          </p:cNvPr>
          <p:cNvPicPr>
            <a:picLocks noChangeAspect="1"/>
          </p:cNvPicPr>
          <p:nvPr/>
        </p:nvPicPr>
        <p:blipFill>
          <a:blip r:embed="rId3"/>
          <a:stretch>
            <a:fillRect/>
          </a:stretch>
        </p:blipFill>
        <p:spPr>
          <a:xfrm>
            <a:off x="685800" y="2095500"/>
            <a:ext cx="16558501" cy="6629400"/>
          </a:xfrm>
          <a:prstGeom prst="rect">
            <a:avLst/>
          </a:prstGeom>
        </p:spPr>
      </p:pic>
      <p:sp>
        <p:nvSpPr>
          <p:cNvPr id="49" name="Metin kutusu 48">
            <a:extLst>
              <a:ext uri="{FF2B5EF4-FFF2-40B4-BE49-F238E27FC236}">
                <a16:creationId xmlns:a16="http://schemas.microsoft.com/office/drawing/2014/main" id="{7BFB24B4-B403-4F84-968D-3F733D275580}"/>
              </a:ext>
            </a:extLst>
          </p:cNvPr>
          <p:cNvSpPr txBox="1"/>
          <p:nvPr/>
        </p:nvSpPr>
        <p:spPr>
          <a:xfrm>
            <a:off x="1043699" y="3102781"/>
            <a:ext cx="7162800" cy="1815882"/>
          </a:xfrm>
          <a:prstGeom prst="rect">
            <a:avLst/>
          </a:prstGeom>
          <a:solidFill>
            <a:srgbClr val="FFFFFE"/>
          </a:solidFill>
        </p:spPr>
        <p:txBody>
          <a:bodyPr wrap="square" rtlCol="0">
            <a:noAutofit/>
          </a:bodyPr>
          <a:lstStyle/>
          <a:p>
            <a:pPr marL="0" indent="0"/>
            <a:r>
              <a:rPr lang="tr-TR" sz="2700" b="0" dirty="0">
                <a:latin typeface="Calibri"/>
                <a:ea typeface="Calibri"/>
                <a:cs typeface="Calibri"/>
              </a:rPr>
              <a:t>Değişkenleri ayır</a:t>
            </a:r>
            <a:endParaRPr lang="tr-TR" sz="2700"/>
          </a:p>
          <a:p>
            <a:pPr marL="0" indent="0"/>
            <a:r>
              <a:rPr lang="tr-TR" sz="2700" b="0" dirty="0">
                <a:latin typeface="Calibri"/>
                <a:ea typeface="Calibri"/>
                <a:cs typeface="Calibri"/>
              </a:rPr>
              <a:t>Girdiler, hedef ve kimlik hangileri?</a:t>
            </a:r>
            <a:endParaRPr lang="tr-TR" sz="2700"/>
          </a:p>
        </p:txBody>
      </p:sp>
      <p:sp>
        <p:nvSpPr>
          <p:cNvPr id="50" name="Metin kutusu 49">
            <a:extLst>
              <a:ext uri="{FF2B5EF4-FFF2-40B4-BE49-F238E27FC236}">
                <a16:creationId xmlns:a16="http://schemas.microsoft.com/office/drawing/2014/main" id="{54B2ABE0-77F5-4FF8-B3F4-27E9BE189804}"/>
              </a:ext>
            </a:extLst>
          </p:cNvPr>
          <p:cNvSpPr txBox="1"/>
          <p:nvPr/>
        </p:nvSpPr>
        <p:spPr>
          <a:xfrm>
            <a:off x="9296400" y="3092559"/>
            <a:ext cx="7239000" cy="1815882"/>
          </a:xfrm>
          <a:prstGeom prst="rect">
            <a:avLst/>
          </a:prstGeom>
          <a:solidFill>
            <a:srgbClr val="FFFFFE"/>
          </a:solidFill>
        </p:spPr>
        <p:txBody>
          <a:bodyPr wrap="square" rtlCol="0">
            <a:noAutofit/>
          </a:bodyPr>
          <a:lstStyle/>
          <a:p>
            <a:pPr marL="0" indent="0"/>
            <a:r>
              <a:rPr lang="tr-TR" sz="2700" b="0" dirty="0">
                <a:latin typeface="Calibri"/>
                <a:ea typeface="Calibri"/>
                <a:cs typeface="Calibri"/>
              </a:rPr>
              <a:t>Eksik değeri bul</a:t>
            </a:r>
            <a:endParaRPr lang="tr-TR" sz="2700"/>
          </a:p>
          <a:p>
            <a:pPr marL="0" indent="0"/>
            <a:r>
              <a:rPr lang="tr-TR" sz="2700" b="0" dirty="0">
                <a:latin typeface="Calibri"/>
                <a:ea typeface="Calibri"/>
                <a:cs typeface="Calibri"/>
              </a:rPr>
              <a:t>Hangi evin hangi değeri bilinmiyor?</a:t>
            </a:r>
            <a:endParaRPr lang="tr-TR" sz="2700"/>
          </a:p>
        </p:txBody>
      </p:sp>
      <p:sp>
        <p:nvSpPr>
          <p:cNvPr id="51" name="Metin kutusu 50">
            <a:extLst>
              <a:ext uri="{FF2B5EF4-FFF2-40B4-BE49-F238E27FC236}">
                <a16:creationId xmlns:a16="http://schemas.microsoft.com/office/drawing/2014/main" id="{379C5118-29F4-4673-9422-4B1676DCF68D}"/>
              </a:ext>
            </a:extLst>
          </p:cNvPr>
          <p:cNvSpPr txBox="1"/>
          <p:nvPr/>
        </p:nvSpPr>
        <p:spPr>
          <a:xfrm>
            <a:off x="1143000" y="6438900"/>
            <a:ext cx="7162800" cy="1857375"/>
          </a:xfrm>
          <a:prstGeom prst="rect">
            <a:avLst/>
          </a:prstGeom>
          <a:solidFill>
            <a:srgbClr val="FFFFFE"/>
          </a:solidFill>
        </p:spPr>
        <p:txBody>
          <a:bodyPr wrap="square" rtlCol="0">
            <a:noAutofit/>
          </a:bodyPr>
          <a:lstStyle/>
          <a:p>
            <a:pPr marL="0" indent="0"/>
            <a:r>
              <a:rPr lang="tr-TR" sz="2700" b="0" dirty="0">
                <a:latin typeface="Calibri"/>
                <a:ea typeface="Calibri"/>
                <a:cs typeface="Calibri"/>
              </a:rPr>
              <a:t>Fiyatları özetle</a:t>
            </a:r>
            <a:endParaRPr lang="tr-TR" sz="2700"/>
          </a:p>
          <a:p>
            <a:pPr marL="0" indent="0"/>
            <a:r>
              <a:rPr lang="tr-TR" sz="2700" b="0" dirty="0">
                <a:latin typeface="Calibri"/>
                <a:ea typeface="Calibri"/>
                <a:cs typeface="Calibri"/>
              </a:rPr>
              <a:t>Ortalama ve medyanı hesapla.</a:t>
            </a:r>
            <a:endParaRPr lang="tr-TR" sz="2700"/>
          </a:p>
        </p:txBody>
      </p:sp>
      <p:sp>
        <p:nvSpPr>
          <p:cNvPr id="52" name="Metin kutusu 51">
            <a:extLst>
              <a:ext uri="{FF2B5EF4-FFF2-40B4-BE49-F238E27FC236}">
                <a16:creationId xmlns:a16="http://schemas.microsoft.com/office/drawing/2014/main" id="{D9612B47-6F08-4EAC-AA0F-DC88172D598E}"/>
              </a:ext>
            </a:extLst>
          </p:cNvPr>
          <p:cNvSpPr txBox="1"/>
          <p:nvPr/>
        </p:nvSpPr>
        <p:spPr>
          <a:xfrm>
            <a:off x="9372600" y="6286500"/>
            <a:ext cx="7525871" cy="1815882"/>
          </a:xfrm>
          <a:prstGeom prst="rect">
            <a:avLst/>
          </a:prstGeom>
          <a:solidFill>
            <a:srgbClr val="FFFFFE"/>
          </a:solidFill>
        </p:spPr>
        <p:txBody>
          <a:bodyPr wrap="square" rtlCol="0">
            <a:noAutofit/>
          </a:bodyPr>
          <a:lstStyle/>
          <a:p>
            <a:pPr marL="0" indent="0"/>
            <a:r>
              <a:rPr lang="tr-TR" sz="2700" b="0" dirty="0">
                <a:latin typeface="Calibri"/>
                <a:ea typeface="Calibri"/>
                <a:cs typeface="Calibri"/>
              </a:rPr>
              <a:t>Grafik seç</a:t>
            </a:r>
            <a:endParaRPr lang="tr-TR" sz="2700"/>
          </a:p>
          <a:p>
            <a:pPr marL="0" indent="0"/>
            <a:r>
              <a:rPr lang="tr-TR" sz="2700" b="0" dirty="0">
                <a:latin typeface="Calibri"/>
                <a:ea typeface="Calibri"/>
                <a:cs typeface="Calibri"/>
              </a:rPr>
              <a:t>Alan–fiyat ilişkisini nasıl gösterirsin?</a:t>
            </a:r>
            <a:endParaRPr lang="tr-TR" sz="270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spPr>
      <a:bodyPr/>
      <a:lstStyle>
        <a:defPPr algn="l">
          <a:defRPr/>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3119</TotalTime>
  <Words>2153</Words>
  <Application>Microsoft Office PowerPoint</Application>
  <PresentationFormat>Özel</PresentationFormat>
  <Paragraphs>372</Paragraphs>
  <Slides>23</Slides>
  <Notes>21</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23</vt:i4>
      </vt:variant>
    </vt:vector>
  </HeadingPairs>
  <TitlesOfParts>
    <vt:vector size="29" baseType="lpstr">
      <vt:lpstr>Cambria</vt:lpstr>
      <vt:lpstr>Arial</vt:lpstr>
      <vt:lpstr>Roboto</vt:lpstr>
      <vt:lpstr>Raleway</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hafta_2.pptx</dc:title>
  <dc:creator>Yagmur Baykal</dc:creator>
  <cp:lastModifiedBy>Yagmur Baykal</cp:lastModifiedBy>
  <cp:revision>101</cp:revision>
  <dcterms:created xsi:type="dcterms:W3CDTF">2006-08-16T00:00:00Z</dcterms:created>
  <dcterms:modified xsi:type="dcterms:W3CDTF">2026-10-04T13:07:54Z</dcterms:modified>
  <dc:identifier>DAHR0F4r_1U</dc:identifier>
</cp:coreProperties>
</file>