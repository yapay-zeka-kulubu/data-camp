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7"/>
  </p:notesMasterIdLst>
  <p:sldIdLst>
    <p:sldId id="282" r:id="rId2"/>
    <p:sldId id="281" r:id="rId3"/>
    <p:sldId id="283" r:id="rId4"/>
    <p:sldId id="284" r:id="rId5"/>
    <p:sldId id="307" r:id="rId6"/>
    <p:sldId id="1022" r:id="rId7"/>
    <p:sldId id="296" r:id="rId8"/>
    <p:sldId id="293" r:id="rId9"/>
    <p:sldId id="287" r:id="rId10"/>
    <p:sldId id="285" r:id="rId11"/>
    <p:sldId id="292" r:id="rId12"/>
    <p:sldId id="291" r:id="rId13"/>
    <p:sldId id="288" r:id="rId14"/>
    <p:sldId id="290" r:id="rId15"/>
    <p:sldId id="286" r:id="rId16"/>
    <p:sldId id="289" r:id="rId17"/>
    <p:sldId id="295" r:id="rId18"/>
    <p:sldId id="297" r:id="rId19"/>
    <p:sldId id="1025" r:id="rId20"/>
    <p:sldId id="298" r:id="rId21"/>
    <p:sldId id="301" r:id="rId22"/>
    <p:sldId id="1026" r:id="rId23"/>
    <p:sldId id="1024" r:id="rId24"/>
    <p:sldId id="1023" r:id="rId25"/>
    <p:sldId id="306" r:id="rId26"/>
  </p:sldIdLst>
  <p:sldSz cx="12192000" cy="6858000"/>
  <p:notesSz cx="6858000" cy="9144000"/>
  <p:defaultTextStyle>
    <a:defPPr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EFEFE"/>
    <a:srgbClr val="FBF8F3"/>
    <a:srgbClr val="F8F5F0"/>
    <a:srgbClr val="F7F5EF"/>
    <a:srgbClr val="EDECED"/>
    <a:srgbClr val="F5F2E3"/>
    <a:srgbClr val="E1E1E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3" d="100"/>
          <a:sy n="53" d="100"/>
        </p:scale>
        <p:origin x="68" y="12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Üst Bilgi Yer Tutucusu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3" name="Veri Yer Tutucusu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6AEBB3-4341-45BC-B819-EE8F324C3C32}" type="datetimeFigureOut">
              <a:rPr lang="tr-TR" smtClean="0"/>
              <a:t>4.10.2026</a:t>
            </a:fld>
            <a:endParaRPr lang="tr-TR"/>
          </a:p>
        </p:txBody>
      </p:sp>
      <p:sp>
        <p:nvSpPr>
          <p:cNvPr id="4" name="Slayt Resmi Yer Tutucusu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tr-TR"/>
          </a:p>
        </p:txBody>
      </p:sp>
      <p:sp>
        <p:nvSpPr>
          <p:cNvPr id="5" name="Not Yer Tutucusu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6" name="Alt Bilgi Yer Tutucusu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38FCB08-2F46-4E95-B71B-77CEF01D680E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8015863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 wrap="square">
            <a:noAutofit/>
          </a:bodyPr>
          <a:lstStyle/>
          <a:p>
            <a:pPr marL="0" indent="0"/>
            <a:endParaRPr lang="tr-TR" sz="1200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8FCB08-2F46-4E95-B71B-77CEF01D680E}" type="slidenum">
              <a:rPr lang="tr-TR" smtClean="0"/>
              <a:t>1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09682065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 wrap="square">
            <a:noAutofit/>
          </a:bodyPr>
          <a:lstStyle/>
          <a:p>
            <a:pPr marL="0" indent="0"/>
            <a:r>
              <a:rPr lang="tr-TR" sz="1200" b="0">
                <a:solidFill>
                  <a:srgbClr val="30343B"/>
                </a:solidFill>
                <a:latin typeface="Calibri"/>
                <a:ea typeface="Calibri"/>
                <a:cs typeface="Calibri"/>
              </a:rPr>
              <a:t>Süreç şeması kavramsal bir yol haritasıdır. İstatistik öğrenen ön işleme adımlarından önce veri bölünür. Sabit veri türü/birim kontrolleri ve yinelenen kayıtların değerlendirilmesi ayrı düşünülür.</a:t>
            </a:r>
            <a:endParaRPr lang="tr-TR" sz="1200"/>
          </a:p>
          <a:p>
            <a:pPr marL="0" indent="0"/>
            <a:endParaRPr lang="tr-TR" sz="1200"/>
          </a:p>
          <a:p>
            <a:pPr marL="0" indent="0"/>
            <a:r>
              <a:rPr lang="tr-TR" sz="1200" b="0">
                <a:solidFill>
                  <a:srgbClr val="30343B"/>
                </a:solidFill>
                <a:latin typeface="Calibri"/>
                <a:ea typeface="Calibri"/>
                <a:cs typeface="Calibri"/>
              </a:rPr>
              <a:t>Kaynaklar:</a:t>
            </a:r>
            <a:endParaRPr lang="tr-TR" sz="1200"/>
          </a:p>
          <a:p>
            <a:pPr marL="0" indent="0"/>
            <a:r>
              <a:rPr lang="tr-TR" sz="1200" b="0">
                <a:solidFill>
                  <a:srgbClr val="30343B"/>
                </a:solidFill>
                <a:latin typeface="Calibri"/>
                <a:ea typeface="Calibri"/>
                <a:cs typeface="Calibri"/>
              </a:rPr>
              <a:t>https://scikit-learn.org/stable/common_pitfalls.html</a:t>
            </a:r>
            <a:endParaRPr lang="tr-TR" sz="120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8FCB08-2F46-4E95-B71B-77CEF01D680E}" type="slidenum">
              <a:rPr lang="tr-TR" smtClean="0"/>
              <a:t>2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09682065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 wrap="square">
            <a:noAutofit/>
          </a:bodyPr>
          <a:lstStyle/>
          <a:p>
            <a:pPr marL="0" indent="0"/>
            <a:r>
              <a:rPr lang="tr-TR" sz="1200" b="0">
                <a:solidFill>
                  <a:srgbClr val="30343B"/>
                </a:solidFill>
                <a:latin typeface="Calibri"/>
                <a:ea typeface="Calibri"/>
                <a:cs typeface="Calibri"/>
              </a:rPr>
              <a:t>Eksik veri ve kategorik girdi desteği modele göre değişir. Ağaç tabanlı bazı modeller ölçeklemeye ihtiyaç duymaz. Veri kalitesi sonuçların tek belirleyicisi değildir.</a:t>
            </a:r>
            <a:endParaRPr lang="tr-TR" sz="1200"/>
          </a:p>
          <a:p>
            <a:pPr marL="0" indent="0"/>
            <a:endParaRPr lang="tr-TR" sz="1200"/>
          </a:p>
          <a:p>
            <a:pPr marL="0" indent="0"/>
            <a:r>
              <a:rPr lang="tr-TR" sz="1200" b="0">
                <a:solidFill>
                  <a:srgbClr val="30343B"/>
                </a:solidFill>
                <a:latin typeface="Calibri"/>
                <a:ea typeface="Calibri"/>
                <a:cs typeface="Calibri"/>
              </a:rPr>
              <a:t>Kaynaklar:</a:t>
            </a:r>
            <a:endParaRPr lang="tr-TR" sz="1200"/>
          </a:p>
          <a:p>
            <a:pPr marL="0" indent="0"/>
            <a:r>
              <a:rPr lang="tr-TR" sz="1200" b="0">
                <a:solidFill>
                  <a:srgbClr val="30343B"/>
                </a:solidFill>
                <a:latin typeface="Calibri"/>
                <a:ea typeface="Calibri"/>
                <a:cs typeface="Calibri"/>
              </a:rPr>
              <a:t>https://scikit-learn.org/stable/modules/generated/sklearn.preprocessing.StandardScaler.html</a:t>
            </a:r>
            <a:endParaRPr lang="tr-TR" sz="1200"/>
          </a:p>
          <a:p>
            <a:pPr marL="0" indent="0"/>
            <a:r>
              <a:rPr lang="tr-TR" sz="1200" b="0">
                <a:solidFill>
                  <a:srgbClr val="30343B"/>
                </a:solidFill>
                <a:latin typeface="Calibri"/>
                <a:ea typeface="Calibri"/>
                <a:cs typeface="Calibri"/>
              </a:rPr>
              <a:t>https://scikit-learn.org/stable/common_pitfalls.html</a:t>
            </a:r>
            <a:endParaRPr lang="tr-TR" sz="120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8FCB08-2F46-4E95-B71B-77CEF01D680E}" type="slidenum">
              <a:rPr lang="tr-TR" smtClean="0"/>
              <a:t>3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09682065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 wrap="square">
            <a:noAutofit/>
          </a:bodyPr>
          <a:lstStyle/>
          <a:p>
            <a:pPr marL="0" indent="0"/>
            <a:r>
              <a:rPr lang="tr-TR" sz="1200" b="0">
                <a:solidFill>
                  <a:srgbClr val="30343B"/>
                </a:solidFill>
                <a:latin typeface="Calibri"/>
                <a:ea typeface="Calibri"/>
                <a:cs typeface="Calibri"/>
              </a:rPr>
              <a:t>Fiyat birimi bin TL. 1.850 bin TL = 1.850.000 TL. Ev2 etiketsizdir; standart denetimli eğitime medyanla doldurulmuş hedef olarak katılmaz. Beş gözlem öğretim amaçlıdır ve güvenilir model değerlendirmesi sağlamaz.</a:t>
            </a:r>
            <a:endParaRPr lang="tr-TR" sz="120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8FCB08-2F46-4E95-B71B-77CEF01D680E}" type="slidenum">
              <a:rPr lang="tr-TR" smtClean="0"/>
              <a:t>4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09682065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 wrap="square">
            <a:noAutofit/>
          </a:bodyPr>
          <a:lstStyle/>
          <a:p>
            <a:pPr marL="0" indent="0"/>
            <a:r>
              <a:rPr lang="tr-TR" sz="1200" b="0">
                <a:solidFill>
                  <a:srgbClr val="30343B"/>
                </a:solidFill>
                <a:latin typeface="Calibri"/>
                <a:ea typeface="Calibri"/>
                <a:cs typeface="Calibri"/>
              </a:rPr>
              <a:t>Girdi ve hedef ayrımı ön işleme seçimlerinden önce tanımlanır. EvID keyfi kimliktir ve bu örnekte model girdisi yapılmaz. Fiyatı bilinmeyen Ev2 daha sonra tahmin kaydı olarak saklanır.</a:t>
            </a:r>
            <a:endParaRPr lang="tr-TR" sz="120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8FCB08-2F46-4E95-B71B-77CEF01D680E}" type="slidenum">
              <a:rPr lang="tr-TR" smtClean="0"/>
              <a:t>5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09682065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 wrap="square">
            <a:noAutofit/>
          </a:bodyPr>
          <a:lstStyle/>
          <a:p>
            <a:pPr marL="0" indent="0"/>
            <a:r>
              <a:rPr lang="tr-TR" sz="1200" b="0">
                <a:solidFill>
                  <a:srgbClr val="30343B"/>
                </a:solidFill>
                <a:latin typeface="Calibri"/>
                <a:ea typeface="Calibri"/>
                <a:cs typeface="Calibri"/>
              </a:rPr>
              <a:t>Aynı konut farklı ilanlarla tekrar edebilir. Kayıt kimliği, tarih, kaynak ve birimler gözden geçirilir. Tekrarların train/test arasında dağılması sızıntı yaratabilir. Negatif alan geçersizdir;0oda gibi değerler veri tanımıyla doğrulanır.</a:t>
            </a:r>
            <a:endParaRPr lang="tr-TR" sz="120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8FCB08-2F46-4E95-B71B-77CEF01D680E}" type="slidenum">
              <a:rPr lang="tr-TR" smtClean="0"/>
              <a:t>6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09682065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 wrap="square">
            <a:noAutofit/>
          </a:bodyPr>
          <a:lstStyle/>
          <a:p>
            <a:pPr marL="0" indent="0"/>
            <a:r>
              <a:rPr lang="tr-TR" sz="1200" b="0">
                <a:solidFill>
                  <a:srgbClr val="30343B"/>
                </a:solidFill>
                <a:latin typeface="Calibri"/>
                <a:ea typeface="Calibri"/>
                <a:cs typeface="Calibri"/>
              </a:rPr>
              <a:t>Üç eşit şekil üç veri bölümünün rollerini gösterir; geometrik genişlikler oranları temsil etmez.5evle güvenilir değerlendirme yapılamaz. Bölme seçimi zaman sırası, aynı kişi/konutun tekrarları ve problem yapısına bağlıdır. Ayrıntılar hafta3.</a:t>
            </a:r>
            <a:endParaRPr lang="tr-TR" sz="120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8FCB08-2F46-4E95-B71B-77CEF01D680E}" type="slidenum">
              <a:rPr lang="tr-TR" smtClean="0"/>
              <a:t>7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09682065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 wrap="square">
            <a:noAutofit/>
          </a:bodyPr>
          <a:lstStyle/>
          <a:p>
            <a:pPr marL="0" indent="0"/>
            <a:r>
              <a:rPr lang="tr-TR" sz="1200" b="0">
                <a:solidFill>
                  <a:srgbClr val="30343B"/>
                </a:solidFill>
                <a:latin typeface="Calibri"/>
                <a:ea typeface="Calibri"/>
                <a:cs typeface="Calibri"/>
              </a:rPr>
              <a:t>Sızıntı değerlendirmeyi iyimser gösterebilir, her durumda mutlaka artış olacağı iddia edilmez. İmputer,encoder,scaler fit yalnızca train verisinde yapılır. Pipeline bu düzeni korumaya yardımcı olur.</a:t>
            </a:r>
            <a:endParaRPr lang="tr-TR" sz="1200"/>
          </a:p>
          <a:p>
            <a:pPr marL="0" indent="0"/>
            <a:endParaRPr lang="tr-TR" sz="1200"/>
          </a:p>
          <a:p>
            <a:pPr marL="0" indent="0"/>
            <a:r>
              <a:rPr lang="tr-TR" sz="1200" b="0">
                <a:solidFill>
                  <a:srgbClr val="30343B"/>
                </a:solidFill>
                <a:latin typeface="Calibri"/>
                <a:ea typeface="Calibri"/>
                <a:cs typeface="Calibri"/>
              </a:rPr>
              <a:t>Kaynaklar:</a:t>
            </a:r>
            <a:endParaRPr lang="tr-TR" sz="1200"/>
          </a:p>
          <a:p>
            <a:pPr marL="0" indent="0"/>
            <a:r>
              <a:rPr lang="tr-TR" sz="1200" b="0">
                <a:solidFill>
                  <a:srgbClr val="30343B"/>
                </a:solidFill>
                <a:latin typeface="Calibri"/>
                <a:ea typeface="Calibri"/>
                <a:cs typeface="Calibri"/>
              </a:rPr>
              <a:t>https://scikit-learn.org/stable/common_pitfalls.html</a:t>
            </a:r>
            <a:endParaRPr lang="tr-TR" sz="120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8FCB08-2F46-4E95-B71B-77CEF01D680E}" type="slidenum">
              <a:rPr lang="tr-TR" smtClean="0"/>
              <a:t>8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09682065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 wrap="square">
            <a:noAutofit/>
          </a:bodyPr>
          <a:lstStyle/>
          <a:p>
            <a:pPr marL="0" indent="0"/>
            <a:r>
              <a:rPr lang="tr-TR" sz="1200" b="0">
                <a:solidFill>
                  <a:srgbClr val="30343B"/>
                </a:solidFill>
                <a:latin typeface="Calibri"/>
                <a:ea typeface="Calibri"/>
                <a:cs typeface="Calibri"/>
              </a:rPr>
              <a:t>astype(int) yalnızca temiz, uygun ve eksiksiz sayısal değerler için gösterilir. pd.to_numeric(errors="coerce") geçersiz girdileri eksik değere dönüştürür; oluşan eksikler ayrıca ele alınır.</a:t>
            </a:r>
            <a:endParaRPr lang="tr-TR" sz="120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8FCB08-2F46-4E95-B71B-77CEF01D680E}" type="slidenum">
              <a:rPr lang="tr-TR" smtClean="0"/>
              <a:t>9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09682065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 wrap="square">
            <a:noAutofit/>
          </a:bodyPr>
          <a:lstStyle/>
          <a:p>
            <a:pPr marL="0" indent="0"/>
            <a:r>
              <a:rPr lang="tr-TR" sz="1200" b="0">
                <a:solidFill>
                  <a:srgbClr val="30343B"/>
                </a:solidFill>
                <a:latin typeface="Calibri"/>
                <a:ea typeface="Calibri"/>
                <a:cs typeface="Calibri"/>
              </a:rPr>
              <a:t>Ana veri setinde eksik fiyat hedeftir. Doldurma yalnızca bir girdi örneğiyle açıklanır: Ev1,Ev3,Ev4 eğitim yaşları5,12,8; medyan8. Ayrı bir yeni kaydın yaşı eksikse bu değer kullanılabilir. Etiket uydurulmaz. Kayıt silme, eksiklik nedeni ve örnekleme yanlılığı dikkate alınır.</a:t>
            </a:r>
            <a:endParaRPr lang="tr-TR" sz="1200"/>
          </a:p>
          <a:p>
            <a:pPr marL="0" indent="0"/>
            <a:endParaRPr lang="tr-TR" sz="1200"/>
          </a:p>
          <a:p>
            <a:pPr marL="0" indent="0"/>
            <a:r>
              <a:rPr lang="tr-TR" sz="1200" b="0">
                <a:solidFill>
                  <a:srgbClr val="30343B"/>
                </a:solidFill>
                <a:latin typeface="Calibri"/>
                <a:ea typeface="Calibri"/>
                <a:cs typeface="Calibri"/>
              </a:rPr>
              <a:t>Kaynaklar:</a:t>
            </a:r>
            <a:endParaRPr lang="tr-TR" sz="1200"/>
          </a:p>
          <a:p>
            <a:pPr marL="0" indent="0"/>
            <a:r>
              <a:rPr lang="tr-TR" sz="1200" b="0">
                <a:solidFill>
                  <a:srgbClr val="30343B"/>
                </a:solidFill>
                <a:latin typeface="Calibri"/>
                <a:ea typeface="Calibri"/>
                <a:cs typeface="Calibri"/>
              </a:rPr>
              <a:t>https://scikit-learn.org/stable/common_pitfalls.html</a:t>
            </a:r>
            <a:endParaRPr lang="tr-TR" sz="120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8FCB08-2F46-4E95-B71B-77CEF01D680E}" type="slidenum">
              <a:rPr lang="tr-TR" smtClean="0"/>
              <a:t>10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09682065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 wrap="square">
            <a:noAutofit/>
          </a:bodyPr>
          <a:lstStyle/>
          <a:p>
            <a:pPr marL="0" indent="0"/>
            <a:r>
              <a:rPr lang="tr-TR" sz="1200" b="0">
                <a:solidFill>
                  <a:srgbClr val="30343B"/>
                </a:solidFill>
                <a:latin typeface="Calibri"/>
                <a:ea typeface="Calibri"/>
                <a:cs typeface="Calibri"/>
              </a:rPr>
              <a:t>9800 bin TL yüksek gözlemdir, gerçek kayıt mı lüks konut mu araştırılır. 210m² tek başına kesin aykırı sayılamaz. Hedef fiyatın sınırlandırılması öğrenilen hedefi değiştirir; otomatik önerilmez. Eşikler eğitim verisinden belirlenir.</a:t>
            </a:r>
            <a:endParaRPr lang="tr-TR" sz="120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8FCB08-2F46-4E95-B71B-77CEF01D680E}" type="slidenum">
              <a:rPr lang="tr-TR" smtClean="0"/>
              <a:t>11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09682065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 wrap="square">
            <a:noAutofit/>
          </a:bodyPr>
          <a:lstStyle/>
          <a:p>
            <a:pPr marL="0" indent="0"/>
            <a:r>
              <a:rPr lang="tr-TR" sz="1200" b="0">
                <a:solidFill>
                  <a:srgbClr val="30343B"/>
                </a:solidFill>
                <a:latin typeface="Calibri"/>
                <a:ea typeface="Calibri"/>
                <a:cs typeface="Calibri"/>
              </a:rPr>
              <a:t>Sağdaki şehirlerin0,1,2 kodlanması yalnızca sayısal temsil örneğidir; nominal şehir girdisi için önerilen seçim değildir. Bu sunumda şehir için one-hot kullanılır. Gerçek ordinal örnek bir sonraki slayttadır.</a:t>
            </a:r>
            <a:endParaRPr lang="tr-TR" sz="1200"/>
          </a:p>
          <a:p>
            <a:pPr marL="0" indent="0"/>
            <a:endParaRPr lang="tr-TR" sz="1200"/>
          </a:p>
          <a:p>
            <a:pPr marL="0" indent="0"/>
            <a:r>
              <a:rPr lang="tr-TR" sz="1200" b="0">
                <a:solidFill>
                  <a:srgbClr val="30343B"/>
                </a:solidFill>
                <a:latin typeface="Calibri"/>
                <a:ea typeface="Calibri"/>
                <a:cs typeface="Calibri"/>
              </a:rPr>
              <a:t>Kaynaklar:</a:t>
            </a:r>
            <a:endParaRPr lang="tr-TR" sz="1200"/>
          </a:p>
          <a:p>
            <a:pPr marL="0" indent="0"/>
            <a:r>
              <a:rPr lang="tr-TR" sz="1200" b="0">
                <a:solidFill>
                  <a:srgbClr val="30343B"/>
                </a:solidFill>
                <a:latin typeface="Calibri"/>
                <a:ea typeface="Calibri"/>
                <a:cs typeface="Calibri"/>
              </a:rPr>
              <a:t>https://scikit-learn.org/stable/modules/generated/sklearn.preprocessing.OrdinalEncoder.html</a:t>
            </a:r>
            <a:endParaRPr lang="tr-TR" sz="1200"/>
          </a:p>
          <a:p>
            <a:pPr marL="0" indent="0"/>
            <a:r>
              <a:rPr lang="tr-TR" sz="1200" b="0">
                <a:solidFill>
                  <a:srgbClr val="30343B"/>
                </a:solidFill>
                <a:latin typeface="Calibri"/>
                <a:ea typeface="Calibri"/>
                <a:cs typeface="Calibri"/>
              </a:rPr>
              <a:t>https://scikit-learn.org/stable/modules/generated/sklearn.preprocessing.LabelEncoder.html</a:t>
            </a:r>
            <a:endParaRPr lang="tr-TR" sz="120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8FCB08-2F46-4E95-B71B-77CEF01D680E}" type="slidenum">
              <a:rPr lang="tr-TR" smtClean="0"/>
              <a:t>12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09682065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 wrap="square">
            <a:noAutofit/>
          </a:bodyPr>
          <a:lstStyle/>
          <a:p>
            <a:pPr marL="0" indent="0"/>
            <a:r>
              <a:rPr lang="tr-TR" sz="1200" b="0">
                <a:solidFill>
                  <a:srgbClr val="30343B"/>
                </a:solidFill>
                <a:latin typeface="Calibri"/>
                <a:ea typeface="Calibri"/>
                <a:cs typeface="Calibri"/>
              </a:rPr>
              <a:t>scikit-learn OrdinalEncoder girdi değişkenlerini kodlar. Kategori sırası uygulamada açıkça tanımlanır; otomatik alfabetik sıra semantik sıra değildir. LabelEncoder hedef sınıflarıy içindir.</a:t>
            </a:r>
            <a:endParaRPr lang="tr-TR" sz="1200"/>
          </a:p>
          <a:p>
            <a:pPr marL="0" indent="0"/>
            <a:endParaRPr lang="tr-TR" sz="1200"/>
          </a:p>
          <a:p>
            <a:pPr marL="0" indent="0"/>
            <a:r>
              <a:rPr lang="tr-TR" sz="1200" b="0">
                <a:solidFill>
                  <a:srgbClr val="30343B"/>
                </a:solidFill>
                <a:latin typeface="Calibri"/>
                <a:ea typeface="Calibri"/>
                <a:cs typeface="Calibri"/>
              </a:rPr>
              <a:t>Kaynaklar:</a:t>
            </a:r>
            <a:endParaRPr lang="tr-TR" sz="1200"/>
          </a:p>
          <a:p>
            <a:pPr marL="0" indent="0"/>
            <a:r>
              <a:rPr lang="tr-TR" sz="1200" b="0">
                <a:solidFill>
                  <a:srgbClr val="30343B"/>
                </a:solidFill>
                <a:latin typeface="Calibri"/>
                <a:ea typeface="Calibri"/>
                <a:cs typeface="Calibri"/>
              </a:rPr>
              <a:t>https://scikit-learn.org/stable/modules/generated/sklearn.preprocessing.OrdinalEncoder.html</a:t>
            </a:r>
            <a:endParaRPr lang="tr-TR" sz="1200"/>
          </a:p>
          <a:p>
            <a:pPr marL="0" indent="0"/>
            <a:r>
              <a:rPr lang="tr-TR" sz="1200" b="0">
                <a:solidFill>
                  <a:srgbClr val="30343B"/>
                </a:solidFill>
                <a:latin typeface="Calibri"/>
                <a:ea typeface="Calibri"/>
                <a:cs typeface="Calibri"/>
              </a:rPr>
              <a:t>https://scikit-learn.org/stable/modules/generated/sklearn.preprocessing.LabelEncoder.html</a:t>
            </a:r>
            <a:endParaRPr lang="tr-TR" sz="120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8FCB08-2F46-4E95-B71B-77CEF01D680E}" type="slidenum">
              <a:rPr lang="tr-TR" smtClean="0"/>
              <a:t>13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09682065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 wrap="square">
            <a:noAutofit/>
          </a:bodyPr>
          <a:lstStyle/>
          <a:p>
            <a:pPr marL="0" indent="0"/>
            <a:r>
              <a:rPr lang="tr-TR" sz="1200" b="0">
                <a:solidFill>
                  <a:srgbClr val="30343B"/>
                </a:solidFill>
                <a:latin typeface="Calibri"/>
                <a:ea typeface="Calibri"/>
                <a:cs typeface="Calibri"/>
              </a:rPr>
              <a:t>Orijinal şehir sütunu karşılaştırma içindir ve ayrıca sayısal model girdisine eklenmez. Kodlayıcı eğitim verisinde öğrenilir. Testte yeni kategori görülebilir; OneHotEncoder(handle_unknown="ignore") uygun bir seçenek olabilir, kullanım anlamı açıklanır.</a:t>
            </a:r>
            <a:endParaRPr lang="tr-TR" sz="120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8FCB08-2F46-4E95-B71B-77CEF01D680E}" type="slidenum">
              <a:rPr lang="tr-TR" smtClean="0"/>
              <a:t>14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09682065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 wrap="square">
            <a:noAutofit/>
          </a:bodyPr>
          <a:lstStyle/>
          <a:p>
            <a:pPr marL="0" indent="0"/>
            <a:r>
              <a:rPr lang="tr-TR" sz="1200" b="0">
                <a:solidFill>
                  <a:srgbClr val="30343B"/>
                </a:solidFill>
                <a:latin typeface="Calibri"/>
                <a:ea typeface="Calibri"/>
                <a:cs typeface="Calibri"/>
              </a:rPr>
              <a:t>Yöntem seçimi modele ve veri yapısına bağlıdır. Şema başlangıç düzeyi bir özet, tüm kodlama yöntemlerinin evrensel karar ağacı değildir.</a:t>
            </a:r>
            <a:endParaRPr lang="tr-TR" sz="1200"/>
          </a:p>
          <a:p>
            <a:pPr marL="0" indent="0"/>
            <a:endParaRPr lang="tr-TR" sz="1200"/>
          </a:p>
          <a:p>
            <a:pPr marL="0" indent="0"/>
            <a:r>
              <a:rPr lang="tr-TR" sz="1200" b="0">
                <a:solidFill>
                  <a:srgbClr val="30343B"/>
                </a:solidFill>
                <a:latin typeface="Calibri"/>
                <a:ea typeface="Calibri"/>
                <a:cs typeface="Calibri"/>
              </a:rPr>
              <a:t>Kaynaklar:</a:t>
            </a:r>
            <a:endParaRPr lang="tr-TR" sz="1200"/>
          </a:p>
          <a:p>
            <a:pPr marL="0" indent="0"/>
            <a:r>
              <a:rPr lang="tr-TR" sz="1200" b="0">
                <a:solidFill>
                  <a:srgbClr val="30343B"/>
                </a:solidFill>
                <a:latin typeface="Calibri"/>
                <a:ea typeface="Calibri"/>
                <a:cs typeface="Calibri"/>
              </a:rPr>
              <a:t>https://scikit-learn.org/stable/modules/generated/sklearn.preprocessing.OrdinalEncoder.html</a:t>
            </a:r>
            <a:endParaRPr lang="tr-TR" sz="1200"/>
          </a:p>
          <a:p>
            <a:pPr marL="0" indent="0"/>
            <a:r>
              <a:rPr lang="tr-TR" sz="1200" b="0">
                <a:solidFill>
                  <a:srgbClr val="30343B"/>
                </a:solidFill>
                <a:latin typeface="Calibri"/>
                <a:ea typeface="Calibri"/>
                <a:cs typeface="Calibri"/>
              </a:rPr>
              <a:t>https://scikit-learn.org/stable/modules/generated/sklearn.preprocessing.LabelEncoder.html</a:t>
            </a:r>
            <a:endParaRPr lang="tr-TR" sz="120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8FCB08-2F46-4E95-B71B-77CEF01D680E}" type="slidenum">
              <a:rPr lang="tr-TR" smtClean="0"/>
              <a:t>15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09682065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 wrap="square">
            <a:noAutofit/>
          </a:bodyPr>
          <a:lstStyle/>
          <a:p>
            <a:pPr marL="0" indent="0"/>
            <a:r>
              <a:rPr lang="tr-TR" sz="1200" b="0">
                <a:solidFill>
                  <a:srgbClr val="30343B"/>
                </a:solidFill>
                <a:latin typeface="Calibri"/>
                <a:ea typeface="Calibri"/>
                <a:cs typeface="Calibri"/>
              </a:rPr>
              <a:t>KNN,SVM ve düzenlileştirilmiş doğrusal modellerde ölçekleme önemli olabilir. Karar ağaçları genellikle ölçekleme gerektirmez. Hedefi ölçeklemek ayrı bir tercihtir ve bu girdi ölçekleme slaytının konusu değildir.</a:t>
            </a:r>
            <a:endParaRPr lang="tr-TR" sz="1200"/>
          </a:p>
          <a:p>
            <a:pPr marL="0" indent="0"/>
            <a:endParaRPr lang="tr-TR" sz="1200"/>
          </a:p>
          <a:p>
            <a:pPr marL="0" indent="0"/>
            <a:r>
              <a:rPr lang="tr-TR" sz="1200" b="0">
                <a:solidFill>
                  <a:srgbClr val="30343B"/>
                </a:solidFill>
                <a:latin typeface="Calibri"/>
                <a:ea typeface="Calibri"/>
                <a:cs typeface="Calibri"/>
              </a:rPr>
              <a:t>Kaynaklar:</a:t>
            </a:r>
            <a:endParaRPr lang="tr-TR" sz="1200"/>
          </a:p>
          <a:p>
            <a:pPr marL="0" indent="0"/>
            <a:r>
              <a:rPr lang="tr-TR" sz="1200" b="0">
                <a:solidFill>
                  <a:srgbClr val="30343B"/>
                </a:solidFill>
                <a:latin typeface="Calibri"/>
                <a:ea typeface="Calibri"/>
                <a:cs typeface="Calibri"/>
              </a:rPr>
              <a:t>https://scikit-learn.org/stable/modules/generated/sklearn.preprocessing.StandardScaler.html</a:t>
            </a:r>
            <a:endParaRPr lang="tr-TR" sz="120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8FCB08-2F46-4E95-B71B-77CEF01D680E}" type="slidenum">
              <a:rPr lang="tr-TR" smtClean="0"/>
              <a:t>16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09682065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 wrap="square">
            <a:noAutofit/>
          </a:bodyPr>
          <a:lstStyle/>
          <a:p>
            <a:pPr marL="0" indent="0"/>
            <a:r>
              <a:rPr lang="tr-TR" sz="1200" b="0">
                <a:solidFill>
                  <a:srgbClr val="30343B"/>
                </a:solidFill>
                <a:latin typeface="Calibri"/>
                <a:ea typeface="Calibri"/>
                <a:cs typeface="Calibri"/>
              </a:rPr>
              <a:t>Hesap öğretim amaçlı tüm5evin alan aralığını kullanır; gerçek uygulama değerleri train üzerinden öğrenir. 120 için35/125=0.28. Test değerleri sınır dışında kalabilir. Min-Max aykırı değer etkisini ortadan kaldırmaz.</a:t>
            </a:r>
            <a:endParaRPr lang="tr-TR" sz="1200"/>
          </a:p>
          <a:p>
            <a:pPr marL="0" indent="0"/>
            <a:endParaRPr lang="tr-TR" sz="1200"/>
          </a:p>
          <a:p>
            <a:pPr marL="0" indent="0"/>
            <a:r>
              <a:rPr lang="tr-TR" sz="1200" b="0">
                <a:solidFill>
                  <a:srgbClr val="30343B"/>
                </a:solidFill>
                <a:latin typeface="Calibri"/>
                <a:ea typeface="Calibri"/>
                <a:cs typeface="Calibri"/>
              </a:rPr>
              <a:t>Kaynaklar:</a:t>
            </a:r>
            <a:endParaRPr lang="tr-TR" sz="1200"/>
          </a:p>
          <a:p>
            <a:pPr marL="0" indent="0"/>
            <a:r>
              <a:rPr lang="tr-TR" sz="1200" b="0">
                <a:solidFill>
                  <a:srgbClr val="30343B"/>
                </a:solidFill>
                <a:latin typeface="Calibri"/>
                <a:ea typeface="Calibri"/>
                <a:cs typeface="Calibri"/>
              </a:rPr>
              <a:t>https://scikit-learn.org/stable/modules/generated/sklearn.preprocessing.MinMaxScaler.html</a:t>
            </a:r>
            <a:endParaRPr lang="tr-TR" sz="120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8FCB08-2F46-4E95-B71B-77CEF01D680E}" type="slidenum">
              <a:rPr lang="tr-TR" smtClean="0"/>
              <a:t>17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09682065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 wrap="square">
            <a:noAutofit/>
          </a:bodyPr>
          <a:lstStyle/>
          <a:p>
            <a:pPr marL="0" indent="0"/>
            <a:r>
              <a:rPr lang="tr-TR" sz="1200" b="0">
                <a:solidFill>
                  <a:srgbClr val="30343B"/>
                </a:solidFill>
                <a:latin typeface="Calibri"/>
                <a:ea typeface="Calibri"/>
                <a:cs typeface="Calibri"/>
              </a:rPr>
              <a:t>Beş yaş5,30,12,8,40 için ortalama19, popülasyon standart sapması13.623509(ddof=0), z(5)=−1.027635. StandardScaler ddof=0 kullanır. Bu hesap yalnızca dönüşümü açıklamak içindir; uygulamada train parametreleri kullanılır. Sabit sütunlar için standart sapma1 iddiası geçerli değildir.</a:t>
            </a:r>
            <a:endParaRPr lang="tr-TR" sz="1200"/>
          </a:p>
          <a:p>
            <a:pPr marL="0" indent="0"/>
            <a:endParaRPr lang="tr-TR" sz="1200"/>
          </a:p>
          <a:p>
            <a:pPr marL="0" indent="0"/>
            <a:r>
              <a:rPr lang="tr-TR" sz="1200" b="0">
                <a:solidFill>
                  <a:srgbClr val="30343B"/>
                </a:solidFill>
                <a:latin typeface="Calibri"/>
                <a:ea typeface="Calibri"/>
                <a:cs typeface="Calibri"/>
              </a:rPr>
              <a:t>Kaynaklar:</a:t>
            </a:r>
            <a:endParaRPr lang="tr-TR" sz="1200"/>
          </a:p>
          <a:p>
            <a:pPr marL="0" indent="0"/>
            <a:r>
              <a:rPr lang="tr-TR" sz="1200" b="0">
                <a:solidFill>
                  <a:srgbClr val="30343B"/>
                </a:solidFill>
                <a:latin typeface="Calibri"/>
                <a:ea typeface="Calibri"/>
                <a:cs typeface="Calibri"/>
              </a:rPr>
              <a:t>https://scikit-learn.org/stable/modules/generated/sklearn.preprocessing.StandardScaler.html</a:t>
            </a:r>
            <a:endParaRPr lang="tr-TR" sz="120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8FCB08-2F46-4E95-B71B-77CEF01D680E}" type="slidenum">
              <a:rPr lang="tr-TR" smtClean="0"/>
              <a:t>18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09682065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38FCB08-2F46-4E95-B71B-77CEF01D680E}" type="slidenum">
              <a:rPr kumimoji="0" lang="tr-T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tr-T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882110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 wrap="square">
            <a:noAutofit/>
          </a:bodyPr>
          <a:lstStyle/>
          <a:p>
            <a:pPr marL="0" indent="0"/>
            <a:r>
              <a:rPr lang="tr-TR" sz="1200" b="0">
                <a:solidFill>
                  <a:srgbClr val="30343B"/>
                </a:solidFill>
                <a:latin typeface="Calibri"/>
                <a:ea typeface="Calibri"/>
                <a:cs typeface="Calibri"/>
              </a:rPr>
              <a:t>Alan/oda öğretim amaçlı türetilmiş özelliktir, ortalama gerçek oda alanı olarak yorumlanmaz. Oda0/eksik olursa işlem ayrıca ele alınır. Fiyatı kullanarak özellik üretmek hedef sızıntısı yaratabilir. Yeni özelliğin yararı doğrulama verisinde değerlendirilir.</a:t>
            </a:r>
            <a:endParaRPr lang="tr-TR" sz="120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8FCB08-2F46-4E95-B71B-77CEF01D680E}" type="slidenum">
              <a:rPr lang="tr-TR" smtClean="0"/>
              <a:t>20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09682065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 wrap="square">
            <a:noAutofit/>
          </a:bodyPr>
          <a:lstStyle/>
          <a:p>
            <a:pPr marL="0" indent="0"/>
            <a:r>
              <a:rPr lang="tr-TR" sz="1200" b="0">
                <a:solidFill>
                  <a:srgbClr val="30343B"/>
                </a:solidFill>
                <a:latin typeface="Calibri"/>
                <a:ea typeface="Calibri"/>
                <a:cs typeface="Calibri"/>
              </a:rPr>
              <a:t>Uygulama şeması19slaytındaki kuralla tutarlıdır. Sonraki tablo için öğretim amaçlı bölme: eğitim Ev1,Ev3,Ev4; test Ev5; etiketsiz tahmin Ev2. Bu küçük örnekte doğrulama bölümü yoktur; gerçek mini proje yeterli kayıt ve ayrı değerlendirme gerektirir.</a:t>
            </a:r>
            <a:endParaRPr lang="tr-TR" sz="1200"/>
          </a:p>
          <a:p>
            <a:pPr marL="0" indent="0"/>
            <a:endParaRPr lang="tr-TR" sz="1200"/>
          </a:p>
          <a:p>
            <a:pPr marL="0" indent="0"/>
            <a:r>
              <a:rPr lang="tr-TR" sz="1200" b="0">
                <a:solidFill>
                  <a:srgbClr val="30343B"/>
                </a:solidFill>
                <a:latin typeface="Calibri"/>
                <a:ea typeface="Calibri"/>
                <a:cs typeface="Calibri"/>
              </a:rPr>
              <a:t>Kaynaklar:</a:t>
            </a:r>
            <a:endParaRPr lang="tr-TR" sz="1200"/>
          </a:p>
          <a:p>
            <a:pPr marL="0" indent="0"/>
            <a:r>
              <a:rPr lang="tr-TR" sz="1200" b="0">
                <a:solidFill>
                  <a:srgbClr val="30343B"/>
                </a:solidFill>
                <a:latin typeface="Calibri"/>
                <a:ea typeface="Calibri"/>
                <a:cs typeface="Calibri"/>
              </a:rPr>
              <a:t>https://scikit-learn.org/stable/common_pitfalls.html</a:t>
            </a:r>
            <a:endParaRPr lang="tr-TR" sz="120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8FCB08-2F46-4E95-B71B-77CEF01D680E}" type="slidenum">
              <a:rPr lang="tr-TR" smtClean="0"/>
              <a:t>21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09682065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Pipeline ve ColumnTransformer, dönüşümlerin yalnızca eğitim verisinde fit edilmesini ve diğer bölümlere aynı parametrelerle uygulanmasını kolaylaştırır. Yaş, alan ve oda burada birlikte ölçeklenir. Kaynak: https://scikit-learn.org/stable/common_pitfalls.html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 wrap="square">
            <a:noAutofit/>
          </a:bodyPr>
          <a:lstStyle/>
          <a:p>
            <a:pPr marL="0" indent="0"/>
            <a:r>
              <a:rPr lang="tr-TR" sz="1200" b="0">
                <a:solidFill>
                  <a:srgbClr val="30343B"/>
                </a:solidFill>
                <a:latin typeface="Calibri"/>
                <a:ea typeface="Calibri"/>
                <a:cs typeface="Calibri"/>
              </a:rPr>
              <a:t>Bu tablo gerçek eğitim başarısı göstermez. Eğitim alanları120,145,95 min95max145. Test210→2.3; tahmin85→−0.2. Yaş ve oda gösterimde ham bırakılmıştır; gerçek modelin gereksinimine göre sayısal özellikler ayrıca ölçeklenir. Eğitimde Ankara görülmediği için handle_unknown="ignore" yaklaşımında Ev2’nin şehir vektörü tüm0dır. Bu, Ankara kategorisinin bir eğitim şehrine eşit olduğu anlamına gelmez. Fiyat tabloya girdi olarak eklenmez.</a:t>
            </a:r>
            <a:endParaRPr lang="tr-TR" sz="1200"/>
          </a:p>
          <a:p>
            <a:pPr marL="0" indent="0"/>
            <a:endParaRPr lang="tr-TR" sz="1200"/>
          </a:p>
          <a:p>
            <a:pPr marL="0" indent="0"/>
            <a:r>
              <a:rPr lang="tr-TR" sz="1200" b="0">
                <a:solidFill>
                  <a:srgbClr val="30343B"/>
                </a:solidFill>
                <a:latin typeface="Calibri"/>
                <a:ea typeface="Calibri"/>
                <a:cs typeface="Calibri"/>
              </a:rPr>
              <a:t>Kaynaklar:</a:t>
            </a:r>
            <a:endParaRPr lang="tr-TR" sz="1200"/>
          </a:p>
          <a:p>
            <a:pPr marL="0" indent="0"/>
            <a:r>
              <a:rPr lang="tr-TR" sz="1200" b="0">
                <a:solidFill>
                  <a:srgbClr val="30343B"/>
                </a:solidFill>
                <a:latin typeface="Calibri"/>
                <a:ea typeface="Calibri"/>
                <a:cs typeface="Calibri"/>
              </a:rPr>
              <a:t>https://scikit-learn.org/stable/modules/generated/sklearn.preprocessing.MinMaxScaler.html</a:t>
            </a:r>
            <a:endParaRPr lang="tr-TR" sz="1200"/>
          </a:p>
          <a:p>
            <a:pPr marL="0" indent="0"/>
            <a:r>
              <a:rPr lang="tr-TR" sz="1200" b="0">
                <a:solidFill>
                  <a:srgbClr val="30343B"/>
                </a:solidFill>
                <a:latin typeface="Calibri"/>
                <a:ea typeface="Calibri"/>
                <a:cs typeface="Calibri"/>
              </a:rPr>
              <a:t>https://scikit-learn.org/stable/common_pitfalls.html</a:t>
            </a:r>
            <a:endParaRPr lang="tr-TR" sz="120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8FCB08-2F46-4E95-B71B-77CEF01D680E}" type="slidenum">
              <a:rPr lang="tr-TR" smtClean="0"/>
              <a:t>23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09682065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 wrap="square">
            <a:noAutofit/>
          </a:bodyPr>
          <a:lstStyle/>
          <a:p>
            <a:pPr marL="0" indent="0"/>
            <a:r>
              <a:rPr lang="tr-TR" sz="1200" b="0">
                <a:solidFill>
                  <a:srgbClr val="30343B"/>
                </a:solidFill>
                <a:latin typeface="Calibri"/>
                <a:ea typeface="Calibri"/>
                <a:cs typeface="Calibri"/>
              </a:rPr>
              <a:t>Yanıtlar: 1) Ev 2 tahmin kaydı olarak saklanır, etiket uydurulmaz. 2) Medyan 8. 3) (210−95)/(145−95)=2,3; eğitim aralığı dışındaki değerde 0–1 dışına çıkması beklenir, hata değildir. 4) Şehir sırasızdır: one-hot. Tüm veriden min/max hesaplamak test bilgisini eğitime sızdırır.</a:t>
            </a:r>
            <a:endParaRPr lang="tr-TR" sz="120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38FCB08-2F46-4E95-B71B-77CEF01D680E}" type="slidenum">
              <a:rPr kumimoji="0" lang="tr-T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tr-T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96820655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 wrap="square">
            <a:noAutofit/>
          </a:bodyPr>
          <a:lstStyle/>
          <a:p>
            <a:pPr marL="0" indent="0"/>
            <a:r>
              <a:rPr lang="tr-TR" sz="1200" b="0" dirty="0">
                <a:solidFill>
                  <a:srgbClr val="30343B"/>
                </a:solidFill>
                <a:latin typeface="Calibri"/>
                <a:ea typeface="Calibri"/>
                <a:cs typeface="Calibri"/>
              </a:rPr>
              <a:t>Kontrol soruları: eksik hedefi medyanla doldurmak uygun mu? Hayır. Test alanı eğitim aralığını aşınca Min-Max0–1dışına çıkabilir mi? </a:t>
            </a:r>
            <a:endParaRPr lang="tr-TR" sz="1200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8FCB08-2F46-4E95-B71B-77CEF01D680E}" type="slidenum">
              <a:rPr lang="tr-TR" smtClean="0"/>
              <a:t>25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0968206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420283"/>
            <a:ext cx="5181600" cy="98001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2590800"/>
            <a:ext cx="4267200" cy="11684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0481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0963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91444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21926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52407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82889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13370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43852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50413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04792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1542" y="2937934"/>
            <a:ext cx="5181600" cy="908050"/>
          </a:xfrm>
        </p:spPr>
        <p:txBody>
          <a:bodyPr anchor="t"/>
          <a:lstStyle>
            <a:lvl1pPr algn="l">
              <a:defRPr sz="2667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1542" y="1937809"/>
            <a:ext cx="5181600" cy="1000125"/>
          </a:xfrm>
        </p:spPr>
        <p:txBody>
          <a:bodyPr anchor="b"/>
          <a:lstStyle>
            <a:lvl1pPr marL="0" indent="0">
              <a:buNone/>
              <a:defRPr sz="1333">
                <a:solidFill>
                  <a:schemeClr val="tx1">
                    <a:tint val="75000"/>
                  </a:schemeClr>
                </a:solidFill>
              </a:defRPr>
            </a:lvl1pPr>
            <a:lvl2pPr marL="304815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2pPr>
            <a:lvl3pPr marL="609630" indent="0">
              <a:buNone/>
              <a:defRPr sz="1067">
                <a:solidFill>
                  <a:schemeClr val="tx1">
                    <a:tint val="75000"/>
                  </a:schemeClr>
                </a:solidFill>
              </a:defRPr>
            </a:lvl3pPr>
            <a:lvl4pPr marL="914446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4pPr>
            <a:lvl5pPr marL="1219261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5pPr>
            <a:lvl6pPr marL="1524076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6pPr>
            <a:lvl7pPr marL="1828891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7pPr>
            <a:lvl8pPr marL="2133707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8pPr>
            <a:lvl9pPr marL="2438522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13490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04800" y="1066800"/>
            <a:ext cx="2692400" cy="3017309"/>
          </a:xfrm>
        </p:spPr>
        <p:txBody>
          <a:bodyPr/>
          <a:lstStyle>
            <a:lvl1pPr>
              <a:defRPr sz="1867"/>
            </a:lvl1pPr>
            <a:lvl2pPr>
              <a:defRPr sz="1600"/>
            </a:lvl2pPr>
            <a:lvl3pPr>
              <a:defRPr sz="1333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98800" y="1066800"/>
            <a:ext cx="2692400" cy="3017309"/>
          </a:xfrm>
        </p:spPr>
        <p:txBody>
          <a:bodyPr/>
          <a:lstStyle>
            <a:lvl1pPr>
              <a:defRPr sz="1867"/>
            </a:lvl1pPr>
            <a:lvl2pPr>
              <a:defRPr sz="1600"/>
            </a:lvl2pPr>
            <a:lvl3pPr>
              <a:defRPr sz="1333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11612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4800" y="1023409"/>
            <a:ext cx="2693459" cy="426508"/>
          </a:xfrm>
        </p:spPr>
        <p:txBody>
          <a:bodyPr anchor="b"/>
          <a:lstStyle>
            <a:lvl1pPr marL="0" indent="0">
              <a:buNone/>
              <a:defRPr sz="1600" b="1"/>
            </a:lvl1pPr>
            <a:lvl2pPr marL="304815" indent="0">
              <a:buNone/>
              <a:defRPr sz="1333" b="1"/>
            </a:lvl2pPr>
            <a:lvl3pPr marL="609630" indent="0">
              <a:buNone/>
              <a:defRPr sz="1200" b="1"/>
            </a:lvl3pPr>
            <a:lvl4pPr marL="914446" indent="0">
              <a:buNone/>
              <a:defRPr sz="1067" b="1"/>
            </a:lvl4pPr>
            <a:lvl5pPr marL="1219261" indent="0">
              <a:buNone/>
              <a:defRPr sz="1067" b="1"/>
            </a:lvl5pPr>
            <a:lvl6pPr marL="1524076" indent="0">
              <a:buNone/>
              <a:defRPr sz="1067" b="1"/>
            </a:lvl6pPr>
            <a:lvl7pPr marL="1828891" indent="0">
              <a:buNone/>
              <a:defRPr sz="1067" b="1"/>
            </a:lvl7pPr>
            <a:lvl8pPr marL="2133707" indent="0">
              <a:buNone/>
              <a:defRPr sz="1067" b="1"/>
            </a:lvl8pPr>
            <a:lvl9pPr marL="2438522" indent="0">
              <a:buNone/>
              <a:defRPr sz="106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4800" y="1449917"/>
            <a:ext cx="2693459" cy="2634192"/>
          </a:xfrm>
        </p:spPr>
        <p:txBody>
          <a:bodyPr/>
          <a:lstStyle>
            <a:lvl1pPr>
              <a:defRPr sz="1600"/>
            </a:lvl1pPr>
            <a:lvl2pPr>
              <a:defRPr sz="1333"/>
            </a:lvl2pPr>
            <a:lvl3pPr>
              <a:defRPr sz="1200"/>
            </a:lvl3pPr>
            <a:lvl4pPr>
              <a:defRPr sz="1067"/>
            </a:lvl4pPr>
            <a:lvl5pPr>
              <a:defRPr sz="1067"/>
            </a:lvl5pPr>
            <a:lvl6pPr>
              <a:defRPr sz="1067"/>
            </a:lvl6pPr>
            <a:lvl7pPr>
              <a:defRPr sz="1067"/>
            </a:lvl7pPr>
            <a:lvl8pPr>
              <a:defRPr sz="1067"/>
            </a:lvl8pPr>
            <a:lvl9pPr>
              <a:defRPr sz="10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096684" y="1023409"/>
            <a:ext cx="2694517" cy="426508"/>
          </a:xfrm>
        </p:spPr>
        <p:txBody>
          <a:bodyPr anchor="b"/>
          <a:lstStyle>
            <a:lvl1pPr marL="0" indent="0">
              <a:buNone/>
              <a:defRPr sz="1600" b="1"/>
            </a:lvl1pPr>
            <a:lvl2pPr marL="304815" indent="0">
              <a:buNone/>
              <a:defRPr sz="1333" b="1"/>
            </a:lvl2pPr>
            <a:lvl3pPr marL="609630" indent="0">
              <a:buNone/>
              <a:defRPr sz="1200" b="1"/>
            </a:lvl3pPr>
            <a:lvl4pPr marL="914446" indent="0">
              <a:buNone/>
              <a:defRPr sz="1067" b="1"/>
            </a:lvl4pPr>
            <a:lvl5pPr marL="1219261" indent="0">
              <a:buNone/>
              <a:defRPr sz="1067" b="1"/>
            </a:lvl5pPr>
            <a:lvl6pPr marL="1524076" indent="0">
              <a:buNone/>
              <a:defRPr sz="1067" b="1"/>
            </a:lvl6pPr>
            <a:lvl7pPr marL="1828891" indent="0">
              <a:buNone/>
              <a:defRPr sz="1067" b="1"/>
            </a:lvl7pPr>
            <a:lvl8pPr marL="2133707" indent="0">
              <a:buNone/>
              <a:defRPr sz="1067" b="1"/>
            </a:lvl8pPr>
            <a:lvl9pPr marL="2438522" indent="0">
              <a:buNone/>
              <a:defRPr sz="106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096684" y="1449917"/>
            <a:ext cx="2694517" cy="2634192"/>
          </a:xfrm>
        </p:spPr>
        <p:txBody>
          <a:bodyPr/>
          <a:lstStyle>
            <a:lvl1pPr>
              <a:defRPr sz="1600"/>
            </a:lvl1pPr>
            <a:lvl2pPr>
              <a:defRPr sz="1333"/>
            </a:lvl2pPr>
            <a:lvl3pPr>
              <a:defRPr sz="1200"/>
            </a:lvl3pPr>
            <a:lvl4pPr>
              <a:defRPr sz="1067"/>
            </a:lvl4pPr>
            <a:lvl5pPr>
              <a:defRPr sz="1067"/>
            </a:lvl5pPr>
            <a:lvl6pPr>
              <a:defRPr sz="1067"/>
            </a:lvl6pPr>
            <a:lvl7pPr>
              <a:defRPr sz="1067"/>
            </a:lvl7pPr>
            <a:lvl8pPr>
              <a:defRPr sz="1067"/>
            </a:lvl8pPr>
            <a:lvl9pPr>
              <a:defRPr sz="10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82385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25708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32760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182033"/>
            <a:ext cx="2005542" cy="774700"/>
          </a:xfrm>
        </p:spPr>
        <p:txBody>
          <a:bodyPr anchor="b"/>
          <a:lstStyle>
            <a:lvl1pPr algn="l">
              <a:defRPr sz="1333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83367" y="182034"/>
            <a:ext cx="3407833" cy="3902075"/>
          </a:xfrm>
        </p:spPr>
        <p:txBody>
          <a:bodyPr/>
          <a:lstStyle>
            <a:lvl1pPr>
              <a:defRPr sz="2133"/>
            </a:lvl1pPr>
            <a:lvl2pPr>
              <a:defRPr sz="1867"/>
            </a:lvl2pPr>
            <a:lvl3pPr>
              <a:defRPr sz="1600"/>
            </a:lvl3pPr>
            <a:lvl4pPr>
              <a:defRPr sz="1333"/>
            </a:lvl4pPr>
            <a:lvl5pPr>
              <a:defRPr sz="1333"/>
            </a:lvl5pPr>
            <a:lvl6pPr>
              <a:defRPr sz="1333"/>
            </a:lvl6pPr>
            <a:lvl7pPr>
              <a:defRPr sz="1333"/>
            </a:lvl7pPr>
            <a:lvl8pPr>
              <a:defRPr sz="1333"/>
            </a:lvl8pPr>
            <a:lvl9pPr>
              <a:defRPr sz="13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4800" y="956734"/>
            <a:ext cx="2005542" cy="3127375"/>
          </a:xfrm>
        </p:spPr>
        <p:txBody>
          <a:bodyPr/>
          <a:lstStyle>
            <a:lvl1pPr marL="0" indent="0">
              <a:buNone/>
              <a:defRPr sz="933"/>
            </a:lvl1pPr>
            <a:lvl2pPr marL="304815" indent="0">
              <a:buNone/>
              <a:defRPr sz="800"/>
            </a:lvl2pPr>
            <a:lvl3pPr marL="609630" indent="0">
              <a:buNone/>
              <a:defRPr sz="667"/>
            </a:lvl3pPr>
            <a:lvl4pPr marL="914446" indent="0">
              <a:buNone/>
              <a:defRPr sz="600"/>
            </a:lvl4pPr>
            <a:lvl5pPr marL="1219261" indent="0">
              <a:buNone/>
              <a:defRPr sz="600"/>
            </a:lvl5pPr>
            <a:lvl6pPr marL="1524076" indent="0">
              <a:buNone/>
              <a:defRPr sz="600"/>
            </a:lvl6pPr>
            <a:lvl7pPr marL="1828891" indent="0">
              <a:buNone/>
              <a:defRPr sz="600"/>
            </a:lvl7pPr>
            <a:lvl8pPr marL="2133707" indent="0">
              <a:buNone/>
              <a:defRPr sz="600"/>
            </a:lvl8pPr>
            <a:lvl9pPr marL="2438522" indent="0">
              <a:buNone/>
              <a:defRPr sz="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40590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94859" y="3200400"/>
            <a:ext cx="3657600" cy="377825"/>
          </a:xfrm>
        </p:spPr>
        <p:txBody>
          <a:bodyPr anchor="b"/>
          <a:lstStyle>
            <a:lvl1pPr algn="l">
              <a:defRPr sz="1333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194859" y="408517"/>
            <a:ext cx="3657600" cy="2743200"/>
          </a:xfrm>
        </p:spPr>
        <p:txBody>
          <a:bodyPr/>
          <a:lstStyle>
            <a:lvl1pPr marL="0" indent="0">
              <a:buNone/>
              <a:defRPr sz="2133"/>
            </a:lvl1pPr>
            <a:lvl2pPr marL="304815" indent="0">
              <a:buNone/>
              <a:defRPr sz="1867"/>
            </a:lvl2pPr>
            <a:lvl3pPr marL="609630" indent="0">
              <a:buNone/>
              <a:defRPr sz="1600"/>
            </a:lvl3pPr>
            <a:lvl4pPr marL="914446" indent="0">
              <a:buNone/>
              <a:defRPr sz="1333"/>
            </a:lvl4pPr>
            <a:lvl5pPr marL="1219261" indent="0">
              <a:buNone/>
              <a:defRPr sz="1333"/>
            </a:lvl5pPr>
            <a:lvl6pPr marL="1524076" indent="0">
              <a:buNone/>
              <a:defRPr sz="1333"/>
            </a:lvl6pPr>
            <a:lvl7pPr marL="1828891" indent="0">
              <a:buNone/>
              <a:defRPr sz="1333"/>
            </a:lvl7pPr>
            <a:lvl8pPr marL="2133707" indent="0">
              <a:buNone/>
              <a:defRPr sz="1333"/>
            </a:lvl8pPr>
            <a:lvl9pPr marL="2438522" indent="0">
              <a:buNone/>
              <a:defRPr sz="1333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94859" y="3578225"/>
            <a:ext cx="3657600" cy="536575"/>
          </a:xfrm>
        </p:spPr>
        <p:txBody>
          <a:bodyPr/>
          <a:lstStyle>
            <a:lvl1pPr marL="0" indent="0">
              <a:buNone/>
              <a:defRPr sz="933"/>
            </a:lvl1pPr>
            <a:lvl2pPr marL="304815" indent="0">
              <a:buNone/>
              <a:defRPr sz="800"/>
            </a:lvl2pPr>
            <a:lvl3pPr marL="609630" indent="0">
              <a:buNone/>
              <a:defRPr sz="667"/>
            </a:lvl3pPr>
            <a:lvl4pPr marL="914446" indent="0">
              <a:buNone/>
              <a:defRPr sz="600"/>
            </a:lvl4pPr>
            <a:lvl5pPr marL="1219261" indent="0">
              <a:buNone/>
              <a:defRPr sz="600"/>
            </a:lvl5pPr>
            <a:lvl6pPr marL="1524076" indent="0">
              <a:buNone/>
              <a:defRPr sz="600"/>
            </a:lvl6pPr>
            <a:lvl7pPr marL="1828891" indent="0">
              <a:buNone/>
              <a:defRPr sz="600"/>
            </a:lvl7pPr>
            <a:lvl8pPr marL="2133707" indent="0">
              <a:buNone/>
              <a:defRPr sz="600"/>
            </a:lvl8pPr>
            <a:lvl9pPr marL="2438522" indent="0">
              <a:buNone/>
              <a:defRPr sz="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48071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477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419600" y="183092"/>
            <a:ext cx="1371600" cy="3901017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04800" y="183092"/>
            <a:ext cx="4013200" cy="39010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20941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04800" y="183092"/>
            <a:ext cx="5486400" cy="762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4800" y="1066800"/>
            <a:ext cx="5486400" cy="301730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04800" y="4237567"/>
            <a:ext cx="14224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082800" y="4237567"/>
            <a:ext cx="19304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368800" y="4237567"/>
            <a:ext cx="14224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37654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609630" rtl="0" eaLnBrk="1" latinLnBrk="0" hangingPunct="1">
        <a:spcBef>
          <a:spcPct val="0"/>
        </a:spcBef>
        <a:buNone/>
        <a:defRPr sz="293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11" indent="-228611" algn="l" defTabSz="609630" rtl="0" eaLnBrk="1" latinLnBrk="0" hangingPunct="1">
        <a:spcBef>
          <a:spcPct val="20000"/>
        </a:spcBef>
        <a:buFont typeface="Arial" pitchFamily="34" charset="0"/>
        <a:buChar char="•"/>
        <a:defRPr sz="2133" kern="1200">
          <a:solidFill>
            <a:schemeClr val="tx1"/>
          </a:solidFill>
          <a:latin typeface="+mn-lt"/>
          <a:ea typeface="+mn-ea"/>
          <a:cs typeface="+mn-cs"/>
        </a:defRPr>
      </a:lvl1pPr>
      <a:lvl2pPr marL="495325" indent="-190510" algn="l" defTabSz="609630" rtl="0" eaLnBrk="1" latinLnBrk="0" hangingPunct="1">
        <a:spcBef>
          <a:spcPct val="20000"/>
        </a:spcBef>
        <a:buFont typeface="Arial" pitchFamily="34" charset="0"/>
        <a:buChar char="–"/>
        <a:defRPr sz="1867" kern="1200">
          <a:solidFill>
            <a:schemeClr val="tx1"/>
          </a:solidFill>
          <a:latin typeface="+mn-lt"/>
          <a:ea typeface="+mn-ea"/>
          <a:cs typeface="+mn-cs"/>
        </a:defRPr>
      </a:lvl2pPr>
      <a:lvl3pPr marL="762038" indent="-152408" algn="l" defTabSz="60963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66853" indent="-152408" algn="l" defTabSz="609630" rtl="0" eaLnBrk="1" latinLnBrk="0" hangingPunct="1">
        <a:spcBef>
          <a:spcPct val="20000"/>
        </a:spcBef>
        <a:buFont typeface="Arial" pitchFamily="34" charset="0"/>
        <a:buChar char="–"/>
        <a:defRPr sz="1333" kern="1200">
          <a:solidFill>
            <a:schemeClr val="tx1"/>
          </a:solidFill>
          <a:latin typeface="+mn-lt"/>
          <a:ea typeface="+mn-ea"/>
          <a:cs typeface="+mn-cs"/>
        </a:defRPr>
      </a:lvl4pPr>
      <a:lvl5pPr marL="1371669" indent="-152408" algn="l" defTabSz="609630" rtl="0" eaLnBrk="1" latinLnBrk="0" hangingPunct="1">
        <a:spcBef>
          <a:spcPct val="20000"/>
        </a:spcBef>
        <a:buFont typeface="Arial" pitchFamily="34" charset="0"/>
        <a:buChar char="»"/>
        <a:defRPr sz="1333" kern="1200">
          <a:solidFill>
            <a:schemeClr val="tx1"/>
          </a:solidFill>
          <a:latin typeface="+mn-lt"/>
          <a:ea typeface="+mn-ea"/>
          <a:cs typeface="+mn-cs"/>
        </a:defRPr>
      </a:lvl5pPr>
      <a:lvl6pPr marL="1676484" indent="-152408" algn="l" defTabSz="609630" rtl="0" eaLnBrk="1" latinLnBrk="0" hangingPunct="1">
        <a:spcBef>
          <a:spcPct val="20000"/>
        </a:spcBef>
        <a:buFont typeface="Arial" pitchFamily="34" charset="0"/>
        <a:buChar char="•"/>
        <a:defRPr sz="1333" kern="1200">
          <a:solidFill>
            <a:schemeClr val="tx1"/>
          </a:solidFill>
          <a:latin typeface="+mn-lt"/>
          <a:ea typeface="+mn-ea"/>
          <a:cs typeface="+mn-cs"/>
        </a:defRPr>
      </a:lvl6pPr>
      <a:lvl7pPr marL="1981299" indent="-152408" algn="l" defTabSz="609630" rtl="0" eaLnBrk="1" latinLnBrk="0" hangingPunct="1">
        <a:spcBef>
          <a:spcPct val="20000"/>
        </a:spcBef>
        <a:buFont typeface="Arial" pitchFamily="34" charset="0"/>
        <a:buChar char="•"/>
        <a:defRPr sz="1333" kern="1200">
          <a:solidFill>
            <a:schemeClr val="tx1"/>
          </a:solidFill>
          <a:latin typeface="+mn-lt"/>
          <a:ea typeface="+mn-ea"/>
          <a:cs typeface="+mn-cs"/>
        </a:defRPr>
      </a:lvl7pPr>
      <a:lvl8pPr marL="2286114" indent="-152408" algn="l" defTabSz="609630" rtl="0" eaLnBrk="1" latinLnBrk="0" hangingPunct="1">
        <a:spcBef>
          <a:spcPct val="20000"/>
        </a:spcBef>
        <a:buFont typeface="Arial" pitchFamily="34" charset="0"/>
        <a:buChar char="•"/>
        <a:defRPr sz="1333" kern="1200">
          <a:solidFill>
            <a:schemeClr val="tx1"/>
          </a:solidFill>
          <a:latin typeface="+mn-lt"/>
          <a:ea typeface="+mn-ea"/>
          <a:cs typeface="+mn-cs"/>
        </a:defRPr>
      </a:lvl8pPr>
      <a:lvl9pPr marL="2590930" indent="-152408" algn="l" defTabSz="609630" rtl="0" eaLnBrk="1" latinLnBrk="0" hangingPunct="1">
        <a:spcBef>
          <a:spcPct val="20000"/>
        </a:spcBef>
        <a:buFont typeface="Arial" pitchFamily="34" charset="0"/>
        <a:buChar char="•"/>
        <a:defRPr sz="133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1pPr>
      <a:lvl2pPr marL="304815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609630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46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219261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1524076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91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2133707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2438522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4.jpe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8.png"/><Relationship Id="rId4" Type="http://schemas.openxmlformats.org/officeDocument/2006/relationships/image" Target="../media/image27.sv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2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457200" y="228600"/>
            <a:ext cx="1428750" cy="1428750"/>
          </a:xfrm>
          <a:custGeom>
            <a:avLst/>
            <a:gdLst/>
            <a:ahLst/>
            <a:cxnLst/>
            <a:rect l="l" t="t" r="r" b="b"/>
            <a:pathLst>
              <a:path w="2286000" h="2292399">
                <a:moveTo>
                  <a:pt x="0" y="0"/>
                </a:moveTo>
                <a:lnTo>
                  <a:pt x="2286000" y="0"/>
                </a:lnTo>
                <a:lnTo>
                  <a:pt x="2286000" y="2292399"/>
                </a:lnTo>
                <a:lnTo>
                  <a:pt x="0" y="229239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55612" t="-13573" r="-58047" b="-12600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2076450" y="428625"/>
            <a:ext cx="3302000" cy="1117600"/>
          </a:xfrm>
          <a:custGeom>
            <a:avLst/>
            <a:gdLst/>
            <a:ahLst/>
            <a:cxnLst/>
            <a:rect l="l" t="t" r="r" b="b"/>
            <a:pathLst>
              <a:path w="4591364" h="1527731">
                <a:moveTo>
                  <a:pt x="0" y="0"/>
                </a:moveTo>
                <a:lnTo>
                  <a:pt x="4591363" y="0"/>
                </a:lnTo>
                <a:lnTo>
                  <a:pt x="4591363" y="1527732"/>
                </a:lnTo>
                <a:lnTo>
                  <a:pt x="0" y="152773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pPr defTabSz="609630"/>
            <a:endParaRPr lang="tr-TR" sz="12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4" name="Title Text"/>
          <p:cNvSpPr txBox="1"/>
          <p:nvPr/>
        </p:nvSpPr>
        <p:spPr>
          <a:xfrm>
            <a:off x="673769" y="2096878"/>
            <a:ext cx="5931015" cy="871725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/>
          <a:p>
            <a:pPr defTabSz="609630"/>
            <a:r>
              <a:rPr lang="tr-TR" sz="5334" b="1" dirty="0">
                <a:solidFill>
                  <a:srgbClr val="1E2A4E"/>
                </a:solidFill>
                <a:latin typeface="Cambria"/>
                <a:ea typeface="Cambria"/>
                <a:cs typeface="Cambria"/>
              </a:rPr>
              <a:t>VERİDEN</a:t>
            </a:r>
          </a:p>
          <a:p>
            <a:pPr defTabSz="609630"/>
            <a:r>
              <a:rPr lang="tr-TR" sz="5334" b="1" dirty="0">
                <a:solidFill>
                  <a:srgbClr val="CCA81D"/>
                </a:solidFill>
                <a:latin typeface="Cambria"/>
                <a:ea typeface="Cambria"/>
                <a:cs typeface="Cambria"/>
              </a:rPr>
              <a:t>BİLGİYE</a:t>
            </a:r>
          </a:p>
        </p:txBody>
      </p:sp>
      <p:sp>
        <p:nvSpPr>
          <p:cNvPr id="11" name="Subtitle Text"/>
          <p:cNvSpPr txBox="1"/>
          <p:nvPr/>
        </p:nvSpPr>
        <p:spPr>
          <a:xfrm>
            <a:off x="673769" y="3977714"/>
            <a:ext cx="8382000" cy="523875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marL="0" indent="0" defTabSz="609630"/>
            <a:r>
              <a:rPr lang="tr-TR" sz="2400" b="1" dirty="0">
                <a:solidFill>
                  <a:srgbClr val="1E2A4E"/>
                </a:solidFill>
                <a:latin typeface="Calibri"/>
                <a:ea typeface="Calibri"/>
                <a:cs typeface="Calibri"/>
              </a:rPr>
              <a:t>Veri Temizleme ve Ön İşleme</a:t>
            </a:r>
            <a:endParaRPr lang="tr-TR" sz="2400" dirty="0"/>
          </a:p>
        </p:txBody>
      </p:sp>
      <p:sp>
        <p:nvSpPr>
          <p:cNvPr id="5" name="Freeform 5"/>
          <p:cNvSpPr/>
          <p:nvPr/>
        </p:nvSpPr>
        <p:spPr>
          <a:xfrm>
            <a:off x="10718388" y="2126955"/>
            <a:ext cx="1488000" cy="2743200"/>
          </a:xfrm>
          <a:custGeom>
            <a:avLst/>
            <a:gdLst/>
            <a:ahLst/>
            <a:cxnLst/>
            <a:rect l="l" t="t" r="r" b="b"/>
            <a:pathLst>
              <a:path w="2363436" h="4114800">
                <a:moveTo>
                  <a:pt x="0" y="0"/>
                </a:moveTo>
                <a:lnTo>
                  <a:pt x="2363436" y="0"/>
                </a:lnTo>
                <a:lnTo>
                  <a:pt x="236343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-1336" r="-84880"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9514593" y="0"/>
            <a:ext cx="2688000" cy="2743200"/>
          </a:xfrm>
          <a:custGeom>
            <a:avLst/>
            <a:gdLst/>
            <a:ahLst/>
            <a:cxnLst/>
            <a:rect l="l" t="t" r="r" b="b"/>
            <a:pathLst>
              <a:path w="4156364" h="4114800">
                <a:moveTo>
                  <a:pt x="0" y="0"/>
                </a:moveTo>
                <a:lnTo>
                  <a:pt x="4156364" y="0"/>
                </a:lnTo>
                <a:lnTo>
                  <a:pt x="415636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2" r="-3403"/>
            </a:stretch>
          </a:blipFill>
        </p:spPr>
        <p:txBody>
          <a:bodyPr/>
          <a:lstStyle/>
          <a:p>
            <a:pPr defTabSz="609630"/>
            <a:endParaRPr lang="tr-TR" sz="12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7" name="Freeform 7"/>
          <p:cNvSpPr/>
          <p:nvPr/>
        </p:nvSpPr>
        <p:spPr>
          <a:xfrm>
            <a:off x="9532349" y="4239652"/>
            <a:ext cx="2640000" cy="2618348"/>
          </a:xfrm>
          <a:custGeom>
            <a:avLst/>
            <a:gdLst/>
            <a:ahLst/>
            <a:cxnLst/>
            <a:rect l="l" t="t" r="r" b="b"/>
            <a:pathLst>
              <a:path w="4039159" h="3941030">
                <a:moveTo>
                  <a:pt x="0" y="0"/>
                </a:moveTo>
                <a:lnTo>
                  <a:pt x="4039159" y="0"/>
                </a:lnTo>
                <a:lnTo>
                  <a:pt x="4039159" y="3941029"/>
                </a:lnTo>
                <a:lnTo>
                  <a:pt x="0" y="394102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-365" r="-4593" b="-4409"/>
            </a:stretch>
          </a:blipFill>
        </p:spPr>
      </p:sp>
      <p:sp>
        <p:nvSpPr>
          <p:cNvPr id="100" name="13 Ekim 2026"/>
          <p:cNvSpPr txBox="1"/>
          <p:nvPr/>
        </p:nvSpPr>
        <p:spPr>
          <a:xfrm>
            <a:off x="457200" y="5267325"/>
            <a:ext cx="7620000" cy="4286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Autofit/>
          </a:bodyPr>
          <a:lstStyle/>
          <a:p>
            <a:pPr marL="0" indent="0"/>
            <a:endParaRPr lang="tr-TR" sz="2000" dirty="0"/>
          </a:p>
        </p:txBody>
      </p:sp>
      <p:sp>
        <p:nvSpPr>
          <p:cNvPr id="13" name="Tag Text">
            <a:extLst>
              <a:ext uri="{FF2B5EF4-FFF2-40B4-BE49-F238E27FC236}">
                <a16:creationId xmlns:a16="http://schemas.microsoft.com/office/drawing/2014/main" id="{EF7ECA65-8F9F-4F33-9ED6-A81823CCF445}"/>
              </a:ext>
            </a:extLst>
          </p:cNvPr>
          <p:cNvSpPr txBox="1"/>
          <p:nvPr/>
        </p:nvSpPr>
        <p:spPr>
          <a:xfrm>
            <a:off x="3727450" y="6044701"/>
            <a:ext cx="4000000" cy="300000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/>
          <a:p>
            <a:pPr defTabSz="609630"/>
            <a:r>
              <a:rPr lang="tr-TR" sz="2933" b="1" dirty="0">
                <a:solidFill>
                  <a:srgbClr val="1E2A4E"/>
                </a:solidFill>
                <a:latin typeface="Calibri"/>
                <a:ea typeface="Calibri"/>
                <a:cs typeface="Calibri"/>
              </a:rPr>
              <a:t>DATA KAMP</a:t>
            </a:r>
            <a:r>
              <a:rPr lang="tr-TR" sz="2933" dirty="0">
                <a:solidFill>
                  <a:srgbClr val="8A8A8A"/>
                </a:solidFill>
                <a:latin typeface="Calibri"/>
                <a:ea typeface="Calibri"/>
                <a:cs typeface="Calibri"/>
              </a:rPr>
              <a:t>  |  </a:t>
            </a:r>
            <a:r>
              <a:rPr lang="tr-TR" sz="2933" b="1" dirty="0">
                <a:solidFill>
                  <a:srgbClr val="CCA81D"/>
                </a:solidFill>
                <a:latin typeface="Calibri"/>
                <a:ea typeface="Calibri"/>
                <a:cs typeface="Calibri"/>
              </a:rPr>
              <a:t>2. HAFTA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1">
            <a:extLst>
              <a:ext uri="{FF2B5EF4-FFF2-40B4-BE49-F238E27FC236}">
                <a16:creationId xmlns:a16="http://schemas.microsoft.com/office/drawing/2014/main" id="{7943CC95-1690-4F8B-93AE-C9D4C9D599D6}"/>
              </a:ext>
            </a:extLst>
          </p:cNvPr>
          <p:cNvSpPr/>
          <p:nvPr/>
        </p:nvSpPr>
        <p:spPr>
          <a:xfrm>
            <a:off x="407648" y="426871"/>
            <a:ext cx="112395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tr-TR" sz="3200" b="1" dirty="0">
                <a:solidFill>
                  <a:srgbClr val="1E2A4E"/>
                </a:solidFill>
                <a:latin typeface="Calibri"/>
                <a:ea typeface="Calibri"/>
                <a:cs typeface="Calibri"/>
              </a:rPr>
              <a:t>Veriyi modele hazırlama</a:t>
            </a:r>
            <a:endParaRPr lang="tr-TR" sz="3200" dirty="0"/>
          </a:p>
        </p:txBody>
      </p:sp>
      <p:sp>
        <p:nvSpPr>
          <p:cNvPr id="8" name="Text 2">
            <a:extLst>
              <a:ext uri="{FF2B5EF4-FFF2-40B4-BE49-F238E27FC236}">
                <a16:creationId xmlns:a16="http://schemas.microsoft.com/office/drawing/2014/main" id="{8DD2EA38-1E1B-40B4-AEDC-A4BC2025D92C}"/>
              </a:ext>
            </a:extLst>
          </p:cNvPr>
          <p:cNvSpPr/>
          <p:nvPr/>
        </p:nvSpPr>
        <p:spPr>
          <a:xfrm>
            <a:off x="457200" y="1285040"/>
            <a:ext cx="1095375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tr-TR" sz="2400" b="0" dirty="0">
                <a:solidFill>
                  <a:srgbClr val="30343B"/>
                </a:solidFill>
                <a:ea typeface="Calibri"/>
                <a:cs typeface="Calibri"/>
              </a:rPr>
              <a:t>Veriyi nasıl temizler, dönüştürür ve güvenle hazırlarız?</a:t>
            </a:r>
            <a:endParaRPr lang="tr-TR" sz="2400" dirty="0"/>
          </a:p>
        </p:txBody>
      </p:sp>
      <p:grpSp>
        <p:nvGrpSpPr>
          <p:cNvPr id="2" name="Grup 1">
            <a:extLst>
              <a:ext uri="{FF2B5EF4-FFF2-40B4-BE49-F238E27FC236}">
                <a16:creationId xmlns:a16="http://schemas.microsoft.com/office/drawing/2014/main" id="{2E86E33F-D372-45E0-B712-7E3C8AFD50A2}"/>
              </a:ext>
            </a:extLst>
          </p:cNvPr>
          <p:cNvGrpSpPr/>
          <p:nvPr/>
        </p:nvGrpSpPr>
        <p:grpSpPr>
          <a:xfrm>
            <a:off x="1467008" y="2153653"/>
            <a:ext cx="9120781" cy="3419307"/>
            <a:chOff x="239787" y="2267843"/>
            <a:chExt cx="8777213" cy="3148707"/>
          </a:xfrm>
        </p:grpSpPr>
        <p:pic>
          <p:nvPicPr>
            <p:cNvPr id="9" name="Image 1" descr="preencoded.png">
              <a:extLst>
                <a:ext uri="{FF2B5EF4-FFF2-40B4-BE49-F238E27FC236}">
                  <a16:creationId xmlns:a16="http://schemas.microsoft.com/office/drawing/2014/main" id="{8788F6DF-D862-4C8E-B9F1-D7407DA1015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39787" y="2267843"/>
              <a:ext cx="8777213" cy="3148707"/>
            </a:xfrm>
            <a:prstGeom prst="rect">
              <a:avLst/>
            </a:prstGeom>
          </p:spPr>
        </p:pic>
        <p:grpSp>
          <p:nvGrpSpPr>
            <p:cNvPr id="3" name="Grup 2">
              <a:extLst>
                <a:ext uri="{FF2B5EF4-FFF2-40B4-BE49-F238E27FC236}">
                  <a16:creationId xmlns:a16="http://schemas.microsoft.com/office/drawing/2014/main" id="{95374BC1-26F3-4E24-8A25-D4D68AD364D2}"/>
                </a:ext>
              </a:extLst>
            </p:cNvPr>
            <p:cNvGrpSpPr/>
            <p:nvPr/>
          </p:nvGrpSpPr>
          <p:grpSpPr>
            <a:xfrm>
              <a:off x="643525" y="4505701"/>
              <a:ext cx="8111922" cy="202228"/>
              <a:chOff x="655401" y="4689768"/>
              <a:chExt cx="8111922" cy="202228"/>
            </a:xfrm>
          </p:grpSpPr>
          <p:sp>
            <p:nvSpPr>
              <p:cNvPr id="10" name="Text 3">
                <a:extLst>
                  <a:ext uri="{FF2B5EF4-FFF2-40B4-BE49-F238E27FC236}">
                    <a16:creationId xmlns:a16="http://schemas.microsoft.com/office/drawing/2014/main" id="{AF25827F-45C0-4D2A-BC20-29B326A6C4BD}"/>
                  </a:ext>
                </a:extLst>
              </p:cNvPr>
              <p:cNvSpPr/>
              <p:nvPr/>
            </p:nvSpPr>
            <p:spPr>
              <a:xfrm>
                <a:off x="7443476" y="4689768"/>
                <a:ext cx="1323847" cy="202228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>
                <a:noAutofit/>
              </a:bodyPr>
              <a:lstStyle/>
              <a:p>
                <a:pPr marL="0" indent="0" algn="ctr">
                  <a:lnSpc>
                    <a:spcPct val="104000"/>
                  </a:lnSpc>
                  <a:buNone/>
                </a:pPr>
                <a:r>
                  <a:rPr lang="tr-TR" sz="2000" b="0" dirty="0">
                    <a:solidFill>
                      <a:srgbClr val="30343B"/>
                    </a:solidFill>
                    <a:latin typeface="Calibri"/>
                    <a:ea typeface="Calibri"/>
                    <a:cs typeface="Calibri"/>
                  </a:rPr>
                  <a:t>Hazır girdiler</a:t>
                </a:r>
                <a:endParaRPr lang="tr-TR" sz="2000"/>
              </a:p>
            </p:txBody>
          </p:sp>
          <p:sp>
            <p:nvSpPr>
              <p:cNvPr id="11" name="Text 4">
                <a:extLst>
                  <a:ext uri="{FF2B5EF4-FFF2-40B4-BE49-F238E27FC236}">
                    <a16:creationId xmlns:a16="http://schemas.microsoft.com/office/drawing/2014/main" id="{6C150846-A905-4742-B63C-66490B15C61E}"/>
                  </a:ext>
                </a:extLst>
              </p:cNvPr>
              <p:cNvSpPr/>
              <p:nvPr/>
            </p:nvSpPr>
            <p:spPr>
              <a:xfrm>
                <a:off x="5748760" y="4689768"/>
                <a:ext cx="1323847" cy="202228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>
                <a:noAutofit/>
              </a:bodyPr>
              <a:lstStyle/>
              <a:p>
                <a:pPr marL="0" indent="0" algn="ctr">
                  <a:lnSpc>
                    <a:spcPct val="104000"/>
                  </a:lnSpc>
                  <a:buNone/>
                </a:pPr>
                <a:r>
                  <a:rPr lang="tr-TR" sz="2000" b="0" dirty="0">
                    <a:solidFill>
                      <a:srgbClr val="30343B"/>
                    </a:solidFill>
                    <a:latin typeface="Calibri"/>
                    <a:ea typeface="Calibri"/>
                    <a:cs typeface="Calibri"/>
                  </a:rPr>
                  <a:t>Ön işleme</a:t>
                </a:r>
                <a:endParaRPr lang="tr-TR" sz="2000"/>
              </a:p>
            </p:txBody>
          </p:sp>
          <p:sp>
            <p:nvSpPr>
              <p:cNvPr id="12" name="Text 5">
                <a:extLst>
                  <a:ext uri="{FF2B5EF4-FFF2-40B4-BE49-F238E27FC236}">
                    <a16:creationId xmlns:a16="http://schemas.microsoft.com/office/drawing/2014/main" id="{5423862B-A76D-4E12-BF26-AB6002672232}"/>
                  </a:ext>
                </a:extLst>
              </p:cNvPr>
              <p:cNvSpPr/>
              <p:nvPr/>
            </p:nvSpPr>
            <p:spPr>
              <a:xfrm>
                <a:off x="4063253" y="4689768"/>
                <a:ext cx="1323845" cy="202228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>
                <a:noAutofit/>
              </a:bodyPr>
              <a:lstStyle/>
              <a:p>
                <a:pPr marL="0" indent="0" algn="ctr">
                  <a:lnSpc>
                    <a:spcPct val="104000"/>
                  </a:lnSpc>
                  <a:buNone/>
                </a:pPr>
                <a:r>
                  <a:rPr lang="tr-TR" sz="2000" b="0" dirty="0">
                    <a:solidFill>
                      <a:srgbClr val="30343B"/>
                    </a:solidFill>
                    <a:latin typeface="Calibri"/>
                    <a:ea typeface="Calibri"/>
                    <a:cs typeface="Calibri"/>
                  </a:rPr>
                  <a:t>Veriyi ayırma</a:t>
                </a:r>
                <a:endParaRPr lang="tr-TR" sz="2000"/>
              </a:p>
            </p:txBody>
          </p:sp>
          <p:sp>
            <p:nvSpPr>
              <p:cNvPr id="13" name="Text 6">
                <a:extLst>
                  <a:ext uri="{FF2B5EF4-FFF2-40B4-BE49-F238E27FC236}">
                    <a16:creationId xmlns:a16="http://schemas.microsoft.com/office/drawing/2014/main" id="{D5C2B988-6AE1-4930-B5A5-EC40D843BAA9}"/>
                  </a:ext>
                </a:extLst>
              </p:cNvPr>
              <p:cNvSpPr/>
              <p:nvPr/>
            </p:nvSpPr>
            <p:spPr>
              <a:xfrm>
                <a:off x="2377748" y="4689768"/>
                <a:ext cx="1323845" cy="202228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>
                <a:noAutofit/>
              </a:bodyPr>
              <a:lstStyle/>
              <a:p>
                <a:pPr marL="0" indent="0" algn="ctr">
                  <a:lnSpc>
                    <a:spcPct val="104000"/>
                  </a:lnSpc>
                  <a:buNone/>
                </a:pPr>
                <a:r>
                  <a:rPr lang="tr-TR" sz="2000" b="0" dirty="0">
                    <a:solidFill>
                      <a:srgbClr val="30343B"/>
                    </a:solidFill>
                    <a:latin typeface="Calibri"/>
                    <a:ea typeface="Calibri"/>
                    <a:cs typeface="Calibri"/>
                  </a:rPr>
                  <a:t>Kalite kontrolü</a:t>
                </a:r>
                <a:endParaRPr lang="tr-TR" sz="2000"/>
              </a:p>
            </p:txBody>
          </p:sp>
          <p:sp>
            <p:nvSpPr>
              <p:cNvPr id="14" name="Text 7">
                <a:extLst>
                  <a:ext uri="{FF2B5EF4-FFF2-40B4-BE49-F238E27FC236}">
                    <a16:creationId xmlns:a16="http://schemas.microsoft.com/office/drawing/2014/main" id="{494477E7-33EC-4DDE-A7B5-76DE0FBBB938}"/>
                  </a:ext>
                </a:extLst>
              </p:cNvPr>
              <p:cNvSpPr/>
              <p:nvPr/>
            </p:nvSpPr>
            <p:spPr>
              <a:xfrm>
                <a:off x="655401" y="4689768"/>
                <a:ext cx="1323845" cy="202228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>
                <a:noAutofit/>
              </a:bodyPr>
              <a:lstStyle/>
              <a:p>
                <a:pPr marL="0" indent="0" algn="ctr">
                  <a:lnSpc>
                    <a:spcPct val="104000"/>
                  </a:lnSpc>
                  <a:buNone/>
                </a:pPr>
                <a:r>
                  <a:rPr lang="tr-TR" sz="2000" b="0" dirty="0">
                    <a:solidFill>
                      <a:srgbClr val="30343B"/>
                    </a:solidFill>
                    <a:latin typeface="Calibri"/>
                    <a:ea typeface="Calibri"/>
                    <a:cs typeface="Calibri"/>
                  </a:rPr>
                  <a:t>Ham veri</a:t>
                </a:r>
                <a:endParaRPr lang="tr-TR" sz="2000" dirty="0"/>
              </a:p>
            </p:txBody>
          </p:sp>
        </p:grpSp>
      </p:grpSp>
      <p:sp>
        <p:nvSpPr>
          <p:cNvPr id="100" name="Doldurma, kodlama ve ölçekleme kuralları eğitim ve"/>
          <p:cNvSpPr txBox="1"/>
          <p:nvPr/>
        </p:nvSpPr>
        <p:spPr>
          <a:xfrm>
            <a:off x="457200" y="6064416"/>
            <a:ext cx="8763000" cy="7334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Autofit/>
          </a:bodyPr>
          <a:lstStyle/>
          <a:p>
            <a:r>
              <a:rPr lang="tr-TR" sz="2000" b="1" dirty="0">
                <a:solidFill>
                  <a:srgbClr val="596173"/>
                </a:solidFill>
                <a:latin typeface="Calibri"/>
                <a:ea typeface="Calibri"/>
                <a:cs typeface="Calibri"/>
              </a:rPr>
              <a:t>Doldurma, kodlama ve ölçekleme kuralları eğitim verisinden öğrenilir.</a:t>
            </a:r>
            <a:endParaRPr lang="tr-TR" sz="2000" b="1" dirty="0"/>
          </a:p>
          <a:p>
            <a:pPr marL="0" indent="0"/>
            <a:endParaRPr lang="tr-TR" sz="2100" dirty="0"/>
          </a:p>
        </p:txBody>
      </p:sp>
    </p:spTree>
    <p:extLst>
      <p:ext uri="{BB962C8B-B14F-4D97-AF65-F5344CB8AC3E}">
        <p14:creationId xmlns:p14="http://schemas.microsoft.com/office/powerpoint/2010/main" val="41808613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CAE0EFB8-A2D4-483D-9E20-3D6CECA16EB2}"/>
              </a:ext>
            </a:extLst>
          </p:cNvPr>
          <p:cNvSpPr/>
          <p:nvPr/>
        </p:nvSpPr>
        <p:spPr>
          <a:xfrm>
            <a:off x="457200" y="285750"/>
            <a:ext cx="112395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tr-TR" sz="3200" b="1" dirty="0">
                <a:solidFill>
                  <a:srgbClr val="1E2A4E"/>
                </a:solidFill>
                <a:latin typeface="Calibri"/>
                <a:ea typeface="Calibri"/>
                <a:cs typeface="Calibri"/>
              </a:rPr>
              <a:t>Ham veride karşılaşılan sorunlar</a:t>
            </a:r>
            <a:endParaRPr lang="tr-TR" sz="3200"/>
          </a:p>
        </p:txBody>
      </p:sp>
      <p:pic>
        <p:nvPicPr>
          <p:cNvPr id="3" name="Image 0" descr="preencoded.png">
            <a:extLst>
              <a:ext uri="{FF2B5EF4-FFF2-40B4-BE49-F238E27FC236}">
                <a16:creationId xmlns:a16="http://schemas.microsoft.com/office/drawing/2014/main" id="{00765A0A-36F1-41AE-BAB3-4E819F5999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2113855"/>
            <a:ext cx="3504219" cy="3504307"/>
          </a:xfrm>
          <a:prstGeom prst="rect">
            <a:avLst/>
          </a:prstGeom>
        </p:spPr>
      </p:pic>
      <p:pic>
        <p:nvPicPr>
          <p:cNvPr id="4" name="Image 1" descr="preencoded.png">
            <a:extLst>
              <a:ext uri="{FF2B5EF4-FFF2-40B4-BE49-F238E27FC236}">
                <a16:creationId xmlns:a16="http://schemas.microsoft.com/office/drawing/2014/main" id="{A06B8DE4-7D41-4BB1-B529-5B4C1C4B310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33201" y="1778794"/>
            <a:ext cx="3357082" cy="1517948"/>
          </a:xfrm>
          <a:prstGeom prst="rect">
            <a:avLst/>
          </a:prstGeom>
        </p:spPr>
      </p:pic>
      <p:sp>
        <p:nvSpPr>
          <p:cNvPr id="5" name="Text 1">
            <a:extLst>
              <a:ext uri="{FF2B5EF4-FFF2-40B4-BE49-F238E27FC236}">
                <a16:creationId xmlns:a16="http://schemas.microsoft.com/office/drawing/2014/main" id="{2E399397-5E21-48BA-AD95-9DF7E5AA4653}"/>
              </a:ext>
            </a:extLst>
          </p:cNvPr>
          <p:cNvSpPr/>
          <p:nvPr/>
        </p:nvSpPr>
        <p:spPr>
          <a:xfrm>
            <a:off x="5454217" y="1883866"/>
            <a:ext cx="2826671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tr-TR" sz="2000" b="1" dirty="0">
                <a:solidFill>
                  <a:srgbClr val="30343B"/>
                </a:solidFill>
                <a:latin typeface="Calibri"/>
                <a:ea typeface="Calibri"/>
                <a:cs typeface="Calibri"/>
              </a:rPr>
              <a:t>Eksik değerler</a:t>
            </a:r>
            <a:endParaRPr lang="tr-TR" sz="2000" dirty="0"/>
          </a:p>
        </p:txBody>
      </p:sp>
      <p:sp>
        <p:nvSpPr>
          <p:cNvPr id="6" name="Text 2">
            <a:extLst>
              <a:ext uri="{FF2B5EF4-FFF2-40B4-BE49-F238E27FC236}">
                <a16:creationId xmlns:a16="http://schemas.microsoft.com/office/drawing/2014/main" id="{59C57846-0613-42A4-B011-93F649BA0CDB}"/>
              </a:ext>
            </a:extLst>
          </p:cNvPr>
          <p:cNvSpPr/>
          <p:nvPr/>
        </p:nvSpPr>
        <p:spPr>
          <a:xfrm>
            <a:off x="4940325" y="2258617"/>
            <a:ext cx="2826671" cy="704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tr-TR" sz="2000" b="0" dirty="0">
                <a:solidFill>
                  <a:srgbClr val="30343B"/>
                </a:solidFill>
                <a:latin typeface="Calibri"/>
                <a:ea typeface="Calibri"/>
                <a:cs typeface="Calibri"/>
              </a:rPr>
              <a:t>Birçok model eksik girdiler için işlem gerektirir.</a:t>
            </a:r>
            <a:endParaRPr lang="tr-TR" sz="2000" dirty="0"/>
          </a:p>
        </p:txBody>
      </p:sp>
      <p:pic>
        <p:nvPicPr>
          <p:cNvPr id="7" name="Image 2" descr="preencoded.png">
            <a:extLst>
              <a:ext uri="{FF2B5EF4-FFF2-40B4-BE49-F238E27FC236}">
                <a16:creationId xmlns:a16="http://schemas.microsoft.com/office/drawing/2014/main" id="{0F39E5E9-D9BE-40C8-A43C-35647C4FF5B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179290" y="1778794"/>
            <a:ext cx="3357181" cy="1517948"/>
          </a:xfrm>
          <a:prstGeom prst="rect">
            <a:avLst/>
          </a:prstGeom>
        </p:spPr>
      </p:pic>
      <p:sp>
        <p:nvSpPr>
          <p:cNvPr id="8" name="Text 3">
            <a:extLst>
              <a:ext uri="{FF2B5EF4-FFF2-40B4-BE49-F238E27FC236}">
                <a16:creationId xmlns:a16="http://schemas.microsoft.com/office/drawing/2014/main" id="{9CD52ED0-9E29-4AF8-A5F2-F21EC582EE54}"/>
              </a:ext>
            </a:extLst>
          </p:cNvPr>
          <p:cNvSpPr/>
          <p:nvPr/>
        </p:nvSpPr>
        <p:spPr>
          <a:xfrm>
            <a:off x="9035044" y="1877617"/>
            <a:ext cx="2826771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tr-TR" sz="2000" b="1" dirty="0">
                <a:solidFill>
                  <a:srgbClr val="30343B"/>
                </a:solidFill>
                <a:latin typeface="Calibri"/>
                <a:ea typeface="Calibri"/>
                <a:cs typeface="Calibri"/>
              </a:rPr>
              <a:t>Aykırı değerler</a:t>
            </a:r>
            <a:endParaRPr lang="tr-TR" sz="2000" dirty="0"/>
          </a:p>
        </p:txBody>
      </p:sp>
      <p:sp>
        <p:nvSpPr>
          <p:cNvPr id="9" name="Text 4">
            <a:extLst>
              <a:ext uri="{FF2B5EF4-FFF2-40B4-BE49-F238E27FC236}">
                <a16:creationId xmlns:a16="http://schemas.microsoft.com/office/drawing/2014/main" id="{01509F5D-3CA4-4630-AE33-A1F7656D6466}"/>
              </a:ext>
            </a:extLst>
          </p:cNvPr>
          <p:cNvSpPr/>
          <p:nvPr/>
        </p:nvSpPr>
        <p:spPr>
          <a:xfrm>
            <a:off x="8507979" y="2255145"/>
            <a:ext cx="2826771" cy="704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tr-TR" sz="2000" b="0" dirty="0">
                <a:solidFill>
                  <a:srgbClr val="30343B"/>
                </a:solidFill>
                <a:latin typeface="Calibri"/>
                <a:ea typeface="Calibri"/>
                <a:cs typeface="Calibri"/>
              </a:rPr>
              <a:t>Bazı modelleri güçlü biçimde etkileyebilir.</a:t>
            </a:r>
            <a:endParaRPr lang="tr-TR" sz="2000" dirty="0"/>
          </a:p>
        </p:txBody>
      </p:sp>
      <p:pic>
        <p:nvPicPr>
          <p:cNvPr id="10" name="Image 3" descr="preencoded.png">
            <a:extLst>
              <a:ext uri="{FF2B5EF4-FFF2-40B4-BE49-F238E27FC236}">
                <a16:creationId xmlns:a16="http://schemas.microsoft.com/office/drawing/2014/main" id="{E0DC68DB-7AD7-4245-B158-FA6A7209DD3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33201" y="3485753"/>
            <a:ext cx="3357082" cy="1517948"/>
          </a:xfrm>
          <a:prstGeom prst="rect">
            <a:avLst/>
          </a:prstGeom>
        </p:spPr>
      </p:pic>
      <p:sp>
        <p:nvSpPr>
          <p:cNvPr id="11" name="Text 5">
            <a:extLst>
              <a:ext uri="{FF2B5EF4-FFF2-40B4-BE49-F238E27FC236}">
                <a16:creationId xmlns:a16="http://schemas.microsoft.com/office/drawing/2014/main" id="{20DCEB44-21F1-4C64-B267-58F02C50872B}"/>
              </a:ext>
            </a:extLst>
          </p:cNvPr>
          <p:cNvSpPr/>
          <p:nvPr/>
        </p:nvSpPr>
        <p:spPr>
          <a:xfrm>
            <a:off x="5454216" y="3671493"/>
            <a:ext cx="2826671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tr-TR" sz="2000" b="1" dirty="0">
                <a:solidFill>
                  <a:srgbClr val="30343B"/>
                </a:solidFill>
                <a:latin typeface="Calibri"/>
                <a:ea typeface="Calibri"/>
                <a:cs typeface="Calibri"/>
              </a:rPr>
              <a:t>Farklı ölçekler</a:t>
            </a:r>
            <a:endParaRPr lang="tr-TR" sz="2000" dirty="0"/>
          </a:p>
        </p:txBody>
      </p:sp>
      <p:sp>
        <p:nvSpPr>
          <p:cNvPr id="12" name="Text 6">
            <a:extLst>
              <a:ext uri="{FF2B5EF4-FFF2-40B4-BE49-F238E27FC236}">
                <a16:creationId xmlns:a16="http://schemas.microsoft.com/office/drawing/2014/main" id="{9AADAF43-C07F-4B20-8287-C44FB2352749}"/>
              </a:ext>
            </a:extLst>
          </p:cNvPr>
          <p:cNvSpPr/>
          <p:nvPr/>
        </p:nvSpPr>
        <p:spPr>
          <a:xfrm>
            <a:off x="4940325" y="4017669"/>
            <a:ext cx="2826671" cy="704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tr-TR" sz="2000" b="0" dirty="0">
                <a:solidFill>
                  <a:srgbClr val="30343B"/>
                </a:solidFill>
                <a:latin typeface="Calibri"/>
                <a:ea typeface="Calibri"/>
                <a:cs typeface="Calibri"/>
              </a:rPr>
              <a:t>Mesafeye duyarlı modelleri etkileyebilir.</a:t>
            </a:r>
            <a:endParaRPr lang="tr-TR" sz="2000" dirty="0"/>
          </a:p>
        </p:txBody>
      </p:sp>
      <p:pic>
        <p:nvPicPr>
          <p:cNvPr id="13" name="Image 4" descr="preencoded.png">
            <a:extLst>
              <a:ext uri="{FF2B5EF4-FFF2-40B4-BE49-F238E27FC236}">
                <a16:creationId xmlns:a16="http://schemas.microsoft.com/office/drawing/2014/main" id="{BD303807-5710-480F-AC58-9AB139B2813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179290" y="3485753"/>
            <a:ext cx="3357181" cy="1517948"/>
          </a:xfrm>
          <a:prstGeom prst="rect">
            <a:avLst/>
          </a:prstGeom>
        </p:spPr>
      </p:pic>
      <p:sp>
        <p:nvSpPr>
          <p:cNvPr id="14" name="Text 7">
            <a:extLst>
              <a:ext uri="{FF2B5EF4-FFF2-40B4-BE49-F238E27FC236}">
                <a16:creationId xmlns:a16="http://schemas.microsoft.com/office/drawing/2014/main" id="{B9335188-D693-46B4-BBC5-94E09DD30194}"/>
              </a:ext>
            </a:extLst>
          </p:cNvPr>
          <p:cNvSpPr/>
          <p:nvPr/>
        </p:nvSpPr>
        <p:spPr>
          <a:xfrm>
            <a:off x="8898707" y="3676454"/>
            <a:ext cx="2826771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tr-TR" sz="2000" b="1" dirty="0">
                <a:solidFill>
                  <a:srgbClr val="30343B"/>
                </a:solidFill>
                <a:latin typeface="Calibri"/>
                <a:ea typeface="Calibri"/>
                <a:cs typeface="Calibri"/>
              </a:rPr>
              <a:t>Kategorik girdiler</a:t>
            </a:r>
            <a:endParaRPr lang="tr-TR" sz="2000" dirty="0"/>
          </a:p>
        </p:txBody>
      </p:sp>
      <p:sp>
        <p:nvSpPr>
          <p:cNvPr id="15" name="Text 8">
            <a:extLst>
              <a:ext uri="{FF2B5EF4-FFF2-40B4-BE49-F238E27FC236}">
                <a16:creationId xmlns:a16="http://schemas.microsoft.com/office/drawing/2014/main" id="{48467F0B-969D-4334-88E8-53E3981A28EE}"/>
              </a:ext>
            </a:extLst>
          </p:cNvPr>
          <p:cNvSpPr/>
          <p:nvPr/>
        </p:nvSpPr>
        <p:spPr>
          <a:xfrm>
            <a:off x="8469894" y="4052493"/>
            <a:ext cx="2826771" cy="704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tr-TR" sz="2000" b="0" dirty="0">
                <a:solidFill>
                  <a:srgbClr val="30343B"/>
                </a:solidFill>
                <a:latin typeface="Calibri"/>
                <a:ea typeface="Calibri"/>
                <a:cs typeface="Calibri"/>
              </a:rPr>
              <a:t>Birçok model sayısal temsil gerektirir.</a:t>
            </a:r>
            <a:endParaRPr lang="tr-TR" sz="2000" dirty="0"/>
          </a:p>
        </p:txBody>
      </p:sp>
      <p:sp>
        <p:nvSpPr>
          <p:cNvPr id="16" name="Shape 9">
            <a:extLst>
              <a:ext uri="{FF2B5EF4-FFF2-40B4-BE49-F238E27FC236}">
                <a16:creationId xmlns:a16="http://schemas.microsoft.com/office/drawing/2014/main" id="{84FE51A9-3CF8-459A-9BDD-874EC5CDC829}"/>
              </a:ext>
            </a:extLst>
          </p:cNvPr>
          <p:cNvSpPr/>
          <p:nvPr/>
        </p:nvSpPr>
        <p:spPr>
          <a:xfrm>
            <a:off x="4633201" y="5216327"/>
            <a:ext cx="6903269" cy="736997"/>
          </a:xfrm>
          <a:prstGeom prst="roundRect">
            <a:avLst>
              <a:gd name="adj" fmla="val 10772"/>
            </a:avLst>
          </a:prstGeom>
          <a:solidFill>
            <a:srgbClr val="F5F2E3"/>
          </a:solidFill>
          <a:ln/>
        </p:spPr>
      </p:sp>
      <p:pic>
        <p:nvPicPr>
          <p:cNvPr id="17" name="Image 5" descr="preencoded.png">
            <a:extLst>
              <a:ext uri="{FF2B5EF4-FFF2-40B4-BE49-F238E27FC236}">
                <a16:creationId xmlns:a16="http://schemas.microsoft.com/office/drawing/2014/main" id="{B83C6431-007F-4419-AED8-05C3AAB4F88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22208" y="5503069"/>
            <a:ext cx="236234" cy="189012"/>
          </a:xfrm>
          <a:prstGeom prst="rect">
            <a:avLst/>
          </a:prstGeom>
        </p:spPr>
      </p:pic>
      <p:sp>
        <p:nvSpPr>
          <p:cNvPr id="18" name="Text 10">
            <a:extLst>
              <a:ext uri="{FF2B5EF4-FFF2-40B4-BE49-F238E27FC236}">
                <a16:creationId xmlns:a16="http://schemas.microsoft.com/office/drawing/2014/main" id="{310B0FEC-C46A-4C18-87EE-EE1B54654667}"/>
              </a:ext>
            </a:extLst>
          </p:cNvPr>
          <p:cNvSpPr/>
          <p:nvPr/>
        </p:nvSpPr>
        <p:spPr>
          <a:xfrm>
            <a:off x="5238750" y="5391150"/>
            <a:ext cx="609600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tr-TR" sz="2000" b="0" dirty="0">
                <a:solidFill>
                  <a:srgbClr val="30343B"/>
                </a:solidFill>
                <a:latin typeface="Calibri"/>
                <a:ea typeface="Calibri"/>
                <a:cs typeface="Calibri"/>
              </a:rPr>
              <a:t>Veri kalitesi sonuçların güvenilirliğini etkiler.</a:t>
            </a:r>
            <a:endParaRPr lang="tr-TR" sz="2000"/>
          </a:p>
        </p:txBody>
      </p:sp>
    </p:spTree>
    <p:extLst>
      <p:ext uri="{BB962C8B-B14F-4D97-AF65-F5344CB8AC3E}">
        <p14:creationId xmlns:p14="http://schemas.microsoft.com/office/powerpoint/2010/main" val="28406085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A07D9856-D628-4BD0-B194-0454C1EBE33D}"/>
              </a:ext>
            </a:extLst>
          </p:cNvPr>
          <p:cNvSpPr/>
          <p:nvPr/>
        </p:nvSpPr>
        <p:spPr>
          <a:xfrm>
            <a:off x="457200" y="285750"/>
            <a:ext cx="112395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tr-TR" sz="3200" b="1" dirty="0">
                <a:solidFill>
                  <a:srgbClr val="1E2A4E"/>
                </a:solidFill>
                <a:latin typeface="Calibri"/>
                <a:ea typeface="Calibri"/>
                <a:cs typeface="Calibri"/>
              </a:rPr>
              <a:t>Örnek veri seti: 5 ev</a:t>
            </a:r>
            <a:endParaRPr lang="tr-TR" sz="3200" dirty="0"/>
          </a:p>
        </p:txBody>
      </p:sp>
      <p:graphicFrame>
        <p:nvGraphicFramePr>
          <p:cNvPr id="3" name="Table 0">
            <a:extLst>
              <a:ext uri="{FF2B5EF4-FFF2-40B4-BE49-F238E27FC236}">
                <a16:creationId xmlns:a16="http://schemas.microsoft.com/office/drawing/2014/main" id="{486635E8-E821-432A-8902-8D0FBE8CCF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5436721"/>
              </p:ext>
            </p:extLst>
          </p:nvPr>
        </p:nvGraphicFramePr>
        <p:xfrm>
          <a:off x="578925" y="1909663"/>
          <a:ext cx="10868746" cy="3283264"/>
        </p:xfrm>
        <a:graphic>
          <a:graphicData uri="http://schemas.openxmlformats.org/drawingml/2006/table">
            <a:tbl>
              <a:tblPr/>
              <a:tblGrid>
                <a:gridCol w="869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303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303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0424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5637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4779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4509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tr-TR" sz="1800" b="1" dirty="0">
                          <a:solidFill>
                            <a:srgbClr val="1E2A4E"/>
                          </a:solidFill>
                          <a:latin typeface="Calibri"/>
                          <a:ea typeface="Calibri"/>
                          <a:cs typeface="Calibri"/>
                        </a:rPr>
                        <a:t>Ev ID</a:t>
                      </a:r>
                      <a:endParaRPr lang="tr-TR" sz="1800"/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tr-TR" sz="1800" b="1" dirty="0">
                          <a:solidFill>
                            <a:srgbClr val="1E2A4E"/>
                          </a:solidFill>
                          <a:latin typeface="Calibri"/>
                          <a:ea typeface="Calibri"/>
                          <a:cs typeface="Calibri"/>
                        </a:rPr>
                        <a:t>Yaş (yıl)</a:t>
                      </a:r>
                      <a:endParaRPr lang="tr-TR" sz="1800"/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tr-TR" sz="1800" b="1" dirty="0">
                          <a:solidFill>
                            <a:srgbClr val="1E2A4E"/>
                          </a:solidFill>
                          <a:latin typeface="Calibri"/>
                          <a:ea typeface="Calibri"/>
                          <a:cs typeface="Calibri"/>
                        </a:rPr>
                        <a:t>Alan (m²)</a:t>
                      </a:r>
                      <a:endParaRPr lang="tr-TR" sz="1800"/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tr-TR" sz="1800" b="1" dirty="0">
                          <a:solidFill>
                            <a:srgbClr val="1E2A4E"/>
                          </a:solidFill>
                          <a:latin typeface="Calibri"/>
                          <a:ea typeface="Calibri"/>
                          <a:cs typeface="Calibri"/>
                        </a:rPr>
                        <a:t>Oda</a:t>
                      </a:r>
                      <a:endParaRPr lang="tr-TR" sz="1800"/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tr-TR" sz="1800" b="1" dirty="0">
                          <a:solidFill>
                            <a:srgbClr val="1E2A4E"/>
                          </a:solidFill>
                          <a:latin typeface="Calibri"/>
                          <a:ea typeface="Calibri"/>
                          <a:cs typeface="Calibri"/>
                        </a:rPr>
                        <a:t>Şehir</a:t>
                      </a:r>
                      <a:endParaRPr lang="tr-TR" sz="1800"/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tr-TR" sz="1800" b="1" dirty="0">
                          <a:solidFill>
                            <a:srgbClr val="1E2A4E"/>
                          </a:solidFill>
                          <a:latin typeface="Calibri"/>
                          <a:ea typeface="Calibri"/>
                          <a:cs typeface="Calibri"/>
                        </a:rPr>
                        <a:t>Fiyat (bin TL)</a:t>
                      </a:r>
                      <a:endParaRPr lang="tr-TR" sz="1800" dirty="0"/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26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tr-TR" sz="1800" b="0" dirty="0">
                          <a:solidFill>
                            <a:srgbClr val="30343B"/>
                          </a:solidFill>
                          <a:latin typeface="Calibri"/>
                          <a:ea typeface="Calibri"/>
                          <a:cs typeface="Calibri"/>
                        </a:rPr>
                        <a:t>Ev 1</a:t>
                      </a:r>
                      <a:endParaRPr lang="tr-TR" sz="1800"/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tr-TR" sz="1800" b="0" dirty="0">
                          <a:solidFill>
                            <a:srgbClr val="30343B"/>
                          </a:solidFill>
                          <a:latin typeface="Calibri"/>
                          <a:ea typeface="Calibri"/>
                          <a:cs typeface="Calibri"/>
                        </a:rPr>
                        <a:t>5</a:t>
                      </a:r>
                      <a:endParaRPr lang="tr-TR" sz="1800"/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tr-TR" sz="1800" b="0" dirty="0">
                          <a:solidFill>
                            <a:srgbClr val="30343B"/>
                          </a:solidFill>
                          <a:latin typeface="Calibri"/>
                          <a:ea typeface="Calibri"/>
                          <a:cs typeface="Calibri"/>
                        </a:rPr>
                        <a:t>120</a:t>
                      </a:r>
                      <a:endParaRPr lang="tr-TR" sz="1800"/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tr-TR" sz="1800" b="0" dirty="0">
                          <a:solidFill>
                            <a:srgbClr val="30343B"/>
                          </a:solidFill>
                          <a:latin typeface="Calibri"/>
                          <a:ea typeface="Calibri"/>
                          <a:cs typeface="Calibri"/>
                        </a:rPr>
                        <a:t>3</a:t>
                      </a:r>
                      <a:endParaRPr lang="tr-TR" sz="1800"/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tr-TR" sz="1800" b="0" dirty="0">
                          <a:solidFill>
                            <a:srgbClr val="30343B"/>
                          </a:solidFill>
                          <a:latin typeface="Calibri"/>
                          <a:ea typeface="Calibri"/>
                          <a:cs typeface="Calibri"/>
                        </a:rPr>
                        <a:t>Kayseri</a:t>
                      </a:r>
                      <a:endParaRPr lang="tr-TR" sz="1800"/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tr-TR" sz="1800" b="0" dirty="0">
                          <a:solidFill>
                            <a:srgbClr val="30343B"/>
                          </a:solidFill>
                          <a:latin typeface="Calibri"/>
                          <a:ea typeface="Calibri"/>
                          <a:cs typeface="Calibri"/>
                        </a:rPr>
                        <a:t>1.850</a:t>
                      </a:r>
                      <a:endParaRPr lang="tr-TR" sz="1800" dirty="0"/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26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tr-TR" sz="1800" b="0" dirty="0">
                          <a:solidFill>
                            <a:srgbClr val="30343B"/>
                          </a:solidFill>
                          <a:latin typeface="Calibri"/>
                          <a:ea typeface="Calibri"/>
                          <a:cs typeface="Calibri"/>
                        </a:rPr>
                        <a:t>Ev 2</a:t>
                      </a:r>
                      <a:endParaRPr lang="tr-TR" sz="1800"/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tr-TR" sz="1800" b="0" dirty="0">
                          <a:solidFill>
                            <a:srgbClr val="30343B"/>
                          </a:solidFill>
                          <a:latin typeface="Calibri"/>
                          <a:ea typeface="Calibri"/>
                          <a:cs typeface="Calibri"/>
                        </a:rPr>
                        <a:t>30</a:t>
                      </a:r>
                      <a:endParaRPr lang="tr-TR" sz="1800"/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tr-TR" sz="1800" b="0" dirty="0">
                          <a:solidFill>
                            <a:srgbClr val="30343B"/>
                          </a:solidFill>
                          <a:latin typeface="Calibri"/>
                          <a:ea typeface="Calibri"/>
                          <a:cs typeface="Calibri"/>
                        </a:rPr>
                        <a:t>85</a:t>
                      </a:r>
                      <a:endParaRPr lang="tr-TR" sz="1800"/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tr-TR" sz="1800" b="0" dirty="0">
                          <a:solidFill>
                            <a:srgbClr val="30343B"/>
                          </a:solidFill>
                          <a:latin typeface="Calibri"/>
                          <a:ea typeface="Calibri"/>
                          <a:cs typeface="Calibri"/>
                        </a:rPr>
                        <a:t>2</a:t>
                      </a:r>
                      <a:endParaRPr lang="tr-TR" sz="1800"/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tr-TR" sz="1800" b="0" dirty="0">
                          <a:solidFill>
                            <a:srgbClr val="30343B"/>
                          </a:solidFill>
                          <a:latin typeface="Calibri"/>
                          <a:ea typeface="Calibri"/>
                          <a:cs typeface="Calibri"/>
                        </a:rPr>
                        <a:t>Ankara</a:t>
                      </a:r>
                      <a:endParaRPr lang="tr-TR" sz="1800"/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tr-TR" sz="1800" b="1" dirty="0">
                          <a:solidFill>
                            <a:srgbClr val="CF3636"/>
                          </a:solidFill>
                          <a:latin typeface="Calibri"/>
                          <a:ea typeface="Calibri"/>
                          <a:cs typeface="Calibri"/>
                        </a:rPr>
                        <a:t>Eksik</a:t>
                      </a:r>
                      <a:endParaRPr lang="tr-TR" sz="1800"/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26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tr-TR" sz="1800" b="0" dirty="0">
                          <a:solidFill>
                            <a:srgbClr val="30343B"/>
                          </a:solidFill>
                          <a:latin typeface="Calibri"/>
                          <a:ea typeface="Calibri"/>
                          <a:cs typeface="Calibri"/>
                        </a:rPr>
                        <a:t>Ev 3</a:t>
                      </a:r>
                      <a:endParaRPr lang="tr-TR" sz="1800"/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tr-TR" sz="1800" b="0" dirty="0">
                          <a:solidFill>
                            <a:srgbClr val="30343B"/>
                          </a:solidFill>
                          <a:latin typeface="Calibri"/>
                          <a:ea typeface="Calibri"/>
                          <a:cs typeface="Calibri"/>
                        </a:rPr>
                        <a:t>12</a:t>
                      </a:r>
                      <a:endParaRPr lang="tr-TR" sz="1800"/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tr-TR" sz="1800" b="0" dirty="0">
                          <a:solidFill>
                            <a:srgbClr val="30343B"/>
                          </a:solidFill>
                          <a:latin typeface="Calibri"/>
                          <a:ea typeface="Calibri"/>
                          <a:cs typeface="Calibri"/>
                        </a:rPr>
                        <a:t>145</a:t>
                      </a:r>
                      <a:endParaRPr lang="tr-TR" sz="1800"/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tr-TR" sz="1800" b="0" dirty="0">
                          <a:solidFill>
                            <a:srgbClr val="30343B"/>
                          </a:solidFill>
                          <a:latin typeface="Calibri"/>
                          <a:ea typeface="Calibri"/>
                          <a:cs typeface="Calibri"/>
                        </a:rPr>
                        <a:t>4</a:t>
                      </a:r>
                      <a:endParaRPr lang="tr-TR" sz="1800"/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tr-TR" sz="1800" b="0" dirty="0">
                          <a:solidFill>
                            <a:srgbClr val="30343B"/>
                          </a:solidFill>
                          <a:latin typeface="Calibri"/>
                          <a:ea typeface="Calibri"/>
                          <a:cs typeface="Calibri"/>
                        </a:rPr>
                        <a:t>İstanbul</a:t>
                      </a:r>
                      <a:endParaRPr lang="tr-TR" sz="1800"/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tr-TR" sz="1800" b="0" dirty="0">
                          <a:solidFill>
                            <a:srgbClr val="30343B"/>
                          </a:solidFill>
                          <a:latin typeface="Calibri"/>
                          <a:ea typeface="Calibri"/>
                          <a:cs typeface="Calibri"/>
                        </a:rPr>
                        <a:t>3.100</a:t>
                      </a:r>
                      <a:endParaRPr lang="tr-TR" sz="1800"/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26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tr-TR" sz="1800" b="0" dirty="0">
                          <a:solidFill>
                            <a:srgbClr val="30343B"/>
                          </a:solidFill>
                          <a:latin typeface="Calibri"/>
                          <a:ea typeface="Calibri"/>
                          <a:cs typeface="Calibri"/>
                        </a:rPr>
                        <a:t>Ev 4</a:t>
                      </a:r>
                      <a:endParaRPr lang="tr-TR" sz="1800"/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tr-TR" sz="1800" b="0" dirty="0">
                          <a:solidFill>
                            <a:srgbClr val="30343B"/>
                          </a:solidFill>
                          <a:latin typeface="Calibri"/>
                          <a:ea typeface="Calibri"/>
                          <a:cs typeface="Calibri"/>
                        </a:rPr>
                        <a:t>8</a:t>
                      </a:r>
                      <a:endParaRPr lang="tr-TR" sz="1800"/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tr-TR" sz="1800" b="0" dirty="0">
                          <a:solidFill>
                            <a:srgbClr val="30343B"/>
                          </a:solidFill>
                          <a:latin typeface="Calibri"/>
                          <a:ea typeface="Calibri"/>
                          <a:cs typeface="Calibri"/>
                        </a:rPr>
                        <a:t>95</a:t>
                      </a:r>
                      <a:endParaRPr lang="tr-TR" sz="1800"/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tr-TR" sz="1800" b="0" dirty="0">
                          <a:solidFill>
                            <a:srgbClr val="30343B"/>
                          </a:solidFill>
                          <a:latin typeface="Calibri"/>
                          <a:ea typeface="Calibri"/>
                          <a:cs typeface="Calibri"/>
                        </a:rPr>
                        <a:t>2</a:t>
                      </a:r>
                      <a:endParaRPr lang="tr-TR" sz="1800"/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tr-TR" sz="1800" b="0" dirty="0">
                          <a:solidFill>
                            <a:srgbClr val="30343B"/>
                          </a:solidFill>
                          <a:latin typeface="Calibri"/>
                          <a:ea typeface="Calibri"/>
                          <a:cs typeface="Calibri"/>
                        </a:rPr>
                        <a:t>Kayseri</a:t>
                      </a:r>
                      <a:endParaRPr lang="tr-TR" sz="1800"/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tr-TR" sz="1800" b="0" dirty="0">
                          <a:solidFill>
                            <a:srgbClr val="30343B"/>
                          </a:solidFill>
                          <a:latin typeface="Calibri"/>
                          <a:ea typeface="Calibri"/>
                          <a:cs typeface="Calibri"/>
                        </a:rPr>
                        <a:t>1.650</a:t>
                      </a:r>
                      <a:endParaRPr lang="tr-TR" sz="1800"/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509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tr-TR" sz="1800" b="0" dirty="0">
                          <a:solidFill>
                            <a:srgbClr val="30343B"/>
                          </a:solidFill>
                          <a:latin typeface="Calibri"/>
                          <a:ea typeface="Calibri"/>
                          <a:cs typeface="Calibri"/>
                        </a:rPr>
                        <a:t>Ev 5</a:t>
                      </a:r>
                      <a:endParaRPr lang="tr-TR" sz="1800"/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tr-TR" sz="1800" b="0" dirty="0">
                          <a:solidFill>
                            <a:srgbClr val="30343B"/>
                          </a:solidFill>
                          <a:latin typeface="Calibri"/>
                          <a:ea typeface="Calibri"/>
                          <a:cs typeface="Calibri"/>
                        </a:rPr>
                        <a:t>40</a:t>
                      </a:r>
                      <a:endParaRPr lang="tr-TR" sz="1800"/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tr-TR" sz="1800" b="0" dirty="0">
                          <a:solidFill>
                            <a:srgbClr val="30343B"/>
                          </a:solidFill>
                          <a:latin typeface="Calibri"/>
                          <a:ea typeface="Calibri"/>
                          <a:cs typeface="Calibri"/>
                        </a:rPr>
                        <a:t>210</a:t>
                      </a:r>
                      <a:endParaRPr lang="tr-TR" sz="1800"/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tr-TR" sz="1800" b="0" dirty="0">
                          <a:solidFill>
                            <a:srgbClr val="30343B"/>
                          </a:solidFill>
                          <a:latin typeface="Calibri"/>
                          <a:ea typeface="Calibri"/>
                          <a:cs typeface="Calibri"/>
                        </a:rPr>
                        <a:t>5</a:t>
                      </a:r>
                      <a:endParaRPr lang="tr-TR" sz="1800"/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tr-TR" sz="1800" b="0" dirty="0">
                          <a:solidFill>
                            <a:srgbClr val="30343B"/>
                          </a:solidFill>
                          <a:latin typeface="Calibri"/>
                          <a:ea typeface="Calibri"/>
                          <a:cs typeface="Calibri"/>
                        </a:rPr>
                        <a:t>İstanbul</a:t>
                      </a:r>
                      <a:endParaRPr lang="tr-TR" sz="1800"/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tr-TR" sz="1800" b="1" dirty="0">
                          <a:solidFill>
                            <a:srgbClr val="B18D18"/>
                          </a:solidFill>
                          <a:latin typeface="Calibri"/>
                          <a:ea typeface="Calibri"/>
                          <a:cs typeface="Calibri"/>
                        </a:rPr>
                        <a:t>9.800 ?</a:t>
                      </a:r>
                      <a:endParaRPr lang="tr-TR" sz="1800" dirty="0"/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Text 1">
            <a:extLst>
              <a:ext uri="{FF2B5EF4-FFF2-40B4-BE49-F238E27FC236}">
                <a16:creationId xmlns:a16="http://schemas.microsoft.com/office/drawing/2014/main" id="{B829BDFF-C8C1-43EC-8EAA-34281C31DE6F}"/>
              </a:ext>
            </a:extLst>
          </p:cNvPr>
          <p:cNvSpPr/>
          <p:nvPr/>
        </p:nvSpPr>
        <p:spPr>
          <a:xfrm>
            <a:off x="477325" y="1174600"/>
            <a:ext cx="11049000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tr-TR" sz="2000" b="0" dirty="0">
                <a:solidFill>
                  <a:srgbClr val="30343B"/>
                </a:solidFill>
                <a:latin typeface="Calibri"/>
                <a:ea typeface="Calibri"/>
                <a:cs typeface="Calibri"/>
              </a:rPr>
              <a:t>Öğretim amaçlı örnek. </a:t>
            </a:r>
            <a:r>
              <a:rPr lang="tr-TR" sz="2000" b="1" dirty="0">
                <a:solidFill>
                  <a:srgbClr val="30343B"/>
                </a:solidFill>
                <a:latin typeface="Calibri"/>
                <a:ea typeface="Calibri"/>
                <a:cs typeface="Calibri"/>
              </a:rPr>
              <a:t>Girdiler</a:t>
            </a:r>
            <a:r>
              <a:rPr lang="tr-TR" sz="2000" b="0" dirty="0">
                <a:solidFill>
                  <a:srgbClr val="30343B"/>
                </a:solidFill>
                <a:latin typeface="Calibri"/>
                <a:ea typeface="Calibri"/>
                <a:cs typeface="Calibri"/>
              </a:rPr>
              <a:t>: yaş, alan, oda, şehir. </a:t>
            </a:r>
            <a:r>
              <a:rPr lang="tr-TR" sz="2000" b="1" dirty="0">
                <a:solidFill>
                  <a:srgbClr val="30343B"/>
                </a:solidFill>
                <a:latin typeface="Calibri"/>
                <a:ea typeface="Calibri"/>
                <a:cs typeface="Calibri"/>
              </a:rPr>
              <a:t>Hedef</a:t>
            </a:r>
            <a:r>
              <a:rPr lang="tr-TR" sz="2000" b="0" dirty="0">
                <a:solidFill>
                  <a:srgbClr val="30343B"/>
                </a:solidFill>
                <a:latin typeface="Calibri"/>
                <a:ea typeface="Calibri"/>
                <a:cs typeface="Calibri"/>
              </a:rPr>
              <a:t>: fiyat.</a:t>
            </a:r>
            <a:endParaRPr lang="tr-TR" sz="2000" dirty="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B52BAF89-D410-4599-96FE-0C6322BFFF40}"/>
              </a:ext>
            </a:extLst>
          </p:cNvPr>
          <p:cNvSpPr/>
          <p:nvPr/>
        </p:nvSpPr>
        <p:spPr>
          <a:xfrm>
            <a:off x="581025" y="5505450"/>
            <a:ext cx="10810875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33000"/>
              </a:lnSpc>
            </a:pPr>
            <a:r>
              <a:rPr lang="tr-TR" sz="2000" b="1" dirty="0">
                <a:solidFill>
                  <a:srgbClr val="596173"/>
                </a:solidFill>
                <a:latin typeface="Calibri"/>
                <a:ea typeface="Calibri"/>
                <a:cs typeface="Calibri"/>
              </a:rPr>
              <a:t>Ev 2: tahmin edilecek kayıt. Ev 5: yüksek fiyatın nedeni araştırılır. </a:t>
            </a:r>
            <a:endParaRPr lang="tr-TR" sz="2000" b="1" dirty="0"/>
          </a:p>
          <a:p>
            <a:pPr marL="0" indent="0" algn="l">
              <a:lnSpc>
                <a:spcPct val="133000"/>
              </a:lnSpc>
              <a:buNone/>
            </a:pPr>
            <a:endParaRPr lang="tr-TR" sz="2100" dirty="0"/>
          </a:p>
        </p:txBody>
      </p:sp>
    </p:spTree>
    <p:extLst>
      <p:ext uri="{BB962C8B-B14F-4D97-AF65-F5344CB8AC3E}">
        <p14:creationId xmlns:p14="http://schemas.microsoft.com/office/powerpoint/2010/main" val="17195244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0">
            <a:extLst>
              <a:ext uri="{FF2B5EF4-FFF2-40B4-BE49-F238E27FC236}">
                <a16:creationId xmlns:a16="http://schemas.microsoft.com/office/drawing/2014/main" id="{2AD7D920-2A19-4893-A62C-8792F16B9F22}"/>
              </a:ext>
            </a:extLst>
          </p:cNvPr>
          <p:cNvSpPr/>
          <p:nvPr/>
        </p:nvSpPr>
        <p:spPr>
          <a:xfrm>
            <a:off x="457200" y="285750"/>
            <a:ext cx="112395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tr-TR" sz="3200" b="1" dirty="0">
                <a:solidFill>
                  <a:srgbClr val="1E2A4E"/>
                </a:solidFill>
                <a:latin typeface="Calibri"/>
                <a:ea typeface="Calibri"/>
                <a:cs typeface="Calibri"/>
              </a:rPr>
              <a:t>Girdiler ve Hedef</a:t>
            </a:r>
            <a:endParaRPr lang="tr-TR" sz="3200" dirty="0"/>
          </a:p>
        </p:txBody>
      </p:sp>
      <p:sp>
        <p:nvSpPr>
          <p:cNvPr id="24" name="Text 1">
            <a:extLst>
              <a:ext uri="{FF2B5EF4-FFF2-40B4-BE49-F238E27FC236}">
                <a16:creationId xmlns:a16="http://schemas.microsoft.com/office/drawing/2014/main" id="{BF3CA160-CD83-4DFC-A739-8F732A4AF3AA}"/>
              </a:ext>
            </a:extLst>
          </p:cNvPr>
          <p:cNvSpPr/>
          <p:nvPr/>
        </p:nvSpPr>
        <p:spPr>
          <a:xfrm>
            <a:off x="484266" y="1102839"/>
            <a:ext cx="5207465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342900" indent="-342900" algn="l">
              <a:lnSpc>
                <a:spcPct val="104000"/>
              </a:lnSpc>
              <a:buFont typeface="Arial" panose="020B0604020202020204" pitchFamily="34" charset="0"/>
              <a:buChar char="•"/>
            </a:pPr>
            <a:r>
              <a:rPr lang="tr-TR" sz="2000" b="1" dirty="0">
                <a:solidFill>
                  <a:srgbClr val="30343B"/>
                </a:solidFill>
                <a:latin typeface="Calibri"/>
                <a:ea typeface="Calibri"/>
                <a:cs typeface="Calibri"/>
              </a:rPr>
              <a:t>Girdi (feature)</a:t>
            </a:r>
            <a:endParaRPr lang="tr-TR" sz="2000" dirty="0"/>
          </a:p>
        </p:txBody>
      </p:sp>
      <p:sp>
        <p:nvSpPr>
          <p:cNvPr id="25" name="Text 2">
            <a:extLst>
              <a:ext uri="{FF2B5EF4-FFF2-40B4-BE49-F238E27FC236}">
                <a16:creationId xmlns:a16="http://schemas.microsoft.com/office/drawing/2014/main" id="{A9119113-1A35-428D-A0C3-833ADF598A53}"/>
              </a:ext>
            </a:extLst>
          </p:cNvPr>
          <p:cNvSpPr/>
          <p:nvPr/>
        </p:nvSpPr>
        <p:spPr>
          <a:xfrm>
            <a:off x="816854" y="1559026"/>
            <a:ext cx="4275846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tr-TR" sz="2000" b="0" dirty="0">
                <a:solidFill>
                  <a:srgbClr val="30343B"/>
                </a:solidFill>
                <a:latin typeface="Calibri"/>
                <a:ea typeface="Calibri"/>
                <a:cs typeface="Calibri"/>
              </a:rPr>
              <a:t>Tahmin üretirken modele verilen bilgi.</a:t>
            </a:r>
            <a:endParaRPr lang="tr-TR" sz="2000" dirty="0"/>
          </a:p>
        </p:txBody>
      </p:sp>
      <p:sp>
        <p:nvSpPr>
          <p:cNvPr id="26" name="Text 3">
            <a:extLst>
              <a:ext uri="{FF2B5EF4-FFF2-40B4-BE49-F238E27FC236}">
                <a16:creationId xmlns:a16="http://schemas.microsoft.com/office/drawing/2014/main" id="{C6E1F757-DD1D-4461-888F-09600FE514C2}"/>
              </a:ext>
            </a:extLst>
          </p:cNvPr>
          <p:cNvSpPr/>
          <p:nvPr/>
        </p:nvSpPr>
        <p:spPr>
          <a:xfrm>
            <a:off x="512054" y="2414039"/>
            <a:ext cx="5207465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342900" indent="-342900" algn="l">
              <a:lnSpc>
                <a:spcPct val="104000"/>
              </a:lnSpc>
              <a:buFont typeface="Arial" panose="020B0604020202020204" pitchFamily="34" charset="0"/>
              <a:buChar char="•"/>
            </a:pPr>
            <a:r>
              <a:rPr lang="tr-TR" sz="2000" b="1" dirty="0">
                <a:solidFill>
                  <a:srgbClr val="30343B"/>
                </a:solidFill>
                <a:latin typeface="Calibri"/>
                <a:ea typeface="Calibri"/>
                <a:cs typeface="Calibri"/>
              </a:rPr>
              <a:t>Ev fiyatı tahmini</a:t>
            </a:r>
            <a:endParaRPr lang="tr-TR" sz="2000" dirty="0"/>
          </a:p>
        </p:txBody>
      </p:sp>
      <p:sp>
        <p:nvSpPr>
          <p:cNvPr id="27" name="Text 4">
            <a:extLst>
              <a:ext uri="{FF2B5EF4-FFF2-40B4-BE49-F238E27FC236}">
                <a16:creationId xmlns:a16="http://schemas.microsoft.com/office/drawing/2014/main" id="{56CC7ABA-351D-4077-9616-E5D202019699}"/>
              </a:ext>
            </a:extLst>
          </p:cNvPr>
          <p:cNvSpPr/>
          <p:nvPr/>
        </p:nvSpPr>
        <p:spPr>
          <a:xfrm>
            <a:off x="803180" y="2819725"/>
            <a:ext cx="5207465" cy="952500"/>
          </a:xfrm>
          <a:prstGeom prst="rect">
            <a:avLst/>
          </a:prstGeom>
          <a:noFill/>
          <a:ln/>
        </p:spPr>
        <p:txBody>
          <a:bodyPr wrap="square" lIns="0" tIns="74426" rIns="0" bIns="0" rtlCol="0" anchor="t">
            <a:noAutofit/>
          </a:bodyPr>
          <a:lstStyle/>
          <a:p>
            <a:pPr marL="0" indent="0" algn="l">
              <a:lnSpc>
                <a:spcPct val="132000"/>
              </a:lnSpc>
              <a:buSzPct val="100000"/>
            </a:pPr>
            <a:r>
              <a:rPr lang="tr-TR" sz="2200" b="0" dirty="0">
                <a:solidFill>
                  <a:srgbClr val="30343B"/>
                </a:solidFill>
                <a:latin typeface="Calibri"/>
                <a:ea typeface="Calibri"/>
                <a:cs typeface="Calibri"/>
              </a:rPr>
              <a:t>Girdiler: yaş, alan, oda, şehir</a:t>
            </a:r>
            <a:endParaRPr lang="tr-TR" sz="2200" dirty="0"/>
          </a:p>
          <a:p>
            <a:pPr marL="0" indent="0" algn="l">
              <a:lnSpc>
                <a:spcPct val="132000"/>
              </a:lnSpc>
              <a:buSzPct val="100000"/>
            </a:pPr>
            <a:r>
              <a:rPr lang="tr-TR" sz="2200" b="0" dirty="0">
                <a:solidFill>
                  <a:srgbClr val="30343B"/>
                </a:solidFill>
                <a:latin typeface="Calibri"/>
                <a:ea typeface="Calibri"/>
                <a:cs typeface="Calibri"/>
              </a:rPr>
              <a:t>Hedef: fiyat</a:t>
            </a:r>
            <a:endParaRPr lang="tr-TR" sz="2200" dirty="0"/>
          </a:p>
        </p:txBody>
      </p:sp>
      <p:sp>
        <p:nvSpPr>
          <p:cNvPr id="28" name="Text 5">
            <a:extLst>
              <a:ext uri="{FF2B5EF4-FFF2-40B4-BE49-F238E27FC236}">
                <a16:creationId xmlns:a16="http://schemas.microsoft.com/office/drawing/2014/main" id="{27AEA74B-16DD-40F5-B47B-7D2DA674504C}"/>
              </a:ext>
            </a:extLst>
          </p:cNvPr>
          <p:cNvSpPr/>
          <p:nvPr/>
        </p:nvSpPr>
        <p:spPr>
          <a:xfrm>
            <a:off x="484265" y="4194561"/>
            <a:ext cx="520746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342900" indent="-342900" algn="l">
              <a:lnSpc>
                <a:spcPct val="104000"/>
              </a:lnSpc>
              <a:buFont typeface="Arial" panose="020B0604020202020204" pitchFamily="34" charset="0"/>
              <a:buChar char="•"/>
            </a:pPr>
            <a:r>
              <a:rPr lang="tr-TR" sz="2000" b="1" dirty="0">
                <a:solidFill>
                  <a:srgbClr val="30343B"/>
                </a:solidFill>
                <a:latin typeface="Calibri"/>
                <a:ea typeface="Calibri"/>
                <a:cs typeface="Calibri"/>
              </a:rPr>
              <a:t>Kimlik: Ev ID</a:t>
            </a:r>
            <a:endParaRPr lang="tr-TR" sz="2000" dirty="0"/>
          </a:p>
        </p:txBody>
      </p:sp>
      <p:sp>
        <p:nvSpPr>
          <p:cNvPr id="29" name="Text 6">
            <a:extLst>
              <a:ext uri="{FF2B5EF4-FFF2-40B4-BE49-F238E27FC236}">
                <a16:creationId xmlns:a16="http://schemas.microsoft.com/office/drawing/2014/main" id="{491558C5-38D1-4716-8174-265BDEAFF2D1}"/>
              </a:ext>
            </a:extLst>
          </p:cNvPr>
          <p:cNvSpPr/>
          <p:nvPr/>
        </p:nvSpPr>
        <p:spPr>
          <a:xfrm>
            <a:off x="816854" y="4647704"/>
            <a:ext cx="58170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tr-TR" sz="2000" b="0" dirty="0">
                <a:solidFill>
                  <a:srgbClr val="30343B"/>
                </a:solidFill>
                <a:latin typeface="Calibri"/>
                <a:ea typeface="Calibri"/>
                <a:cs typeface="Calibri"/>
              </a:rPr>
              <a:t>Kayıt takibi için kullanılır.</a:t>
            </a:r>
            <a:endParaRPr lang="tr-TR" sz="2000" dirty="0"/>
          </a:p>
        </p:txBody>
      </p:sp>
      <p:sp>
        <p:nvSpPr>
          <p:cNvPr id="30" name="Text 7">
            <a:extLst>
              <a:ext uri="{FF2B5EF4-FFF2-40B4-BE49-F238E27FC236}">
                <a16:creationId xmlns:a16="http://schemas.microsoft.com/office/drawing/2014/main" id="{DDB74CA5-E667-42D4-AFA3-BADA18C481E6}"/>
              </a:ext>
            </a:extLst>
          </p:cNvPr>
          <p:cNvSpPr/>
          <p:nvPr/>
        </p:nvSpPr>
        <p:spPr>
          <a:xfrm>
            <a:off x="714528" y="5424450"/>
            <a:ext cx="6692547" cy="895350"/>
          </a:xfrm>
          <a:prstGeom prst="rect">
            <a:avLst/>
          </a:prstGeom>
          <a:noFill/>
          <a:ln/>
        </p:spPr>
        <p:txBody>
          <a:bodyPr wrap="square" lIns="0" tIns="74426" rIns="0" bIns="0" rtlCol="0" anchor="t">
            <a:noAutofit/>
          </a:bodyPr>
          <a:lstStyle/>
          <a:p>
            <a:pPr marL="0" indent="0">
              <a:lnSpc>
                <a:spcPct val="132000"/>
              </a:lnSpc>
              <a:buSzPct val="100000"/>
              <a:buFontTx/>
            </a:pPr>
            <a:r>
              <a:rPr lang="tr-TR" sz="2000" b="1" dirty="0">
                <a:solidFill>
                  <a:srgbClr val="596173"/>
                </a:solidFill>
                <a:latin typeface="Calibri"/>
                <a:ea typeface="Calibri"/>
                <a:cs typeface="Calibri"/>
              </a:rPr>
              <a:t>2’nin girdileri biliniyor. Gerçek fiyatı henüz </a:t>
            </a:r>
          </a:p>
          <a:p>
            <a:pPr marL="0" indent="0">
              <a:lnSpc>
                <a:spcPct val="132000"/>
              </a:lnSpc>
              <a:buSzPct val="100000"/>
              <a:buFontTx/>
            </a:pPr>
            <a:r>
              <a:rPr lang="tr-TR" sz="2000" b="1" dirty="0">
                <a:solidFill>
                  <a:srgbClr val="596173"/>
                </a:solidFill>
                <a:latin typeface="Calibri"/>
                <a:ea typeface="Calibri"/>
                <a:cs typeface="Calibri"/>
              </a:rPr>
              <a:t>bilinmiyor. </a:t>
            </a:r>
            <a:endParaRPr lang="tr-TR" sz="2000" b="1" dirty="0"/>
          </a:p>
          <a:p>
            <a:pPr marL="0" indent="0">
              <a:lnSpc>
                <a:spcPct val="132000"/>
              </a:lnSpc>
              <a:buSzPct val="100000"/>
              <a:buFontTx/>
            </a:pPr>
            <a:endParaRPr lang="tr-TR" sz="2100" dirty="0"/>
          </a:p>
        </p:txBody>
      </p:sp>
      <p:sp>
        <p:nvSpPr>
          <p:cNvPr id="31" name="Text 8">
            <a:extLst>
              <a:ext uri="{FF2B5EF4-FFF2-40B4-BE49-F238E27FC236}">
                <a16:creationId xmlns:a16="http://schemas.microsoft.com/office/drawing/2014/main" id="{65AD04B1-F4CC-4445-A3F3-FEEF49549EAF}"/>
              </a:ext>
            </a:extLst>
          </p:cNvPr>
          <p:cNvSpPr/>
          <p:nvPr/>
        </p:nvSpPr>
        <p:spPr>
          <a:xfrm>
            <a:off x="661475" y="5824500"/>
            <a:ext cx="5207465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2000"/>
              </a:lnSpc>
              <a:buNone/>
            </a:pPr>
            <a:endParaRPr lang="en-US" sz="2000" dirty="0"/>
          </a:p>
        </p:txBody>
      </p:sp>
      <p:grpSp>
        <p:nvGrpSpPr>
          <p:cNvPr id="45" name="Grup 44">
            <a:extLst>
              <a:ext uri="{FF2B5EF4-FFF2-40B4-BE49-F238E27FC236}">
                <a16:creationId xmlns:a16="http://schemas.microsoft.com/office/drawing/2014/main" id="{318BE36C-ECEF-4EB7-A4E2-8902C5D0FDA5}"/>
              </a:ext>
            </a:extLst>
          </p:cNvPr>
          <p:cNvGrpSpPr/>
          <p:nvPr/>
        </p:nvGrpSpPr>
        <p:grpSpPr>
          <a:xfrm>
            <a:off x="6301771" y="2191546"/>
            <a:ext cx="5817050" cy="2792657"/>
            <a:chOff x="6329105" y="1585119"/>
            <a:chExt cx="5907469" cy="2490986"/>
          </a:xfrm>
        </p:grpSpPr>
        <p:sp>
          <p:nvSpPr>
            <p:cNvPr id="32" name="Shape 9">
              <a:extLst>
                <a:ext uri="{FF2B5EF4-FFF2-40B4-BE49-F238E27FC236}">
                  <a16:creationId xmlns:a16="http://schemas.microsoft.com/office/drawing/2014/main" id="{6E07B94E-BF31-4B23-BFC7-A2E744CCD5A7}"/>
                </a:ext>
              </a:extLst>
            </p:cNvPr>
            <p:cNvSpPr/>
            <p:nvPr/>
          </p:nvSpPr>
          <p:spPr>
            <a:xfrm>
              <a:off x="6329105" y="1585119"/>
              <a:ext cx="2512156" cy="1153914"/>
            </a:xfrm>
            <a:prstGeom prst="roundRect">
              <a:avLst>
                <a:gd name="adj" fmla="val 6772"/>
              </a:avLst>
            </a:prstGeom>
            <a:solidFill>
              <a:srgbClr val="E1E1EA"/>
            </a:solidFill>
            <a:ln w="6350">
              <a:solidFill>
                <a:srgbClr val="C7C7D0"/>
              </a:solidFill>
              <a:prstDash val="solid"/>
            </a:ln>
          </p:spPr>
        </p:sp>
        <p:sp>
          <p:nvSpPr>
            <p:cNvPr id="33" name="Text 10">
              <a:extLst>
                <a:ext uri="{FF2B5EF4-FFF2-40B4-BE49-F238E27FC236}">
                  <a16:creationId xmlns:a16="http://schemas.microsoft.com/office/drawing/2014/main" id="{4B3156CD-6E45-44FB-AF3E-93977C38CD6B}"/>
                </a:ext>
              </a:extLst>
            </p:cNvPr>
            <p:cNvSpPr/>
            <p:nvPr/>
          </p:nvSpPr>
          <p:spPr>
            <a:xfrm>
              <a:off x="7241850" y="2010628"/>
              <a:ext cx="2127395" cy="290711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104000"/>
                </a:lnSpc>
                <a:buNone/>
              </a:pPr>
              <a:r>
                <a:rPr lang="en-US" sz="2000" dirty="0">
                  <a:solidFill>
                    <a:srgbClr val="3C3939"/>
                  </a:solidFill>
                  <a:ea typeface="Calibri" pitchFamily="34" charset="-122"/>
                  <a:cs typeface="Calibri" pitchFamily="34" charset="-120"/>
                </a:rPr>
                <a:t>Yaş</a:t>
              </a:r>
              <a:endParaRPr lang="en-US" sz="2000" dirty="0"/>
            </a:p>
          </p:txBody>
        </p:sp>
        <p:sp>
          <p:nvSpPr>
            <p:cNvPr id="35" name="Shape 12">
              <a:extLst>
                <a:ext uri="{FF2B5EF4-FFF2-40B4-BE49-F238E27FC236}">
                  <a16:creationId xmlns:a16="http://schemas.microsoft.com/office/drawing/2014/main" id="{FCB19AF6-D9CA-4477-8485-23151211975B}"/>
                </a:ext>
              </a:extLst>
            </p:cNvPr>
            <p:cNvSpPr/>
            <p:nvPr/>
          </p:nvSpPr>
          <p:spPr>
            <a:xfrm>
              <a:off x="9024414" y="1585119"/>
              <a:ext cx="2512156" cy="1153914"/>
            </a:xfrm>
            <a:prstGeom prst="roundRect">
              <a:avLst>
                <a:gd name="adj" fmla="val 6772"/>
              </a:avLst>
            </a:prstGeom>
            <a:solidFill>
              <a:srgbClr val="E1E1EA"/>
            </a:solidFill>
            <a:ln w="6350">
              <a:solidFill>
                <a:srgbClr val="C7C7D0"/>
              </a:solidFill>
              <a:prstDash val="solid"/>
            </a:ln>
          </p:spPr>
        </p:sp>
        <p:sp>
          <p:nvSpPr>
            <p:cNvPr id="36" name="Text 13">
              <a:extLst>
                <a:ext uri="{FF2B5EF4-FFF2-40B4-BE49-F238E27FC236}">
                  <a16:creationId xmlns:a16="http://schemas.microsoft.com/office/drawing/2014/main" id="{CE9888F4-0CF6-48EC-B26E-1613E971A1A1}"/>
                </a:ext>
              </a:extLst>
            </p:cNvPr>
            <p:cNvSpPr/>
            <p:nvPr/>
          </p:nvSpPr>
          <p:spPr>
            <a:xfrm>
              <a:off x="10109179" y="1956375"/>
              <a:ext cx="2127395" cy="290711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104000"/>
                </a:lnSpc>
                <a:buNone/>
              </a:pPr>
              <a:r>
                <a:rPr lang="en-US" sz="2000" dirty="0">
                  <a:solidFill>
                    <a:srgbClr val="3C3939"/>
                  </a:solidFill>
                  <a:ea typeface="Calibri" pitchFamily="34" charset="-122"/>
                  <a:cs typeface="Calibri" pitchFamily="34" charset="-120"/>
                </a:rPr>
                <a:t>m²</a:t>
              </a:r>
              <a:endParaRPr lang="en-US" sz="2000" dirty="0"/>
            </a:p>
          </p:txBody>
        </p:sp>
        <p:sp>
          <p:nvSpPr>
            <p:cNvPr id="38" name="Shape 15">
              <a:extLst>
                <a:ext uri="{FF2B5EF4-FFF2-40B4-BE49-F238E27FC236}">
                  <a16:creationId xmlns:a16="http://schemas.microsoft.com/office/drawing/2014/main" id="{4A033EEB-AF14-4BF0-AD0D-90BBAAB92FC2}"/>
                </a:ext>
              </a:extLst>
            </p:cNvPr>
            <p:cNvSpPr/>
            <p:nvPr/>
          </p:nvSpPr>
          <p:spPr>
            <a:xfrm>
              <a:off x="6329105" y="2849234"/>
              <a:ext cx="2512156" cy="1153914"/>
            </a:xfrm>
            <a:prstGeom prst="roundRect">
              <a:avLst>
                <a:gd name="adj" fmla="val 6772"/>
              </a:avLst>
            </a:prstGeom>
            <a:solidFill>
              <a:srgbClr val="E1E1EA"/>
            </a:solidFill>
            <a:ln w="6350">
              <a:solidFill>
                <a:srgbClr val="C7C7D0"/>
              </a:solidFill>
              <a:prstDash val="solid"/>
            </a:ln>
          </p:spPr>
        </p:sp>
        <p:sp>
          <p:nvSpPr>
            <p:cNvPr id="39" name="Text 16">
              <a:extLst>
                <a:ext uri="{FF2B5EF4-FFF2-40B4-BE49-F238E27FC236}">
                  <a16:creationId xmlns:a16="http://schemas.microsoft.com/office/drawing/2014/main" id="{46E2DEE6-A154-4056-9DDC-0011E30A61D7}"/>
                </a:ext>
              </a:extLst>
            </p:cNvPr>
            <p:cNvSpPr/>
            <p:nvPr/>
          </p:nvSpPr>
          <p:spPr>
            <a:xfrm>
              <a:off x="7011796" y="3305004"/>
              <a:ext cx="2127395" cy="290711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104000"/>
                </a:lnSpc>
                <a:buNone/>
              </a:pPr>
              <a:r>
                <a:rPr lang="en-US" sz="2000" dirty="0">
                  <a:solidFill>
                    <a:srgbClr val="3C3939"/>
                  </a:solidFill>
                  <a:ea typeface="Calibri" pitchFamily="34" charset="-122"/>
                  <a:cs typeface="Calibri" pitchFamily="34" charset="-120"/>
                </a:rPr>
                <a:t>Oda Sayısı</a:t>
              </a:r>
              <a:endParaRPr lang="en-US" sz="2000" dirty="0"/>
            </a:p>
          </p:txBody>
        </p:sp>
        <p:sp>
          <p:nvSpPr>
            <p:cNvPr id="41" name="Shape 18">
              <a:extLst>
                <a:ext uri="{FF2B5EF4-FFF2-40B4-BE49-F238E27FC236}">
                  <a16:creationId xmlns:a16="http://schemas.microsoft.com/office/drawing/2014/main" id="{B074779A-5DBB-474B-85EF-06F5A893D3F2}"/>
                </a:ext>
              </a:extLst>
            </p:cNvPr>
            <p:cNvSpPr/>
            <p:nvPr/>
          </p:nvSpPr>
          <p:spPr>
            <a:xfrm>
              <a:off x="9024414" y="2922191"/>
              <a:ext cx="2512156" cy="1153914"/>
            </a:xfrm>
            <a:prstGeom prst="roundRect">
              <a:avLst>
                <a:gd name="adj" fmla="val 6772"/>
              </a:avLst>
            </a:prstGeom>
            <a:solidFill>
              <a:srgbClr val="E1E1EA"/>
            </a:solidFill>
            <a:ln w="6350">
              <a:solidFill>
                <a:srgbClr val="C7C7D0"/>
              </a:solidFill>
              <a:prstDash val="solid"/>
            </a:ln>
          </p:spPr>
        </p:sp>
        <p:sp>
          <p:nvSpPr>
            <p:cNvPr id="42" name="Text 19">
              <a:extLst>
                <a:ext uri="{FF2B5EF4-FFF2-40B4-BE49-F238E27FC236}">
                  <a16:creationId xmlns:a16="http://schemas.microsoft.com/office/drawing/2014/main" id="{1D6F6684-ABC6-4306-84C3-D999AC6AF8D7}"/>
                </a:ext>
              </a:extLst>
            </p:cNvPr>
            <p:cNvSpPr/>
            <p:nvPr/>
          </p:nvSpPr>
          <p:spPr>
            <a:xfrm>
              <a:off x="10005035" y="3305004"/>
              <a:ext cx="2127395" cy="290711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104000"/>
                </a:lnSpc>
                <a:buNone/>
              </a:pPr>
              <a:r>
                <a:rPr lang="tr-TR" sz="2000" dirty="0">
                  <a:solidFill>
                    <a:srgbClr val="3C3939"/>
                  </a:solidFill>
                  <a:ea typeface="Calibri" pitchFamily="34" charset="-122"/>
                  <a:cs typeface="Calibri" pitchFamily="34" charset="-120"/>
                </a:rPr>
                <a:t>Şehir</a:t>
              </a:r>
              <a:endParaRPr lang="en-US" sz="2000" dirty="0"/>
            </a:p>
          </p:txBody>
        </p:sp>
      </p:grpSp>
      <p:sp>
        <p:nvSpPr>
          <p:cNvPr id="20" name="Rounded Rectangle 45">
            <a:extLst>
              <a:ext uri="{FF2B5EF4-FFF2-40B4-BE49-F238E27FC236}">
                <a16:creationId xmlns:a16="http://schemas.microsoft.com/office/drawing/2014/main" id="{E28F4186-F353-4123-A793-9B589063C233}"/>
              </a:ext>
            </a:extLst>
          </p:cNvPr>
          <p:cNvSpPr/>
          <p:nvPr/>
        </p:nvSpPr>
        <p:spPr>
          <a:xfrm>
            <a:off x="6323062" y="5257799"/>
            <a:ext cx="5154410" cy="765355"/>
          </a:xfrm>
          <a:prstGeom prst="roundRect">
            <a:avLst>
              <a:gd name="adj" fmla="val 6000"/>
            </a:avLst>
          </a:prstGeom>
          <a:solidFill>
            <a:srgbClr val="F4EFD9"/>
          </a:solidFill>
          <a:ln>
            <a:noFill/>
          </a:ln>
          <a:effectLst/>
        </p:spPr>
        <p:txBody>
          <a:bodyPr wrap="square" lIns="274320" rIns="274320" rtlCol="0" anchor="ctr"/>
          <a:lstStyle/>
          <a:p>
            <a:pPr algn="l"/>
            <a:r>
              <a:rPr sz="2000" b="1" dirty="0" err="1">
                <a:solidFill>
                  <a:srgbClr val="1E2A4E"/>
                </a:solidFill>
                <a:latin typeface="Calibri"/>
              </a:rPr>
              <a:t>Girdiler</a:t>
            </a:r>
            <a:r>
              <a:rPr sz="2000" b="1" dirty="0">
                <a:solidFill>
                  <a:srgbClr val="1E2A4E"/>
                </a:solidFill>
                <a:latin typeface="Calibri"/>
              </a:rPr>
              <a:t>  →  Model  →  </a:t>
            </a:r>
            <a:r>
              <a:rPr sz="2000" b="1" dirty="0" err="1">
                <a:solidFill>
                  <a:srgbClr val="1E2A4E"/>
                </a:solidFill>
                <a:latin typeface="Calibri"/>
              </a:rPr>
              <a:t>Hedef</a:t>
            </a:r>
            <a:r>
              <a:rPr sz="2000" b="1" dirty="0">
                <a:solidFill>
                  <a:srgbClr val="1E2A4E"/>
                </a:solidFill>
                <a:latin typeface="Calibri"/>
              </a:rPr>
              <a:t>: </a:t>
            </a:r>
            <a:r>
              <a:rPr sz="2000" b="1" dirty="0" err="1">
                <a:solidFill>
                  <a:srgbClr val="1E2A4E"/>
                </a:solidFill>
                <a:latin typeface="Calibri"/>
              </a:rPr>
              <a:t>fiyat</a:t>
            </a:r>
            <a:endParaRPr sz="2000" b="1" dirty="0">
              <a:solidFill>
                <a:srgbClr val="1E2A4E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7969430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CAE0EFB8-A2D4-483D-9E20-3D6CECA16EB2}"/>
              </a:ext>
            </a:extLst>
          </p:cNvPr>
          <p:cNvSpPr/>
          <p:nvPr/>
        </p:nvSpPr>
        <p:spPr>
          <a:xfrm>
            <a:off x="457200" y="285750"/>
            <a:ext cx="112395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tr-TR" sz="3200" b="1" dirty="0">
                <a:solidFill>
                  <a:srgbClr val="1E2A4E"/>
                </a:solidFill>
                <a:latin typeface="Calibri"/>
                <a:ea typeface="Calibri"/>
                <a:cs typeface="Calibri"/>
              </a:rPr>
              <a:t>Veri kalite kontrolü</a:t>
            </a:r>
            <a:endParaRPr lang="tr-TR" sz="3200"/>
          </a:p>
        </p:txBody>
      </p:sp>
      <p:pic>
        <p:nvPicPr>
          <p:cNvPr id="4" name="Image 1" descr="preencoded.png">
            <a:extLst>
              <a:ext uri="{FF2B5EF4-FFF2-40B4-BE49-F238E27FC236}">
                <a16:creationId xmlns:a16="http://schemas.microsoft.com/office/drawing/2014/main" id="{A06B8DE4-7D41-4BB1-B529-5B4C1C4B310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52655" y="1791494"/>
            <a:ext cx="3357082" cy="1517948"/>
          </a:xfrm>
          <a:prstGeom prst="rect">
            <a:avLst/>
          </a:prstGeom>
        </p:spPr>
      </p:pic>
      <p:sp>
        <p:nvSpPr>
          <p:cNvPr id="5" name="Text 1">
            <a:extLst>
              <a:ext uri="{FF2B5EF4-FFF2-40B4-BE49-F238E27FC236}">
                <a16:creationId xmlns:a16="http://schemas.microsoft.com/office/drawing/2014/main" id="{2E399397-5E21-48BA-AD95-9DF7E5AA4653}"/>
              </a:ext>
            </a:extLst>
          </p:cNvPr>
          <p:cNvSpPr/>
          <p:nvPr/>
        </p:nvSpPr>
        <p:spPr>
          <a:xfrm>
            <a:off x="5460079" y="1900436"/>
            <a:ext cx="2826671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tr-TR" sz="2000" b="1" dirty="0">
                <a:solidFill>
                  <a:srgbClr val="30343B"/>
                </a:solidFill>
                <a:latin typeface="Calibri"/>
                <a:ea typeface="Calibri"/>
                <a:cs typeface="Calibri"/>
              </a:rPr>
              <a:t>Yinelenen kayıt</a:t>
            </a:r>
            <a:endParaRPr lang="tr-TR" sz="2000" dirty="0"/>
          </a:p>
        </p:txBody>
      </p:sp>
      <p:sp>
        <p:nvSpPr>
          <p:cNvPr id="6" name="Text 2">
            <a:extLst>
              <a:ext uri="{FF2B5EF4-FFF2-40B4-BE49-F238E27FC236}">
                <a16:creationId xmlns:a16="http://schemas.microsoft.com/office/drawing/2014/main" id="{59C57846-0613-42A4-B011-93F649BA0CDB}"/>
              </a:ext>
            </a:extLst>
          </p:cNvPr>
          <p:cNvSpPr/>
          <p:nvPr/>
        </p:nvSpPr>
        <p:spPr>
          <a:xfrm>
            <a:off x="4968659" y="2319536"/>
            <a:ext cx="2826671" cy="7334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tr-TR" sz="2000" b="0" dirty="0">
                <a:solidFill>
                  <a:srgbClr val="30343B"/>
                </a:solidFill>
                <a:latin typeface="Calibri"/>
                <a:ea typeface="Calibri"/>
                <a:cs typeface="Calibri"/>
              </a:rPr>
              <a:t>Aynı konut iki kez</a:t>
            </a:r>
            <a:endParaRPr lang="tr-TR" sz="20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tr-TR" sz="2000" b="0" dirty="0">
                <a:solidFill>
                  <a:srgbClr val="30343B"/>
                </a:solidFill>
                <a:latin typeface="Calibri"/>
                <a:ea typeface="Calibri"/>
                <a:cs typeface="Calibri"/>
              </a:rPr>
              <a:t>kaydedilmiş mi?</a:t>
            </a:r>
            <a:endParaRPr lang="tr-TR" sz="2000" dirty="0"/>
          </a:p>
        </p:txBody>
      </p:sp>
      <p:pic>
        <p:nvPicPr>
          <p:cNvPr id="7" name="Image 2" descr="preencoded.png">
            <a:extLst>
              <a:ext uri="{FF2B5EF4-FFF2-40B4-BE49-F238E27FC236}">
                <a16:creationId xmlns:a16="http://schemas.microsoft.com/office/drawing/2014/main" id="{0F39E5E9-D9BE-40C8-A43C-35647C4FF5B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198744" y="1791494"/>
            <a:ext cx="3357181" cy="1517948"/>
          </a:xfrm>
          <a:prstGeom prst="rect">
            <a:avLst/>
          </a:prstGeom>
        </p:spPr>
      </p:pic>
      <p:sp>
        <p:nvSpPr>
          <p:cNvPr id="8" name="Text 3">
            <a:extLst>
              <a:ext uri="{FF2B5EF4-FFF2-40B4-BE49-F238E27FC236}">
                <a16:creationId xmlns:a16="http://schemas.microsoft.com/office/drawing/2014/main" id="{9CD52ED0-9E29-4AF8-A5F2-F21EC582EE54}"/>
              </a:ext>
            </a:extLst>
          </p:cNvPr>
          <p:cNvSpPr/>
          <p:nvPr/>
        </p:nvSpPr>
        <p:spPr>
          <a:xfrm>
            <a:off x="8817161" y="1916361"/>
            <a:ext cx="2826771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tr-TR" sz="2000" b="1" dirty="0">
                <a:solidFill>
                  <a:srgbClr val="30343B"/>
                </a:solidFill>
                <a:latin typeface="Calibri"/>
                <a:ea typeface="Calibri"/>
                <a:cs typeface="Calibri"/>
              </a:rPr>
              <a:t>Kategori tutarlılığı</a:t>
            </a:r>
            <a:endParaRPr lang="tr-TR" sz="2000" dirty="0"/>
          </a:p>
        </p:txBody>
      </p:sp>
      <p:sp>
        <p:nvSpPr>
          <p:cNvPr id="9" name="Text 4">
            <a:extLst>
              <a:ext uri="{FF2B5EF4-FFF2-40B4-BE49-F238E27FC236}">
                <a16:creationId xmlns:a16="http://schemas.microsoft.com/office/drawing/2014/main" id="{01509F5D-3CA4-4630-AE33-A1F7656D6466}"/>
              </a:ext>
            </a:extLst>
          </p:cNvPr>
          <p:cNvSpPr/>
          <p:nvPr/>
        </p:nvSpPr>
        <p:spPr>
          <a:xfrm>
            <a:off x="8514748" y="2381772"/>
            <a:ext cx="2826771" cy="7334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tr-TR" sz="2000" b="0" dirty="0">
                <a:solidFill>
                  <a:srgbClr val="30343B"/>
                </a:solidFill>
                <a:latin typeface="Calibri"/>
                <a:ea typeface="Calibri"/>
                <a:cs typeface="Calibri"/>
              </a:rPr>
              <a:t>Kayseri / kayseri:</a:t>
            </a:r>
            <a:endParaRPr lang="tr-TR" sz="20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tr-TR" sz="2000" b="0" dirty="0">
                <a:solidFill>
                  <a:srgbClr val="30343B"/>
                </a:solidFill>
                <a:latin typeface="Calibri"/>
                <a:ea typeface="Calibri"/>
                <a:cs typeface="Calibri"/>
              </a:rPr>
              <a:t>aynı kategori mi?</a:t>
            </a:r>
            <a:endParaRPr lang="tr-TR" sz="2000" dirty="0"/>
          </a:p>
        </p:txBody>
      </p:sp>
      <p:pic>
        <p:nvPicPr>
          <p:cNvPr id="10" name="Image 3" descr="preencoded.png">
            <a:extLst>
              <a:ext uri="{FF2B5EF4-FFF2-40B4-BE49-F238E27FC236}">
                <a16:creationId xmlns:a16="http://schemas.microsoft.com/office/drawing/2014/main" id="{E0DC68DB-7AD7-4245-B158-FA6A7209DD3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52655" y="3498453"/>
            <a:ext cx="3357082" cy="1517948"/>
          </a:xfrm>
          <a:prstGeom prst="rect">
            <a:avLst/>
          </a:prstGeom>
        </p:spPr>
      </p:pic>
      <p:sp>
        <p:nvSpPr>
          <p:cNvPr id="11" name="Text 5">
            <a:extLst>
              <a:ext uri="{FF2B5EF4-FFF2-40B4-BE49-F238E27FC236}">
                <a16:creationId xmlns:a16="http://schemas.microsoft.com/office/drawing/2014/main" id="{20DCEB44-21F1-4C64-B267-58F02C50872B}"/>
              </a:ext>
            </a:extLst>
          </p:cNvPr>
          <p:cNvSpPr/>
          <p:nvPr/>
        </p:nvSpPr>
        <p:spPr>
          <a:xfrm>
            <a:off x="5530075" y="3574455"/>
            <a:ext cx="2826671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tr-TR" sz="2000" b="1" dirty="0">
                <a:solidFill>
                  <a:srgbClr val="30343B"/>
                </a:solidFill>
                <a:latin typeface="Calibri"/>
                <a:ea typeface="Calibri"/>
                <a:cs typeface="Calibri"/>
              </a:rPr>
              <a:t>Birim kontrolü</a:t>
            </a:r>
            <a:endParaRPr lang="tr-TR" sz="2000" dirty="0"/>
          </a:p>
        </p:txBody>
      </p:sp>
      <p:sp>
        <p:nvSpPr>
          <p:cNvPr id="12" name="Text 6">
            <a:extLst>
              <a:ext uri="{FF2B5EF4-FFF2-40B4-BE49-F238E27FC236}">
                <a16:creationId xmlns:a16="http://schemas.microsoft.com/office/drawing/2014/main" id="{9AADAF43-C07F-4B20-8287-C44FB2352749}"/>
              </a:ext>
            </a:extLst>
          </p:cNvPr>
          <p:cNvSpPr/>
          <p:nvPr/>
        </p:nvSpPr>
        <p:spPr>
          <a:xfrm>
            <a:off x="4968659" y="4014143"/>
            <a:ext cx="2826671" cy="7334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tr-TR" sz="2000" b="0" dirty="0">
                <a:solidFill>
                  <a:srgbClr val="30343B"/>
                </a:solidFill>
                <a:latin typeface="Calibri"/>
                <a:ea typeface="Calibri"/>
                <a:cs typeface="Calibri"/>
              </a:rPr>
              <a:t>Fiyatlar TL mi, bin TL mi?</a:t>
            </a:r>
            <a:endParaRPr lang="tr-TR" sz="20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tr-TR" sz="2000" b="0" dirty="0">
                <a:solidFill>
                  <a:srgbClr val="30343B"/>
                </a:solidFill>
                <a:latin typeface="Calibri"/>
                <a:ea typeface="Calibri"/>
                <a:cs typeface="Calibri"/>
              </a:rPr>
              <a:t>Alan birimi m² mi?</a:t>
            </a:r>
            <a:endParaRPr lang="tr-TR" sz="2000" dirty="0"/>
          </a:p>
        </p:txBody>
      </p:sp>
      <p:pic>
        <p:nvPicPr>
          <p:cNvPr id="13" name="Image 4" descr="preencoded.png">
            <a:extLst>
              <a:ext uri="{FF2B5EF4-FFF2-40B4-BE49-F238E27FC236}">
                <a16:creationId xmlns:a16="http://schemas.microsoft.com/office/drawing/2014/main" id="{BD303807-5710-480F-AC58-9AB139B2813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198744" y="3498453"/>
            <a:ext cx="3357181" cy="1517948"/>
          </a:xfrm>
          <a:prstGeom prst="rect">
            <a:avLst/>
          </a:prstGeom>
        </p:spPr>
      </p:pic>
      <p:sp>
        <p:nvSpPr>
          <p:cNvPr id="14" name="Text 7">
            <a:extLst>
              <a:ext uri="{FF2B5EF4-FFF2-40B4-BE49-F238E27FC236}">
                <a16:creationId xmlns:a16="http://schemas.microsoft.com/office/drawing/2014/main" id="{B9335188-D693-46B4-BBC5-94E09DD30194}"/>
              </a:ext>
            </a:extLst>
          </p:cNvPr>
          <p:cNvSpPr/>
          <p:nvPr/>
        </p:nvSpPr>
        <p:spPr>
          <a:xfrm>
            <a:off x="9022748" y="3654376"/>
            <a:ext cx="2826771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tr-TR" sz="2000" b="1" dirty="0">
                <a:solidFill>
                  <a:srgbClr val="30343B"/>
                </a:solidFill>
                <a:latin typeface="Calibri"/>
                <a:ea typeface="Calibri"/>
                <a:cs typeface="Calibri"/>
              </a:rPr>
              <a:t>Geçerli aralık</a:t>
            </a:r>
            <a:endParaRPr lang="tr-TR" sz="2000" dirty="0"/>
          </a:p>
        </p:txBody>
      </p:sp>
      <p:sp>
        <p:nvSpPr>
          <p:cNvPr id="15" name="Text 8">
            <a:extLst>
              <a:ext uri="{FF2B5EF4-FFF2-40B4-BE49-F238E27FC236}">
                <a16:creationId xmlns:a16="http://schemas.microsoft.com/office/drawing/2014/main" id="{48467F0B-969D-4334-88E8-53E3981A28EE}"/>
              </a:ext>
            </a:extLst>
          </p:cNvPr>
          <p:cNvSpPr/>
          <p:nvPr/>
        </p:nvSpPr>
        <p:spPr>
          <a:xfrm>
            <a:off x="8514748" y="4014142"/>
            <a:ext cx="2826771" cy="7334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tr-TR" sz="2000" b="0" dirty="0">
                <a:solidFill>
                  <a:srgbClr val="30343B"/>
                </a:solidFill>
                <a:latin typeface="Calibri"/>
                <a:ea typeface="Calibri"/>
                <a:cs typeface="Calibri"/>
              </a:rPr>
              <a:t>Negatif alan veya</a:t>
            </a:r>
            <a:endParaRPr lang="tr-TR" sz="20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tr-TR" sz="2000" b="0" dirty="0">
                <a:solidFill>
                  <a:srgbClr val="30343B"/>
                </a:solidFill>
                <a:latin typeface="Calibri"/>
                <a:ea typeface="Calibri"/>
                <a:cs typeface="Calibri"/>
              </a:rPr>
              <a:t>0 oda neden var?</a:t>
            </a:r>
            <a:endParaRPr lang="tr-TR" sz="2000" dirty="0"/>
          </a:p>
        </p:txBody>
      </p:sp>
      <p:sp>
        <p:nvSpPr>
          <p:cNvPr id="16" name="Shape 9">
            <a:extLst>
              <a:ext uri="{FF2B5EF4-FFF2-40B4-BE49-F238E27FC236}">
                <a16:creationId xmlns:a16="http://schemas.microsoft.com/office/drawing/2014/main" id="{84FE51A9-3CF8-459A-9BDD-874EC5CDC829}"/>
              </a:ext>
            </a:extLst>
          </p:cNvPr>
          <p:cNvSpPr/>
          <p:nvPr/>
        </p:nvSpPr>
        <p:spPr>
          <a:xfrm>
            <a:off x="4633201" y="5216327"/>
            <a:ext cx="6903269" cy="736997"/>
          </a:xfrm>
          <a:prstGeom prst="roundRect">
            <a:avLst>
              <a:gd name="adj" fmla="val 10772"/>
            </a:avLst>
          </a:prstGeom>
          <a:solidFill>
            <a:srgbClr val="F5F2E3"/>
          </a:solidFill>
          <a:ln/>
        </p:spPr>
      </p:sp>
      <p:pic>
        <p:nvPicPr>
          <p:cNvPr id="17" name="Image 5" descr="preencoded.png">
            <a:extLst>
              <a:ext uri="{FF2B5EF4-FFF2-40B4-BE49-F238E27FC236}">
                <a16:creationId xmlns:a16="http://schemas.microsoft.com/office/drawing/2014/main" id="{B83C6431-007F-4419-AED8-05C3AAB4F88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22208" y="5503069"/>
            <a:ext cx="236234" cy="189012"/>
          </a:xfrm>
          <a:prstGeom prst="rect">
            <a:avLst/>
          </a:prstGeom>
        </p:spPr>
      </p:pic>
      <p:sp>
        <p:nvSpPr>
          <p:cNvPr id="18" name="Text 10">
            <a:extLst>
              <a:ext uri="{FF2B5EF4-FFF2-40B4-BE49-F238E27FC236}">
                <a16:creationId xmlns:a16="http://schemas.microsoft.com/office/drawing/2014/main" id="{310B0FEC-C46A-4C18-87EE-EE1B54654667}"/>
              </a:ext>
            </a:extLst>
          </p:cNvPr>
          <p:cNvSpPr/>
          <p:nvPr/>
        </p:nvSpPr>
        <p:spPr>
          <a:xfrm>
            <a:off x="5238750" y="5391150"/>
            <a:ext cx="609600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tr-TR" sz="2000" b="0" dirty="0">
                <a:solidFill>
                  <a:srgbClr val="30343B"/>
                </a:solidFill>
                <a:latin typeface="Calibri"/>
                <a:ea typeface="Calibri"/>
                <a:cs typeface="Calibri"/>
              </a:rPr>
              <a:t>Düzeltme kararını ve gerekçesini kaydet.</a:t>
            </a:r>
            <a:endParaRPr lang="tr-TR" sz="2000"/>
          </a:p>
        </p:txBody>
      </p:sp>
      <p:pic>
        <p:nvPicPr>
          <p:cNvPr id="19" name="Image 0" descr="preencoded.png">
            <a:extLst>
              <a:ext uri="{FF2B5EF4-FFF2-40B4-BE49-F238E27FC236}">
                <a16:creationId xmlns:a16="http://schemas.microsoft.com/office/drawing/2014/main" id="{87B9AFB6-A6B8-434B-B788-4145D1D257A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0726" y="1852664"/>
            <a:ext cx="2737689" cy="36504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06085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F15BAA85-7DA4-4E6A-915F-1445341C71A6}"/>
              </a:ext>
            </a:extLst>
          </p:cNvPr>
          <p:cNvSpPr/>
          <p:nvPr/>
        </p:nvSpPr>
        <p:spPr>
          <a:xfrm>
            <a:off x="457200" y="285750"/>
            <a:ext cx="112395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tr-TR" sz="3200" b="1" dirty="0">
                <a:solidFill>
                  <a:srgbClr val="1E2A4E"/>
                </a:solidFill>
                <a:latin typeface="Calibri"/>
                <a:ea typeface="Calibri"/>
                <a:cs typeface="Calibri"/>
              </a:rPr>
              <a:t>Eğitim, doğrulama ve test</a:t>
            </a:r>
            <a:endParaRPr lang="tr-TR" sz="320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DF810001-0122-46BC-883C-A0D39F62EF30}"/>
              </a:ext>
            </a:extLst>
          </p:cNvPr>
          <p:cNvSpPr/>
          <p:nvPr/>
        </p:nvSpPr>
        <p:spPr>
          <a:xfrm>
            <a:off x="406195" y="1066456"/>
            <a:ext cx="1086874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b="1" dirty="0">
                <a:solidFill>
                  <a:srgbClr val="1B1B27"/>
                </a:solidFill>
                <a:ea typeface="Calibri" pitchFamily="34" charset="-122"/>
                <a:cs typeface="Calibri" pitchFamily="34" charset="-120"/>
              </a:rPr>
              <a:t>Neden Bölüyoruz?</a:t>
            </a:r>
            <a:endParaRPr lang="en-US" sz="2400" b="1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F6AD37CA-2ABD-421E-8891-14201A732438}"/>
              </a:ext>
            </a:extLst>
          </p:cNvPr>
          <p:cNvSpPr/>
          <p:nvPr/>
        </p:nvSpPr>
        <p:spPr>
          <a:xfrm>
            <a:off x="356835" y="1621547"/>
            <a:ext cx="1147833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tr-TR" sz="2000" b="0" dirty="0">
                <a:solidFill>
                  <a:srgbClr val="30343B"/>
                </a:solidFill>
                <a:latin typeface="Calibri"/>
                <a:ea typeface="Calibri"/>
                <a:cs typeface="Calibri"/>
              </a:rPr>
              <a:t>Modelin yeni verilerdeki başarısını ayrı kayıtlarla değerlendiririz.</a:t>
            </a:r>
            <a:endParaRPr lang="tr-TR" sz="2000"/>
          </a:p>
        </p:txBody>
      </p:sp>
      <p:pic>
        <p:nvPicPr>
          <p:cNvPr id="5" name="Image 0" descr="preencoded.png">
            <a:extLst>
              <a:ext uri="{FF2B5EF4-FFF2-40B4-BE49-F238E27FC236}">
                <a16:creationId xmlns:a16="http://schemas.microsoft.com/office/drawing/2014/main" id="{C8317BBA-7EAC-488A-8A62-CA038F5C45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200" y="2904432"/>
            <a:ext cx="3622882" cy="756047"/>
          </a:xfrm>
          <a:prstGeom prst="rect">
            <a:avLst/>
          </a:prstGeom>
        </p:spPr>
      </p:pic>
      <p:sp>
        <p:nvSpPr>
          <p:cNvPr id="6" name="Text 3">
            <a:extLst>
              <a:ext uri="{FF2B5EF4-FFF2-40B4-BE49-F238E27FC236}">
                <a16:creationId xmlns:a16="http://schemas.microsoft.com/office/drawing/2014/main" id="{229C3A89-60FD-4254-85B5-0889F7258084}"/>
              </a:ext>
            </a:extLst>
          </p:cNvPr>
          <p:cNvSpPr/>
          <p:nvPr/>
        </p:nvSpPr>
        <p:spPr>
          <a:xfrm>
            <a:off x="693207" y="3849491"/>
            <a:ext cx="3244868" cy="447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tr-TR" sz="2100" b="1" dirty="0">
                <a:solidFill>
                  <a:srgbClr val="30343B"/>
                </a:solidFill>
                <a:latin typeface="Calibri"/>
                <a:ea typeface="Calibri"/>
                <a:cs typeface="Calibri"/>
              </a:rPr>
              <a:t>Eğitim: 70 kayıt</a:t>
            </a:r>
            <a:endParaRPr lang="tr-TR" sz="2100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FBD0EA21-36AF-42A3-9AC5-54B3CDD2CE35}"/>
              </a:ext>
            </a:extLst>
          </p:cNvPr>
          <p:cNvSpPr/>
          <p:nvPr/>
        </p:nvSpPr>
        <p:spPr>
          <a:xfrm>
            <a:off x="693207" y="4258173"/>
            <a:ext cx="3244868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tr-TR" sz="2000" b="0" dirty="0">
                <a:solidFill>
                  <a:srgbClr val="30343B"/>
                </a:solidFill>
                <a:latin typeface="Calibri"/>
                <a:ea typeface="Calibri"/>
                <a:cs typeface="Calibri"/>
              </a:rPr>
              <a:t>Modeli öğrenmek için</a:t>
            </a:r>
            <a:endParaRPr lang="tr-TR" sz="2000"/>
          </a:p>
        </p:txBody>
      </p:sp>
      <p:pic>
        <p:nvPicPr>
          <p:cNvPr id="8" name="Image 1" descr="preencoded.png">
            <a:extLst>
              <a:ext uri="{FF2B5EF4-FFF2-40B4-BE49-F238E27FC236}">
                <a16:creationId xmlns:a16="http://schemas.microsoft.com/office/drawing/2014/main" id="{0466AC6E-D22A-4B74-8123-7F4962D8685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27082" y="2904432"/>
            <a:ext cx="3622882" cy="756047"/>
          </a:xfrm>
          <a:prstGeom prst="rect">
            <a:avLst/>
          </a:prstGeom>
        </p:spPr>
      </p:pic>
      <p:sp>
        <p:nvSpPr>
          <p:cNvPr id="9" name="Text 5">
            <a:extLst>
              <a:ext uri="{FF2B5EF4-FFF2-40B4-BE49-F238E27FC236}">
                <a16:creationId xmlns:a16="http://schemas.microsoft.com/office/drawing/2014/main" id="{7E9E76AE-6867-4364-AF08-139B2E26E3A6}"/>
              </a:ext>
            </a:extLst>
          </p:cNvPr>
          <p:cNvSpPr/>
          <p:nvPr/>
        </p:nvSpPr>
        <p:spPr>
          <a:xfrm>
            <a:off x="4316089" y="3849491"/>
            <a:ext cx="3244868" cy="447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tr-TR" sz="2100" b="1" dirty="0">
                <a:solidFill>
                  <a:srgbClr val="30343B"/>
                </a:solidFill>
                <a:latin typeface="Calibri"/>
                <a:ea typeface="Calibri"/>
                <a:cs typeface="Calibri"/>
              </a:rPr>
              <a:t>Doğrulama: 15 kayıt</a:t>
            </a:r>
            <a:endParaRPr lang="tr-TR" sz="2100"/>
          </a:p>
        </p:txBody>
      </p:sp>
      <p:sp>
        <p:nvSpPr>
          <p:cNvPr id="10" name="Text 6">
            <a:extLst>
              <a:ext uri="{FF2B5EF4-FFF2-40B4-BE49-F238E27FC236}">
                <a16:creationId xmlns:a16="http://schemas.microsoft.com/office/drawing/2014/main" id="{E1147FA3-31C4-4926-B9A5-9F22BC9C1364}"/>
              </a:ext>
            </a:extLst>
          </p:cNvPr>
          <p:cNvSpPr/>
          <p:nvPr/>
        </p:nvSpPr>
        <p:spPr>
          <a:xfrm>
            <a:off x="4316089" y="4258173"/>
            <a:ext cx="3244868" cy="828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tr-TR" sz="2000" b="0" dirty="0">
                <a:solidFill>
                  <a:srgbClr val="30343B"/>
                </a:solidFill>
                <a:latin typeface="Calibri"/>
                <a:ea typeface="Calibri"/>
                <a:cs typeface="Calibri"/>
              </a:rPr>
              <a:t>Model ve ayar seçimi için</a:t>
            </a:r>
            <a:endParaRPr lang="tr-TR" sz="2000"/>
          </a:p>
        </p:txBody>
      </p:sp>
      <p:pic>
        <p:nvPicPr>
          <p:cNvPr id="11" name="Image 2" descr="preencoded.png">
            <a:extLst>
              <a:ext uri="{FF2B5EF4-FFF2-40B4-BE49-F238E27FC236}">
                <a16:creationId xmlns:a16="http://schemas.microsoft.com/office/drawing/2014/main" id="{D88AD38E-E9BA-4973-A843-50E6E53B2F6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49964" y="2904432"/>
            <a:ext cx="3622882" cy="756047"/>
          </a:xfrm>
          <a:prstGeom prst="rect">
            <a:avLst/>
          </a:prstGeom>
        </p:spPr>
      </p:pic>
      <p:sp>
        <p:nvSpPr>
          <p:cNvPr id="12" name="Text 7">
            <a:extLst>
              <a:ext uri="{FF2B5EF4-FFF2-40B4-BE49-F238E27FC236}">
                <a16:creationId xmlns:a16="http://schemas.microsoft.com/office/drawing/2014/main" id="{8FDCA79F-560F-45AD-9D08-8F7DACED249C}"/>
              </a:ext>
            </a:extLst>
          </p:cNvPr>
          <p:cNvSpPr/>
          <p:nvPr/>
        </p:nvSpPr>
        <p:spPr>
          <a:xfrm>
            <a:off x="7938971" y="3849491"/>
            <a:ext cx="3244868" cy="447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tr-TR" sz="2100" b="1" dirty="0">
                <a:solidFill>
                  <a:srgbClr val="30343B"/>
                </a:solidFill>
                <a:latin typeface="Calibri"/>
                <a:ea typeface="Calibri"/>
                <a:cs typeface="Calibri"/>
              </a:rPr>
              <a:t>Test: 15 kayıt</a:t>
            </a:r>
            <a:endParaRPr lang="tr-TR" sz="2100"/>
          </a:p>
        </p:txBody>
      </p:sp>
      <p:sp>
        <p:nvSpPr>
          <p:cNvPr id="13" name="Text 8">
            <a:extLst>
              <a:ext uri="{FF2B5EF4-FFF2-40B4-BE49-F238E27FC236}">
                <a16:creationId xmlns:a16="http://schemas.microsoft.com/office/drawing/2014/main" id="{15FF80F7-F8E4-43C9-87EF-A3156B94FE4F}"/>
              </a:ext>
            </a:extLst>
          </p:cNvPr>
          <p:cNvSpPr/>
          <p:nvPr/>
        </p:nvSpPr>
        <p:spPr>
          <a:xfrm>
            <a:off x="7938970" y="4258173"/>
            <a:ext cx="3496967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tr-TR" sz="2000" b="0" dirty="0">
                <a:solidFill>
                  <a:srgbClr val="30343B"/>
                </a:solidFill>
                <a:latin typeface="Calibri"/>
                <a:ea typeface="Calibri"/>
                <a:cs typeface="Calibri"/>
              </a:rPr>
              <a:t>Son değerlendirme için</a:t>
            </a:r>
            <a:endParaRPr lang="tr-TR" sz="2000"/>
          </a:p>
          <a:p>
            <a:pPr marL="0" indent="0" algn="l">
              <a:lnSpc>
                <a:spcPct val="133000"/>
              </a:lnSpc>
              <a:buNone/>
            </a:pPr>
            <a:r>
              <a:rPr lang="tr-TR" sz="2000" b="0" dirty="0">
                <a:solidFill>
                  <a:srgbClr val="30343B"/>
                </a:solidFill>
                <a:latin typeface="Calibri"/>
                <a:ea typeface="Calibri"/>
                <a:cs typeface="Calibri"/>
              </a:rPr>
              <a:t>karar sürecinden ayrı tutulur.</a:t>
            </a:r>
            <a:endParaRPr lang="tr-TR" sz="2000"/>
          </a:p>
        </p:txBody>
      </p:sp>
      <p:sp>
        <p:nvSpPr>
          <p:cNvPr id="14" name="Text 9">
            <a:extLst>
              <a:ext uri="{FF2B5EF4-FFF2-40B4-BE49-F238E27FC236}">
                <a16:creationId xmlns:a16="http://schemas.microsoft.com/office/drawing/2014/main" id="{528CB685-7E35-47CA-B3FB-EAE3F06F5878}"/>
              </a:ext>
            </a:extLst>
          </p:cNvPr>
          <p:cNvSpPr/>
          <p:nvPr/>
        </p:nvSpPr>
        <p:spPr>
          <a:xfrm>
            <a:off x="504200" y="5562600"/>
            <a:ext cx="10953750" cy="7524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tr-TR" sz="2100" b="0" dirty="0">
                <a:solidFill>
                  <a:srgbClr val="30343B"/>
                </a:solidFill>
                <a:latin typeface="Calibri"/>
                <a:ea typeface="Calibri"/>
                <a:cs typeface="Calibri"/>
              </a:rPr>
              <a:t>100 kayıt için örnek oran: %70 / %15 / %15. Sabit bir kural değildir.</a:t>
            </a:r>
            <a:endParaRPr lang="tr-TR" sz="2100"/>
          </a:p>
        </p:txBody>
      </p:sp>
    </p:spTree>
    <p:extLst>
      <p:ext uri="{BB962C8B-B14F-4D97-AF65-F5344CB8AC3E}">
        <p14:creationId xmlns:p14="http://schemas.microsoft.com/office/powerpoint/2010/main" val="423088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hape 8">
            <a:extLst>
              <a:ext uri="{FF2B5EF4-FFF2-40B4-BE49-F238E27FC236}">
                <a16:creationId xmlns:a16="http://schemas.microsoft.com/office/drawing/2014/main" id="{7EDCD8F9-642C-4564-801A-3F02E5A66C74}"/>
              </a:ext>
            </a:extLst>
          </p:cNvPr>
          <p:cNvSpPr/>
          <p:nvPr/>
        </p:nvSpPr>
        <p:spPr>
          <a:xfrm>
            <a:off x="518199" y="3093644"/>
            <a:ext cx="4939225" cy="2631097"/>
          </a:xfrm>
          <a:prstGeom prst="roundRect">
            <a:avLst>
              <a:gd name="adj" fmla="val 11338"/>
            </a:avLst>
          </a:prstGeom>
          <a:solidFill>
            <a:srgbClr val="F5F2E3"/>
          </a:solidFill>
          <a:ln/>
        </p:spPr>
      </p:sp>
      <p:sp>
        <p:nvSpPr>
          <p:cNvPr id="2" name="Text 0">
            <a:extLst>
              <a:ext uri="{FF2B5EF4-FFF2-40B4-BE49-F238E27FC236}">
                <a16:creationId xmlns:a16="http://schemas.microsoft.com/office/drawing/2014/main" id="{3EE81992-EE4E-485A-9C06-B07A4F111F5A}"/>
              </a:ext>
            </a:extLst>
          </p:cNvPr>
          <p:cNvSpPr/>
          <p:nvPr/>
        </p:nvSpPr>
        <p:spPr>
          <a:xfrm>
            <a:off x="457200" y="285750"/>
            <a:ext cx="112395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tr-TR" sz="3200" b="1" dirty="0">
                <a:solidFill>
                  <a:srgbClr val="1E2A4E"/>
                </a:solidFill>
                <a:latin typeface="Calibri"/>
                <a:ea typeface="Calibri"/>
                <a:cs typeface="Calibri"/>
              </a:rPr>
              <a:t>Veri sızıntısı</a:t>
            </a:r>
            <a:endParaRPr lang="tr-TR" sz="320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2677C44F-8464-4067-8653-2B0E0EFE74F1}"/>
              </a:ext>
            </a:extLst>
          </p:cNvPr>
          <p:cNvSpPr/>
          <p:nvPr/>
        </p:nvSpPr>
        <p:spPr>
          <a:xfrm>
            <a:off x="661475" y="1406426"/>
            <a:ext cx="2950295" cy="253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b="1" dirty="0">
                <a:solidFill>
                  <a:srgbClr val="1B1B27"/>
                </a:solidFill>
                <a:ea typeface="Calibri" pitchFamily="34" charset="-122"/>
                <a:cs typeface="Calibri" pitchFamily="34" charset="-120"/>
              </a:rPr>
              <a:t>Nedir?</a:t>
            </a:r>
            <a:endParaRPr lang="en-US" sz="2400" b="1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8A7975BC-1BE1-4021-84A9-3EBA3565D4C1}"/>
              </a:ext>
            </a:extLst>
          </p:cNvPr>
          <p:cNvSpPr/>
          <p:nvPr/>
        </p:nvSpPr>
        <p:spPr>
          <a:xfrm>
            <a:off x="661474" y="1799729"/>
            <a:ext cx="4939225" cy="10340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tr-TR" sz="2400" b="0" dirty="0">
                <a:solidFill>
                  <a:srgbClr val="30343B"/>
                </a:solidFill>
                <a:latin typeface="Calibri"/>
                <a:ea typeface="Calibri"/>
                <a:cs typeface="Calibri"/>
              </a:rPr>
              <a:t>Değerlendirmede ayrı kalması gereken</a:t>
            </a:r>
            <a:endParaRPr lang="tr-TR" sz="2400" dirty="0"/>
          </a:p>
          <a:p>
            <a:pPr marL="0" indent="0" algn="l">
              <a:lnSpc>
                <a:spcPct val="124000"/>
              </a:lnSpc>
              <a:buNone/>
            </a:pPr>
            <a:r>
              <a:rPr lang="tr-TR" sz="2400" b="0" dirty="0">
                <a:solidFill>
                  <a:srgbClr val="30343B"/>
                </a:solidFill>
                <a:latin typeface="Calibri"/>
                <a:ea typeface="Calibri"/>
                <a:cs typeface="Calibri"/>
              </a:rPr>
              <a:t>bilginin eğitime taşınmasıdır.</a:t>
            </a:r>
            <a:endParaRPr lang="tr-TR" sz="24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B7DB2716-78D3-4266-8F92-62C502596230}"/>
              </a:ext>
            </a:extLst>
          </p:cNvPr>
          <p:cNvSpPr/>
          <p:nvPr/>
        </p:nvSpPr>
        <p:spPr>
          <a:xfrm>
            <a:off x="661474" y="3225333"/>
            <a:ext cx="2950295" cy="253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b="1" dirty="0">
                <a:solidFill>
                  <a:srgbClr val="1B1B27"/>
                </a:solidFill>
                <a:ea typeface="Calibri" pitchFamily="34" charset="-122"/>
                <a:cs typeface="Calibri" pitchFamily="34" charset="-120"/>
              </a:rPr>
              <a:t>Kritik Örnek</a:t>
            </a:r>
            <a:endParaRPr lang="en-US" sz="2400" b="1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15712EDC-2FA9-4CFD-8846-7897330DE76F}"/>
              </a:ext>
            </a:extLst>
          </p:cNvPr>
          <p:cNvSpPr/>
          <p:nvPr/>
        </p:nvSpPr>
        <p:spPr>
          <a:xfrm>
            <a:off x="661474" y="3724274"/>
            <a:ext cx="4939226" cy="21558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tr-TR" sz="2000" b="0" dirty="0">
                <a:solidFill>
                  <a:srgbClr val="30343B"/>
                </a:solidFill>
                <a:ea typeface="Calibri"/>
                <a:cs typeface="Calibri"/>
              </a:rPr>
              <a:t>Medyan, min/max veya ortalama</a:t>
            </a:r>
            <a:endParaRPr lang="tr-TR" sz="2000" dirty="0"/>
          </a:p>
          <a:p>
            <a:pPr marL="0" indent="0" algn="l">
              <a:lnSpc>
                <a:spcPct val="124000"/>
              </a:lnSpc>
              <a:buNone/>
            </a:pPr>
            <a:r>
              <a:rPr lang="tr-TR" sz="2000" b="0" dirty="0">
                <a:solidFill>
                  <a:srgbClr val="30343B"/>
                </a:solidFill>
                <a:ea typeface="Calibri"/>
                <a:cs typeface="Calibri"/>
              </a:rPr>
              <a:t>tüm veriden hesaplanırsa test bilgisi</a:t>
            </a:r>
            <a:endParaRPr lang="tr-TR" sz="2000" dirty="0"/>
          </a:p>
          <a:p>
            <a:pPr marL="0" indent="0" algn="l">
              <a:lnSpc>
                <a:spcPct val="124000"/>
              </a:lnSpc>
              <a:buNone/>
            </a:pPr>
            <a:r>
              <a:rPr lang="tr-TR" sz="2000" b="0" dirty="0">
                <a:solidFill>
                  <a:srgbClr val="30343B"/>
                </a:solidFill>
                <a:ea typeface="Calibri"/>
                <a:cs typeface="Calibri"/>
              </a:rPr>
              <a:t>eğitim sürecine taşınabilir.</a:t>
            </a:r>
          </a:p>
          <a:p>
            <a:pPr>
              <a:lnSpc>
                <a:spcPct val="124000"/>
              </a:lnSpc>
            </a:pPr>
            <a:r>
              <a:rPr lang="tr-TR" sz="2000" b="1" dirty="0" err="1">
                <a:solidFill>
                  <a:srgbClr val="30343B"/>
                </a:solidFill>
              </a:rPr>
              <a:t>Örn</a:t>
            </a:r>
            <a:r>
              <a:rPr lang="tr-TR" sz="2000" b="1" dirty="0">
                <a:solidFill>
                  <a:srgbClr val="30343B"/>
                </a:solidFill>
              </a:rPr>
              <a:t>: </a:t>
            </a:r>
            <a:r>
              <a:rPr lang="tr-TR" sz="2000" dirty="0">
                <a:solidFill>
                  <a:srgbClr val="30343B"/>
                </a:solidFill>
              </a:rPr>
              <a:t>Ev 5’in alanı (210 m²) maksimumu belirlerse test bilgisi eğitime sızar.</a:t>
            </a:r>
          </a:p>
          <a:p>
            <a:pPr marL="0" indent="0" algn="l">
              <a:lnSpc>
                <a:spcPct val="124000"/>
              </a:lnSpc>
              <a:buNone/>
            </a:pPr>
            <a:endParaRPr lang="tr-TR" sz="21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FDFB01A1-F97D-4737-8D69-84888A376B45}"/>
              </a:ext>
            </a:extLst>
          </p:cNvPr>
          <p:cNvSpPr/>
          <p:nvPr/>
        </p:nvSpPr>
        <p:spPr>
          <a:xfrm>
            <a:off x="6534063" y="1389011"/>
            <a:ext cx="2950295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tr-TR" sz="2000" b="1" dirty="0">
                <a:solidFill>
                  <a:srgbClr val="30343B"/>
                </a:solidFill>
                <a:latin typeface="Calibri"/>
                <a:ea typeface="Calibri"/>
                <a:cs typeface="Calibri"/>
              </a:rPr>
              <a:t>Doğru uygulama</a:t>
            </a:r>
            <a:endParaRPr lang="tr-TR" sz="2000" dirty="0"/>
          </a:p>
        </p:txBody>
      </p:sp>
      <p:grpSp>
        <p:nvGrpSpPr>
          <p:cNvPr id="23" name="Grup 22">
            <a:extLst>
              <a:ext uri="{FF2B5EF4-FFF2-40B4-BE49-F238E27FC236}">
                <a16:creationId xmlns:a16="http://schemas.microsoft.com/office/drawing/2014/main" id="{2B332FDC-2D65-4F04-87B0-159583EB23C3}"/>
              </a:ext>
            </a:extLst>
          </p:cNvPr>
          <p:cNvGrpSpPr/>
          <p:nvPr/>
        </p:nvGrpSpPr>
        <p:grpSpPr>
          <a:xfrm>
            <a:off x="6481142" y="1994855"/>
            <a:ext cx="5192655" cy="2975520"/>
            <a:chOff x="6502408" y="1805204"/>
            <a:chExt cx="3140587" cy="2936106"/>
          </a:xfrm>
        </p:grpSpPr>
        <p:sp>
          <p:nvSpPr>
            <p:cNvPr id="8" name="Shape 6">
              <a:extLst>
                <a:ext uri="{FF2B5EF4-FFF2-40B4-BE49-F238E27FC236}">
                  <a16:creationId xmlns:a16="http://schemas.microsoft.com/office/drawing/2014/main" id="{3C184FED-504C-4ECD-8128-FA4312A56DFF}"/>
                </a:ext>
              </a:extLst>
            </p:cNvPr>
            <p:cNvSpPr/>
            <p:nvPr/>
          </p:nvSpPr>
          <p:spPr>
            <a:xfrm>
              <a:off x="6502408" y="1805204"/>
              <a:ext cx="365414" cy="365423"/>
            </a:xfrm>
            <a:prstGeom prst="roundRect">
              <a:avLst>
                <a:gd name="adj" fmla="val 18670"/>
              </a:avLst>
            </a:prstGeom>
            <a:solidFill>
              <a:srgbClr val="E1E1EA"/>
            </a:solidFill>
            <a:ln w="6350">
              <a:solidFill>
                <a:srgbClr val="C7C7D0"/>
              </a:solidFill>
              <a:prstDash val="solid"/>
            </a:ln>
          </p:spPr>
        </p:sp>
        <p:sp>
          <p:nvSpPr>
            <p:cNvPr id="9" name="Text 7">
              <a:extLst>
                <a:ext uri="{FF2B5EF4-FFF2-40B4-BE49-F238E27FC236}">
                  <a16:creationId xmlns:a16="http://schemas.microsoft.com/office/drawing/2014/main" id="{9DE4D7F5-061C-4CEB-ADE1-FA3998AF858E}"/>
                </a:ext>
              </a:extLst>
            </p:cNvPr>
            <p:cNvSpPr/>
            <p:nvPr/>
          </p:nvSpPr>
          <p:spPr>
            <a:xfrm>
              <a:off x="6563278" y="1835615"/>
              <a:ext cx="243576" cy="304502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ctr">
                <a:lnSpc>
                  <a:spcPct val="100000"/>
                </a:lnSpc>
                <a:buNone/>
              </a:pPr>
              <a:r>
                <a:rPr lang="en-US" sz="1600" dirty="0">
                  <a:solidFill>
                    <a:srgbClr val="3C3939"/>
                  </a:solidFill>
                  <a:ea typeface="Calibri" pitchFamily="34" charset="-122"/>
                  <a:cs typeface="Calibri" pitchFamily="34" charset="-120"/>
                </a:rPr>
                <a:t>1</a:t>
              </a:r>
              <a:endParaRPr lang="en-US" sz="1600" dirty="0"/>
            </a:p>
          </p:txBody>
        </p:sp>
        <p:sp>
          <p:nvSpPr>
            <p:cNvPr id="10" name="Text 8">
              <a:extLst>
                <a:ext uri="{FF2B5EF4-FFF2-40B4-BE49-F238E27FC236}">
                  <a16:creationId xmlns:a16="http://schemas.microsoft.com/office/drawing/2014/main" id="{BA753B7F-CED7-4459-ADC2-7F95E3E179DE}"/>
                </a:ext>
              </a:extLst>
            </p:cNvPr>
            <p:cNvSpPr/>
            <p:nvPr/>
          </p:nvSpPr>
          <p:spPr>
            <a:xfrm>
              <a:off x="7007320" y="1860965"/>
              <a:ext cx="2445383" cy="253802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104000"/>
                </a:lnSpc>
                <a:buNone/>
              </a:pPr>
              <a:r>
                <a:rPr lang="en-US" sz="2000" b="1" dirty="0">
                  <a:solidFill>
                    <a:srgbClr val="3C3939"/>
                  </a:solidFill>
                  <a:ea typeface="Calibri" pitchFamily="34" charset="-122"/>
                  <a:cs typeface="Calibri" pitchFamily="34" charset="-120"/>
                </a:rPr>
                <a:t>Veriyi böl</a:t>
              </a:r>
              <a:endParaRPr lang="en-US" sz="2000" b="1" dirty="0"/>
            </a:p>
          </p:txBody>
        </p:sp>
        <p:sp>
          <p:nvSpPr>
            <p:cNvPr id="11" name="Text 9">
              <a:extLst>
                <a:ext uri="{FF2B5EF4-FFF2-40B4-BE49-F238E27FC236}">
                  <a16:creationId xmlns:a16="http://schemas.microsoft.com/office/drawing/2014/main" id="{B2A6F161-5932-4110-BE8A-5CCC43D7FAF1}"/>
                </a:ext>
              </a:extLst>
            </p:cNvPr>
            <p:cNvSpPr/>
            <p:nvPr/>
          </p:nvSpPr>
          <p:spPr>
            <a:xfrm>
              <a:off x="7007319" y="2254268"/>
              <a:ext cx="2538208" cy="24159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Autofit/>
            </a:bodyPr>
            <a:lstStyle/>
            <a:p>
              <a:pPr marL="0" indent="0" algn="l">
                <a:lnSpc>
                  <a:spcPct val="124000"/>
                </a:lnSpc>
                <a:buNone/>
              </a:pPr>
              <a:r>
                <a:rPr lang="tr-TR" sz="2000" b="0" dirty="0">
                  <a:solidFill>
                    <a:srgbClr val="30343B"/>
                  </a:solidFill>
                  <a:latin typeface="Calibri"/>
                  <a:ea typeface="Calibri"/>
                  <a:cs typeface="Calibri"/>
                </a:rPr>
                <a:t>Önce eğitim / test olarak ayır</a:t>
              </a:r>
              <a:endParaRPr lang="tr-TR" sz="2000"/>
            </a:p>
          </p:txBody>
        </p:sp>
        <p:sp>
          <p:nvSpPr>
            <p:cNvPr id="12" name="Shape 10">
              <a:extLst>
                <a:ext uri="{FF2B5EF4-FFF2-40B4-BE49-F238E27FC236}">
                  <a16:creationId xmlns:a16="http://schemas.microsoft.com/office/drawing/2014/main" id="{3D6FF510-87B5-4747-8123-62310B49107E}"/>
                </a:ext>
              </a:extLst>
            </p:cNvPr>
            <p:cNvSpPr/>
            <p:nvPr/>
          </p:nvSpPr>
          <p:spPr>
            <a:xfrm>
              <a:off x="6502408" y="2774968"/>
              <a:ext cx="365414" cy="365423"/>
            </a:xfrm>
            <a:prstGeom prst="roundRect">
              <a:avLst>
                <a:gd name="adj" fmla="val 18670"/>
              </a:avLst>
            </a:prstGeom>
            <a:solidFill>
              <a:srgbClr val="E1E1EA"/>
            </a:solidFill>
            <a:ln w="6350">
              <a:solidFill>
                <a:srgbClr val="C7C7D0"/>
              </a:solidFill>
              <a:prstDash val="solid"/>
            </a:ln>
          </p:spPr>
        </p:sp>
        <p:sp>
          <p:nvSpPr>
            <p:cNvPr id="13" name="Text 11">
              <a:extLst>
                <a:ext uri="{FF2B5EF4-FFF2-40B4-BE49-F238E27FC236}">
                  <a16:creationId xmlns:a16="http://schemas.microsoft.com/office/drawing/2014/main" id="{A633A349-55EA-4C5D-8D8A-DF7FD65D3C57}"/>
                </a:ext>
              </a:extLst>
            </p:cNvPr>
            <p:cNvSpPr/>
            <p:nvPr/>
          </p:nvSpPr>
          <p:spPr>
            <a:xfrm>
              <a:off x="6563278" y="2805379"/>
              <a:ext cx="243576" cy="304502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ctr">
                <a:lnSpc>
                  <a:spcPct val="100000"/>
                </a:lnSpc>
                <a:buNone/>
              </a:pPr>
              <a:r>
                <a:rPr lang="en-US" sz="1600" dirty="0">
                  <a:solidFill>
                    <a:srgbClr val="3C3939"/>
                  </a:solidFill>
                  <a:ea typeface="Calibri" pitchFamily="34" charset="-122"/>
                  <a:cs typeface="Calibri" pitchFamily="34" charset="-120"/>
                </a:rPr>
                <a:t>2</a:t>
              </a:r>
              <a:endParaRPr lang="en-US" sz="1600" dirty="0"/>
            </a:p>
          </p:txBody>
        </p:sp>
        <p:sp>
          <p:nvSpPr>
            <p:cNvPr id="14" name="Text 12">
              <a:extLst>
                <a:ext uri="{FF2B5EF4-FFF2-40B4-BE49-F238E27FC236}">
                  <a16:creationId xmlns:a16="http://schemas.microsoft.com/office/drawing/2014/main" id="{D2AB9D07-BBDB-48D6-BF91-97475D413734}"/>
                </a:ext>
              </a:extLst>
            </p:cNvPr>
            <p:cNvSpPr/>
            <p:nvPr/>
          </p:nvSpPr>
          <p:spPr>
            <a:xfrm>
              <a:off x="7007320" y="2830729"/>
              <a:ext cx="2445383" cy="253802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104000"/>
                </a:lnSpc>
                <a:buNone/>
              </a:pPr>
              <a:r>
                <a:rPr lang="en-US" sz="2000" b="1" dirty="0">
                  <a:solidFill>
                    <a:srgbClr val="3C3939"/>
                  </a:solidFill>
                  <a:ea typeface="Calibri" pitchFamily="34" charset="-122"/>
                  <a:cs typeface="Calibri" pitchFamily="34" charset="-120"/>
                </a:rPr>
                <a:t>Parametreleri hesapla</a:t>
              </a:r>
              <a:endParaRPr lang="en-US" sz="2000" b="1" dirty="0"/>
            </a:p>
          </p:txBody>
        </p:sp>
        <p:sp>
          <p:nvSpPr>
            <p:cNvPr id="15" name="Text 13">
              <a:extLst>
                <a:ext uri="{FF2B5EF4-FFF2-40B4-BE49-F238E27FC236}">
                  <a16:creationId xmlns:a16="http://schemas.microsoft.com/office/drawing/2014/main" id="{CC8C9783-B5AF-4C75-8477-5000F3265CD3}"/>
                </a:ext>
              </a:extLst>
            </p:cNvPr>
            <p:cNvSpPr/>
            <p:nvPr/>
          </p:nvSpPr>
          <p:spPr>
            <a:xfrm>
              <a:off x="7007320" y="3224033"/>
              <a:ext cx="2635675" cy="5585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Autofit/>
            </a:bodyPr>
            <a:lstStyle/>
            <a:p>
              <a:pPr marL="0" indent="0" algn="l">
                <a:lnSpc>
                  <a:spcPct val="124000"/>
                </a:lnSpc>
                <a:buNone/>
              </a:pPr>
              <a:r>
                <a:rPr lang="tr-TR" sz="2000" b="0" dirty="0">
                  <a:solidFill>
                    <a:srgbClr val="30343B"/>
                  </a:solidFill>
                  <a:latin typeface="Calibri"/>
                  <a:ea typeface="Calibri"/>
                  <a:cs typeface="Calibri"/>
                </a:rPr>
                <a:t>Medyan, min/max, ortalama:</a:t>
              </a:r>
              <a:endParaRPr lang="tr-TR" sz="2000" dirty="0"/>
            </a:p>
            <a:p>
              <a:pPr marL="0" indent="0" algn="l">
                <a:lnSpc>
                  <a:spcPct val="124000"/>
                </a:lnSpc>
                <a:buNone/>
              </a:pPr>
              <a:r>
                <a:rPr lang="tr-TR" sz="2000" b="0" dirty="0">
                  <a:solidFill>
                    <a:srgbClr val="30343B"/>
                  </a:solidFill>
                  <a:latin typeface="Calibri"/>
                  <a:ea typeface="Calibri"/>
                  <a:cs typeface="Calibri"/>
                </a:rPr>
                <a:t>yalnızca eğitim verisinden</a:t>
              </a:r>
              <a:endParaRPr lang="tr-TR" sz="2000" dirty="0"/>
            </a:p>
          </p:txBody>
        </p:sp>
        <p:sp>
          <p:nvSpPr>
            <p:cNvPr id="16" name="Shape 14">
              <a:extLst>
                <a:ext uri="{FF2B5EF4-FFF2-40B4-BE49-F238E27FC236}">
                  <a16:creationId xmlns:a16="http://schemas.microsoft.com/office/drawing/2014/main" id="{75479088-995B-4D29-95A4-AA0E44D96344}"/>
                </a:ext>
              </a:extLst>
            </p:cNvPr>
            <p:cNvSpPr/>
            <p:nvPr/>
          </p:nvSpPr>
          <p:spPr>
            <a:xfrm>
              <a:off x="6502408" y="3986330"/>
              <a:ext cx="365414" cy="365423"/>
            </a:xfrm>
            <a:prstGeom prst="roundRect">
              <a:avLst>
                <a:gd name="adj" fmla="val 18670"/>
              </a:avLst>
            </a:prstGeom>
            <a:solidFill>
              <a:srgbClr val="E1E1EA"/>
            </a:solidFill>
            <a:ln w="6350">
              <a:solidFill>
                <a:srgbClr val="C7C7D0"/>
              </a:solidFill>
              <a:prstDash val="solid"/>
            </a:ln>
          </p:spPr>
        </p:sp>
        <p:sp>
          <p:nvSpPr>
            <p:cNvPr id="17" name="Text 15">
              <a:extLst>
                <a:ext uri="{FF2B5EF4-FFF2-40B4-BE49-F238E27FC236}">
                  <a16:creationId xmlns:a16="http://schemas.microsoft.com/office/drawing/2014/main" id="{3D06D171-7A9D-4B21-9C89-143EE1B87198}"/>
                </a:ext>
              </a:extLst>
            </p:cNvPr>
            <p:cNvSpPr/>
            <p:nvPr/>
          </p:nvSpPr>
          <p:spPr>
            <a:xfrm>
              <a:off x="6563278" y="4016741"/>
              <a:ext cx="243576" cy="304502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ctr">
                <a:lnSpc>
                  <a:spcPct val="100000"/>
                </a:lnSpc>
                <a:buNone/>
              </a:pPr>
              <a:r>
                <a:rPr lang="en-US" sz="1600" dirty="0">
                  <a:solidFill>
                    <a:srgbClr val="3C3939"/>
                  </a:solidFill>
                  <a:ea typeface="Calibri" pitchFamily="34" charset="-122"/>
                  <a:cs typeface="Calibri" pitchFamily="34" charset="-120"/>
                </a:rPr>
                <a:t>3</a:t>
              </a:r>
              <a:endParaRPr lang="en-US" sz="1600" dirty="0"/>
            </a:p>
          </p:txBody>
        </p:sp>
        <p:sp>
          <p:nvSpPr>
            <p:cNvPr id="18" name="Text 16">
              <a:extLst>
                <a:ext uri="{FF2B5EF4-FFF2-40B4-BE49-F238E27FC236}">
                  <a16:creationId xmlns:a16="http://schemas.microsoft.com/office/drawing/2014/main" id="{59B847A4-6FBC-4CEE-A5F0-0EAC8D42BA26}"/>
                </a:ext>
              </a:extLst>
            </p:cNvPr>
            <p:cNvSpPr/>
            <p:nvPr/>
          </p:nvSpPr>
          <p:spPr>
            <a:xfrm>
              <a:off x="7007320" y="4042091"/>
              <a:ext cx="2445383" cy="25380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Autofit/>
            </a:bodyPr>
            <a:lstStyle/>
            <a:p>
              <a:pPr marL="0" indent="0" algn="l">
                <a:lnSpc>
                  <a:spcPct val="104000"/>
                </a:lnSpc>
                <a:buNone/>
              </a:pPr>
              <a:r>
                <a:rPr lang="tr-TR" sz="2000" b="1" dirty="0">
                  <a:solidFill>
                    <a:srgbClr val="30343B"/>
                  </a:solidFill>
                  <a:latin typeface="Calibri"/>
                  <a:ea typeface="Calibri"/>
                  <a:cs typeface="Calibri"/>
                </a:rPr>
                <a:t>Diğer bölümlere uygula</a:t>
              </a:r>
              <a:endParaRPr lang="tr-TR" sz="2000" b="1" dirty="0"/>
            </a:p>
          </p:txBody>
        </p:sp>
        <p:sp>
          <p:nvSpPr>
            <p:cNvPr id="19" name="Text 17">
              <a:extLst>
                <a:ext uri="{FF2B5EF4-FFF2-40B4-BE49-F238E27FC236}">
                  <a16:creationId xmlns:a16="http://schemas.microsoft.com/office/drawing/2014/main" id="{0D5B896B-7633-4FAA-B34C-B2FE23F934DF}"/>
                </a:ext>
              </a:extLst>
            </p:cNvPr>
            <p:cNvSpPr/>
            <p:nvPr/>
          </p:nvSpPr>
          <p:spPr>
            <a:xfrm>
              <a:off x="7007320" y="4435394"/>
              <a:ext cx="2635675" cy="30591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Autofit/>
            </a:bodyPr>
            <a:lstStyle/>
            <a:p>
              <a:pPr marL="0" indent="0" algn="l">
                <a:lnSpc>
                  <a:spcPct val="124000"/>
                </a:lnSpc>
                <a:buNone/>
              </a:pPr>
              <a:r>
                <a:rPr lang="tr-TR" sz="2000" b="0" dirty="0">
                  <a:solidFill>
                    <a:srgbClr val="30343B"/>
                  </a:solidFill>
                  <a:latin typeface="Calibri"/>
                  <a:ea typeface="Calibri"/>
                  <a:cs typeface="Calibri"/>
                </a:rPr>
                <a:t>Aynı dönüşümü doğrulama</a:t>
              </a:r>
              <a:r>
                <a:rPr lang="tr-TR" sz="2000" dirty="0"/>
                <a:t> </a:t>
              </a:r>
              <a:r>
                <a:rPr lang="tr-TR" sz="2000" b="0" dirty="0">
                  <a:solidFill>
                    <a:srgbClr val="30343B"/>
                  </a:solidFill>
                  <a:latin typeface="Calibri"/>
                  <a:ea typeface="Calibri"/>
                  <a:cs typeface="Calibri"/>
                </a:rPr>
                <a:t>ve test verisine uygula</a:t>
              </a:r>
              <a:endParaRPr lang="tr-TR" sz="2000" dirty="0"/>
            </a:p>
          </p:txBody>
        </p:sp>
      </p:grpSp>
      <p:sp>
        <p:nvSpPr>
          <p:cNvPr id="20" name="Shape 18">
            <a:extLst>
              <a:ext uri="{FF2B5EF4-FFF2-40B4-BE49-F238E27FC236}">
                <a16:creationId xmlns:a16="http://schemas.microsoft.com/office/drawing/2014/main" id="{34B00A72-EC94-4984-BD76-43800E321746}"/>
              </a:ext>
            </a:extLst>
          </p:cNvPr>
          <p:cNvSpPr/>
          <p:nvPr/>
        </p:nvSpPr>
        <p:spPr>
          <a:xfrm>
            <a:off x="6563277" y="5490595"/>
            <a:ext cx="4892123" cy="781051"/>
          </a:xfrm>
          <a:prstGeom prst="roundRect">
            <a:avLst>
              <a:gd name="adj" fmla="val 6453"/>
            </a:avLst>
          </a:prstGeom>
          <a:solidFill>
            <a:srgbClr val="E1E1EA">
              <a:alpha val="45000"/>
            </a:srgbClr>
          </a:solidFill>
          <a:ln/>
        </p:spPr>
        <p:txBody>
          <a:bodyPr/>
          <a:lstStyle/>
          <a:p>
            <a:endParaRPr lang="tr-TR" dirty="0"/>
          </a:p>
        </p:txBody>
      </p:sp>
      <p:pic>
        <p:nvPicPr>
          <p:cNvPr id="21" name="Image 1" descr="preencoded.png">
            <a:extLst>
              <a:ext uri="{FF2B5EF4-FFF2-40B4-BE49-F238E27FC236}">
                <a16:creationId xmlns:a16="http://schemas.microsoft.com/office/drawing/2014/main" id="{7DAC065E-FC62-44D8-AB46-17C29235F0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6896" y="5562320"/>
            <a:ext cx="202996" cy="162421"/>
          </a:xfrm>
          <a:prstGeom prst="rect">
            <a:avLst/>
          </a:prstGeom>
        </p:spPr>
      </p:pic>
      <p:sp>
        <p:nvSpPr>
          <p:cNvPr id="22" name="Text 19">
            <a:extLst>
              <a:ext uri="{FF2B5EF4-FFF2-40B4-BE49-F238E27FC236}">
                <a16:creationId xmlns:a16="http://schemas.microsoft.com/office/drawing/2014/main" id="{71F80D27-8583-4A48-8CA4-7CADB0DD163A}"/>
              </a:ext>
            </a:extLst>
          </p:cNvPr>
          <p:cNvSpPr/>
          <p:nvPr/>
        </p:nvSpPr>
        <p:spPr>
          <a:xfrm>
            <a:off x="7037328" y="5490596"/>
            <a:ext cx="4240272" cy="781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tr-TR" sz="2000" b="0" dirty="0">
                <a:solidFill>
                  <a:srgbClr val="30343B"/>
                </a:solidFill>
                <a:latin typeface="Calibri"/>
                <a:ea typeface="Calibri"/>
                <a:cs typeface="Calibri"/>
              </a:rPr>
              <a:t>Eğitimde fit_transform</a:t>
            </a:r>
            <a:endParaRPr lang="tr-TR" sz="2000" dirty="0"/>
          </a:p>
          <a:p>
            <a:pPr marL="0" indent="0" algn="l">
              <a:lnSpc>
                <a:spcPct val="124000"/>
              </a:lnSpc>
              <a:buNone/>
            </a:pPr>
            <a:r>
              <a:rPr lang="tr-TR" sz="2000" b="0" dirty="0">
                <a:solidFill>
                  <a:srgbClr val="30343B"/>
                </a:solidFill>
                <a:latin typeface="Calibri"/>
                <a:ea typeface="Calibri"/>
                <a:cs typeface="Calibri"/>
              </a:rPr>
              <a:t>Testte yalnızca transform</a:t>
            </a:r>
            <a:endParaRPr lang="tr-TR" sz="2000" dirty="0"/>
          </a:p>
        </p:txBody>
      </p:sp>
    </p:spTree>
    <p:extLst>
      <p:ext uri="{BB962C8B-B14F-4D97-AF65-F5344CB8AC3E}">
        <p14:creationId xmlns:p14="http://schemas.microsoft.com/office/powerpoint/2010/main" val="31449510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EF">
            <a:alpha val="95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4F8D7182-821C-4171-B1FE-18D5FF9C62DA}"/>
              </a:ext>
            </a:extLst>
          </p:cNvPr>
          <p:cNvSpPr/>
          <p:nvPr/>
        </p:nvSpPr>
        <p:spPr>
          <a:xfrm>
            <a:off x="457200" y="285750"/>
            <a:ext cx="112395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tr-TR" sz="3200" b="1" dirty="0">
                <a:solidFill>
                  <a:srgbClr val="1E2A4E"/>
                </a:solidFill>
                <a:latin typeface="Calibri"/>
                <a:ea typeface="Calibri"/>
                <a:cs typeface="Calibri"/>
              </a:rPr>
              <a:t>Veri türleri: Metin mi, sayı mı?</a:t>
            </a:r>
            <a:endParaRPr lang="tr-TR" sz="3200"/>
          </a:p>
        </p:txBody>
      </p:sp>
      <p:pic>
        <p:nvPicPr>
          <p:cNvPr id="3" name="Image 0" descr="preencoded.png">
            <a:extLst>
              <a:ext uri="{FF2B5EF4-FFF2-40B4-BE49-F238E27FC236}">
                <a16:creationId xmlns:a16="http://schemas.microsoft.com/office/drawing/2014/main" id="{F5822768-952C-473A-8EDA-72649C642C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2102445"/>
            <a:ext cx="3509081" cy="3509169"/>
          </a:xfrm>
          <a:prstGeom prst="rect">
            <a:avLst/>
          </a:prstGeom>
        </p:spPr>
      </p:pic>
      <p:sp>
        <p:nvSpPr>
          <p:cNvPr id="4" name="Text 1">
            <a:extLst>
              <a:ext uri="{FF2B5EF4-FFF2-40B4-BE49-F238E27FC236}">
                <a16:creationId xmlns:a16="http://schemas.microsoft.com/office/drawing/2014/main" id="{A96EA568-6938-44DE-BBFC-9183F500062D}"/>
              </a:ext>
            </a:extLst>
          </p:cNvPr>
          <p:cNvSpPr/>
          <p:nvPr/>
        </p:nvSpPr>
        <p:spPr>
          <a:xfrm>
            <a:off x="4491021" y="1273123"/>
            <a:ext cx="7023862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tr-TR" sz="2000" b="1" dirty="0">
                <a:solidFill>
                  <a:srgbClr val="30343B"/>
                </a:solidFill>
                <a:latin typeface="Calibri"/>
                <a:ea typeface="Calibri"/>
                <a:cs typeface="Calibri"/>
              </a:rPr>
              <a:t>Aynı görünüm, farklı veri türü</a:t>
            </a:r>
            <a:endParaRPr lang="tr-TR" sz="200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BAC746C5-455E-427F-87C3-5AA2A1AF4A5E}"/>
              </a:ext>
            </a:extLst>
          </p:cNvPr>
          <p:cNvSpPr/>
          <p:nvPr/>
        </p:nvSpPr>
        <p:spPr>
          <a:xfrm>
            <a:off x="4491021" y="1762125"/>
            <a:ext cx="7507691" cy="1285875"/>
          </a:xfrm>
          <a:prstGeom prst="rect">
            <a:avLst/>
          </a:prstGeom>
          <a:noFill/>
          <a:ln/>
        </p:spPr>
        <p:txBody>
          <a:bodyPr wrap="square" lIns="0" tIns="74426" rIns="0" bIns="0" rtlCol="0" anchor="t">
            <a:noAutofit/>
          </a:bodyPr>
          <a:lstStyle/>
          <a:p>
            <a:pPr marL="0" indent="0" algn="l">
              <a:lnSpc>
                <a:spcPct val="132000"/>
              </a:lnSpc>
              <a:buSzPct val="100000"/>
            </a:pPr>
            <a:r>
              <a:rPr lang="tr-TR" sz="2800" b="0" dirty="0">
                <a:solidFill>
                  <a:srgbClr val="30343B"/>
                </a:solidFill>
                <a:latin typeface="Calibri"/>
                <a:ea typeface="Calibri"/>
                <a:cs typeface="Calibri"/>
              </a:rPr>
              <a:t>"3" : metin</a:t>
            </a:r>
            <a:endParaRPr lang="tr-TR" sz="2800"/>
          </a:p>
          <a:p>
            <a:pPr marL="0" indent="0" algn="l">
              <a:lnSpc>
                <a:spcPct val="132000"/>
              </a:lnSpc>
              <a:buSzPct val="100000"/>
            </a:pPr>
            <a:r>
              <a:rPr lang="tr-TR" sz="2800" b="0" dirty="0">
                <a:solidFill>
                  <a:srgbClr val="30343B"/>
                </a:solidFill>
                <a:latin typeface="Calibri"/>
                <a:ea typeface="Calibri"/>
                <a:cs typeface="Calibri"/>
              </a:rPr>
              <a:t>3 : sayı</a:t>
            </a:r>
            <a:endParaRPr lang="tr-TR" sz="280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3389A325-E130-4567-AE92-AF0431B957D3}"/>
              </a:ext>
            </a:extLst>
          </p:cNvPr>
          <p:cNvSpPr/>
          <p:nvPr/>
        </p:nvSpPr>
        <p:spPr>
          <a:xfrm>
            <a:off x="4548135" y="3181350"/>
            <a:ext cx="7023862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tr-TR" sz="2000" b="1" dirty="0">
                <a:solidFill>
                  <a:srgbClr val="30343B"/>
                </a:solidFill>
                <a:latin typeface="Calibri"/>
                <a:ea typeface="Calibri"/>
                <a:cs typeface="Calibri"/>
              </a:rPr>
              <a:t>Kontrol</a:t>
            </a:r>
            <a:endParaRPr lang="tr-TR" sz="200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A97C9830-6318-4953-B8A5-63B0860BCE1E}"/>
              </a:ext>
            </a:extLst>
          </p:cNvPr>
          <p:cNvSpPr/>
          <p:nvPr/>
        </p:nvSpPr>
        <p:spPr>
          <a:xfrm>
            <a:off x="4548135" y="4295775"/>
            <a:ext cx="7023862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tr-TR" sz="2000" b="1" dirty="0">
                <a:solidFill>
                  <a:srgbClr val="30343B"/>
                </a:solidFill>
                <a:latin typeface="Calibri"/>
                <a:ea typeface="Calibri"/>
                <a:cs typeface="Calibri"/>
              </a:rPr>
              <a:t>Dönüştürme</a:t>
            </a:r>
            <a:endParaRPr lang="tr-TR" sz="2000"/>
          </a:p>
        </p:txBody>
      </p:sp>
      <p:grpSp>
        <p:nvGrpSpPr>
          <p:cNvPr id="11" name="Grup 10">
            <a:extLst>
              <a:ext uri="{FF2B5EF4-FFF2-40B4-BE49-F238E27FC236}">
                <a16:creationId xmlns:a16="http://schemas.microsoft.com/office/drawing/2014/main" id="{9885E295-5FB8-45AF-839B-CE15301E206E}"/>
              </a:ext>
            </a:extLst>
          </p:cNvPr>
          <p:cNvGrpSpPr/>
          <p:nvPr/>
        </p:nvGrpSpPr>
        <p:grpSpPr>
          <a:xfrm>
            <a:off x="4548136" y="5282023"/>
            <a:ext cx="7023862" cy="1328327"/>
            <a:chOff x="4630721" y="5164336"/>
            <a:chExt cx="6905849" cy="1261864"/>
          </a:xfrm>
          <a:solidFill>
            <a:srgbClr val="E1E1EA">
              <a:alpha val="45000"/>
            </a:srgbClr>
          </a:solidFill>
        </p:grpSpPr>
        <p:sp>
          <p:nvSpPr>
            <p:cNvPr id="8" name="Shape 7">
              <a:extLst>
                <a:ext uri="{FF2B5EF4-FFF2-40B4-BE49-F238E27FC236}">
                  <a16:creationId xmlns:a16="http://schemas.microsoft.com/office/drawing/2014/main" id="{B7C2DF6A-99CB-4B3B-9E29-F8187B5D450A}"/>
                </a:ext>
              </a:extLst>
            </p:cNvPr>
            <p:cNvSpPr/>
            <p:nvPr/>
          </p:nvSpPr>
          <p:spPr>
            <a:xfrm>
              <a:off x="4630721" y="5164336"/>
              <a:ext cx="6905849" cy="1261864"/>
            </a:xfrm>
            <a:prstGeom prst="roundRect">
              <a:avLst>
                <a:gd name="adj" fmla="val 8078"/>
              </a:avLst>
            </a:prstGeom>
            <a:solidFill>
              <a:srgbClr val="E1E1EA">
                <a:alpha val="45000"/>
              </a:srgbClr>
            </a:solidFill>
            <a:ln/>
          </p:spPr>
          <p:txBody>
            <a:bodyPr/>
            <a:lstStyle/>
            <a:p>
              <a:endParaRPr lang="tr-TR" dirty="0"/>
            </a:p>
          </p:txBody>
        </p:sp>
        <p:sp>
          <p:nvSpPr>
            <p:cNvPr id="9" name="Text 8">
              <a:extLst>
                <a:ext uri="{FF2B5EF4-FFF2-40B4-BE49-F238E27FC236}">
                  <a16:creationId xmlns:a16="http://schemas.microsoft.com/office/drawing/2014/main" id="{AC8E15DF-36B5-4567-A843-8F1637B3ED8E}"/>
                </a:ext>
              </a:extLst>
            </p:cNvPr>
            <p:cNvSpPr/>
            <p:nvPr/>
          </p:nvSpPr>
          <p:spPr>
            <a:xfrm>
              <a:off x="4853957" y="5350371"/>
              <a:ext cx="6459376" cy="59531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Autofit/>
            </a:bodyPr>
            <a:lstStyle/>
            <a:p>
              <a:pPr marL="0" indent="0" algn="l">
                <a:lnSpc>
                  <a:spcPct val="133000"/>
                </a:lnSpc>
                <a:buNone/>
              </a:pPr>
              <a:r>
                <a:rPr lang="tr-TR" sz="1800" b="0" dirty="0">
                  <a:solidFill>
                    <a:srgbClr val="30343B"/>
                  </a:solidFill>
                  <a:latin typeface="Consolas"/>
                  <a:ea typeface="Consolas"/>
                  <a:cs typeface="Consolas"/>
                </a:rPr>
                <a:t>df.dtypes</a:t>
              </a:r>
              <a:endParaRPr lang="tr-TR" sz="1800"/>
            </a:p>
          </p:txBody>
        </p:sp>
      </p:grpSp>
      <p:sp>
        <p:nvSpPr>
          <p:cNvPr id="10" name="Text 4">
            <a:extLst>
              <a:ext uri="{FF2B5EF4-FFF2-40B4-BE49-F238E27FC236}">
                <a16:creationId xmlns:a16="http://schemas.microsoft.com/office/drawing/2014/main" id="{5D5774BD-E685-4B23-8C93-E13E6A48D61D}"/>
              </a:ext>
            </a:extLst>
          </p:cNvPr>
          <p:cNvSpPr/>
          <p:nvPr/>
        </p:nvSpPr>
        <p:spPr>
          <a:xfrm>
            <a:off x="4548136" y="3667125"/>
            <a:ext cx="7643864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2000"/>
              </a:lnSpc>
            </a:pPr>
            <a:r>
              <a:rPr lang="tr-TR" sz="2000" b="0" dirty="0">
                <a:solidFill>
                  <a:srgbClr val="30343B"/>
                </a:solidFill>
                <a:latin typeface="Calibri"/>
                <a:ea typeface="Calibri"/>
                <a:cs typeface="Calibri"/>
              </a:rPr>
              <a:t>Yanlış tür hesaplamayı engelleyebilir.</a:t>
            </a:r>
            <a:endParaRPr lang="tr-TR" sz="2000"/>
          </a:p>
        </p:txBody>
      </p:sp>
      <p:sp>
        <p:nvSpPr>
          <p:cNvPr id="12" name="Text 6">
            <a:extLst>
              <a:ext uri="{FF2B5EF4-FFF2-40B4-BE49-F238E27FC236}">
                <a16:creationId xmlns:a16="http://schemas.microsoft.com/office/drawing/2014/main" id="{44FAD3F5-8567-423A-8A8A-AA5F93617D1D}"/>
              </a:ext>
            </a:extLst>
          </p:cNvPr>
          <p:cNvSpPr/>
          <p:nvPr/>
        </p:nvSpPr>
        <p:spPr>
          <a:xfrm>
            <a:off x="4548136" y="4695825"/>
            <a:ext cx="7643864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2000"/>
              </a:lnSpc>
            </a:pPr>
            <a:r>
              <a:rPr lang="tr-TR" sz="2000" b="0" dirty="0">
                <a:solidFill>
                  <a:srgbClr val="30343B"/>
                </a:solidFill>
                <a:latin typeface="Calibri"/>
                <a:ea typeface="Calibri"/>
                <a:cs typeface="Calibri"/>
              </a:rPr>
              <a:t>Eksik ve geçersiz değerleri önce kontrol et.</a:t>
            </a:r>
            <a:endParaRPr lang="tr-TR" sz="2000"/>
          </a:p>
        </p:txBody>
      </p:sp>
      <p:sp>
        <p:nvSpPr>
          <p:cNvPr id="100" name="df[&quot;oda&quot;] = df[&quot;oda&quot;].astype(int)"/>
          <p:cNvSpPr txBox="1"/>
          <p:nvPr/>
        </p:nvSpPr>
        <p:spPr>
          <a:xfrm>
            <a:off x="4762500" y="6048375"/>
            <a:ext cx="6572250" cy="4286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Autofit/>
          </a:bodyPr>
          <a:lstStyle/>
          <a:p>
            <a:pPr marL="0" indent="0"/>
            <a:r>
              <a:rPr lang="tr-TR" sz="1800">
                <a:solidFill>
                  <a:srgbClr val="30343B"/>
                </a:solidFill>
                <a:latin typeface="Consolas"/>
                <a:ea typeface="Consolas"/>
                <a:cs typeface="Consolas"/>
              </a:rPr>
              <a:t>df["oda"] = df["oda"].astype(int)</a:t>
            </a:r>
            <a:endParaRPr lang="tr-TR" sz="1800"/>
          </a:p>
        </p:txBody>
      </p:sp>
    </p:spTree>
    <p:extLst>
      <p:ext uri="{BB962C8B-B14F-4D97-AF65-F5344CB8AC3E}">
        <p14:creationId xmlns:p14="http://schemas.microsoft.com/office/powerpoint/2010/main" val="18781326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ADD23D25-9774-406A-AA53-5890B17BEF49}"/>
              </a:ext>
            </a:extLst>
          </p:cNvPr>
          <p:cNvSpPr/>
          <p:nvPr/>
        </p:nvSpPr>
        <p:spPr>
          <a:xfrm>
            <a:off x="457200" y="285750"/>
            <a:ext cx="112395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tr-TR" sz="3200" b="1" dirty="0">
                <a:solidFill>
                  <a:srgbClr val="1E2A4E"/>
                </a:solidFill>
                <a:latin typeface="Calibri"/>
                <a:ea typeface="Calibri"/>
                <a:cs typeface="Calibri"/>
              </a:rPr>
              <a:t>Eksik Girdi ve Eksik Hedef</a:t>
            </a:r>
            <a:endParaRPr lang="tr-TR" sz="32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9857A839-AFD8-4D8E-81CE-5D94B889F493}"/>
              </a:ext>
            </a:extLst>
          </p:cNvPr>
          <p:cNvSpPr/>
          <p:nvPr/>
        </p:nvSpPr>
        <p:spPr>
          <a:xfrm>
            <a:off x="375725" y="1199059"/>
            <a:ext cx="5203794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tr-TR" sz="2000" b="1" dirty="0">
                <a:solidFill>
                  <a:srgbClr val="30343B"/>
                </a:solidFill>
                <a:latin typeface="Calibri"/>
                <a:ea typeface="Calibri"/>
                <a:cs typeface="Calibri"/>
              </a:rPr>
              <a:t>Hedef eksikse</a:t>
            </a:r>
            <a:endParaRPr lang="tr-TR" sz="200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E8D954AE-DC3B-4351-BFCC-9649EA83FD01}"/>
              </a:ext>
            </a:extLst>
          </p:cNvPr>
          <p:cNvSpPr/>
          <p:nvPr/>
        </p:nvSpPr>
        <p:spPr>
          <a:xfrm>
            <a:off x="356682" y="1636910"/>
            <a:ext cx="5813379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tr-TR" sz="2000" b="0" dirty="0" err="1">
                <a:solidFill>
                  <a:srgbClr val="30343B"/>
                </a:solidFill>
                <a:latin typeface="Calibri"/>
                <a:ea typeface="Calibri"/>
                <a:cs typeface="Calibri"/>
              </a:rPr>
              <a:t>Ev 2’nin gerçek fiyatı bilinmiyor.</a:t>
            </a:r>
            <a:endParaRPr lang="tr-TR" sz="200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6CC61479-EE82-4822-B943-6FC60755E5FD}"/>
              </a:ext>
            </a:extLst>
          </p:cNvPr>
          <p:cNvSpPr/>
          <p:nvPr/>
        </p:nvSpPr>
        <p:spPr>
          <a:xfrm>
            <a:off x="356682" y="2400300"/>
            <a:ext cx="5203794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tr-TR" sz="2000" b="1" dirty="0">
                <a:solidFill>
                  <a:srgbClr val="30343B"/>
                </a:solidFill>
                <a:latin typeface="Calibri"/>
                <a:ea typeface="Calibri"/>
                <a:cs typeface="Calibri"/>
              </a:rPr>
              <a:t>Bu örnekteki karar</a:t>
            </a:r>
            <a:endParaRPr lang="tr-TR" sz="200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ABD0192B-ADD9-4179-873B-00F47AA18EF6}"/>
              </a:ext>
            </a:extLst>
          </p:cNvPr>
          <p:cNvSpPr/>
          <p:nvPr/>
        </p:nvSpPr>
        <p:spPr>
          <a:xfrm>
            <a:off x="356682" y="2905125"/>
            <a:ext cx="5203794" cy="904875"/>
          </a:xfrm>
          <a:prstGeom prst="rect">
            <a:avLst/>
          </a:prstGeom>
          <a:noFill/>
          <a:ln/>
        </p:spPr>
        <p:txBody>
          <a:bodyPr wrap="square" lIns="0" tIns="75608" rIns="0" bIns="0" rtlCol="0" anchor="t">
            <a:noAutofit/>
          </a:bodyPr>
          <a:lstStyle/>
          <a:p>
            <a:pPr marL="0" indent="0" algn="l">
              <a:lnSpc>
                <a:spcPct val="133000"/>
              </a:lnSpc>
              <a:buSzPct val="100000"/>
            </a:pPr>
            <a:r>
              <a:rPr lang="tr-TR" sz="2000" b="0" dirty="0">
                <a:solidFill>
                  <a:srgbClr val="30343B"/>
                </a:solidFill>
                <a:latin typeface="Calibri"/>
                <a:ea typeface="Calibri"/>
                <a:cs typeface="Calibri"/>
              </a:rPr>
              <a:t>Fiyatı bilinen evlerle eğitim yapılır.</a:t>
            </a:r>
            <a:endParaRPr lang="tr-TR" sz="2000"/>
          </a:p>
          <a:p>
            <a:pPr marL="0" indent="0" algn="l">
              <a:lnSpc>
                <a:spcPct val="133000"/>
              </a:lnSpc>
              <a:buSzPct val="100000"/>
            </a:pPr>
            <a:r>
              <a:rPr lang="tr-TR" sz="2000" b="0" dirty="0">
                <a:solidFill>
                  <a:srgbClr val="30343B"/>
                </a:solidFill>
                <a:latin typeface="Calibri"/>
                <a:ea typeface="Calibri"/>
                <a:cs typeface="Calibri"/>
              </a:rPr>
              <a:t>Ev 2 için sonra tahmin üretilir.</a:t>
            </a:r>
            <a:endParaRPr lang="tr-TR" sz="200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F9C3F82E-A91F-4400-866A-A3CF1EEA95F3}"/>
              </a:ext>
            </a:extLst>
          </p:cNvPr>
          <p:cNvSpPr/>
          <p:nvPr/>
        </p:nvSpPr>
        <p:spPr>
          <a:xfrm>
            <a:off x="335163" y="4381499"/>
            <a:ext cx="5524061" cy="839591"/>
          </a:xfrm>
          <a:prstGeom prst="roundRect">
            <a:avLst>
              <a:gd name="adj" fmla="val 10772"/>
            </a:avLst>
          </a:prstGeom>
          <a:solidFill>
            <a:srgbClr val="E1E1EA">
              <a:alpha val="45000"/>
            </a:srgbClr>
          </a:solidFill>
          <a:ln/>
        </p:spPr>
        <p:txBody>
          <a:bodyPr/>
          <a:lstStyle/>
          <a:p>
            <a:endParaRPr lang="tr-TR" dirty="0"/>
          </a:p>
        </p:txBody>
      </p:sp>
      <p:pic>
        <p:nvPicPr>
          <p:cNvPr id="8" name="Image 0" descr="preencoded.png">
            <a:extLst>
              <a:ext uri="{FF2B5EF4-FFF2-40B4-BE49-F238E27FC236}">
                <a16:creationId xmlns:a16="http://schemas.microsoft.com/office/drawing/2014/main" id="{19007150-CBC1-4E81-972F-A5799D0833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8665" y="4698650"/>
            <a:ext cx="300658" cy="240558"/>
          </a:xfrm>
          <a:prstGeom prst="rect">
            <a:avLst/>
          </a:prstGeom>
        </p:spPr>
      </p:pic>
      <p:sp>
        <p:nvSpPr>
          <p:cNvPr id="9" name="Text 6">
            <a:extLst>
              <a:ext uri="{FF2B5EF4-FFF2-40B4-BE49-F238E27FC236}">
                <a16:creationId xmlns:a16="http://schemas.microsoft.com/office/drawing/2014/main" id="{0313862F-1583-43EB-8175-3C8E1B29BCF7}"/>
              </a:ext>
            </a:extLst>
          </p:cNvPr>
          <p:cNvSpPr/>
          <p:nvPr/>
        </p:nvSpPr>
        <p:spPr>
          <a:xfrm>
            <a:off x="685800" y="4533900"/>
            <a:ext cx="501015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tr-TR" sz="1900" b="0" dirty="0" err="1">
                <a:solidFill>
                  <a:srgbClr val="30343B"/>
                </a:solidFill>
                <a:latin typeface="Calibri"/>
                <a:ea typeface="Calibri"/>
                <a:cs typeface="Calibri"/>
              </a:rPr>
              <a:t>Tahmin, gerçek eğitim etiketi değildir.</a:t>
            </a:r>
            <a:endParaRPr lang="tr-TR" sz="1900"/>
          </a:p>
        </p:txBody>
      </p:sp>
      <p:sp>
        <p:nvSpPr>
          <p:cNvPr id="10" name="Shape 7">
            <a:extLst>
              <a:ext uri="{FF2B5EF4-FFF2-40B4-BE49-F238E27FC236}">
                <a16:creationId xmlns:a16="http://schemas.microsoft.com/office/drawing/2014/main" id="{40085040-CA75-44FB-B7E6-8B6C4A2EED2B}"/>
              </a:ext>
            </a:extLst>
          </p:cNvPr>
          <p:cNvSpPr/>
          <p:nvPr/>
        </p:nvSpPr>
        <p:spPr>
          <a:xfrm>
            <a:off x="6332776" y="2295227"/>
            <a:ext cx="2507394" cy="1775123"/>
          </a:xfrm>
          <a:prstGeom prst="roundRect">
            <a:avLst>
              <a:gd name="adj" fmla="val 4472"/>
            </a:avLst>
          </a:prstGeom>
          <a:solidFill>
            <a:srgbClr val="E1E1EA">
              <a:alpha val="45000"/>
            </a:srgbClr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A09BC96A-5A00-4835-A2DE-D6232DFC4B45}"/>
              </a:ext>
            </a:extLst>
          </p:cNvPr>
          <p:cNvSpPr/>
          <p:nvPr/>
        </p:nvSpPr>
        <p:spPr>
          <a:xfrm>
            <a:off x="6524625" y="2466975"/>
            <a:ext cx="20955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tr-TR" sz="2000" b="1" dirty="0">
                <a:solidFill>
                  <a:srgbClr val="30343B"/>
                </a:solidFill>
                <a:latin typeface="Calibri"/>
                <a:ea typeface="Calibri"/>
                <a:cs typeface="Calibri"/>
              </a:rPr>
              <a:t>Girdi eksikse</a:t>
            </a:r>
            <a:endParaRPr lang="tr-TR" sz="2000"/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1376199B-9A2D-4519-8E84-24447F3041F1}"/>
              </a:ext>
            </a:extLst>
          </p:cNvPr>
          <p:cNvSpPr/>
          <p:nvPr/>
        </p:nvSpPr>
        <p:spPr>
          <a:xfrm>
            <a:off x="6524625" y="3152775"/>
            <a:ext cx="2143125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tr-TR" sz="1800" b="0" dirty="0">
                <a:solidFill>
                  <a:srgbClr val="30343B"/>
                </a:solidFill>
                <a:latin typeface="Calibri"/>
                <a:ea typeface="Calibri"/>
                <a:cs typeface="Calibri"/>
              </a:rPr>
              <a:t>Silme veya doldurma</a:t>
            </a:r>
            <a:endParaRPr lang="tr-TR" sz="1800"/>
          </a:p>
          <a:p>
            <a:pPr marL="0" indent="0" algn="l">
              <a:lnSpc>
                <a:spcPct val="133000"/>
              </a:lnSpc>
              <a:buNone/>
            </a:pPr>
            <a:r>
              <a:rPr lang="tr-TR" sz="1800" b="0" dirty="0">
                <a:solidFill>
                  <a:srgbClr val="30343B"/>
                </a:solidFill>
                <a:latin typeface="Calibri"/>
                <a:ea typeface="Calibri"/>
                <a:cs typeface="Calibri"/>
              </a:rPr>
              <a:t>değerlendirilir.</a:t>
            </a:r>
            <a:endParaRPr lang="tr-TR" sz="1800"/>
          </a:p>
        </p:txBody>
      </p:sp>
      <p:sp>
        <p:nvSpPr>
          <p:cNvPr id="13" name="Shape 10">
            <a:extLst>
              <a:ext uri="{FF2B5EF4-FFF2-40B4-BE49-F238E27FC236}">
                <a16:creationId xmlns:a16="http://schemas.microsoft.com/office/drawing/2014/main" id="{8FC1BC77-5E0D-429A-ABE8-FA0A471C865C}"/>
              </a:ext>
            </a:extLst>
          </p:cNvPr>
          <p:cNvSpPr/>
          <p:nvPr/>
        </p:nvSpPr>
        <p:spPr>
          <a:xfrm>
            <a:off x="9029176" y="2295227"/>
            <a:ext cx="2507394" cy="1775123"/>
          </a:xfrm>
          <a:prstGeom prst="roundRect">
            <a:avLst>
              <a:gd name="adj" fmla="val 4472"/>
            </a:avLst>
          </a:prstGeom>
          <a:solidFill>
            <a:srgbClr val="E1E1EA">
              <a:alpha val="45000"/>
            </a:srgbClr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14" name="Text 11">
            <a:extLst>
              <a:ext uri="{FF2B5EF4-FFF2-40B4-BE49-F238E27FC236}">
                <a16:creationId xmlns:a16="http://schemas.microsoft.com/office/drawing/2014/main" id="{87D78E98-13DA-4BA5-8DA3-266072504099}"/>
              </a:ext>
            </a:extLst>
          </p:cNvPr>
          <p:cNvSpPr/>
          <p:nvPr/>
        </p:nvSpPr>
        <p:spPr>
          <a:xfrm>
            <a:off x="9144000" y="2466975"/>
            <a:ext cx="2181225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tr-TR" sz="2000" b="1" dirty="0">
                <a:solidFill>
                  <a:srgbClr val="30343B"/>
                </a:solidFill>
                <a:latin typeface="Calibri"/>
                <a:ea typeface="Calibri"/>
                <a:cs typeface="Calibri"/>
              </a:rPr>
              <a:t>Sayısal girdi</a:t>
            </a:r>
            <a:endParaRPr lang="tr-TR" sz="2000"/>
          </a:p>
        </p:txBody>
      </p:sp>
      <p:sp>
        <p:nvSpPr>
          <p:cNvPr id="15" name="Text 12">
            <a:extLst>
              <a:ext uri="{FF2B5EF4-FFF2-40B4-BE49-F238E27FC236}">
                <a16:creationId xmlns:a16="http://schemas.microsoft.com/office/drawing/2014/main" id="{4B382575-C01D-4721-90BA-518C88AD6F5C}"/>
              </a:ext>
            </a:extLst>
          </p:cNvPr>
          <p:cNvSpPr/>
          <p:nvPr/>
        </p:nvSpPr>
        <p:spPr>
          <a:xfrm>
            <a:off x="9201150" y="3152775"/>
            <a:ext cx="211455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tr-TR" sz="1800" b="0" dirty="0">
                <a:solidFill>
                  <a:srgbClr val="30343B"/>
                </a:solidFill>
                <a:latin typeface="Calibri"/>
                <a:ea typeface="Calibri"/>
                <a:cs typeface="Calibri"/>
              </a:rPr>
              <a:t>Medyanı eğitimden</a:t>
            </a:r>
            <a:endParaRPr lang="tr-TR" sz="1800"/>
          </a:p>
          <a:p>
            <a:pPr marL="0" indent="0" algn="l">
              <a:lnSpc>
                <a:spcPct val="133000"/>
              </a:lnSpc>
              <a:buNone/>
            </a:pPr>
            <a:r>
              <a:rPr lang="tr-TR" sz="1800" b="0" dirty="0">
                <a:solidFill>
                  <a:srgbClr val="30343B"/>
                </a:solidFill>
                <a:latin typeface="Calibri"/>
                <a:ea typeface="Calibri"/>
                <a:cs typeface="Calibri"/>
              </a:rPr>
              <a:t>öğren ve uygula.</a:t>
            </a:r>
            <a:endParaRPr lang="tr-TR" sz="1800"/>
          </a:p>
        </p:txBody>
      </p:sp>
      <p:sp>
        <p:nvSpPr>
          <p:cNvPr id="16" name="Shape 13">
            <a:extLst>
              <a:ext uri="{FF2B5EF4-FFF2-40B4-BE49-F238E27FC236}">
                <a16:creationId xmlns:a16="http://schemas.microsoft.com/office/drawing/2014/main" id="{D3226C4D-9B5A-45DF-AF12-1C162B3EFC15}"/>
              </a:ext>
            </a:extLst>
          </p:cNvPr>
          <p:cNvSpPr/>
          <p:nvPr/>
        </p:nvSpPr>
        <p:spPr>
          <a:xfrm>
            <a:off x="6332776" y="4259362"/>
            <a:ext cx="5203794" cy="1177429"/>
          </a:xfrm>
          <a:prstGeom prst="roundRect">
            <a:avLst>
              <a:gd name="adj" fmla="val 6742"/>
            </a:avLst>
          </a:prstGeom>
          <a:solidFill>
            <a:srgbClr val="E1E1EA">
              <a:alpha val="45000"/>
            </a:srgbClr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17" name="Text 14">
            <a:extLst>
              <a:ext uri="{FF2B5EF4-FFF2-40B4-BE49-F238E27FC236}">
                <a16:creationId xmlns:a16="http://schemas.microsoft.com/office/drawing/2014/main" id="{6565F5F7-2861-4B79-B4FB-3D2A26033813}"/>
              </a:ext>
            </a:extLst>
          </p:cNvPr>
          <p:cNvSpPr/>
          <p:nvPr/>
        </p:nvSpPr>
        <p:spPr>
          <a:xfrm>
            <a:off x="6543675" y="4429125"/>
            <a:ext cx="4638675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tr-TR" sz="2000" b="1" dirty="0">
                <a:solidFill>
                  <a:srgbClr val="30343B"/>
                </a:solidFill>
                <a:latin typeface="Calibri"/>
                <a:ea typeface="Calibri"/>
                <a:cs typeface="Calibri"/>
              </a:rPr>
              <a:t>Kategorik girdi</a:t>
            </a:r>
            <a:endParaRPr lang="tr-TR" sz="2000"/>
          </a:p>
        </p:txBody>
      </p:sp>
      <p:sp>
        <p:nvSpPr>
          <p:cNvPr id="18" name="Text 15">
            <a:extLst>
              <a:ext uri="{FF2B5EF4-FFF2-40B4-BE49-F238E27FC236}">
                <a16:creationId xmlns:a16="http://schemas.microsoft.com/office/drawing/2014/main" id="{9A3941CD-B91D-46AB-93F3-728923A5494C}"/>
              </a:ext>
            </a:extLst>
          </p:cNvPr>
          <p:cNvSpPr/>
          <p:nvPr/>
        </p:nvSpPr>
        <p:spPr>
          <a:xfrm>
            <a:off x="6528133" y="4905375"/>
            <a:ext cx="481308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tr-TR" sz="1800" b="0" dirty="0">
                <a:solidFill>
                  <a:srgbClr val="30343B"/>
                </a:solidFill>
                <a:latin typeface="Calibri"/>
                <a:ea typeface="Calibri"/>
                <a:cs typeface="Calibri"/>
              </a:rPr>
              <a:t>Mod veya “bilinmiyor” kategorisi kullanılabilir.</a:t>
            </a:r>
            <a:endParaRPr lang="tr-TR" sz="1800"/>
          </a:p>
        </p:txBody>
      </p:sp>
      <p:sp>
        <p:nvSpPr>
          <p:cNvPr id="100" name="Örnek: Eksik yaş için eğitim medyanı = 8 yıl."/>
          <p:cNvSpPr txBox="1"/>
          <p:nvPr/>
        </p:nvSpPr>
        <p:spPr>
          <a:xfrm>
            <a:off x="457200" y="5657850"/>
            <a:ext cx="10953750" cy="5524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Autofit/>
          </a:bodyPr>
          <a:lstStyle/>
          <a:p>
            <a:pPr marL="0" indent="0"/>
            <a:r>
              <a:rPr lang="tr-TR" sz="2100" dirty="0">
                <a:solidFill>
                  <a:srgbClr val="1E2A4E"/>
                </a:solidFill>
                <a:latin typeface="Calibri"/>
                <a:ea typeface="Calibri"/>
                <a:cs typeface="Calibri"/>
              </a:rPr>
              <a:t>Örnek: Yeni bir evin yaşı eksikse, eğitim yaşlarının (5, 12, 8) medyanı olan 8 yıl kullanılır.</a:t>
            </a:r>
            <a:endParaRPr lang="tr-TR" sz="2100" dirty="0"/>
          </a:p>
        </p:txBody>
      </p:sp>
    </p:spTree>
    <p:extLst>
      <p:ext uri="{BB962C8B-B14F-4D97-AF65-F5344CB8AC3E}">
        <p14:creationId xmlns:p14="http://schemas.microsoft.com/office/powerpoint/2010/main" val="8879324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>
            <a:extLst>
              <a:ext uri="{FF2B5EF4-FFF2-40B4-BE49-F238E27FC236}">
                <a16:creationId xmlns:a16="http://schemas.microsoft.com/office/drawing/2014/main" id="{8BEAA70B-49D3-44BB-927D-57EBF4415FDF}"/>
              </a:ext>
            </a:extLst>
          </p:cNvPr>
          <p:cNvSpPr/>
          <p:nvPr/>
        </p:nvSpPr>
        <p:spPr>
          <a:xfrm>
            <a:off x="457200" y="285750"/>
            <a:ext cx="112395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tr-TR" sz="3200" b="1" dirty="0">
                <a:solidFill>
                  <a:srgbClr val="1E2A4E"/>
                </a:solidFill>
                <a:latin typeface="Calibri"/>
                <a:ea typeface="Calibri"/>
                <a:cs typeface="Calibri"/>
              </a:rPr>
              <a:t>Aykırı değer: Önce araştırma</a:t>
            </a:r>
            <a:endParaRPr lang="tr-TR" sz="3200"/>
          </a:p>
        </p:txBody>
      </p:sp>
      <p:sp>
        <p:nvSpPr>
          <p:cNvPr id="3" name="Text 2">
            <a:extLst>
              <a:ext uri="{FF2B5EF4-FFF2-40B4-BE49-F238E27FC236}">
                <a16:creationId xmlns:a16="http://schemas.microsoft.com/office/drawing/2014/main" id="{8E52B565-9CBE-456D-8FEC-3FE543576EE8}"/>
              </a:ext>
            </a:extLst>
          </p:cNvPr>
          <p:cNvSpPr/>
          <p:nvPr/>
        </p:nvSpPr>
        <p:spPr>
          <a:xfrm>
            <a:off x="457200" y="1060828"/>
            <a:ext cx="10520876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tr-TR" sz="2000" b="0" dirty="0">
                <a:solidFill>
                  <a:srgbClr val="30343B"/>
                </a:solidFill>
                <a:latin typeface="Calibri"/>
                <a:ea typeface="Calibri"/>
                <a:cs typeface="Calibri"/>
              </a:rPr>
              <a:t>Ev 5’in fiyatı yüksek. Bu durum gerçek bir özellikten veya hatadan kaynaklanabilir.</a:t>
            </a:r>
            <a:endParaRPr lang="tr-TR" sz="2000" dirty="0"/>
          </a:p>
        </p:txBody>
      </p:sp>
      <p:grpSp>
        <p:nvGrpSpPr>
          <p:cNvPr id="16" name="Grup 15">
            <a:extLst>
              <a:ext uri="{FF2B5EF4-FFF2-40B4-BE49-F238E27FC236}">
                <a16:creationId xmlns:a16="http://schemas.microsoft.com/office/drawing/2014/main" id="{7A3E3349-567D-4D00-992C-6919F463B6BF}"/>
              </a:ext>
            </a:extLst>
          </p:cNvPr>
          <p:cNvGrpSpPr/>
          <p:nvPr/>
        </p:nvGrpSpPr>
        <p:grpSpPr>
          <a:xfrm>
            <a:off x="701683" y="1891052"/>
            <a:ext cx="6620711" cy="4436170"/>
            <a:chOff x="661474" y="2150666"/>
            <a:chExt cx="6296860" cy="4133354"/>
          </a:xfrm>
        </p:grpSpPr>
        <p:pic>
          <p:nvPicPr>
            <p:cNvPr id="4" name="Image 1" descr="preencoded.png">
              <a:extLst>
                <a:ext uri="{FF2B5EF4-FFF2-40B4-BE49-F238E27FC236}">
                  <a16:creationId xmlns:a16="http://schemas.microsoft.com/office/drawing/2014/main" id="{F6613703-A46D-49DB-BB35-B14D2F30A53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61475" y="2150666"/>
              <a:ext cx="900784" cy="1080889"/>
            </a:xfrm>
            <a:prstGeom prst="rect">
              <a:avLst/>
            </a:prstGeom>
          </p:spPr>
        </p:pic>
        <p:sp>
          <p:nvSpPr>
            <p:cNvPr id="5" name="Text 3">
              <a:extLst>
                <a:ext uri="{FF2B5EF4-FFF2-40B4-BE49-F238E27FC236}">
                  <a16:creationId xmlns:a16="http://schemas.microsoft.com/office/drawing/2014/main" id="{6F8B41DD-33BE-428A-B6EE-D15ACF234916}"/>
                </a:ext>
              </a:extLst>
            </p:cNvPr>
            <p:cNvSpPr/>
            <p:nvPr/>
          </p:nvSpPr>
          <p:spPr>
            <a:xfrm>
              <a:off x="1733903" y="2330748"/>
              <a:ext cx="5224431" cy="28148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104000"/>
                </a:lnSpc>
                <a:buNone/>
              </a:pPr>
              <a:r>
                <a:rPr lang="en-US" sz="2000" b="1" dirty="0">
                  <a:solidFill>
                    <a:srgbClr val="3C3939"/>
                  </a:solidFill>
                  <a:ea typeface="Calibri" pitchFamily="34" charset="-122"/>
                  <a:cs typeface="Calibri" pitchFamily="34" charset="-120"/>
                </a:rPr>
                <a:t>Kontrol Et</a:t>
              </a:r>
              <a:endParaRPr lang="en-US" sz="2000" b="1" dirty="0"/>
            </a:p>
          </p:txBody>
        </p:sp>
        <p:sp>
          <p:nvSpPr>
            <p:cNvPr id="6" name="Text 4">
              <a:extLst>
                <a:ext uri="{FF2B5EF4-FFF2-40B4-BE49-F238E27FC236}">
                  <a16:creationId xmlns:a16="http://schemas.microsoft.com/office/drawing/2014/main" id="{0B62431F-6760-4BDD-A119-D2DBE47F5497}"/>
                </a:ext>
              </a:extLst>
            </p:cNvPr>
            <p:cNvSpPr/>
            <p:nvPr/>
          </p:nvSpPr>
          <p:spPr>
            <a:xfrm>
              <a:off x="1733903" y="2715220"/>
              <a:ext cx="5224431" cy="28148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130000"/>
                </a:lnSpc>
                <a:buNone/>
              </a:pPr>
              <a:r>
                <a:rPr lang="en-US" sz="2000" dirty="0">
                  <a:solidFill>
                    <a:srgbClr val="3C3939"/>
                  </a:solidFill>
                  <a:ea typeface="Calibri" pitchFamily="34" charset="-122"/>
                  <a:cs typeface="Calibri" pitchFamily="34" charset="-120"/>
                </a:rPr>
                <a:t>Gerçek mi, hata mı, özel durum mu?</a:t>
              </a:r>
              <a:endParaRPr lang="en-US" sz="2000" dirty="0"/>
            </a:p>
          </p:txBody>
        </p:sp>
        <p:pic>
          <p:nvPicPr>
            <p:cNvPr id="7" name="Image 2" descr="preencoded.png">
              <a:extLst>
                <a:ext uri="{FF2B5EF4-FFF2-40B4-BE49-F238E27FC236}">
                  <a16:creationId xmlns:a16="http://schemas.microsoft.com/office/drawing/2014/main" id="{1A76B74C-8BDF-4DD9-BFBF-D12090E1E07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61475" y="3231555"/>
              <a:ext cx="900784" cy="1080889"/>
            </a:xfrm>
            <a:prstGeom prst="rect">
              <a:avLst/>
            </a:prstGeom>
          </p:spPr>
        </p:pic>
        <p:sp>
          <p:nvSpPr>
            <p:cNvPr id="8" name="Text 5">
              <a:extLst>
                <a:ext uri="{FF2B5EF4-FFF2-40B4-BE49-F238E27FC236}">
                  <a16:creationId xmlns:a16="http://schemas.microsoft.com/office/drawing/2014/main" id="{4839990A-0FAC-4423-8BB4-76198B76C001}"/>
                </a:ext>
              </a:extLst>
            </p:cNvPr>
            <p:cNvSpPr/>
            <p:nvPr/>
          </p:nvSpPr>
          <p:spPr>
            <a:xfrm>
              <a:off x="1733903" y="3411637"/>
              <a:ext cx="5224431" cy="28148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104000"/>
                </a:lnSpc>
                <a:buNone/>
              </a:pPr>
              <a:r>
                <a:rPr lang="en-US" sz="2000" b="1" dirty="0">
                  <a:solidFill>
                    <a:srgbClr val="3C3939"/>
                  </a:solidFill>
                  <a:ea typeface="Calibri" pitchFamily="34" charset="-122"/>
                  <a:cs typeface="Calibri" pitchFamily="34" charset="-120"/>
                </a:rPr>
                <a:t>Araştır</a:t>
              </a:r>
              <a:endParaRPr lang="en-US" sz="2000" b="1" dirty="0"/>
            </a:p>
          </p:txBody>
        </p:sp>
        <p:sp>
          <p:nvSpPr>
            <p:cNvPr id="9" name="Text 6">
              <a:extLst>
                <a:ext uri="{FF2B5EF4-FFF2-40B4-BE49-F238E27FC236}">
                  <a16:creationId xmlns:a16="http://schemas.microsoft.com/office/drawing/2014/main" id="{D480DE53-E40D-455B-88FD-A9A760C10132}"/>
                </a:ext>
              </a:extLst>
            </p:cNvPr>
            <p:cNvSpPr/>
            <p:nvPr/>
          </p:nvSpPr>
          <p:spPr>
            <a:xfrm>
              <a:off x="1733903" y="3796109"/>
              <a:ext cx="5224431" cy="28148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130000"/>
                </a:lnSpc>
                <a:buNone/>
              </a:pPr>
              <a:r>
                <a:rPr lang="en-US" sz="2000" dirty="0">
                  <a:solidFill>
                    <a:srgbClr val="3C3939"/>
                  </a:solidFill>
                  <a:ea typeface="Calibri" pitchFamily="34" charset="-122"/>
                  <a:cs typeface="Calibri" pitchFamily="34" charset="-120"/>
                </a:rPr>
                <a:t>Lüks villa mı? Veri girişi hatası mı?</a:t>
              </a:r>
              <a:endParaRPr lang="en-US" sz="2000" dirty="0"/>
            </a:p>
          </p:txBody>
        </p:sp>
        <p:pic>
          <p:nvPicPr>
            <p:cNvPr id="10" name="Image 3" descr="preencoded.png">
              <a:extLst>
                <a:ext uri="{FF2B5EF4-FFF2-40B4-BE49-F238E27FC236}">
                  <a16:creationId xmlns:a16="http://schemas.microsoft.com/office/drawing/2014/main" id="{A6BDEE29-9BEC-44FD-BD37-CC1FF2C56DB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61475" y="4312444"/>
              <a:ext cx="900784" cy="1080889"/>
            </a:xfrm>
            <a:prstGeom prst="rect">
              <a:avLst/>
            </a:prstGeom>
          </p:spPr>
        </p:pic>
        <p:sp>
          <p:nvSpPr>
            <p:cNvPr id="11" name="Text 7">
              <a:extLst>
                <a:ext uri="{FF2B5EF4-FFF2-40B4-BE49-F238E27FC236}">
                  <a16:creationId xmlns:a16="http://schemas.microsoft.com/office/drawing/2014/main" id="{B1F9E88B-C3A1-4DB5-B4EA-C15580BB7DA3}"/>
                </a:ext>
              </a:extLst>
            </p:cNvPr>
            <p:cNvSpPr/>
            <p:nvPr/>
          </p:nvSpPr>
          <p:spPr>
            <a:xfrm>
              <a:off x="1733903" y="4492526"/>
              <a:ext cx="5224431" cy="28148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104000"/>
                </a:lnSpc>
                <a:buNone/>
              </a:pPr>
              <a:r>
                <a:rPr lang="en-US" sz="2000" b="1" dirty="0">
                  <a:solidFill>
                    <a:srgbClr val="3C3939"/>
                  </a:solidFill>
                  <a:ea typeface="Calibri" pitchFamily="34" charset="-122"/>
                  <a:cs typeface="Calibri" pitchFamily="34" charset="-120"/>
                </a:rPr>
                <a:t>Karar Ver</a:t>
              </a:r>
              <a:endParaRPr lang="en-US" sz="2000" b="1" dirty="0"/>
            </a:p>
          </p:txBody>
        </p:sp>
        <p:sp>
          <p:nvSpPr>
            <p:cNvPr id="12" name="Text 8">
              <a:extLst>
                <a:ext uri="{FF2B5EF4-FFF2-40B4-BE49-F238E27FC236}">
                  <a16:creationId xmlns:a16="http://schemas.microsoft.com/office/drawing/2014/main" id="{D5A1C078-F95D-4A21-83C2-377F2E80B9A2}"/>
                </a:ext>
              </a:extLst>
            </p:cNvPr>
            <p:cNvSpPr/>
            <p:nvPr/>
          </p:nvSpPr>
          <p:spPr>
            <a:xfrm>
              <a:off x="1733903" y="4876998"/>
              <a:ext cx="5224431" cy="28148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Autofit/>
            </a:bodyPr>
            <a:lstStyle/>
            <a:p>
              <a:pPr marL="0" indent="0" algn="l">
                <a:lnSpc>
                  <a:spcPct val="130000"/>
                </a:lnSpc>
                <a:buNone/>
              </a:pPr>
              <a:r>
                <a:rPr lang="tr-TR" sz="2000" b="0" dirty="0">
                  <a:solidFill>
                    <a:srgbClr val="30343B"/>
                  </a:solidFill>
                  <a:latin typeface="Calibri"/>
                  <a:ea typeface="Calibri"/>
                  <a:cs typeface="Calibri"/>
                </a:rPr>
                <a:t>Hatayı düzelt veya gerçek kaydı koru.</a:t>
              </a:r>
              <a:endParaRPr lang="tr-TR" sz="2000"/>
            </a:p>
          </p:txBody>
        </p:sp>
        <p:sp>
          <p:nvSpPr>
            <p:cNvPr id="13" name="Shape 9">
              <a:extLst>
                <a:ext uri="{FF2B5EF4-FFF2-40B4-BE49-F238E27FC236}">
                  <a16:creationId xmlns:a16="http://schemas.microsoft.com/office/drawing/2014/main" id="{83F3AFDC-4710-4E3A-9F07-0A74F4C2917A}"/>
                </a:ext>
              </a:extLst>
            </p:cNvPr>
            <p:cNvSpPr/>
            <p:nvPr/>
          </p:nvSpPr>
          <p:spPr>
            <a:xfrm>
              <a:off x="661474" y="5586512"/>
              <a:ext cx="6296860" cy="697508"/>
            </a:xfrm>
            <a:prstGeom prst="roundRect">
              <a:avLst>
                <a:gd name="adj" fmla="val 10848"/>
              </a:avLst>
            </a:prstGeom>
            <a:solidFill>
              <a:srgbClr val="F5F2E3">
                <a:alpha val="45000"/>
              </a:srgbClr>
            </a:solidFill>
            <a:ln/>
          </p:spPr>
        </p:sp>
        <p:pic>
          <p:nvPicPr>
            <p:cNvPr id="14" name="Image 4" descr="preencoded.png">
              <a:extLst>
                <a:ext uri="{FF2B5EF4-FFF2-40B4-BE49-F238E27FC236}">
                  <a16:creationId xmlns:a16="http://schemas.microsoft.com/office/drawing/2014/main" id="{A4BBCCE8-1C74-4CA1-A4DE-E93FFCBBEC3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844282" y="5821363"/>
              <a:ext cx="273353" cy="218663"/>
            </a:xfrm>
            <a:prstGeom prst="rect">
              <a:avLst/>
            </a:prstGeom>
          </p:spPr>
        </p:pic>
      </p:grpSp>
      <p:sp>
        <p:nvSpPr>
          <p:cNvPr id="15" name="Text 10">
            <a:extLst>
              <a:ext uri="{FF2B5EF4-FFF2-40B4-BE49-F238E27FC236}">
                <a16:creationId xmlns:a16="http://schemas.microsoft.com/office/drawing/2014/main" id="{CBC375DD-1B64-4601-9071-E7AB71B2ADBA}"/>
              </a:ext>
            </a:extLst>
          </p:cNvPr>
          <p:cNvSpPr/>
          <p:nvPr/>
        </p:nvSpPr>
        <p:spPr>
          <a:xfrm>
            <a:off x="1277852" y="5755790"/>
            <a:ext cx="6141090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tr-TR" sz="2100" b="0" dirty="0">
                <a:solidFill>
                  <a:srgbClr val="30343B"/>
                </a:solidFill>
                <a:latin typeface="Calibri"/>
                <a:ea typeface="Calibri"/>
                <a:cs typeface="Calibri"/>
              </a:rPr>
              <a:t>Yüksek değer, tek başına veri hatası kanıtı değildir.</a:t>
            </a:r>
            <a:endParaRPr lang="tr-TR" sz="2100" dirty="0"/>
          </a:p>
        </p:txBody>
      </p:sp>
      <p:pic>
        <p:nvPicPr>
          <p:cNvPr id="17" name="Image 0" descr="preencoded.png">
            <a:extLst>
              <a:ext uri="{FF2B5EF4-FFF2-40B4-BE49-F238E27FC236}">
                <a16:creationId xmlns:a16="http://schemas.microsoft.com/office/drawing/2014/main" id="{0D341FA7-2365-4C9E-A284-47F9D0719B9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74883" y="1722659"/>
            <a:ext cx="2887923" cy="3850725"/>
          </a:xfrm>
          <a:prstGeom prst="rect">
            <a:avLst/>
          </a:prstGeom>
        </p:spPr>
      </p:pic>
      <p:sp>
        <p:nvSpPr>
          <p:cNvPr id="18" name="Metin kutusu 17">
            <a:extLst>
              <a:ext uri="{FF2B5EF4-FFF2-40B4-BE49-F238E27FC236}">
                <a16:creationId xmlns:a16="http://schemas.microsoft.com/office/drawing/2014/main" id="{13D63601-DC21-4524-9641-A5AA4F38DE7B}"/>
              </a:ext>
            </a:extLst>
          </p:cNvPr>
          <p:cNvSpPr txBox="1"/>
          <p:nvPr/>
        </p:nvSpPr>
        <p:spPr>
          <a:xfrm rot="19534597">
            <a:off x="9756660" y="4538377"/>
            <a:ext cx="356830" cy="72345"/>
          </a:xfrm>
          <a:prstGeom prst="rect">
            <a:avLst/>
          </a:prstGeom>
          <a:solidFill>
            <a:srgbClr val="F7F5EF"/>
          </a:solidFill>
        </p:spPr>
        <p:txBody>
          <a:bodyPr wrap="square" rtlCol="0">
            <a:spAutoFit/>
          </a:bodyPr>
          <a:lstStyle/>
          <a:p>
            <a:endParaRPr lang="tr-TR" dirty="0"/>
          </a:p>
        </p:txBody>
      </p:sp>
      <p:sp>
        <p:nvSpPr>
          <p:cNvPr id="19" name="Metin kutusu 18">
            <a:extLst>
              <a:ext uri="{FF2B5EF4-FFF2-40B4-BE49-F238E27FC236}">
                <a16:creationId xmlns:a16="http://schemas.microsoft.com/office/drawing/2014/main" id="{5A376350-8AFB-41DE-88B8-1583AF0E897A}"/>
              </a:ext>
            </a:extLst>
          </p:cNvPr>
          <p:cNvSpPr txBox="1"/>
          <p:nvPr/>
        </p:nvSpPr>
        <p:spPr>
          <a:xfrm>
            <a:off x="8686800" y="3307278"/>
            <a:ext cx="148442" cy="369332"/>
          </a:xfrm>
          <a:prstGeom prst="rect">
            <a:avLst/>
          </a:prstGeom>
          <a:solidFill>
            <a:srgbClr val="F8F5F0"/>
          </a:solidFill>
        </p:spPr>
        <p:txBody>
          <a:bodyPr wrap="square" rtlCol="0">
            <a:spAutoFit/>
          </a:bodyPr>
          <a:lstStyle/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5370354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up 14">
            <a:extLst>
              <a:ext uri="{FF2B5EF4-FFF2-40B4-BE49-F238E27FC236}">
                <a16:creationId xmlns:a16="http://schemas.microsoft.com/office/drawing/2014/main" id="{3DC53BC2-78D3-4D96-BDB0-E1B37C9B97D5}"/>
              </a:ext>
            </a:extLst>
          </p:cNvPr>
          <p:cNvGrpSpPr/>
          <p:nvPr/>
        </p:nvGrpSpPr>
        <p:grpSpPr>
          <a:xfrm>
            <a:off x="189670" y="4963362"/>
            <a:ext cx="6526538" cy="652446"/>
            <a:chOff x="464625" y="4507998"/>
            <a:chExt cx="6526538" cy="652446"/>
          </a:xfrm>
          <a:solidFill>
            <a:srgbClr val="E1E1EA">
              <a:alpha val="45000"/>
            </a:srgbClr>
          </a:solidFill>
        </p:grpSpPr>
        <p:sp>
          <p:nvSpPr>
            <p:cNvPr id="7" name="Shape 5">
              <a:extLst>
                <a:ext uri="{FF2B5EF4-FFF2-40B4-BE49-F238E27FC236}">
                  <a16:creationId xmlns:a16="http://schemas.microsoft.com/office/drawing/2014/main" id="{A6A4ADD5-5450-45C3-BD26-C94930D1067A}"/>
                </a:ext>
              </a:extLst>
            </p:cNvPr>
            <p:cNvSpPr/>
            <p:nvPr/>
          </p:nvSpPr>
          <p:spPr>
            <a:xfrm>
              <a:off x="464625" y="4507998"/>
              <a:ext cx="6526538" cy="652446"/>
            </a:xfrm>
            <a:prstGeom prst="roundRect">
              <a:avLst>
                <a:gd name="adj" fmla="val 15929"/>
              </a:avLst>
            </a:prstGeom>
            <a:grpFill/>
            <a:ln/>
          </p:spPr>
        </p:sp>
        <p:pic>
          <p:nvPicPr>
            <p:cNvPr id="13" name="Image 0" descr="preencoded.png">
              <a:extLst>
                <a:ext uri="{FF2B5EF4-FFF2-40B4-BE49-F238E27FC236}">
                  <a16:creationId xmlns:a16="http://schemas.microsoft.com/office/drawing/2014/main" id="{D91E7D4F-15A0-4545-8706-F3C60927E04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582021" y="4714117"/>
              <a:ext cx="308822" cy="240208"/>
            </a:xfrm>
            <a:prstGeom prst="rect">
              <a:avLst/>
            </a:prstGeom>
            <a:grpFill/>
          </p:spPr>
        </p:pic>
      </p:grpSp>
      <p:sp>
        <p:nvSpPr>
          <p:cNvPr id="2" name="Text 0">
            <a:extLst>
              <a:ext uri="{FF2B5EF4-FFF2-40B4-BE49-F238E27FC236}">
                <a16:creationId xmlns:a16="http://schemas.microsoft.com/office/drawing/2014/main" id="{3013148B-F2F6-420D-B2E5-FAEC32F33991}"/>
              </a:ext>
            </a:extLst>
          </p:cNvPr>
          <p:cNvSpPr/>
          <p:nvPr/>
        </p:nvSpPr>
        <p:spPr>
          <a:xfrm>
            <a:off x="457200" y="285750"/>
            <a:ext cx="112395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tr-TR" sz="3200" b="1" dirty="0">
                <a:solidFill>
                  <a:srgbClr val="1E2A4E"/>
                </a:solidFill>
                <a:latin typeface="Calibri"/>
                <a:ea typeface="Calibri"/>
                <a:cs typeface="Calibri"/>
              </a:rPr>
              <a:t>Kategorik girdileri kodlama</a:t>
            </a:r>
            <a:endParaRPr lang="tr-TR" sz="320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FBBF64CC-78D9-447D-A47C-DBBE7C1AA68E}"/>
              </a:ext>
            </a:extLst>
          </p:cNvPr>
          <p:cNvSpPr/>
          <p:nvPr/>
        </p:nvSpPr>
        <p:spPr>
          <a:xfrm>
            <a:off x="407474" y="1156966"/>
            <a:ext cx="6526538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tr-TR" sz="2000" b="1" dirty="0">
                <a:solidFill>
                  <a:srgbClr val="30343B"/>
                </a:solidFill>
                <a:latin typeface="Calibri"/>
                <a:ea typeface="Calibri"/>
                <a:cs typeface="Calibri"/>
              </a:rPr>
              <a:t>Şehir bir kategoridir</a:t>
            </a:r>
            <a:endParaRPr lang="tr-TR" sz="200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4AB21A1D-6E00-484E-A5B7-AC3AC5CED6CF}"/>
              </a:ext>
            </a:extLst>
          </p:cNvPr>
          <p:cNvSpPr/>
          <p:nvPr/>
        </p:nvSpPr>
        <p:spPr>
          <a:xfrm>
            <a:off x="464625" y="1905000"/>
            <a:ext cx="5777425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1000"/>
              </a:lnSpc>
              <a:spcAft>
                <a:spcPts val="350"/>
              </a:spcAft>
              <a:buNone/>
            </a:pPr>
            <a:r>
              <a:rPr lang="tr-TR" sz="2000" b="0" dirty="0">
                <a:solidFill>
                  <a:srgbClr val="30343B"/>
                </a:solidFill>
                <a:latin typeface="Calibri"/>
                <a:ea typeface="Calibri"/>
                <a:cs typeface="Calibri"/>
              </a:rPr>
              <a:t>Kayseri, Ankara, İstanbul</a:t>
            </a:r>
            <a:endParaRPr lang="tr-TR" sz="2000"/>
          </a:p>
          <a:p>
            <a:pPr marL="0" indent="0" algn="l">
              <a:lnSpc>
                <a:spcPct val="101000"/>
              </a:lnSpc>
              <a:spcAft>
                <a:spcPts val="350"/>
              </a:spcAft>
              <a:buNone/>
            </a:pPr>
            <a:r>
              <a:rPr lang="tr-TR" sz="2000" b="0" dirty="0">
                <a:solidFill>
                  <a:srgbClr val="30343B"/>
                </a:solidFill>
                <a:latin typeface="Calibri"/>
                <a:ea typeface="Calibri"/>
                <a:cs typeface="Calibri"/>
              </a:rPr>
              <a:t>Birçok model için sayısal temsil gerekir.</a:t>
            </a:r>
            <a:endParaRPr lang="tr-TR" sz="200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7EEF032C-BA9A-47B6-B2C7-34F70116C919}"/>
              </a:ext>
            </a:extLst>
          </p:cNvPr>
          <p:cNvSpPr/>
          <p:nvPr/>
        </p:nvSpPr>
        <p:spPr>
          <a:xfrm>
            <a:off x="464625" y="3476625"/>
            <a:ext cx="65265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tr-TR" sz="2000" b="1">
                <a:solidFill>
                  <a:srgbClr val="30343B"/>
                </a:solidFill>
                <a:latin typeface="Calibri"/>
                <a:ea typeface="Calibri"/>
                <a:cs typeface="Calibri"/>
              </a:rPr>
              <a:t>İki temel yaklaşım</a:t>
            </a:r>
            <a:endParaRPr lang="tr-TR" sz="200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80211FDC-3234-4695-9411-0BEF7354A717}"/>
              </a:ext>
            </a:extLst>
          </p:cNvPr>
          <p:cNvSpPr/>
          <p:nvPr/>
        </p:nvSpPr>
        <p:spPr>
          <a:xfrm>
            <a:off x="464625" y="3924300"/>
            <a:ext cx="6526538" cy="904875"/>
          </a:xfrm>
          <a:prstGeom prst="rect">
            <a:avLst/>
          </a:prstGeom>
          <a:noFill/>
          <a:ln/>
        </p:spPr>
        <p:txBody>
          <a:bodyPr wrap="square" lIns="0" tIns="38985" rIns="0" bIns="0" rtlCol="0" anchor="t">
            <a:noAutofit/>
          </a:bodyPr>
          <a:lstStyle/>
          <a:p>
            <a:pPr marL="0" indent="0" algn="l">
              <a:lnSpc>
                <a:spcPct val="101000"/>
              </a:lnSpc>
              <a:buSzPct val="100000"/>
            </a:pPr>
            <a:r>
              <a:rPr lang="tr-TR" sz="2000" b="1" dirty="0">
                <a:solidFill>
                  <a:srgbClr val="30343B"/>
                </a:solidFill>
                <a:latin typeface="Calibri"/>
                <a:ea typeface="Calibri"/>
                <a:cs typeface="Calibri"/>
              </a:rPr>
              <a:t>Sıralı kategori </a:t>
            </a:r>
            <a:r>
              <a:rPr lang="en-US" sz="2000" b="1" dirty="0">
                <a:solidFill>
                  <a:srgbClr val="3C3939"/>
                </a:solidFill>
                <a:ea typeface="Roboto" pitchFamily="34" charset="-122"/>
                <a:cs typeface="Roboto" pitchFamily="34" charset="-120"/>
              </a:rPr>
              <a:t>→ </a:t>
            </a:r>
            <a:r>
              <a:rPr lang="tr-TR" sz="2000" b="0" dirty="0" err="1">
                <a:solidFill>
                  <a:srgbClr val="30343B"/>
                </a:solidFill>
                <a:latin typeface="Calibri"/>
                <a:ea typeface="Calibri"/>
                <a:cs typeface="Calibri"/>
              </a:rPr>
              <a:t>ordinal</a:t>
            </a:r>
            <a:r>
              <a:rPr lang="tr-TR" sz="2000" b="0" dirty="0">
                <a:solidFill>
                  <a:srgbClr val="30343B"/>
                </a:solidFill>
                <a:latin typeface="Calibri"/>
                <a:ea typeface="Calibri"/>
                <a:cs typeface="Calibri"/>
              </a:rPr>
              <a:t> kodlama</a:t>
            </a:r>
            <a:endParaRPr lang="tr-TR" sz="2000" dirty="0"/>
          </a:p>
          <a:p>
            <a:pPr marL="0" indent="0" algn="l">
              <a:lnSpc>
                <a:spcPct val="101000"/>
              </a:lnSpc>
              <a:buSzPct val="100000"/>
            </a:pPr>
            <a:r>
              <a:rPr lang="tr-TR" sz="2000" b="1" dirty="0">
                <a:solidFill>
                  <a:srgbClr val="30343B"/>
                </a:solidFill>
                <a:ea typeface="Calibri"/>
                <a:cs typeface="Calibri"/>
              </a:rPr>
              <a:t>Sırasız kategori</a:t>
            </a:r>
            <a:r>
              <a:rPr lang="en-US" sz="2000" b="1" dirty="0">
                <a:solidFill>
                  <a:srgbClr val="3C3939"/>
                </a:solidFill>
                <a:ea typeface="Roboto" pitchFamily="34" charset="-122"/>
                <a:cs typeface="Roboto" pitchFamily="34" charset="-120"/>
              </a:rPr>
              <a:t> →</a:t>
            </a:r>
            <a:r>
              <a:rPr lang="tr-TR" sz="2000" b="0" dirty="0">
                <a:solidFill>
                  <a:srgbClr val="30343B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tr-TR" sz="2000" b="0" dirty="0" err="1">
                <a:solidFill>
                  <a:srgbClr val="30343B"/>
                </a:solidFill>
                <a:latin typeface="Calibri"/>
                <a:ea typeface="Calibri"/>
                <a:cs typeface="Calibri"/>
              </a:rPr>
              <a:t>one</a:t>
            </a:r>
            <a:r>
              <a:rPr lang="tr-TR" sz="2000" b="0" dirty="0">
                <a:solidFill>
                  <a:srgbClr val="30343B"/>
                </a:solidFill>
                <a:latin typeface="Calibri"/>
                <a:ea typeface="Calibri"/>
                <a:cs typeface="Calibri"/>
              </a:rPr>
              <a:t>-hot kodlama</a:t>
            </a:r>
            <a:endParaRPr lang="tr-TR" sz="2000" dirty="0"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58DA3949-EE5E-43E5-BBBC-275A20A10888}"/>
              </a:ext>
            </a:extLst>
          </p:cNvPr>
          <p:cNvSpPr/>
          <p:nvPr/>
        </p:nvSpPr>
        <p:spPr>
          <a:xfrm>
            <a:off x="742950" y="5105400"/>
            <a:ext cx="5734050" cy="542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1000"/>
              </a:lnSpc>
              <a:buNone/>
            </a:pPr>
            <a:r>
              <a:rPr lang="tr-TR" sz="2000" b="0" dirty="0">
                <a:solidFill>
                  <a:srgbClr val="30343B"/>
                </a:solidFill>
                <a:latin typeface="Calibri"/>
                <a:ea typeface="Calibri"/>
                <a:cs typeface="Calibri"/>
              </a:rPr>
              <a:t>Kodlama, kategorinin anlamını korumalıdır.</a:t>
            </a:r>
            <a:endParaRPr lang="tr-TR" sz="2000" dirty="0"/>
          </a:p>
        </p:txBody>
      </p:sp>
      <p:pic>
        <p:nvPicPr>
          <p:cNvPr id="14" name="Image 1" descr="preencoded.png">
            <a:extLst>
              <a:ext uri="{FF2B5EF4-FFF2-40B4-BE49-F238E27FC236}">
                <a16:creationId xmlns:a16="http://schemas.microsoft.com/office/drawing/2014/main" id="{150D4677-CC6F-484D-9077-15AABF0778CF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5236" b="7975"/>
          <a:stretch/>
        </p:blipFill>
        <p:spPr>
          <a:xfrm>
            <a:off x="6882509" y="1350306"/>
            <a:ext cx="5119821" cy="4443573"/>
          </a:xfrm>
          <a:prstGeom prst="rect">
            <a:avLst/>
          </a:prstGeom>
          <a:noFill/>
        </p:spPr>
      </p:pic>
      <p:sp>
        <p:nvSpPr>
          <p:cNvPr id="100" name="Ordinal Encoding"/>
          <p:cNvSpPr txBox="1"/>
          <p:nvPr/>
        </p:nvSpPr>
        <p:spPr>
          <a:xfrm>
            <a:off x="7200900" y="2609850"/>
            <a:ext cx="1847850" cy="295275"/>
          </a:xfrm>
          <a:prstGeom prst="rect">
            <a:avLst/>
          </a:prstGeom>
          <a:solidFill>
            <a:srgbClr val="FEFEFE"/>
          </a:solidFill>
          <a:ln>
            <a:noFill/>
          </a:ln>
        </p:spPr>
        <p:txBody>
          <a:bodyPr wrap="square" lIns="0" tIns="0" rIns="0" bIns="0">
            <a:noAutofit/>
          </a:bodyPr>
          <a:lstStyle/>
          <a:p>
            <a:pPr marL="0" indent="0" algn="ctr"/>
            <a:r>
              <a:rPr lang="tr-TR" sz="1600" b="1" dirty="0" err="1">
                <a:solidFill>
                  <a:srgbClr val="30343B"/>
                </a:solidFill>
                <a:latin typeface="Calibri"/>
                <a:ea typeface="Calibri"/>
                <a:cs typeface="Calibri"/>
              </a:rPr>
              <a:t>Ordinal</a:t>
            </a:r>
            <a:r>
              <a:rPr lang="tr-TR" sz="1600" b="1" dirty="0">
                <a:solidFill>
                  <a:srgbClr val="30343B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tr-TR" sz="1600" b="1" dirty="0" err="1">
                <a:solidFill>
                  <a:srgbClr val="30343B"/>
                </a:solidFill>
                <a:latin typeface="Calibri"/>
                <a:ea typeface="Calibri"/>
                <a:cs typeface="Calibri"/>
              </a:rPr>
              <a:t>Encoding</a:t>
            </a:r>
            <a:endParaRPr lang="tr-TR" sz="1600" dirty="0"/>
          </a:p>
        </p:txBody>
      </p:sp>
      <p:sp>
        <p:nvSpPr>
          <p:cNvPr id="101" name="Sıra: küçük = 0, orta = 1, büyük = 2"/>
          <p:cNvSpPr txBox="1"/>
          <p:nvPr/>
        </p:nvSpPr>
        <p:spPr>
          <a:xfrm>
            <a:off x="7334250" y="2895600"/>
            <a:ext cx="1581150" cy="476250"/>
          </a:xfrm>
          <a:prstGeom prst="rect">
            <a:avLst/>
          </a:prstGeom>
          <a:solidFill>
            <a:srgbClr val="FEFEFE"/>
          </a:solidFill>
          <a:ln>
            <a:noFill/>
          </a:ln>
        </p:spPr>
        <p:txBody>
          <a:bodyPr wrap="square" lIns="0" tIns="0" rIns="0" bIns="0">
            <a:noAutofit/>
          </a:bodyPr>
          <a:lstStyle/>
          <a:p>
            <a:pPr marL="0" indent="0" algn="ctr"/>
            <a:r>
              <a:rPr lang="tr-TR" sz="1200" dirty="0">
                <a:solidFill>
                  <a:srgbClr val="30343B"/>
                </a:solidFill>
                <a:latin typeface="Calibri"/>
                <a:ea typeface="Calibri"/>
                <a:cs typeface="Calibri"/>
              </a:rPr>
              <a:t>Sıra: küçük = 0,</a:t>
            </a:r>
            <a:endParaRPr lang="tr-TR" sz="1200" dirty="0"/>
          </a:p>
          <a:p>
            <a:pPr marL="0" indent="0" algn="ctr"/>
            <a:r>
              <a:rPr lang="tr-TR" sz="1200" dirty="0">
                <a:solidFill>
                  <a:srgbClr val="30343B"/>
                </a:solidFill>
                <a:latin typeface="Calibri"/>
                <a:ea typeface="Calibri"/>
                <a:cs typeface="Calibri"/>
              </a:rPr>
              <a:t>orta = 1, büyük = 2</a:t>
            </a:r>
            <a:endParaRPr lang="tr-TR" sz="1200" dirty="0"/>
          </a:p>
        </p:txBody>
      </p:sp>
      <p:sp>
        <p:nvSpPr>
          <p:cNvPr id="102" name="Küçük"/>
          <p:cNvSpPr txBox="1"/>
          <p:nvPr/>
        </p:nvSpPr>
        <p:spPr>
          <a:xfrm>
            <a:off x="7296150" y="3800475"/>
            <a:ext cx="781050" cy="190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lIns="0" tIns="0" rIns="0" bIns="0">
            <a:noAutofit/>
          </a:bodyPr>
          <a:lstStyle/>
          <a:p>
            <a:pPr marL="0" indent="0" algn="ctr"/>
            <a:r>
              <a:rPr lang="tr-TR" sz="1000" dirty="0">
                <a:solidFill>
                  <a:srgbClr val="30343B"/>
                </a:solidFill>
                <a:latin typeface="Calibri"/>
                <a:ea typeface="Calibri"/>
                <a:cs typeface="Calibri"/>
              </a:rPr>
              <a:t>Küçük</a:t>
            </a:r>
            <a:endParaRPr lang="tr-TR" sz="1000" dirty="0"/>
          </a:p>
        </p:txBody>
      </p:sp>
      <p:sp>
        <p:nvSpPr>
          <p:cNvPr id="103" name="Orta"/>
          <p:cNvSpPr txBox="1"/>
          <p:nvPr/>
        </p:nvSpPr>
        <p:spPr>
          <a:xfrm>
            <a:off x="7296150" y="4276725"/>
            <a:ext cx="781050" cy="190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lIns="0" tIns="0" rIns="0" bIns="0">
            <a:noAutofit/>
          </a:bodyPr>
          <a:lstStyle/>
          <a:p>
            <a:pPr marL="0" indent="0" algn="ctr"/>
            <a:r>
              <a:rPr lang="tr-TR" sz="1000" dirty="0">
                <a:solidFill>
                  <a:srgbClr val="30343B"/>
                </a:solidFill>
                <a:latin typeface="Calibri"/>
                <a:ea typeface="Calibri"/>
                <a:cs typeface="Calibri"/>
              </a:rPr>
              <a:t>Orta</a:t>
            </a:r>
            <a:endParaRPr lang="tr-TR" sz="1000" dirty="0"/>
          </a:p>
        </p:txBody>
      </p:sp>
      <p:sp>
        <p:nvSpPr>
          <p:cNvPr id="104" name="Büyük"/>
          <p:cNvSpPr txBox="1"/>
          <p:nvPr/>
        </p:nvSpPr>
        <p:spPr>
          <a:xfrm>
            <a:off x="7296150" y="4772025"/>
            <a:ext cx="781050" cy="190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lIns="0" tIns="0" rIns="0" bIns="0">
            <a:noAutofit/>
          </a:bodyPr>
          <a:lstStyle/>
          <a:p>
            <a:pPr marL="0" indent="0" algn="ctr"/>
            <a:r>
              <a:rPr lang="tr-TR" sz="1000" dirty="0">
                <a:solidFill>
                  <a:srgbClr val="30343B"/>
                </a:solidFill>
                <a:latin typeface="Calibri"/>
                <a:ea typeface="Calibri"/>
                <a:cs typeface="Calibri"/>
              </a:rPr>
              <a:t>Büyük</a:t>
            </a:r>
            <a:endParaRPr lang="tr-TR" sz="1000" dirty="0"/>
          </a:p>
        </p:txBody>
      </p:sp>
    </p:spTree>
    <p:extLst>
      <p:ext uri="{BB962C8B-B14F-4D97-AF65-F5344CB8AC3E}">
        <p14:creationId xmlns:p14="http://schemas.microsoft.com/office/powerpoint/2010/main" val="30736619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hape 9">
            <a:extLst>
              <a:ext uri="{FF2B5EF4-FFF2-40B4-BE49-F238E27FC236}">
                <a16:creationId xmlns:a16="http://schemas.microsoft.com/office/drawing/2014/main" id="{1250E5BB-5B53-43AD-8E39-C03FF4C53B73}"/>
              </a:ext>
            </a:extLst>
          </p:cNvPr>
          <p:cNvSpPr/>
          <p:nvPr/>
        </p:nvSpPr>
        <p:spPr>
          <a:xfrm>
            <a:off x="6205024" y="3300312"/>
            <a:ext cx="5463774" cy="1798737"/>
          </a:xfrm>
          <a:prstGeom prst="roundRect">
            <a:avLst>
              <a:gd name="adj" fmla="val 10848"/>
            </a:avLst>
          </a:prstGeom>
          <a:solidFill>
            <a:srgbClr val="F5F2E3"/>
          </a:solidFill>
          <a:ln/>
        </p:spPr>
      </p:sp>
      <p:sp>
        <p:nvSpPr>
          <p:cNvPr id="2" name="Text 0">
            <a:extLst>
              <a:ext uri="{FF2B5EF4-FFF2-40B4-BE49-F238E27FC236}">
                <a16:creationId xmlns:a16="http://schemas.microsoft.com/office/drawing/2014/main" id="{2713564C-CC80-4330-8B7F-E9A5D2EC542F}"/>
              </a:ext>
            </a:extLst>
          </p:cNvPr>
          <p:cNvSpPr/>
          <p:nvPr/>
        </p:nvSpPr>
        <p:spPr>
          <a:xfrm>
            <a:off x="457200" y="285750"/>
            <a:ext cx="112395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tr-TR" sz="3200" b="1" dirty="0">
                <a:solidFill>
                  <a:srgbClr val="1E2A4E"/>
                </a:solidFill>
                <a:latin typeface="Calibri"/>
                <a:ea typeface="Calibri"/>
                <a:cs typeface="Calibri"/>
              </a:rPr>
              <a:t>Sıralı kodlama: Ordinal Encoding</a:t>
            </a:r>
            <a:endParaRPr lang="tr-TR" sz="3200"/>
          </a:p>
        </p:txBody>
      </p:sp>
      <p:sp>
        <p:nvSpPr>
          <p:cNvPr id="11" name="Text 1">
            <a:extLst>
              <a:ext uri="{FF2B5EF4-FFF2-40B4-BE49-F238E27FC236}">
                <a16:creationId xmlns:a16="http://schemas.microsoft.com/office/drawing/2014/main" id="{162DF978-07EC-4B80-A87D-C5FE66111B5F}"/>
              </a:ext>
            </a:extLst>
          </p:cNvPr>
          <p:cNvSpPr/>
          <p:nvPr/>
        </p:nvSpPr>
        <p:spPr>
          <a:xfrm>
            <a:off x="565733" y="1244007"/>
            <a:ext cx="5244364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tr-TR" sz="2000" b="1" dirty="0">
                <a:solidFill>
                  <a:srgbClr val="30343B"/>
                </a:solidFill>
                <a:latin typeface="Calibri"/>
                <a:ea typeface="Calibri"/>
                <a:cs typeface="Calibri"/>
              </a:rPr>
              <a:t>Anlamlı sıra korunur</a:t>
            </a:r>
            <a:endParaRPr lang="tr-TR" sz="2000"/>
          </a:p>
        </p:txBody>
      </p:sp>
      <p:sp>
        <p:nvSpPr>
          <p:cNvPr id="12" name="Text 2">
            <a:extLst>
              <a:ext uri="{FF2B5EF4-FFF2-40B4-BE49-F238E27FC236}">
                <a16:creationId xmlns:a16="http://schemas.microsoft.com/office/drawing/2014/main" id="{2E868498-62E7-414B-8926-0080360635A7}"/>
              </a:ext>
            </a:extLst>
          </p:cNvPr>
          <p:cNvSpPr/>
          <p:nvPr/>
        </p:nvSpPr>
        <p:spPr>
          <a:xfrm>
            <a:off x="565733" y="1826390"/>
            <a:ext cx="5858701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tr-TR" sz="2000" b="0" dirty="0">
                <a:solidFill>
                  <a:srgbClr val="30343B"/>
                </a:solidFill>
                <a:latin typeface="Calibri"/>
                <a:ea typeface="Calibri"/>
                <a:cs typeface="Calibri"/>
              </a:rPr>
              <a:t>Küçük, orta ve büyük gibi kategoriler.</a:t>
            </a:r>
            <a:endParaRPr lang="tr-TR" sz="2000"/>
          </a:p>
        </p:txBody>
      </p:sp>
      <p:graphicFrame>
        <p:nvGraphicFramePr>
          <p:cNvPr id="13" name="Table 0">
            <a:extLst>
              <a:ext uri="{FF2B5EF4-FFF2-40B4-BE49-F238E27FC236}">
                <a16:creationId xmlns:a16="http://schemas.microsoft.com/office/drawing/2014/main" id="{651212C6-5535-410A-8F5B-2F7CA83AFDF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81583574"/>
              </p:ext>
            </p:extLst>
          </p:nvPr>
        </p:nvGraphicFramePr>
        <p:xfrm>
          <a:off x="444500" y="2606476"/>
          <a:ext cx="5466614" cy="2867224"/>
        </p:xfrm>
        <a:graphic>
          <a:graphicData uri="http://schemas.openxmlformats.org/drawingml/2006/table">
            <a:tbl>
              <a:tblPr/>
              <a:tblGrid>
                <a:gridCol w="273330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3330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1472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tr-TR" sz="2000" b="1" dirty="0">
                          <a:solidFill>
                            <a:srgbClr val="1E2A4E"/>
                          </a:solidFill>
                          <a:latin typeface="Calibri"/>
                          <a:ea typeface="Calibri"/>
                          <a:cs typeface="Calibri"/>
                        </a:rPr>
                        <a:t>Büyüklük</a:t>
                      </a:r>
                      <a:endParaRPr lang="tr-TR" sz="2000"/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tr-TR" sz="2000" b="1" dirty="0">
                          <a:solidFill>
                            <a:srgbClr val="1E2A4E"/>
                          </a:solidFill>
                          <a:latin typeface="Calibri"/>
                          <a:ea typeface="Calibri"/>
                          <a:cs typeface="Calibri"/>
                        </a:rPr>
                        <a:t>Kod</a:t>
                      </a:r>
                      <a:endParaRPr lang="tr-TR" sz="2000"/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888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tr-TR" sz="2000" b="0" dirty="0">
                          <a:solidFill>
                            <a:srgbClr val="30343B"/>
                          </a:solidFill>
                          <a:latin typeface="Calibri"/>
                          <a:ea typeface="Calibri"/>
                          <a:cs typeface="Calibri"/>
                        </a:rPr>
                        <a:t>Küçük</a:t>
                      </a:r>
                      <a:endParaRPr lang="tr-TR" sz="2000"/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tr-TR" sz="2000" b="0" dirty="0">
                          <a:solidFill>
                            <a:srgbClr val="30343B"/>
                          </a:solidFill>
                          <a:latin typeface="Calibri"/>
                          <a:ea typeface="Calibri"/>
                          <a:cs typeface="Calibri"/>
                        </a:rPr>
                        <a:t>0</a:t>
                      </a:r>
                      <a:endParaRPr lang="tr-TR" sz="2000"/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888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tr-TR" sz="2000" b="0" dirty="0">
                          <a:solidFill>
                            <a:srgbClr val="30343B"/>
                          </a:solidFill>
                          <a:latin typeface="Calibri"/>
                          <a:ea typeface="Calibri"/>
                          <a:cs typeface="Calibri"/>
                        </a:rPr>
                        <a:t>Orta</a:t>
                      </a:r>
                      <a:endParaRPr lang="tr-TR" sz="2000"/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tr-TR" sz="2000" b="0" dirty="0">
                          <a:solidFill>
                            <a:srgbClr val="30343B"/>
                          </a:solidFill>
                          <a:latin typeface="Calibri"/>
                          <a:ea typeface="Calibri"/>
                          <a:cs typeface="Calibri"/>
                        </a:rPr>
                        <a:t>1</a:t>
                      </a:r>
                      <a:endParaRPr lang="tr-TR" sz="2000"/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1472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tr-TR" sz="2000" b="0" dirty="0">
                          <a:solidFill>
                            <a:srgbClr val="30343B"/>
                          </a:solidFill>
                          <a:latin typeface="Calibri"/>
                          <a:ea typeface="Calibri"/>
                          <a:cs typeface="Calibri"/>
                        </a:rPr>
                        <a:t>Büyük</a:t>
                      </a:r>
                      <a:endParaRPr lang="tr-TR" sz="2000"/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tr-TR" sz="2000" b="0" dirty="0">
                          <a:solidFill>
                            <a:srgbClr val="30343B"/>
                          </a:solidFill>
                          <a:latin typeface="Calibri"/>
                          <a:ea typeface="Calibri"/>
                          <a:cs typeface="Calibri"/>
                        </a:rPr>
                        <a:t>2</a:t>
                      </a:r>
                      <a:endParaRPr lang="tr-TR" sz="2000"/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4" name="Text 3">
            <a:extLst>
              <a:ext uri="{FF2B5EF4-FFF2-40B4-BE49-F238E27FC236}">
                <a16:creationId xmlns:a16="http://schemas.microsoft.com/office/drawing/2014/main" id="{431953B2-D50B-4A00-89FF-D752D6CA3C66}"/>
              </a:ext>
            </a:extLst>
          </p:cNvPr>
          <p:cNvSpPr/>
          <p:nvPr/>
        </p:nvSpPr>
        <p:spPr>
          <a:xfrm>
            <a:off x="6280888" y="1244007"/>
            <a:ext cx="5244364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tr-TR" sz="2000" b="1" dirty="0">
                <a:solidFill>
                  <a:srgbClr val="30343B"/>
                </a:solidFill>
                <a:latin typeface="Calibri"/>
                <a:ea typeface="Calibri"/>
                <a:cs typeface="Calibri"/>
              </a:rPr>
              <a:t>Ne zaman?</a:t>
            </a:r>
            <a:endParaRPr lang="tr-TR" sz="2000"/>
          </a:p>
        </p:txBody>
      </p:sp>
      <p:sp>
        <p:nvSpPr>
          <p:cNvPr id="15" name="Text 5">
            <a:extLst>
              <a:ext uri="{FF2B5EF4-FFF2-40B4-BE49-F238E27FC236}">
                <a16:creationId xmlns:a16="http://schemas.microsoft.com/office/drawing/2014/main" id="{F9C0AE44-A587-49F2-9DAF-9943C7DB3FCA}"/>
              </a:ext>
            </a:extLst>
          </p:cNvPr>
          <p:cNvSpPr/>
          <p:nvPr/>
        </p:nvSpPr>
        <p:spPr>
          <a:xfrm>
            <a:off x="6338051" y="2091377"/>
            <a:ext cx="5244364" cy="847725"/>
          </a:xfrm>
          <a:prstGeom prst="rect">
            <a:avLst/>
          </a:prstGeom>
          <a:noFill/>
          <a:ln/>
        </p:spPr>
        <p:txBody>
          <a:bodyPr wrap="square" lIns="0" tIns="75608" rIns="0" bIns="0" rtlCol="0" anchor="t">
            <a:noAutofit/>
          </a:bodyPr>
          <a:lstStyle/>
          <a:p>
            <a:pPr marL="0" indent="0" algn="l">
              <a:lnSpc>
                <a:spcPct val="133000"/>
              </a:lnSpc>
              <a:buSzPct val="100000"/>
            </a:pPr>
            <a:r>
              <a:rPr lang="tr-TR" sz="2000" b="0" dirty="0">
                <a:solidFill>
                  <a:srgbClr val="30343B"/>
                </a:solidFill>
                <a:latin typeface="Calibri"/>
                <a:ea typeface="Calibri"/>
                <a:cs typeface="Calibri"/>
              </a:rPr>
              <a:t>Örnek: düşük / orta / yüksek</a:t>
            </a:r>
            <a:endParaRPr lang="tr-TR" sz="2000"/>
          </a:p>
          <a:p>
            <a:pPr marL="0" indent="0" algn="l">
              <a:lnSpc>
                <a:spcPct val="133000"/>
              </a:lnSpc>
              <a:buSzPct val="100000"/>
            </a:pPr>
            <a:r>
              <a:rPr lang="tr-TR" sz="2000" b="0" dirty="0">
                <a:solidFill>
                  <a:srgbClr val="30343B"/>
                </a:solidFill>
                <a:latin typeface="Calibri"/>
                <a:ea typeface="Calibri"/>
                <a:cs typeface="Calibri"/>
              </a:rPr>
              <a:t>Şehir adlarının böyle bir sırası yoktur.</a:t>
            </a:r>
            <a:endParaRPr lang="tr-TR" sz="2000"/>
          </a:p>
        </p:txBody>
      </p:sp>
      <p:sp>
        <p:nvSpPr>
          <p:cNvPr id="16" name="Text 6">
            <a:extLst>
              <a:ext uri="{FF2B5EF4-FFF2-40B4-BE49-F238E27FC236}">
                <a16:creationId xmlns:a16="http://schemas.microsoft.com/office/drawing/2014/main" id="{82434020-81B5-42EE-85C5-996A79F70068}"/>
              </a:ext>
            </a:extLst>
          </p:cNvPr>
          <p:cNvSpPr/>
          <p:nvPr/>
        </p:nvSpPr>
        <p:spPr>
          <a:xfrm>
            <a:off x="6280888" y="3360537"/>
            <a:ext cx="5244364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tr-TR" sz="2000" b="1" dirty="0">
                <a:solidFill>
                  <a:srgbClr val="30343B"/>
                </a:solidFill>
                <a:latin typeface="Calibri"/>
                <a:ea typeface="Calibri"/>
                <a:cs typeface="Calibri"/>
              </a:rPr>
              <a:t>Dikkat</a:t>
            </a:r>
            <a:endParaRPr lang="tr-TR" sz="2000"/>
          </a:p>
        </p:txBody>
      </p:sp>
      <p:sp>
        <p:nvSpPr>
          <p:cNvPr id="17" name="Text 7">
            <a:extLst>
              <a:ext uri="{FF2B5EF4-FFF2-40B4-BE49-F238E27FC236}">
                <a16:creationId xmlns:a16="http://schemas.microsoft.com/office/drawing/2014/main" id="{87CC0D47-5E85-475F-A634-1F91315C2E13}"/>
              </a:ext>
            </a:extLst>
          </p:cNvPr>
          <p:cNvSpPr/>
          <p:nvPr/>
        </p:nvSpPr>
        <p:spPr>
          <a:xfrm>
            <a:off x="6424434" y="3812561"/>
            <a:ext cx="5244364" cy="1390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tr-TR" sz="2000" b="0" dirty="0">
                <a:solidFill>
                  <a:srgbClr val="30343B"/>
                </a:solidFill>
                <a:latin typeface="Calibri"/>
                <a:ea typeface="Calibri"/>
                <a:cs typeface="Calibri"/>
              </a:rPr>
              <a:t>Kodlar yapay sıra ve mesafe taşıyabilir.</a:t>
            </a:r>
            <a:endParaRPr lang="tr-TR" sz="2000"/>
          </a:p>
          <a:p>
            <a:pPr marL="0" indent="0" algn="l">
              <a:lnSpc>
                <a:spcPct val="133000"/>
              </a:lnSpc>
              <a:buNone/>
            </a:pPr>
            <a:r>
              <a:rPr lang="tr-TR" sz="2000" b="0" dirty="0">
                <a:solidFill>
                  <a:srgbClr val="30343B"/>
                </a:solidFill>
                <a:latin typeface="Calibri"/>
                <a:ea typeface="Calibri"/>
                <a:cs typeface="Calibri"/>
              </a:rPr>
              <a:t>Sırasız şehir için one-hot kullanıyoruz.</a:t>
            </a:r>
            <a:endParaRPr lang="tr-TR" sz="2000"/>
          </a:p>
        </p:txBody>
      </p:sp>
      <p:sp>
        <p:nvSpPr>
          <p:cNvPr id="25" name="Text 4">
            <a:extLst>
              <a:ext uri="{FF2B5EF4-FFF2-40B4-BE49-F238E27FC236}">
                <a16:creationId xmlns:a16="http://schemas.microsoft.com/office/drawing/2014/main" id="{86E11357-E525-4125-A1FB-B3593851F1C2}"/>
              </a:ext>
            </a:extLst>
          </p:cNvPr>
          <p:cNvSpPr/>
          <p:nvPr/>
        </p:nvSpPr>
        <p:spPr>
          <a:xfrm>
            <a:off x="6338051" y="1755252"/>
            <a:ext cx="5858701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tr-TR" sz="2000" b="0" dirty="0">
                <a:solidFill>
                  <a:srgbClr val="30343B"/>
                </a:solidFill>
                <a:latin typeface="Calibri"/>
                <a:ea typeface="Calibri"/>
                <a:cs typeface="Calibri"/>
              </a:rPr>
              <a:t>Kategori sırası önceden tanımlıysa.</a:t>
            </a:r>
            <a:endParaRPr lang="tr-TR" sz="2000"/>
          </a:p>
        </p:txBody>
      </p:sp>
    </p:spTree>
    <p:extLst>
      <p:ext uri="{BB962C8B-B14F-4D97-AF65-F5344CB8AC3E}">
        <p14:creationId xmlns:p14="http://schemas.microsoft.com/office/powerpoint/2010/main" val="54902091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B8E9A814-BFD0-4B9B-8282-952877058E45}"/>
              </a:ext>
            </a:extLst>
          </p:cNvPr>
          <p:cNvSpPr/>
          <p:nvPr/>
        </p:nvSpPr>
        <p:spPr>
          <a:xfrm>
            <a:off x="457200" y="285750"/>
            <a:ext cx="112395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tr-TR" sz="3200" b="1" dirty="0">
                <a:solidFill>
                  <a:srgbClr val="1E2A4E"/>
                </a:solidFill>
                <a:latin typeface="Calibri"/>
                <a:ea typeface="Calibri"/>
                <a:cs typeface="Calibri"/>
              </a:rPr>
              <a:t>One-hot kodlama</a:t>
            </a:r>
            <a:endParaRPr lang="tr-TR" sz="3200"/>
          </a:p>
        </p:txBody>
      </p:sp>
      <p:graphicFrame>
        <p:nvGraphicFramePr>
          <p:cNvPr id="3" name="Table 0">
            <a:extLst>
              <a:ext uri="{FF2B5EF4-FFF2-40B4-BE49-F238E27FC236}">
                <a16:creationId xmlns:a16="http://schemas.microsoft.com/office/drawing/2014/main" id="{DAAA16AF-8645-40C9-93E0-90E3B380E96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63991225"/>
              </p:ext>
            </p:extLst>
          </p:nvPr>
        </p:nvGraphicFramePr>
        <p:xfrm>
          <a:off x="661475" y="1870273"/>
          <a:ext cx="10868745" cy="2951088"/>
        </p:xfrm>
        <a:graphic>
          <a:graphicData uri="http://schemas.openxmlformats.org/drawingml/2006/table">
            <a:tbl>
              <a:tblPr/>
              <a:tblGrid>
                <a:gridCol w="13042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7374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7374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7374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04324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897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tr-TR" sz="1800" b="1" dirty="0">
                          <a:solidFill>
                            <a:srgbClr val="1E2A4E"/>
                          </a:solidFill>
                          <a:latin typeface="Calibri"/>
                          <a:ea typeface="Calibri"/>
                          <a:cs typeface="Calibri"/>
                        </a:rPr>
                        <a:t>Ev</a:t>
                      </a:r>
                      <a:endParaRPr lang="tr-TR" sz="1800"/>
                    </a:p>
                  </a:txBody>
                  <a:tcPr marL="177205" marR="177205" marT="6350" marB="6350" anchor="ctr">
                    <a:lnL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tr-TR" sz="1800" b="1" dirty="0">
                          <a:solidFill>
                            <a:srgbClr val="1E2A4E"/>
                          </a:solidFill>
                          <a:latin typeface="Calibri"/>
                          <a:ea typeface="Calibri"/>
                          <a:cs typeface="Calibri"/>
                        </a:rPr>
                        <a:t>Kayseri</a:t>
                      </a:r>
                      <a:endParaRPr lang="tr-TR" sz="1800"/>
                    </a:p>
                  </a:txBody>
                  <a:tcPr marL="177205" marR="177205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tr-TR" sz="1800" b="1" dirty="0">
                          <a:solidFill>
                            <a:srgbClr val="1E2A4E"/>
                          </a:solidFill>
                          <a:latin typeface="Calibri"/>
                          <a:ea typeface="Calibri"/>
                          <a:cs typeface="Calibri"/>
                        </a:rPr>
                        <a:t>Ankara</a:t>
                      </a:r>
                      <a:endParaRPr lang="tr-TR" sz="1800"/>
                    </a:p>
                  </a:txBody>
                  <a:tcPr marL="177205" marR="177205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tr-TR" sz="1800" b="1" dirty="0">
                          <a:solidFill>
                            <a:srgbClr val="1E2A4E"/>
                          </a:solidFill>
                          <a:latin typeface="Calibri"/>
                          <a:ea typeface="Calibri"/>
                          <a:cs typeface="Calibri"/>
                        </a:rPr>
                        <a:t>İstanbul</a:t>
                      </a:r>
                      <a:endParaRPr lang="tr-TR" sz="1800"/>
                    </a:p>
                  </a:txBody>
                  <a:tcPr marL="177205" marR="177205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tr-TR" sz="1800" b="1" dirty="0">
                          <a:solidFill>
                            <a:srgbClr val="1E2A4E"/>
                          </a:solidFill>
                          <a:latin typeface="Calibri"/>
                          <a:ea typeface="Calibri"/>
                          <a:cs typeface="Calibri"/>
                        </a:rPr>
                        <a:t>Orijinal şehir</a:t>
                      </a:r>
                      <a:endParaRPr lang="tr-TR" sz="1800"/>
                    </a:p>
                  </a:txBody>
                  <a:tcPr marL="177205" marR="177205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290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tr-TR" sz="1800" b="0" dirty="0">
                          <a:solidFill>
                            <a:srgbClr val="30343B"/>
                          </a:solidFill>
                          <a:latin typeface="Calibri"/>
                          <a:ea typeface="Calibri"/>
                          <a:cs typeface="Calibri"/>
                        </a:rPr>
                        <a:t>Ev 1</a:t>
                      </a:r>
                      <a:endParaRPr lang="tr-TR" sz="1800"/>
                    </a:p>
                  </a:txBody>
                  <a:tcPr marL="177205" marR="177205" marT="6350" marB="6350" anchor="ctr">
                    <a:lnL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tr-TR" sz="1800" b="0" dirty="0">
                          <a:solidFill>
                            <a:srgbClr val="30343B"/>
                          </a:solidFill>
                          <a:latin typeface="Calibri"/>
                          <a:ea typeface="Calibri"/>
                          <a:cs typeface="Calibri"/>
                        </a:rPr>
                        <a:t>1</a:t>
                      </a:r>
                      <a:endParaRPr lang="tr-TR" sz="1800"/>
                    </a:p>
                  </a:txBody>
                  <a:tcPr marL="177205" marR="177205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tr-TR" sz="1800" b="0" dirty="0">
                          <a:solidFill>
                            <a:srgbClr val="30343B"/>
                          </a:solidFill>
                          <a:latin typeface="Calibri"/>
                          <a:ea typeface="Calibri"/>
                          <a:cs typeface="Calibri"/>
                        </a:rPr>
                        <a:t>0</a:t>
                      </a:r>
                      <a:endParaRPr lang="tr-TR" sz="1800"/>
                    </a:p>
                  </a:txBody>
                  <a:tcPr marL="177205" marR="177205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tr-TR" sz="1800" b="0" dirty="0">
                          <a:solidFill>
                            <a:srgbClr val="30343B"/>
                          </a:solidFill>
                          <a:latin typeface="Calibri"/>
                          <a:ea typeface="Calibri"/>
                          <a:cs typeface="Calibri"/>
                        </a:rPr>
                        <a:t>0</a:t>
                      </a:r>
                      <a:endParaRPr lang="tr-TR" sz="1800"/>
                    </a:p>
                  </a:txBody>
                  <a:tcPr marL="177205" marR="177205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tr-TR" sz="1800" b="0" dirty="0">
                          <a:solidFill>
                            <a:srgbClr val="30343B"/>
                          </a:solidFill>
                          <a:latin typeface="Calibri"/>
                          <a:ea typeface="Calibri"/>
                          <a:cs typeface="Calibri"/>
                        </a:rPr>
                        <a:t>Kayseri</a:t>
                      </a:r>
                      <a:endParaRPr lang="tr-TR" sz="1800"/>
                    </a:p>
                  </a:txBody>
                  <a:tcPr marL="177205" marR="177205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290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tr-TR" sz="1800" b="0" dirty="0">
                          <a:solidFill>
                            <a:srgbClr val="30343B"/>
                          </a:solidFill>
                          <a:latin typeface="Calibri"/>
                          <a:ea typeface="Calibri"/>
                          <a:cs typeface="Calibri"/>
                        </a:rPr>
                        <a:t>Ev 2</a:t>
                      </a:r>
                      <a:endParaRPr lang="tr-TR" sz="1800"/>
                    </a:p>
                  </a:txBody>
                  <a:tcPr marL="177205" marR="177205" marT="6350" marB="6350" anchor="ctr">
                    <a:lnL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tr-TR" sz="1800" b="0" dirty="0">
                          <a:solidFill>
                            <a:srgbClr val="30343B"/>
                          </a:solidFill>
                          <a:latin typeface="Calibri"/>
                          <a:ea typeface="Calibri"/>
                          <a:cs typeface="Calibri"/>
                        </a:rPr>
                        <a:t>0</a:t>
                      </a:r>
                      <a:endParaRPr lang="tr-TR" sz="1800"/>
                    </a:p>
                  </a:txBody>
                  <a:tcPr marL="177205" marR="177205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tr-TR" sz="1800" b="0" dirty="0">
                          <a:solidFill>
                            <a:srgbClr val="30343B"/>
                          </a:solidFill>
                          <a:latin typeface="Calibri"/>
                          <a:ea typeface="Calibri"/>
                          <a:cs typeface="Calibri"/>
                        </a:rPr>
                        <a:t>1</a:t>
                      </a:r>
                      <a:endParaRPr lang="tr-TR" sz="1800"/>
                    </a:p>
                  </a:txBody>
                  <a:tcPr marL="177205" marR="177205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tr-TR" sz="1800" b="0" dirty="0">
                          <a:solidFill>
                            <a:srgbClr val="30343B"/>
                          </a:solidFill>
                          <a:latin typeface="Calibri"/>
                          <a:ea typeface="Calibri"/>
                          <a:cs typeface="Calibri"/>
                        </a:rPr>
                        <a:t>0</a:t>
                      </a:r>
                      <a:endParaRPr lang="tr-TR" sz="1800"/>
                    </a:p>
                  </a:txBody>
                  <a:tcPr marL="177205" marR="177205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tr-TR" sz="1800" b="0" dirty="0">
                          <a:solidFill>
                            <a:srgbClr val="30343B"/>
                          </a:solidFill>
                          <a:latin typeface="Calibri"/>
                          <a:ea typeface="Calibri"/>
                          <a:cs typeface="Calibri"/>
                        </a:rPr>
                        <a:t>Ankara</a:t>
                      </a:r>
                      <a:endParaRPr lang="tr-TR" sz="1800"/>
                    </a:p>
                  </a:txBody>
                  <a:tcPr marL="177205" marR="177205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290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tr-TR" sz="1800" b="0" dirty="0">
                          <a:solidFill>
                            <a:srgbClr val="30343B"/>
                          </a:solidFill>
                          <a:latin typeface="Calibri"/>
                          <a:ea typeface="Calibri"/>
                          <a:cs typeface="Calibri"/>
                        </a:rPr>
                        <a:t>Ev 3</a:t>
                      </a:r>
                      <a:endParaRPr lang="tr-TR" sz="1800"/>
                    </a:p>
                  </a:txBody>
                  <a:tcPr marL="177205" marR="177205" marT="6350" marB="6350" anchor="ctr">
                    <a:lnL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tr-TR" sz="1800" b="0" dirty="0">
                          <a:solidFill>
                            <a:srgbClr val="30343B"/>
                          </a:solidFill>
                          <a:latin typeface="Calibri"/>
                          <a:ea typeface="Calibri"/>
                          <a:cs typeface="Calibri"/>
                        </a:rPr>
                        <a:t>0</a:t>
                      </a:r>
                      <a:endParaRPr lang="tr-TR" sz="1800"/>
                    </a:p>
                  </a:txBody>
                  <a:tcPr marL="177205" marR="177205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tr-TR" sz="1800" b="0" dirty="0">
                          <a:solidFill>
                            <a:srgbClr val="30343B"/>
                          </a:solidFill>
                          <a:latin typeface="Calibri"/>
                          <a:ea typeface="Calibri"/>
                          <a:cs typeface="Calibri"/>
                        </a:rPr>
                        <a:t>0</a:t>
                      </a:r>
                      <a:endParaRPr lang="tr-TR" sz="1800"/>
                    </a:p>
                  </a:txBody>
                  <a:tcPr marL="177205" marR="177205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tr-TR" sz="1800" b="0" dirty="0">
                          <a:solidFill>
                            <a:srgbClr val="30343B"/>
                          </a:solidFill>
                          <a:latin typeface="Calibri"/>
                          <a:ea typeface="Calibri"/>
                          <a:cs typeface="Calibri"/>
                        </a:rPr>
                        <a:t>1</a:t>
                      </a:r>
                      <a:endParaRPr lang="tr-TR" sz="1800"/>
                    </a:p>
                  </a:txBody>
                  <a:tcPr marL="177205" marR="177205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tr-TR" sz="1800" b="0" dirty="0">
                          <a:solidFill>
                            <a:srgbClr val="30343B"/>
                          </a:solidFill>
                          <a:latin typeface="Calibri"/>
                          <a:ea typeface="Calibri"/>
                          <a:cs typeface="Calibri"/>
                        </a:rPr>
                        <a:t>İstanbul</a:t>
                      </a:r>
                      <a:endParaRPr lang="tr-TR" sz="1800"/>
                    </a:p>
                  </a:txBody>
                  <a:tcPr marL="177205" marR="177205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290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tr-TR" sz="1800" b="0" dirty="0">
                          <a:solidFill>
                            <a:srgbClr val="30343B"/>
                          </a:solidFill>
                          <a:latin typeface="Calibri"/>
                          <a:ea typeface="Calibri"/>
                          <a:cs typeface="Calibri"/>
                        </a:rPr>
                        <a:t>Ev 4</a:t>
                      </a:r>
                      <a:endParaRPr lang="tr-TR" sz="1800"/>
                    </a:p>
                  </a:txBody>
                  <a:tcPr marL="177205" marR="177205" marT="6350" marB="6350" anchor="ctr">
                    <a:lnL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tr-TR" sz="1800" b="0" dirty="0">
                          <a:solidFill>
                            <a:srgbClr val="30343B"/>
                          </a:solidFill>
                          <a:latin typeface="Calibri"/>
                          <a:ea typeface="Calibri"/>
                          <a:cs typeface="Calibri"/>
                        </a:rPr>
                        <a:t>1</a:t>
                      </a:r>
                      <a:endParaRPr lang="tr-TR" sz="1800"/>
                    </a:p>
                  </a:txBody>
                  <a:tcPr marL="177205" marR="177205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tr-TR" sz="1800" b="0" dirty="0">
                          <a:solidFill>
                            <a:srgbClr val="30343B"/>
                          </a:solidFill>
                          <a:latin typeface="Calibri"/>
                          <a:ea typeface="Calibri"/>
                          <a:cs typeface="Calibri"/>
                        </a:rPr>
                        <a:t>0</a:t>
                      </a:r>
                      <a:endParaRPr lang="tr-TR" sz="1800"/>
                    </a:p>
                  </a:txBody>
                  <a:tcPr marL="177205" marR="177205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tr-TR" sz="1800" b="0" dirty="0">
                          <a:solidFill>
                            <a:srgbClr val="30343B"/>
                          </a:solidFill>
                          <a:latin typeface="Calibri"/>
                          <a:ea typeface="Calibri"/>
                          <a:cs typeface="Calibri"/>
                        </a:rPr>
                        <a:t>0</a:t>
                      </a:r>
                      <a:endParaRPr lang="tr-TR" sz="1800"/>
                    </a:p>
                  </a:txBody>
                  <a:tcPr marL="177205" marR="177205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tr-TR" sz="1800" b="0" dirty="0">
                          <a:solidFill>
                            <a:srgbClr val="30343B"/>
                          </a:solidFill>
                          <a:latin typeface="Calibri"/>
                          <a:ea typeface="Calibri"/>
                          <a:cs typeface="Calibri"/>
                        </a:rPr>
                        <a:t>Kayseri</a:t>
                      </a:r>
                      <a:endParaRPr lang="tr-TR" sz="1800"/>
                    </a:p>
                  </a:txBody>
                  <a:tcPr marL="177205" marR="177205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97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tr-TR" sz="1800" b="0" dirty="0">
                          <a:solidFill>
                            <a:srgbClr val="30343B"/>
                          </a:solidFill>
                          <a:latin typeface="Calibri"/>
                          <a:ea typeface="Calibri"/>
                          <a:cs typeface="Calibri"/>
                        </a:rPr>
                        <a:t>Ev 5</a:t>
                      </a:r>
                      <a:endParaRPr lang="tr-TR" sz="1800"/>
                    </a:p>
                  </a:txBody>
                  <a:tcPr marL="177205" marR="177205" marT="6350" marB="6350" anchor="ctr">
                    <a:lnL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tr-TR" sz="1800" b="0" dirty="0">
                          <a:solidFill>
                            <a:srgbClr val="30343B"/>
                          </a:solidFill>
                          <a:latin typeface="Calibri"/>
                          <a:ea typeface="Calibri"/>
                          <a:cs typeface="Calibri"/>
                        </a:rPr>
                        <a:t>0</a:t>
                      </a:r>
                      <a:endParaRPr lang="tr-TR" sz="1800"/>
                    </a:p>
                  </a:txBody>
                  <a:tcPr marL="177205" marR="177205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tr-TR" sz="1800" b="0" dirty="0">
                          <a:solidFill>
                            <a:srgbClr val="30343B"/>
                          </a:solidFill>
                          <a:latin typeface="Calibri"/>
                          <a:ea typeface="Calibri"/>
                          <a:cs typeface="Calibri"/>
                        </a:rPr>
                        <a:t>0</a:t>
                      </a:r>
                      <a:endParaRPr lang="tr-TR" sz="1800"/>
                    </a:p>
                  </a:txBody>
                  <a:tcPr marL="177205" marR="177205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tr-TR" sz="1800" b="0" dirty="0">
                          <a:solidFill>
                            <a:srgbClr val="30343B"/>
                          </a:solidFill>
                          <a:latin typeface="Calibri"/>
                          <a:ea typeface="Calibri"/>
                          <a:cs typeface="Calibri"/>
                        </a:rPr>
                        <a:t>1</a:t>
                      </a:r>
                      <a:endParaRPr lang="tr-TR" sz="1800"/>
                    </a:p>
                  </a:txBody>
                  <a:tcPr marL="177205" marR="177205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tr-TR" sz="1800" b="0" dirty="0">
                          <a:solidFill>
                            <a:srgbClr val="30343B"/>
                          </a:solidFill>
                          <a:latin typeface="Calibri"/>
                          <a:ea typeface="Calibri"/>
                          <a:cs typeface="Calibri"/>
                        </a:rPr>
                        <a:t>İstanbul</a:t>
                      </a:r>
                      <a:endParaRPr lang="tr-TR" sz="1800"/>
                    </a:p>
                  </a:txBody>
                  <a:tcPr marL="177205" marR="177205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0" name="Shape 9">
            <a:extLst>
              <a:ext uri="{FF2B5EF4-FFF2-40B4-BE49-F238E27FC236}">
                <a16:creationId xmlns:a16="http://schemas.microsoft.com/office/drawing/2014/main" id="{E134B156-D85E-4736-9954-0678FF6F59FD}"/>
              </a:ext>
            </a:extLst>
          </p:cNvPr>
          <p:cNvSpPr/>
          <p:nvPr/>
        </p:nvSpPr>
        <p:spPr>
          <a:xfrm>
            <a:off x="6654833" y="5084182"/>
            <a:ext cx="4743410" cy="1479550"/>
          </a:xfrm>
          <a:prstGeom prst="roundRect">
            <a:avLst>
              <a:gd name="adj" fmla="val 10848"/>
            </a:avLst>
          </a:prstGeom>
          <a:solidFill>
            <a:srgbClr val="F5F2E3"/>
          </a:solidFill>
          <a:ln/>
        </p:spPr>
      </p:sp>
      <p:sp>
        <p:nvSpPr>
          <p:cNvPr id="9" name="Shape 9">
            <a:extLst>
              <a:ext uri="{FF2B5EF4-FFF2-40B4-BE49-F238E27FC236}">
                <a16:creationId xmlns:a16="http://schemas.microsoft.com/office/drawing/2014/main" id="{8741A99B-5064-4988-AD2C-530A292F08CB}"/>
              </a:ext>
            </a:extLst>
          </p:cNvPr>
          <p:cNvSpPr/>
          <p:nvPr/>
        </p:nvSpPr>
        <p:spPr>
          <a:xfrm>
            <a:off x="928167" y="5084182"/>
            <a:ext cx="4609002" cy="1479550"/>
          </a:xfrm>
          <a:prstGeom prst="roundRect">
            <a:avLst>
              <a:gd name="adj" fmla="val 10848"/>
            </a:avLst>
          </a:prstGeom>
          <a:solidFill>
            <a:srgbClr val="F5F2E3"/>
          </a:solidFill>
          <a:ln/>
        </p:spPr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FA636C72-5300-45C3-8A6F-57141A557E80}"/>
              </a:ext>
            </a:extLst>
          </p:cNvPr>
          <p:cNvSpPr/>
          <p:nvPr/>
        </p:nvSpPr>
        <p:spPr>
          <a:xfrm>
            <a:off x="1067868" y="5172189"/>
            <a:ext cx="421957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tr-TR" sz="2000" b="1" dirty="0">
                <a:solidFill>
                  <a:srgbClr val="30343B"/>
                </a:solidFill>
                <a:latin typeface="Calibri"/>
                <a:ea typeface="Calibri"/>
                <a:cs typeface="Calibri"/>
              </a:rPr>
              <a:t>Sırasız kategoriler</a:t>
            </a:r>
            <a:endParaRPr lang="tr-TR" sz="200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6ACDEC2D-3B1D-456B-960E-563D83610C49}"/>
              </a:ext>
            </a:extLst>
          </p:cNvPr>
          <p:cNvSpPr/>
          <p:nvPr/>
        </p:nvSpPr>
        <p:spPr>
          <a:xfrm>
            <a:off x="1067868" y="5615200"/>
            <a:ext cx="4266125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tr-TR" sz="1900" b="0" dirty="0">
                <a:solidFill>
                  <a:srgbClr val="30343B"/>
                </a:solidFill>
                <a:latin typeface="Calibri"/>
                <a:ea typeface="Calibri"/>
                <a:cs typeface="Calibri"/>
              </a:rPr>
              <a:t>Şehir, renk veya marka gibi</a:t>
            </a:r>
            <a:endParaRPr lang="tr-TR" sz="1900"/>
          </a:p>
          <a:p>
            <a:pPr marL="0" indent="0" algn="l">
              <a:lnSpc>
                <a:spcPct val="129000"/>
              </a:lnSpc>
              <a:buNone/>
            </a:pPr>
            <a:r>
              <a:rPr lang="tr-TR" sz="1900" b="0" dirty="0">
                <a:solidFill>
                  <a:srgbClr val="30343B"/>
                </a:solidFill>
                <a:latin typeface="Calibri"/>
                <a:ea typeface="Calibri"/>
                <a:cs typeface="Calibri"/>
              </a:rPr>
              <a:t>kategoriler için kullanılabilir.</a:t>
            </a:r>
            <a:endParaRPr lang="tr-TR" sz="190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36E08794-869A-40EA-A456-493E1E7A4AED}"/>
              </a:ext>
            </a:extLst>
          </p:cNvPr>
          <p:cNvSpPr/>
          <p:nvPr/>
        </p:nvSpPr>
        <p:spPr>
          <a:xfrm>
            <a:off x="6762750" y="5165839"/>
            <a:ext cx="452437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tr-TR" sz="2000" b="1" dirty="0">
                <a:solidFill>
                  <a:srgbClr val="30343B"/>
                </a:solidFill>
                <a:latin typeface="Calibri"/>
                <a:ea typeface="Calibri"/>
                <a:cs typeface="Calibri"/>
              </a:rPr>
              <a:t>Anlamı korur</a:t>
            </a:r>
            <a:endParaRPr lang="tr-TR" sz="200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9507F050-24D4-4BB4-8C37-1043A6C909AE}"/>
              </a:ext>
            </a:extLst>
          </p:cNvPr>
          <p:cNvSpPr/>
          <p:nvPr/>
        </p:nvSpPr>
        <p:spPr>
          <a:xfrm>
            <a:off x="6724683" y="5621551"/>
            <a:ext cx="474341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tr-TR" sz="1900" b="0" dirty="0">
                <a:solidFill>
                  <a:srgbClr val="30343B"/>
                </a:solidFill>
                <a:latin typeface="Calibri"/>
                <a:ea typeface="Calibri"/>
                <a:cs typeface="Calibri"/>
              </a:rPr>
              <a:t>Yapay bir sıra oluşturmaz.</a:t>
            </a:r>
            <a:endParaRPr lang="tr-TR" sz="1900"/>
          </a:p>
          <a:p>
            <a:pPr marL="0" indent="0" algn="l">
              <a:lnSpc>
                <a:spcPct val="129000"/>
              </a:lnSpc>
              <a:buNone/>
            </a:pPr>
            <a:r>
              <a:rPr lang="tr-TR" sz="1900" b="0" dirty="0">
                <a:solidFill>
                  <a:srgbClr val="30343B"/>
                </a:solidFill>
                <a:latin typeface="Calibri"/>
                <a:ea typeface="Calibri"/>
                <a:cs typeface="Calibri"/>
              </a:rPr>
              <a:t>Kategori sayısı arttıkça sütunlar artar.</a:t>
            </a:r>
            <a:endParaRPr lang="tr-TR" sz="1900"/>
          </a:p>
        </p:txBody>
      </p:sp>
      <p:sp>
        <p:nvSpPr>
          <p:cNvPr id="8" name="Text 1">
            <a:extLst>
              <a:ext uri="{FF2B5EF4-FFF2-40B4-BE49-F238E27FC236}">
                <a16:creationId xmlns:a16="http://schemas.microsoft.com/office/drawing/2014/main" id="{05680C23-3CDC-49B2-AD50-F4AA468D245B}"/>
              </a:ext>
            </a:extLst>
          </p:cNvPr>
          <p:cNvSpPr/>
          <p:nvPr/>
        </p:nvSpPr>
        <p:spPr>
          <a:xfrm>
            <a:off x="661475" y="1057275"/>
            <a:ext cx="11478330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tr-TR" sz="2000" b="0" dirty="0">
                <a:solidFill>
                  <a:srgbClr val="30343B"/>
                </a:solidFill>
                <a:latin typeface="Calibri"/>
                <a:ea typeface="Calibri"/>
                <a:cs typeface="Calibri"/>
              </a:rPr>
              <a:t>Her şehir için ayrı bir 0/1 sütunu (tüm şehirler yalnızca kavramı göstermek için listelendi).</a:t>
            </a:r>
            <a:endParaRPr lang="tr-TR" sz="2000" dirty="0"/>
          </a:p>
        </p:txBody>
      </p:sp>
    </p:spTree>
    <p:extLst>
      <p:ext uri="{BB962C8B-B14F-4D97-AF65-F5344CB8AC3E}">
        <p14:creationId xmlns:p14="http://schemas.microsoft.com/office/powerpoint/2010/main" val="277585750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A8841055-EFFA-4932-83C9-214CFA469EC0}"/>
              </a:ext>
            </a:extLst>
          </p:cNvPr>
          <p:cNvSpPr/>
          <p:nvPr/>
        </p:nvSpPr>
        <p:spPr>
          <a:xfrm>
            <a:off x="457200" y="285750"/>
            <a:ext cx="112395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tr-TR" sz="3200" b="1" dirty="0">
                <a:solidFill>
                  <a:srgbClr val="1E2A4E"/>
                </a:solidFill>
                <a:latin typeface="Calibri"/>
                <a:ea typeface="Calibri"/>
                <a:cs typeface="Calibri"/>
              </a:rPr>
              <a:t>Kodlama yöntemi seçimi</a:t>
            </a:r>
            <a:endParaRPr lang="tr-TR" sz="3200"/>
          </a:p>
        </p:txBody>
      </p:sp>
      <p:sp>
        <p:nvSpPr>
          <p:cNvPr id="13" name="Text 6">
            <a:extLst>
              <a:ext uri="{FF2B5EF4-FFF2-40B4-BE49-F238E27FC236}">
                <a16:creationId xmlns:a16="http://schemas.microsoft.com/office/drawing/2014/main" id="{058D8E71-8D60-4563-900F-AD5AD9B7A8D6}"/>
              </a:ext>
            </a:extLst>
          </p:cNvPr>
          <p:cNvSpPr/>
          <p:nvPr/>
        </p:nvSpPr>
        <p:spPr>
          <a:xfrm>
            <a:off x="6025206" y="4666939"/>
            <a:ext cx="6166794" cy="8087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1000"/>
              </a:lnSpc>
              <a:buNone/>
            </a:pPr>
            <a:endParaRPr lang="tr-TR" b="1" dirty="0">
              <a:solidFill>
                <a:srgbClr val="000000"/>
              </a:solidFill>
              <a:ea typeface="Calibri" pitchFamily="34" charset="-122"/>
              <a:cs typeface="Calibri" pitchFamily="34" charset="-120"/>
            </a:endParaRPr>
          </a:p>
        </p:txBody>
      </p:sp>
      <p:pic>
        <p:nvPicPr>
          <p:cNvPr id="20" name="Image 0" descr="preencoded.png">
            <a:extLst>
              <a:ext uri="{FF2B5EF4-FFF2-40B4-BE49-F238E27FC236}">
                <a16:creationId xmlns:a16="http://schemas.microsoft.com/office/drawing/2014/main" id="{1B930C04-9C03-4500-BCD8-49716DD754D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151" t="7761" r="1311" b="9296"/>
          <a:stretch/>
        </p:blipFill>
        <p:spPr>
          <a:xfrm>
            <a:off x="364552" y="1389321"/>
            <a:ext cx="5184618" cy="4408968"/>
          </a:xfrm>
          <a:prstGeom prst="rect">
            <a:avLst/>
          </a:prstGeom>
        </p:spPr>
      </p:pic>
      <p:sp>
        <p:nvSpPr>
          <p:cNvPr id="22" name="Text 1">
            <a:extLst>
              <a:ext uri="{FF2B5EF4-FFF2-40B4-BE49-F238E27FC236}">
                <a16:creationId xmlns:a16="http://schemas.microsoft.com/office/drawing/2014/main" id="{88373A26-DABA-46E5-BEA5-8A6DA86400FD}"/>
              </a:ext>
            </a:extLst>
          </p:cNvPr>
          <p:cNvSpPr/>
          <p:nvPr/>
        </p:nvSpPr>
        <p:spPr>
          <a:xfrm>
            <a:off x="5676167" y="1579671"/>
            <a:ext cx="5752398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tr-TR" sz="2000" b="1" dirty="0">
                <a:solidFill>
                  <a:srgbClr val="30343B"/>
                </a:solidFill>
                <a:latin typeface="Calibri"/>
                <a:ea typeface="Calibri"/>
                <a:cs typeface="Calibri"/>
              </a:rPr>
              <a:t>Ev fiyatları örneğinde</a:t>
            </a:r>
            <a:endParaRPr lang="tr-TR" sz="2000"/>
          </a:p>
        </p:txBody>
      </p:sp>
      <p:sp>
        <p:nvSpPr>
          <p:cNvPr id="23" name="Text 2">
            <a:extLst>
              <a:ext uri="{FF2B5EF4-FFF2-40B4-BE49-F238E27FC236}">
                <a16:creationId xmlns:a16="http://schemas.microsoft.com/office/drawing/2014/main" id="{17E8962B-93CA-49E9-984D-6E9466D01F0E}"/>
              </a:ext>
            </a:extLst>
          </p:cNvPr>
          <p:cNvSpPr/>
          <p:nvPr/>
        </p:nvSpPr>
        <p:spPr>
          <a:xfrm>
            <a:off x="5676167" y="2141492"/>
            <a:ext cx="641208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1000"/>
              </a:lnSpc>
              <a:buNone/>
            </a:pPr>
            <a:r>
              <a:rPr lang="tr-TR" sz="2000" b="0" dirty="0">
                <a:solidFill>
                  <a:srgbClr val="30343B"/>
                </a:solidFill>
                <a:latin typeface="Calibri"/>
                <a:ea typeface="Calibri"/>
                <a:cs typeface="Calibri"/>
              </a:rPr>
              <a:t>Şehir sırasız bir kategoridir.</a:t>
            </a:r>
            <a:endParaRPr lang="tr-TR" sz="2000"/>
          </a:p>
        </p:txBody>
      </p:sp>
      <p:sp>
        <p:nvSpPr>
          <p:cNvPr id="24" name="Shape 3">
            <a:extLst>
              <a:ext uri="{FF2B5EF4-FFF2-40B4-BE49-F238E27FC236}">
                <a16:creationId xmlns:a16="http://schemas.microsoft.com/office/drawing/2014/main" id="{FD2331AB-D116-4D7C-A5D0-993151364B3F}"/>
              </a:ext>
            </a:extLst>
          </p:cNvPr>
          <p:cNvSpPr/>
          <p:nvPr/>
        </p:nvSpPr>
        <p:spPr>
          <a:xfrm>
            <a:off x="5676057" y="2607812"/>
            <a:ext cx="3081014" cy="1792815"/>
          </a:xfrm>
          <a:prstGeom prst="roundRect">
            <a:avLst>
              <a:gd name="adj" fmla="val 6335"/>
            </a:avLst>
          </a:prstGeom>
          <a:solidFill>
            <a:srgbClr val="E1E1EA">
              <a:alpha val="45000"/>
            </a:srgbClr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25" name="Text 4">
            <a:extLst>
              <a:ext uri="{FF2B5EF4-FFF2-40B4-BE49-F238E27FC236}">
                <a16:creationId xmlns:a16="http://schemas.microsoft.com/office/drawing/2014/main" id="{706873AD-8006-431E-944C-AAF77F294094}"/>
              </a:ext>
            </a:extLst>
          </p:cNvPr>
          <p:cNvSpPr/>
          <p:nvPr/>
        </p:nvSpPr>
        <p:spPr>
          <a:xfrm>
            <a:off x="5724978" y="2719913"/>
            <a:ext cx="2886075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tr-TR" sz="2000" b="1" dirty="0">
                <a:solidFill>
                  <a:srgbClr val="30343B"/>
                </a:solidFill>
                <a:latin typeface="Calibri"/>
                <a:ea typeface="Calibri"/>
                <a:cs typeface="Calibri"/>
              </a:rPr>
              <a:t>Ordinal kodlama</a:t>
            </a:r>
            <a:endParaRPr lang="tr-TR" sz="2000"/>
          </a:p>
        </p:txBody>
      </p:sp>
      <p:sp>
        <p:nvSpPr>
          <p:cNvPr id="26" name="Text 5">
            <a:extLst>
              <a:ext uri="{FF2B5EF4-FFF2-40B4-BE49-F238E27FC236}">
                <a16:creationId xmlns:a16="http://schemas.microsoft.com/office/drawing/2014/main" id="{E963F79A-C0BD-4EB6-B2EF-53110B261C75}"/>
              </a:ext>
            </a:extLst>
          </p:cNvPr>
          <p:cNvSpPr/>
          <p:nvPr/>
        </p:nvSpPr>
        <p:spPr>
          <a:xfrm>
            <a:off x="5724978" y="3371850"/>
            <a:ext cx="2800168" cy="866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1000"/>
              </a:lnSpc>
              <a:buNone/>
            </a:pPr>
            <a:r>
              <a:rPr lang="tr-TR" sz="1800" b="0" dirty="0">
                <a:solidFill>
                  <a:srgbClr val="30343B"/>
                </a:solidFill>
                <a:latin typeface="Calibri"/>
                <a:ea typeface="Calibri"/>
                <a:cs typeface="Calibri"/>
              </a:rPr>
              <a:t>Şehirler arasında yapay sıra</a:t>
            </a:r>
            <a:endParaRPr lang="tr-TR" sz="1800"/>
          </a:p>
          <a:p>
            <a:pPr marL="0" indent="0" algn="l">
              <a:lnSpc>
                <a:spcPct val="101000"/>
              </a:lnSpc>
              <a:buNone/>
            </a:pPr>
            <a:r>
              <a:rPr lang="tr-TR" sz="1800" b="0" dirty="0">
                <a:solidFill>
                  <a:srgbClr val="30343B"/>
                </a:solidFill>
                <a:latin typeface="Calibri"/>
                <a:ea typeface="Calibri"/>
                <a:cs typeface="Calibri"/>
              </a:rPr>
              <a:t>oluşturabilir.</a:t>
            </a:r>
            <a:endParaRPr lang="tr-TR" sz="1800"/>
          </a:p>
        </p:txBody>
      </p:sp>
      <p:sp>
        <p:nvSpPr>
          <p:cNvPr id="27" name="Shape 6">
            <a:extLst>
              <a:ext uri="{FF2B5EF4-FFF2-40B4-BE49-F238E27FC236}">
                <a16:creationId xmlns:a16="http://schemas.microsoft.com/office/drawing/2014/main" id="{AE86B330-A28F-4861-9E72-D8564915F8B0}"/>
              </a:ext>
            </a:extLst>
          </p:cNvPr>
          <p:cNvSpPr/>
          <p:nvPr/>
        </p:nvSpPr>
        <p:spPr>
          <a:xfrm>
            <a:off x="8973965" y="2590278"/>
            <a:ext cx="3081014" cy="1792815"/>
          </a:xfrm>
          <a:prstGeom prst="roundRect">
            <a:avLst>
              <a:gd name="adj" fmla="val 6335"/>
            </a:avLst>
          </a:prstGeom>
          <a:solidFill>
            <a:srgbClr val="E1E1EA">
              <a:alpha val="45000"/>
            </a:srgbClr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28" name="Text 7">
            <a:extLst>
              <a:ext uri="{FF2B5EF4-FFF2-40B4-BE49-F238E27FC236}">
                <a16:creationId xmlns:a16="http://schemas.microsoft.com/office/drawing/2014/main" id="{7603087D-0B2F-47B3-AF19-B13CCF884D0C}"/>
              </a:ext>
            </a:extLst>
          </p:cNvPr>
          <p:cNvSpPr/>
          <p:nvPr/>
        </p:nvSpPr>
        <p:spPr>
          <a:xfrm>
            <a:off x="9077325" y="2724563"/>
            <a:ext cx="2762250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tr-TR" sz="2000" b="1" dirty="0">
                <a:solidFill>
                  <a:srgbClr val="30343B"/>
                </a:solidFill>
                <a:latin typeface="Calibri"/>
                <a:ea typeface="Calibri"/>
                <a:cs typeface="Calibri"/>
              </a:rPr>
              <a:t>One-hot kodlama</a:t>
            </a:r>
            <a:endParaRPr lang="tr-TR" sz="2000"/>
          </a:p>
        </p:txBody>
      </p:sp>
      <p:sp>
        <p:nvSpPr>
          <p:cNvPr id="29" name="Text 8">
            <a:extLst>
              <a:ext uri="{FF2B5EF4-FFF2-40B4-BE49-F238E27FC236}">
                <a16:creationId xmlns:a16="http://schemas.microsoft.com/office/drawing/2014/main" id="{D97F9D78-12C6-4D9C-9DAD-7916E853711F}"/>
              </a:ext>
            </a:extLst>
          </p:cNvPr>
          <p:cNvSpPr/>
          <p:nvPr/>
        </p:nvSpPr>
        <p:spPr>
          <a:xfrm>
            <a:off x="9108603" y="3371850"/>
            <a:ext cx="2904918" cy="866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1000"/>
              </a:lnSpc>
              <a:buNone/>
            </a:pPr>
            <a:r>
              <a:rPr lang="tr-TR" sz="1800" b="0" dirty="0">
                <a:solidFill>
                  <a:srgbClr val="30343B"/>
                </a:solidFill>
                <a:latin typeface="Calibri"/>
                <a:ea typeface="Calibri"/>
                <a:cs typeface="Calibri"/>
              </a:rPr>
              <a:t>Bu örnekte şehirleri ayrı</a:t>
            </a:r>
            <a:endParaRPr lang="tr-TR" sz="1800"/>
          </a:p>
          <a:p>
            <a:pPr marL="0" indent="0" algn="l">
              <a:lnSpc>
                <a:spcPct val="101000"/>
              </a:lnSpc>
              <a:buNone/>
            </a:pPr>
            <a:r>
              <a:rPr lang="tr-TR" sz="1800" b="0" dirty="0">
                <a:solidFill>
                  <a:srgbClr val="30343B"/>
                </a:solidFill>
                <a:latin typeface="Calibri"/>
                <a:ea typeface="Calibri"/>
                <a:cs typeface="Calibri"/>
              </a:rPr>
              <a:t>sütunlarla temsil ediyoruz.</a:t>
            </a:r>
            <a:endParaRPr lang="tr-TR" sz="1800"/>
          </a:p>
        </p:txBody>
      </p:sp>
      <p:sp>
        <p:nvSpPr>
          <p:cNvPr id="30" name="Shape 9">
            <a:extLst>
              <a:ext uri="{FF2B5EF4-FFF2-40B4-BE49-F238E27FC236}">
                <a16:creationId xmlns:a16="http://schemas.microsoft.com/office/drawing/2014/main" id="{BCD14048-D264-4E31-BC64-932303A6774D}"/>
              </a:ext>
            </a:extLst>
          </p:cNvPr>
          <p:cNvSpPr/>
          <p:nvPr/>
        </p:nvSpPr>
        <p:spPr>
          <a:xfrm>
            <a:off x="5676058" y="4586816"/>
            <a:ext cx="6378921" cy="604993"/>
          </a:xfrm>
          <a:prstGeom prst="roundRect">
            <a:avLst>
              <a:gd name="adj" fmla="val 15929"/>
            </a:avLst>
          </a:prstGeom>
          <a:solidFill>
            <a:srgbClr val="E1E1EA">
              <a:alpha val="45000"/>
            </a:srgbClr>
          </a:solidFill>
          <a:ln/>
        </p:spPr>
      </p:sp>
      <p:sp>
        <p:nvSpPr>
          <p:cNvPr id="32" name="Text 10">
            <a:extLst>
              <a:ext uri="{FF2B5EF4-FFF2-40B4-BE49-F238E27FC236}">
                <a16:creationId xmlns:a16="http://schemas.microsoft.com/office/drawing/2014/main" id="{9B0DA8BF-6438-4A48-B44D-77B9F213F578}"/>
              </a:ext>
            </a:extLst>
          </p:cNvPr>
          <p:cNvSpPr/>
          <p:nvPr/>
        </p:nvSpPr>
        <p:spPr>
          <a:xfrm>
            <a:off x="5867400" y="4772025"/>
            <a:ext cx="5915025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1000"/>
              </a:lnSpc>
              <a:buNone/>
            </a:pPr>
            <a:r>
              <a:rPr lang="tr-TR" sz="1800" b="0" dirty="0">
                <a:solidFill>
                  <a:srgbClr val="30343B"/>
                </a:solidFill>
                <a:latin typeface="Calibri"/>
                <a:ea typeface="Calibri"/>
                <a:cs typeface="Calibri"/>
              </a:rPr>
              <a:t>Sıralı: ordinal. Sırasız: bu örnekte one-hot.</a:t>
            </a:r>
            <a:endParaRPr lang="tr-TR" sz="1800"/>
          </a:p>
        </p:txBody>
      </p:sp>
      <p:sp>
        <p:nvSpPr>
          <p:cNvPr id="100" name="Ordinal Encoding"/>
          <p:cNvSpPr txBox="1"/>
          <p:nvPr/>
        </p:nvSpPr>
        <p:spPr>
          <a:xfrm>
            <a:off x="800100" y="1543050"/>
            <a:ext cx="1504950" cy="2381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lIns="0" tIns="0" rIns="0" bIns="0">
            <a:noAutofit/>
          </a:bodyPr>
          <a:lstStyle/>
          <a:p>
            <a:pPr marL="0" indent="0" algn="ctr"/>
            <a:r>
              <a:rPr lang="tr-TR" sz="1400" b="1" dirty="0" err="1">
                <a:solidFill>
                  <a:srgbClr val="30343B"/>
                </a:solidFill>
                <a:latin typeface="Calibri"/>
                <a:ea typeface="Calibri"/>
                <a:cs typeface="Calibri"/>
              </a:rPr>
              <a:t>Ordinal</a:t>
            </a:r>
            <a:r>
              <a:rPr lang="tr-TR" sz="1400" b="1" dirty="0">
                <a:solidFill>
                  <a:srgbClr val="30343B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tr-TR" sz="1400" b="1" dirty="0" err="1">
                <a:solidFill>
                  <a:srgbClr val="30343B"/>
                </a:solidFill>
                <a:latin typeface="Calibri"/>
                <a:ea typeface="Calibri"/>
                <a:cs typeface="Calibri"/>
              </a:rPr>
              <a:t>Encoding</a:t>
            </a:r>
            <a:endParaRPr lang="tr-TR" sz="1400" dirty="0"/>
          </a:p>
        </p:txBody>
      </p:sp>
    </p:spTree>
    <p:extLst>
      <p:ext uri="{BB962C8B-B14F-4D97-AF65-F5344CB8AC3E}">
        <p14:creationId xmlns:p14="http://schemas.microsoft.com/office/powerpoint/2010/main" val="285516861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C8B9395B-25F3-4261-8DF1-B362EFE6F238}"/>
              </a:ext>
            </a:extLst>
          </p:cNvPr>
          <p:cNvSpPr/>
          <p:nvPr/>
        </p:nvSpPr>
        <p:spPr>
          <a:xfrm>
            <a:off x="457200" y="285750"/>
            <a:ext cx="112395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tr-TR" sz="3200" b="1" dirty="0">
                <a:solidFill>
                  <a:srgbClr val="1E2A4E"/>
                </a:solidFill>
                <a:latin typeface="Calibri"/>
                <a:ea typeface="Calibri"/>
                <a:cs typeface="Calibri"/>
              </a:rPr>
              <a:t>Sayısal girdileri ölçekleme</a:t>
            </a:r>
            <a:endParaRPr lang="tr-TR" sz="320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B07F699E-275A-4686-B1F9-F53922BA0273}"/>
              </a:ext>
            </a:extLst>
          </p:cNvPr>
          <p:cNvSpPr/>
          <p:nvPr/>
        </p:nvSpPr>
        <p:spPr>
          <a:xfrm>
            <a:off x="474154" y="1127819"/>
            <a:ext cx="466725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tr-TR" sz="2000" b="1" dirty="0">
                <a:solidFill>
                  <a:srgbClr val="30343B"/>
                </a:solidFill>
                <a:latin typeface="Calibri"/>
                <a:ea typeface="Calibri"/>
                <a:cs typeface="Calibri"/>
              </a:rPr>
              <a:t>Girdilerin aralıkları farklı</a:t>
            </a:r>
            <a:endParaRPr lang="tr-TR" sz="2000"/>
          </a:p>
        </p:txBody>
      </p:sp>
      <p:pic>
        <p:nvPicPr>
          <p:cNvPr id="4" name="Image 0" descr="preencoded.png">
            <a:extLst>
              <a:ext uri="{FF2B5EF4-FFF2-40B4-BE49-F238E27FC236}">
                <a16:creationId xmlns:a16="http://schemas.microsoft.com/office/drawing/2014/main" id="{C7C38E5B-30F1-4713-833D-4CCD9BB1B08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1901527"/>
            <a:ext cx="3537060" cy="1042194"/>
          </a:xfrm>
          <a:prstGeom prst="rect">
            <a:avLst/>
          </a:prstGeom>
        </p:spPr>
      </p:pic>
      <p:sp>
        <p:nvSpPr>
          <p:cNvPr id="5" name="Text 2">
            <a:extLst>
              <a:ext uri="{FF2B5EF4-FFF2-40B4-BE49-F238E27FC236}">
                <a16:creationId xmlns:a16="http://schemas.microsoft.com/office/drawing/2014/main" id="{23B226AB-EA09-4BCC-A96C-18759ABADADE}"/>
              </a:ext>
            </a:extLst>
          </p:cNvPr>
          <p:cNvSpPr/>
          <p:nvPr/>
        </p:nvSpPr>
        <p:spPr>
          <a:xfrm>
            <a:off x="924993" y="2088852"/>
            <a:ext cx="3086221" cy="2630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b="1" dirty="0">
                <a:solidFill>
                  <a:srgbClr val="3C3939"/>
                </a:solidFill>
                <a:ea typeface="Calibri" pitchFamily="34" charset="-122"/>
                <a:cs typeface="Calibri" pitchFamily="34" charset="-120"/>
              </a:rPr>
              <a:t>Yaş</a:t>
            </a:r>
            <a:endParaRPr lang="en-US" sz="2000" b="1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9B392C4C-F695-4935-B69D-8496A4061B83}"/>
              </a:ext>
            </a:extLst>
          </p:cNvPr>
          <p:cNvSpPr/>
          <p:nvPr/>
        </p:nvSpPr>
        <p:spPr>
          <a:xfrm>
            <a:off x="924993" y="2501801"/>
            <a:ext cx="3086221" cy="2545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2000" dirty="0">
                <a:solidFill>
                  <a:srgbClr val="3C3939"/>
                </a:solidFill>
                <a:ea typeface="Calibri" pitchFamily="34" charset="-122"/>
                <a:cs typeface="Calibri" pitchFamily="34" charset="-120"/>
              </a:rPr>
              <a:t>5–40 (aralık: 35)</a:t>
            </a:r>
            <a:endParaRPr lang="en-US" sz="2000" dirty="0"/>
          </a:p>
        </p:txBody>
      </p:sp>
      <p:pic>
        <p:nvPicPr>
          <p:cNvPr id="7" name="Image 1" descr="preencoded.png">
            <a:extLst>
              <a:ext uri="{FF2B5EF4-FFF2-40B4-BE49-F238E27FC236}">
                <a16:creationId xmlns:a16="http://schemas.microsoft.com/office/drawing/2014/main" id="{0BAC0590-109A-4FAF-86AF-1BAC00DCEA4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3093641"/>
            <a:ext cx="3537060" cy="1042194"/>
          </a:xfrm>
          <a:prstGeom prst="rect">
            <a:avLst/>
          </a:prstGeom>
        </p:spPr>
      </p:pic>
      <p:sp>
        <p:nvSpPr>
          <p:cNvPr id="8" name="Text 4">
            <a:extLst>
              <a:ext uri="{FF2B5EF4-FFF2-40B4-BE49-F238E27FC236}">
                <a16:creationId xmlns:a16="http://schemas.microsoft.com/office/drawing/2014/main" id="{35FB60EC-8935-423B-9F66-CC3FD3D27340}"/>
              </a:ext>
            </a:extLst>
          </p:cNvPr>
          <p:cNvSpPr/>
          <p:nvPr/>
        </p:nvSpPr>
        <p:spPr>
          <a:xfrm>
            <a:off x="924993" y="3280966"/>
            <a:ext cx="3086221" cy="2630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b="1" dirty="0">
                <a:solidFill>
                  <a:srgbClr val="3C3939"/>
                </a:solidFill>
                <a:ea typeface="Calibri" pitchFamily="34" charset="-122"/>
                <a:cs typeface="Calibri" pitchFamily="34" charset="-120"/>
              </a:rPr>
              <a:t>m²</a:t>
            </a:r>
            <a:endParaRPr lang="en-US" sz="2000" b="1" dirty="0"/>
          </a:p>
        </p:txBody>
      </p:sp>
      <p:sp>
        <p:nvSpPr>
          <p:cNvPr id="9" name="Text 5">
            <a:extLst>
              <a:ext uri="{FF2B5EF4-FFF2-40B4-BE49-F238E27FC236}">
                <a16:creationId xmlns:a16="http://schemas.microsoft.com/office/drawing/2014/main" id="{9A66EA3B-FD17-4564-AADF-CF65D8EB0DC2}"/>
              </a:ext>
            </a:extLst>
          </p:cNvPr>
          <p:cNvSpPr/>
          <p:nvPr/>
        </p:nvSpPr>
        <p:spPr>
          <a:xfrm>
            <a:off x="924993" y="3693914"/>
            <a:ext cx="3086221" cy="2545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2000" dirty="0">
                <a:solidFill>
                  <a:srgbClr val="3C3939"/>
                </a:solidFill>
                <a:ea typeface="Calibri" pitchFamily="34" charset="-122"/>
                <a:cs typeface="Calibri" pitchFamily="34" charset="-120"/>
              </a:rPr>
              <a:t>85–210 (aralık: 125)</a:t>
            </a:r>
            <a:endParaRPr lang="en-US" sz="2000" dirty="0"/>
          </a:p>
        </p:txBody>
      </p:sp>
      <p:pic>
        <p:nvPicPr>
          <p:cNvPr id="10" name="Image 2" descr="preencoded.png">
            <a:extLst>
              <a:ext uri="{FF2B5EF4-FFF2-40B4-BE49-F238E27FC236}">
                <a16:creationId xmlns:a16="http://schemas.microsoft.com/office/drawing/2014/main" id="{FE9F71A7-C4CA-49B6-B06B-16412FC41CA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4285754"/>
            <a:ext cx="3537060" cy="1042194"/>
          </a:xfrm>
          <a:prstGeom prst="rect">
            <a:avLst/>
          </a:prstGeom>
        </p:spPr>
      </p:pic>
      <p:sp>
        <p:nvSpPr>
          <p:cNvPr id="11" name="Text 6">
            <a:extLst>
              <a:ext uri="{FF2B5EF4-FFF2-40B4-BE49-F238E27FC236}">
                <a16:creationId xmlns:a16="http://schemas.microsoft.com/office/drawing/2014/main" id="{C9256C0B-989E-4C9C-B784-C309107FDCC9}"/>
              </a:ext>
            </a:extLst>
          </p:cNvPr>
          <p:cNvSpPr/>
          <p:nvPr/>
        </p:nvSpPr>
        <p:spPr>
          <a:xfrm>
            <a:off x="924993" y="4473079"/>
            <a:ext cx="3086221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tr-TR" sz="2000" b="1" dirty="0">
                <a:solidFill>
                  <a:srgbClr val="30343B"/>
                </a:solidFill>
                <a:latin typeface="Calibri"/>
                <a:ea typeface="Calibri"/>
                <a:cs typeface="Calibri"/>
              </a:rPr>
              <a:t>Oda sayısı</a:t>
            </a:r>
            <a:endParaRPr lang="tr-TR" sz="2000"/>
          </a:p>
        </p:txBody>
      </p:sp>
      <p:sp>
        <p:nvSpPr>
          <p:cNvPr id="12" name="Text 7">
            <a:extLst>
              <a:ext uri="{FF2B5EF4-FFF2-40B4-BE49-F238E27FC236}">
                <a16:creationId xmlns:a16="http://schemas.microsoft.com/office/drawing/2014/main" id="{DBDF7865-09CE-4798-B2A0-D1E5B3E35BE1}"/>
              </a:ext>
            </a:extLst>
          </p:cNvPr>
          <p:cNvSpPr/>
          <p:nvPr/>
        </p:nvSpPr>
        <p:spPr>
          <a:xfrm>
            <a:off x="924993" y="4886027"/>
            <a:ext cx="3086221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tr-TR" sz="2000" b="0" dirty="0">
                <a:solidFill>
                  <a:srgbClr val="30343B"/>
                </a:solidFill>
                <a:latin typeface="Calibri"/>
                <a:ea typeface="Calibri"/>
                <a:cs typeface="Calibri"/>
              </a:rPr>
              <a:t>2–5 (aralık: 3)</a:t>
            </a:r>
            <a:endParaRPr lang="tr-TR" sz="2000"/>
          </a:p>
        </p:txBody>
      </p:sp>
      <p:grpSp>
        <p:nvGrpSpPr>
          <p:cNvPr id="17" name="Grup 16">
            <a:extLst>
              <a:ext uri="{FF2B5EF4-FFF2-40B4-BE49-F238E27FC236}">
                <a16:creationId xmlns:a16="http://schemas.microsoft.com/office/drawing/2014/main" id="{D23D6B7D-57D9-4D57-B7D0-9629B927F428}"/>
              </a:ext>
            </a:extLst>
          </p:cNvPr>
          <p:cNvGrpSpPr/>
          <p:nvPr/>
        </p:nvGrpSpPr>
        <p:grpSpPr>
          <a:xfrm>
            <a:off x="5383447" y="2267759"/>
            <a:ext cx="5710434" cy="2289442"/>
            <a:chOff x="463629" y="5695187"/>
            <a:chExt cx="11143175" cy="886619"/>
          </a:xfrm>
          <a:solidFill>
            <a:srgbClr val="F5F2E3"/>
          </a:solidFill>
        </p:grpSpPr>
        <p:sp>
          <p:nvSpPr>
            <p:cNvPr id="14" name="Shape 8">
              <a:extLst>
                <a:ext uri="{FF2B5EF4-FFF2-40B4-BE49-F238E27FC236}">
                  <a16:creationId xmlns:a16="http://schemas.microsoft.com/office/drawing/2014/main" id="{54B1C5F1-8901-458D-A4B9-5B238ADC9F88}"/>
                </a:ext>
              </a:extLst>
            </p:cNvPr>
            <p:cNvSpPr/>
            <p:nvPr/>
          </p:nvSpPr>
          <p:spPr>
            <a:xfrm>
              <a:off x="463629" y="5695187"/>
              <a:ext cx="11143175" cy="886619"/>
            </a:xfrm>
            <a:prstGeom prst="roundRect">
              <a:avLst>
                <a:gd name="adj" fmla="val 11338"/>
              </a:avLst>
            </a:prstGeom>
            <a:grpFill/>
            <a:ln/>
          </p:spPr>
        </p:sp>
        <p:pic>
          <p:nvPicPr>
            <p:cNvPr id="15" name="Image 4" descr="preencoded.png">
              <a:extLst>
                <a:ext uri="{FF2B5EF4-FFF2-40B4-BE49-F238E27FC236}">
                  <a16:creationId xmlns:a16="http://schemas.microsoft.com/office/drawing/2014/main" id="{D95E4B54-8BE1-412A-83C6-84041E2703A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73950" y="5769073"/>
              <a:ext cx="820762" cy="137250"/>
            </a:xfrm>
            <a:prstGeom prst="rect">
              <a:avLst/>
            </a:prstGeom>
            <a:grpFill/>
          </p:spPr>
        </p:pic>
        <p:sp>
          <p:nvSpPr>
            <p:cNvPr id="16" name="Text 9">
              <a:extLst>
                <a:ext uri="{FF2B5EF4-FFF2-40B4-BE49-F238E27FC236}">
                  <a16:creationId xmlns:a16="http://schemas.microsoft.com/office/drawing/2014/main" id="{B9709842-E70A-464A-B911-B72EFBB0F4C8}"/>
                </a:ext>
              </a:extLst>
            </p:cNvPr>
            <p:cNvSpPr/>
            <p:nvPr/>
          </p:nvSpPr>
          <p:spPr>
            <a:xfrm>
              <a:off x="1594712" y="5763351"/>
              <a:ext cx="9702312" cy="26492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Autofit/>
            </a:bodyPr>
            <a:lstStyle/>
            <a:p>
              <a:pPr marL="0" indent="0" algn="l">
                <a:lnSpc>
                  <a:spcPct val="126000"/>
                </a:lnSpc>
                <a:buNone/>
              </a:pPr>
              <a:r>
                <a:rPr lang="tr-TR" sz="2000" b="0" dirty="0">
                  <a:solidFill>
                    <a:srgbClr val="30343B"/>
                  </a:solidFill>
                  <a:latin typeface="Calibri"/>
                  <a:ea typeface="Calibri"/>
                  <a:cs typeface="Calibri"/>
                </a:rPr>
                <a:t>Ölçek farkı, mesafeye duyarlı</a:t>
              </a:r>
              <a:endParaRPr lang="tr-TR" sz="2000"/>
            </a:p>
            <a:p>
              <a:pPr marL="0" indent="0" algn="l">
                <a:lnSpc>
                  <a:spcPct val="126000"/>
                </a:lnSpc>
                <a:buNone/>
              </a:pPr>
              <a:r>
                <a:rPr lang="tr-TR" sz="2000" b="0" dirty="0">
                  <a:solidFill>
                    <a:srgbClr val="30343B"/>
                  </a:solidFill>
                  <a:latin typeface="Calibri"/>
                  <a:ea typeface="Calibri"/>
                  <a:cs typeface="Calibri"/>
                </a:rPr>
                <a:t>modelleri etkileyebilir.</a:t>
              </a:r>
              <a:endParaRPr lang="tr-TR" sz="2000"/>
            </a:p>
          </p:txBody>
        </p:sp>
      </p:grpSp>
      <p:sp>
        <p:nvSpPr>
          <p:cNvPr id="18" name="Metin kutusu 17">
            <a:extLst>
              <a:ext uri="{FF2B5EF4-FFF2-40B4-BE49-F238E27FC236}">
                <a16:creationId xmlns:a16="http://schemas.microsoft.com/office/drawing/2014/main" id="{1E86EA9C-8A13-4217-80DA-7E178DC86CB2}"/>
              </a:ext>
            </a:extLst>
          </p:cNvPr>
          <p:cNvSpPr txBox="1"/>
          <p:nvPr/>
        </p:nvSpPr>
        <p:spPr>
          <a:xfrm>
            <a:off x="5497869" y="3781425"/>
            <a:ext cx="5810250" cy="85725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indent="0"/>
            <a:r>
              <a:rPr lang="tr-TR" sz="2000" b="0" dirty="0">
                <a:solidFill>
                  <a:srgbClr val="30343B"/>
                </a:solidFill>
                <a:latin typeface="Calibri"/>
                <a:ea typeface="Calibri"/>
                <a:cs typeface="Calibri"/>
              </a:rPr>
              <a:t>KNN, SVM ve doğrusal modellerde ölçekleme önemlidir.</a:t>
            </a:r>
            <a:endParaRPr lang="tr-TR" sz="2400" dirty="0"/>
          </a:p>
        </p:txBody>
      </p:sp>
      <p:sp>
        <p:nvSpPr>
          <p:cNvPr id="13" name="Metin kutusu 12">
            <a:extLst>
              <a:ext uri="{FF2B5EF4-FFF2-40B4-BE49-F238E27FC236}">
                <a16:creationId xmlns:a16="http://schemas.microsoft.com/office/drawing/2014/main" id="{4F701F72-13F2-46E0-B5DA-236E284A10E1}"/>
              </a:ext>
            </a:extLst>
          </p:cNvPr>
          <p:cNvSpPr txBox="1"/>
          <p:nvPr/>
        </p:nvSpPr>
        <p:spPr>
          <a:xfrm>
            <a:off x="5497869" y="3241010"/>
            <a:ext cx="5238750" cy="46672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indent="0"/>
            <a:r>
              <a:rPr lang="tr-TR" sz="2000" b="1" dirty="0" err="1">
                <a:solidFill>
                  <a:srgbClr val="30343B"/>
                </a:solidFill>
                <a:latin typeface="Calibri"/>
                <a:ea typeface="Calibri"/>
                <a:cs typeface="Calibri"/>
              </a:rPr>
              <a:t>Modelin gereksinimi</a:t>
            </a:r>
            <a:endParaRPr lang="tr-TR" sz="2000"/>
          </a:p>
        </p:txBody>
      </p:sp>
      <p:sp>
        <p:nvSpPr>
          <p:cNvPr id="100" name="Fiyat hedef değişkendir. Burada girdi ölçeklerini "/>
          <p:cNvSpPr txBox="1"/>
          <p:nvPr/>
        </p:nvSpPr>
        <p:spPr>
          <a:xfrm>
            <a:off x="666750" y="5848350"/>
            <a:ext cx="10858500" cy="609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Autofit/>
          </a:bodyPr>
          <a:lstStyle/>
          <a:p>
            <a:pPr marL="0" indent="0"/>
            <a:r>
              <a:rPr lang="tr-TR" sz="2000">
                <a:solidFill>
                  <a:srgbClr val="1E2A4E"/>
                </a:solidFill>
                <a:latin typeface="Calibri"/>
                <a:ea typeface="Calibri"/>
                <a:cs typeface="Calibri"/>
              </a:rPr>
              <a:t>Fiyat hedef değişkendir. Burada girdi ölçeklerini karşılaştırıyoruz.</a:t>
            </a:r>
            <a:endParaRPr lang="tr-TR" sz="2000"/>
          </a:p>
        </p:txBody>
      </p:sp>
    </p:spTree>
    <p:extLst>
      <p:ext uri="{BB962C8B-B14F-4D97-AF65-F5344CB8AC3E}">
        <p14:creationId xmlns:p14="http://schemas.microsoft.com/office/powerpoint/2010/main" val="321619750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6738FE03-E320-4113-A78E-5105CBA503F8}"/>
              </a:ext>
            </a:extLst>
          </p:cNvPr>
          <p:cNvSpPr/>
          <p:nvPr/>
        </p:nvSpPr>
        <p:spPr>
          <a:xfrm>
            <a:off x="457200" y="285750"/>
            <a:ext cx="112395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tr-TR" sz="3200" b="1" dirty="0">
                <a:solidFill>
                  <a:srgbClr val="1E2A4E"/>
                </a:solidFill>
                <a:latin typeface="Calibri"/>
                <a:ea typeface="Calibri"/>
                <a:cs typeface="Calibri"/>
              </a:rPr>
              <a:t>Min-Max ölçekleme</a:t>
            </a:r>
            <a:endParaRPr lang="tr-TR" sz="3200"/>
          </a:p>
        </p:txBody>
      </p:sp>
      <p:sp>
        <p:nvSpPr>
          <p:cNvPr id="22" name="Text 1">
            <a:extLst>
              <a:ext uri="{FF2B5EF4-FFF2-40B4-BE49-F238E27FC236}">
                <a16:creationId xmlns:a16="http://schemas.microsoft.com/office/drawing/2014/main" id="{E4F3FA0A-372C-41B0-9A1D-DDE505AB568B}"/>
              </a:ext>
            </a:extLst>
          </p:cNvPr>
          <p:cNvSpPr/>
          <p:nvPr/>
        </p:nvSpPr>
        <p:spPr>
          <a:xfrm>
            <a:off x="591787" y="1217945"/>
            <a:ext cx="4811918" cy="3654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b="1" dirty="0">
                <a:solidFill>
                  <a:srgbClr val="1B1B27"/>
                </a:solidFill>
                <a:ea typeface="Calibri" pitchFamily="34" charset="-122"/>
                <a:cs typeface="Calibri" pitchFamily="34" charset="-120"/>
              </a:rPr>
              <a:t>Nasıl Çalışır?</a:t>
            </a:r>
            <a:endParaRPr lang="en-US" sz="2400" b="1" dirty="0"/>
          </a:p>
        </p:txBody>
      </p:sp>
      <p:sp>
        <p:nvSpPr>
          <p:cNvPr id="23" name="Text 2">
            <a:extLst>
              <a:ext uri="{FF2B5EF4-FFF2-40B4-BE49-F238E27FC236}">
                <a16:creationId xmlns:a16="http://schemas.microsoft.com/office/drawing/2014/main" id="{47D9D29D-276A-4817-83CD-C97C7189F87D}"/>
              </a:ext>
            </a:extLst>
          </p:cNvPr>
          <p:cNvSpPr/>
          <p:nvPr/>
        </p:nvSpPr>
        <p:spPr>
          <a:xfrm>
            <a:off x="591787" y="1738126"/>
            <a:ext cx="481191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tr-TR" sz="2400" b="0" dirty="0">
                <a:solidFill>
                  <a:srgbClr val="30343B"/>
                </a:solidFill>
                <a:latin typeface="Calibri"/>
                <a:ea typeface="Calibri"/>
                <a:cs typeface="Calibri"/>
              </a:rPr>
              <a:t>Eğitimde görülen aralığı 0–1’e taşır.</a:t>
            </a:r>
            <a:endParaRPr lang="tr-TR" sz="24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tr-TR" sz="2400" b="0" dirty="0">
                <a:solidFill>
                  <a:srgbClr val="30343B"/>
                </a:solidFill>
                <a:latin typeface="Calibri"/>
                <a:ea typeface="Calibri"/>
                <a:cs typeface="Calibri"/>
              </a:rPr>
              <a:t>Aykırı değerlere duyarlıdır.</a:t>
            </a:r>
            <a:endParaRPr lang="tr-TR" sz="2400" dirty="0"/>
          </a:p>
        </p:txBody>
      </p:sp>
      <p:sp>
        <p:nvSpPr>
          <p:cNvPr id="26" name="Text 4">
            <a:extLst>
              <a:ext uri="{FF2B5EF4-FFF2-40B4-BE49-F238E27FC236}">
                <a16:creationId xmlns:a16="http://schemas.microsoft.com/office/drawing/2014/main" id="{2C4630C7-B877-4F51-84F5-A1A288F1EDE9}"/>
              </a:ext>
            </a:extLst>
          </p:cNvPr>
          <p:cNvSpPr/>
          <p:nvPr/>
        </p:nvSpPr>
        <p:spPr>
          <a:xfrm>
            <a:off x="6333015" y="3260036"/>
            <a:ext cx="496777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tr-TR" sz="2400" b="1" dirty="0">
                <a:solidFill>
                  <a:srgbClr val="30343B"/>
                </a:solidFill>
                <a:ea typeface="Calibri"/>
                <a:cs typeface="Calibri"/>
              </a:rPr>
              <a:t>120 m² için:</a:t>
            </a:r>
            <a:endParaRPr lang="tr-TR" sz="2400" b="1" dirty="0"/>
          </a:p>
          <a:p>
            <a:pPr marL="0" indent="0" algn="l">
              <a:lnSpc>
                <a:spcPct val="133000"/>
              </a:lnSpc>
              <a:buNone/>
            </a:pPr>
            <a:r>
              <a:rPr lang="tr-TR" sz="2400" b="0" dirty="0">
                <a:solidFill>
                  <a:srgbClr val="30343B"/>
                </a:solidFill>
                <a:ea typeface="Calibri"/>
                <a:cs typeface="Calibri"/>
              </a:rPr>
              <a:t>(</a:t>
            </a:r>
            <a:r>
              <a:rPr lang="tr-TR" sz="2400" b="1" dirty="0"/>
              <a:t>(120 - 95) / (145 - 95) = 0.50</a:t>
            </a:r>
            <a:r>
              <a:rPr lang="tr-TR" sz="2400" dirty="0"/>
              <a:t> </a:t>
            </a:r>
          </a:p>
        </p:txBody>
      </p:sp>
      <p:sp>
        <p:nvSpPr>
          <p:cNvPr id="27" name="Text 5">
            <a:extLst>
              <a:ext uri="{FF2B5EF4-FFF2-40B4-BE49-F238E27FC236}">
                <a16:creationId xmlns:a16="http://schemas.microsoft.com/office/drawing/2014/main" id="{E69ACBC7-B69B-4F43-A7C6-FDC71E6BB367}"/>
              </a:ext>
            </a:extLst>
          </p:cNvPr>
          <p:cNvSpPr/>
          <p:nvPr/>
        </p:nvSpPr>
        <p:spPr>
          <a:xfrm>
            <a:off x="6343652" y="1217945"/>
            <a:ext cx="4811918" cy="3654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b="1" dirty="0">
                <a:solidFill>
                  <a:srgbClr val="1B1B27"/>
                </a:solidFill>
                <a:ea typeface="Calibri" pitchFamily="34" charset="-122"/>
                <a:cs typeface="Calibri" pitchFamily="34" charset="-120"/>
              </a:rPr>
              <a:t>Ne Zaman Kullanılır?</a:t>
            </a:r>
            <a:endParaRPr lang="en-US" sz="2400" b="1" dirty="0"/>
          </a:p>
        </p:txBody>
      </p:sp>
      <p:sp>
        <p:nvSpPr>
          <p:cNvPr id="28" name="Text 6">
            <a:extLst>
              <a:ext uri="{FF2B5EF4-FFF2-40B4-BE49-F238E27FC236}">
                <a16:creationId xmlns:a16="http://schemas.microsoft.com/office/drawing/2014/main" id="{BC1F77DA-C276-47BD-9252-A4324FA02CC5}"/>
              </a:ext>
            </a:extLst>
          </p:cNvPr>
          <p:cNvSpPr/>
          <p:nvPr/>
        </p:nvSpPr>
        <p:spPr>
          <a:xfrm>
            <a:off x="6333015" y="1733639"/>
            <a:ext cx="4811918" cy="10953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tr-TR" sz="2400" b="0" dirty="0">
                <a:solidFill>
                  <a:srgbClr val="30343B"/>
                </a:solidFill>
                <a:latin typeface="Calibri"/>
                <a:ea typeface="Calibri"/>
                <a:cs typeface="Calibri"/>
              </a:rPr>
              <a:t>Yeni değerler eğitim aralığını aşarsa</a:t>
            </a:r>
            <a:endParaRPr lang="tr-TR" sz="24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tr-TR" sz="2400" b="0" dirty="0">
                <a:solidFill>
                  <a:srgbClr val="30343B"/>
                </a:solidFill>
                <a:latin typeface="Calibri"/>
                <a:ea typeface="Calibri"/>
                <a:cs typeface="Calibri"/>
              </a:rPr>
              <a:t>sonuç 0–1 dışında olabilir.</a:t>
            </a:r>
            <a:endParaRPr lang="tr-TR" sz="2400" dirty="0"/>
          </a:p>
        </p:txBody>
      </p:sp>
      <p:sp>
        <p:nvSpPr>
          <p:cNvPr id="29" name="Shape 7">
            <a:extLst>
              <a:ext uri="{FF2B5EF4-FFF2-40B4-BE49-F238E27FC236}">
                <a16:creationId xmlns:a16="http://schemas.microsoft.com/office/drawing/2014/main" id="{7E5E87FA-601B-4FCD-8DF8-2BC2FB07CDC2}"/>
              </a:ext>
            </a:extLst>
          </p:cNvPr>
          <p:cNvSpPr/>
          <p:nvPr/>
        </p:nvSpPr>
        <p:spPr>
          <a:xfrm>
            <a:off x="760752" y="5591558"/>
            <a:ext cx="3253595" cy="848999"/>
          </a:xfrm>
          <a:prstGeom prst="roundRect">
            <a:avLst>
              <a:gd name="adj" fmla="val 11573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30" name="Text 8">
            <a:extLst>
              <a:ext uri="{FF2B5EF4-FFF2-40B4-BE49-F238E27FC236}">
                <a16:creationId xmlns:a16="http://schemas.microsoft.com/office/drawing/2014/main" id="{049619A5-6098-4BB9-B1C0-F61470E34526}"/>
              </a:ext>
            </a:extLst>
          </p:cNvPr>
          <p:cNvSpPr/>
          <p:nvPr/>
        </p:nvSpPr>
        <p:spPr>
          <a:xfrm>
            <a:off x="1082921" y="5833340"/>
            <a:ext cx="2667000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tr-TR" sz="2200" b="1" dirty="0">
                <a:solidFill>
                  <a:srgbClr val="30343B"/>
                </a:solidFill>
                <a:latin typeface="Calibri"/>
                <a:ea typeface="Calibri"/>
                <a:cs typeface="Calibri"/>
              </a:rPr>
              <a:t>95 m² : 0</a:t>
            </a:r>
            <a:endParaRPr lang="tr-TR" sz="2200" dirty="0"/>
          </a:p>
        </p:txBody>
      </p:sp>
      <p:sp>
        <p:nvSpPr>
          <p:cNvPr id="31" name="Shape 9">
            <a:extLst>
              <a:ext uri="{FF2B5EF4-FFF2-40B4-BE49-F238E27FC236}">
                <a16:creationId xmlns:a16="http://schemas.microsoft.com/office/drawing/2014/main" id="{5921B7A0-F1BE-4E98-8995-9B04F4532990}"/>
              </a:ext>
            </a:extLst>
          </p:cNvPr>
          <p:cNvSpPr/>
          <p:nvPr/>
        </p:nvSpPr>
        <p:spPr>
          <a:xfrm>
            <a:off x="4326046" y="5591558"/>
            <a:ext cx="3253595" cy="848999"/>
          </a:xfrm>
          <a:prstGeom prst="roundRect">
            <a:avLst>
              <a:gd name="adj" fmla="val 11573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32" name="Text 10">
            <a:extLst>
              <a:ext uri="{FF2B5EF4-FFF2-40B4-BE49-F238E27FC236}">
                <a16:creationId xmlns:a16="http://schemas.microsoft.com/office/drawing/2014/main" id="{53676E4F-65FC-4A65-A3C9-AEE6E91F40F0}"/>
              </a:ext>
            </a:extLst>
          </p:cNvPr>
          <p:cNvSpPr/>
          <p:nvPr/>
        </p:nvSpPr>
        <p:spPr>
          <a:xfrm>
            <a:off x="4648215" y="5833340"/>
            <a:ext cx="2762250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tr-TR" sz="2200" b="1" dirty="0">
                <a:solidFill>
                  <a:srgbClr val="30343B"/>
                </a:solidFill>
                <a:latin typeface="Calibri"/>
                <a:ea typeface="Calibri"/>
                <a:cs typeface="Calibri"/>
              </a:rPr>
              <a:t>120 m² : 0,50</a:t>
            </a:r>
            <a:endParaRPr lang="tr-TR" sz="2200" dirty="0"/>
          </a:p>
        </p:txBody>
      </p:sp>
      <p:sp>
        <p:nvSpPr>
          <p:cNvPr id="33" name="Shape 11">
            <a:extLst>
              <a:ext uri="{FF2B5EF4-FFF2-40B4-BE49-F238E27FC236}">
                <a16:creationId xmlns:a16="http://schemas.microsoft.com/office/drawing/2014/main" id="{853FE24D-A631-4DED-B2C2-4A9A0FB0BBFB}"/>
              </a:ext>
            </a:extLst>
          </p:cNvPr>
          <p:cNvSpPr/>
          <p:nvPr/>
        </p:nvSpPr>
        <p:spPr>
          <a:xfrm>
            <a:off x="7891338" y="5591558"/>
            <a:ext cx="3253595" cy="848999"/>
          </a:xfrm>
          <a:prstGeom prst="roundRect">
            <a:avLst>
              <a:gd name="adj" fmla="val 11573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34" name="Text 12">
            <a:extLst>
              <a:ext uri="{FF2B5EF4-FFF2-40B4-BE49-F238E27FC236}">
                <a16:creationId xmlns:a16="http://schemas.microsoft.com/office/drawing/2014/main" id="{2521F0C9-FE08-4051-8D6D-E023B7A2C599}"/>
              </a:ext>
            </a:extLst>
          </p:cNvPr>
          <p:cNvSpPr/>
          <p:nvPr/>
        </p:nvSpPr>
        <p:spPr>
          <a:xfrm>
            <a:off x="8213507" y="5833340"/>
            <a:ext cx="2762250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tr-TR" sz="2200" b="1" dirty="0">
                <a:solidFill>
                  <a:srgbClr val="30343B"/>
                </a:solidFill>
                <a:latin typeface="Calibri"/>
                <a:ea typeface="Calibri"/>
                <a:cs typeface="Calibri"/>
              </a:rPr>
              <a:t>145 m² : 1</a:t>
            </a:r>
            <a:endParaRPr lang="tr-TR" sz="2200" dirty="0"/>
          </a:p>
        </p:txBody>
      </p:sp>
      <p:pic>
        <p:nvPicPr>
          <p:cNvPr id="36" name="Resim 35">
            <a:extLst>
              <a:ext uri="{FF2B5EF4-FFF2-40B4-BE49-F238E27FC236}">
                <a16:creationId xmlns:a16="http://schemas.microsoft.com/office/drawing/2014/main" id="{6E2DAC73-E1EA-49F2-8AEF-D638970D32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0752" y="3102738"/>
            <a:ext cx="4261955" cy="1498344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E1E1EA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sp>
        <p:nvSpPr>
          <p:cNvPr id="100" name="Hesap örneği. Uygulamada parametreler yalnızca eği"/>
          <p:cNvSpPr txBox="1"/>
          <p:nvPr/>
        </p:nvSpPr>
        <p:spPr>
          <a:xfrm>
            <a:off x="762000" y="4956317"/>
            <a:ext cx="1066800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Autofit/>
          </a:bodyPr>
          <a:lstStyle/>
          <a:p>
            <a:pPr marL="0" indent="0"/>
            <a:r>
              <a:rPr lang="tr-TR" sz="2000" dirty="0">
                <a:solidFill>
                  <a:srgbClr val="596173"/>
                </a:solidFill>
                <a:latin typeface="Calibri"/>
                <a:ea typeface="Calibri"/>
                <a:cs typeface="Calibri"/>
              </a:rPr>
              <a:t>Hesap örneği: parametreler yalnızca eğitim evlerinden (Ev 1, 3, 4 → 95–145 m²) öğrenilir.</a:t>
            </a:r>
            <a:endParaRPr lang="tr-TR" sz="2000" dirty="0"/>
          </a:p>
        </p:txBody>
      </p:sp>
    </p:spTree>
    <p:extLst>
      <p:ext uri="{BB962C8B-B14F-4D97-AF65-F5344CB8AC3E}">
        <p14:creationId xmlns:p14="http://schemas.microsoft.com/office/powerpoint/2010/main" val="99408187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hape 8">
            <a:extLst>
              <a:ext uri="{FF2B5EF4-FFF2-40B4-BE49-F238E27FC236}">
                <a16:creationId xmlns:a16="http://schemas.microsoft.com/office/drawing/2014/main" id="{7F1C8983-01F6-46AB-800A-63BDA294A201}"/>
              </a:ext>
            </a:extLst>
          </p:cNvPr>
          <p:cNvSpPr/>
          <p:nvPr/>
        </p:nvSpPr>
        <p:spPr>
          <a:xfrm>
            <a:off x="6638298" y="1016925"/>
            <a:ext cx="3657600" cy="2938302"/>
          </a:xfrm>
          <a:prstGeom prst="roundRect">
            <a:avLst>
              <a:gd name="adj" fmla="val 11338"/>
            </a:avLst>
          </a:prstGeom>
          <a:solidFill>
            <a:srgbClr val="F5F2E3"/>
          </a:solidFill>
          <a:ln/>
        </p:spPr>
        <p:txBody>
          <a:bodyPr/>
          <a:lstStyle/>
          <a:p>
            <a:endParaRPr lang="tr-TR" dirty="0"/>
          </a:p>
        </p:txBody>
      </p:sp>
      <p:sp>
        <p:nvSpPr>
          <p:cNvPr id="13" name="Text 0">
            <a:extLst>
              <a:ext uri="{FF2B5EF4-FFF2-40B4-BE49-F238E27FC236}">
                <a16:creationId xmlns:a16="http://schemas.microsoft.com/office/drawing/2014/main" id="{CFAB379A-CE7A-486E-9490-816EFA917F75}"/>
              </a:ext>
            </a:extLst>
          </p:cNvPr>
          <p:cNvSpPr/>
          <p:nvPr/>
        </p:nvSpPr>
        <p:spPr>
          <a:xfrm>
            <a:off x="457200" y="285750"/>
            <a:ext cx="112395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tr-TR" sz="3200" b="1" dirty="0">
                <a:solidFill>
                  <a:srgbClr val="1E2A4E"/>
                </a:solidFill>
                <a:latin typeface="Calibri"/>
                <a:ea typeface="Calibri"/>
                <a:cs typeface="Calibri"/>
              </a:rPr>
              <a:t>Standardizasyon</a:t>
            </a:r>
            <a:endParaRPr lang="tr-TR" sz="3200"/>
          </a:p>
        </p:txBody>
      </p:sp>
      <p:sp>
        <p:nvSpPr>
          <p:cNvPr id="38" name="Text 4">
            <a:extLst>
              <a:ext uri="{FF2B5EF4-FFF2-40B4-BE49-F238E27FC236}">
                <a16:creationId xmlns:a16="http://schemas.microsoft.com/office/drawing/2014/main" id="{F9995AD6-E561-404F-8178-D26DF40D53BA}"/>
              </a:ext>
            </a:extLst>
          </p:cNvPr>
          <p:cNvSpPr/>
          <p:nvPr/>
        </p:nvSpPr>
        <p:spPr>
          <a:xfrm>
            <a:off x="6903311" y="1199643"/>
            <a:ext cx="4726087" cy="25431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17000"/>
              </a:lnSpc>
              <a:spcAft>
                <a:spcPts val="750"/>
              </a:spcAft>
              <a:buNone/>
            </a:pPr>
            <a:r>
              <a:rPr lang="tr-TR" sz="2400" b="1" dirty="0">
                <a:solidFill>
                  <a:srgbClr val="30343B"/>
                </a:solidFill>
                <a:latin typeface="Calibri"/>
                <a:ea typeface="Calibri"/>
                <a:cs typeface="Calibri"/>
              </a:rPr>
              <a:t>ÖRN:</a:t>
            </a:r>
          </a:p>
          <a:p>
            <a:pPr marL="0" indent="0" algn="l">
              <a:lnSpc>
                <a:spcPct val="117000"/>
              </a:lnSpc>
              <a:spcAft>
                <a:spcPts val="750"/>
              </a:spcAft>
              <a:buNone/>
            </a:pPr>
            <a:r>
              <a:rPr lang="tr-TR" sz="2400" b="0" dirty="0">
                <a:solidFill>
                  <a:srgbClr val="30343B"/>
                </a:solidFill>
                <a:latin typeface="Calibri"/>
                <a:ea typeface="Calibri"/>
                <a:cs typeface="Calibri"/>
              </a:rPr>
              <a:t>Yaş = 5</a:t>
            </a:r>
            <a:endParaRPr lang="tr-TR" sz="2400" dirty="0"/>
          </a:p>
          <a:p>
            <a:pPr marL="0" indent="0" algn="l">
              <a:lnSpc>
                <a:spcPct val="117000"/>
              </a:lnSpc>
              <a:spcAft>
                <a:spcPts val="750"/>
              </a:spcAft>
              <a:buNone/>
            </a:pPr>
            <a:r>
              <a:rPr lang="tr-TR" sz="2400" b="0" dirty="0">
                <a:solidFill>
                  <a:srgbClr val="30343B"/>
                </a:solidFill>
                <a:latin typeface="Calibri"/>
                <a:ea typeface="Calibri"/>
                <a:cs typeface="Calibri"/>
              </a:rPr>
              <a:t>(5 − </a:t>
            </a:r>
            <a:r>
              <a:rPr lang="tr-TR" sz="2400" dirty="0">
                <a:solidFill>
                  <a:srgbClr val="30343B"/>
                </a:solidFill>
                <a:latin typeface="Calibri"/>
                <a:ea typeface="Calibri"/>
                <a:cs typeface="Calibri"/>
              </a:rPr>
              <a:t>8.33</a:t>
            </a:r>
            <a:r>
              <a:rPr lang="tr-TR" sz="2400" b="0" dirty="0">
                <a:solidFill>
                  <a:srgbClr val="30343B"/>
                </a:solidFill>
                <a:latin typeface="Calibri"/>
                <a:ea typeface="Calibri"/>
                <a:cs typeface="Calibri"/>
              </a:rPr>
              <a:t>) / </a:t>
            </a:r>
            <a:r>
              <a:rPr lang="tr-TR" sz="2400" dirty="0">
                <a:solidFill>
                  <a:srgbClr val="30343B"/>
                </a:solidFill>
                <a:latin typeface="Calibri"/>
                <a:ea typeface="Calibri"/>
                <a:cs typeface="Calibri"/>
              </a:rPr>
              <a:t>2</a:t>
            </a:r>
            <a:r>
              <a:rPr lang="tr-TR" sz="2400" b="0" dirty="0">
                <a:solidFill>
                  <a:srgbClr val="30343B"/>
                </a:solidFill>
                <a:latin typeface="Calibri"/>
                <a:ea typeface="Calibri"/>
                <a:cs typeface="Calibri"/>
              </a:rPr>
              <a:t>,87 ≈ −1,16</a:t>
            </a:r>
            <a:endParaRPr lang="tr-TR" sz="2400" dirty="0"/>
          </a:p>
          <a:p>
            <a:pPr marL="0" indent="0" algn="l">
              <a:lnSpc>
                <a:spcPct val="117000"/>
              </a:lnSpc>
              <a:spcAft>
                <a:spcPts val="750"/>
              </a:spcAft>
              <a:buNone/>
            </a:pPr>
            <a:r>
              <a:rPr lang="tr-TR" sz="2400" b="0" dirty="0">
                <a:solidFill>
                  <a:srgbClr val="30343B"/>
                </a:solidFill>
                <a:latin typeface="Calibri"/>
                <a:ea typeface="Calibri"/>
                <a:cs typeface="Calibri"/>
              </a:rPr>
              <a:t>Ortalamanın yaklaşık</a:t>
            </a:r>
            <a:endParaRPr lang="tr-TR" sz="2400" dirty="0"/>
          </a:p>
          <a:p>
            <a:pPr marL="0" indent="0" algn="l">
              <a:lnSpc>
                <a:spcPct val="117000"/>
              </a:lnSpc>
              <a:spcAft>
                <a:spcPts val="750"/>
              </a:spcAft>
              <a:buNone/>
            </a:pPr>
            <a:r>
              <a:rPr lang="tr-TR" sz="2400" b="0" dirty="0">
                <a:solidFill>
                  <a:srgbClr val="30343B"/>
                </a:solidFill>
                <a:latin typeface="Calibri"/>
                <a:ea typeface="Calibri"/>
                <a:cs typeface="Calibri"/>
              </a:rPr>
              <a:t>1 standart sapma altında.</a:t>
            </a:r>
            <a:endParaRPr lang="tr-TR" sz="2400" dirty="0"/>
          </a:p>
        </p:txBody>
      </p:sp>
      <p:sp>
        <p:nvSpPr>
          <p:cNvPr id="39" name="Shape 5">
            <a:extLst>
              <a:ext uri="{FF2B5EF4-FFF2-40B4-BE49-F238E27FC236}">
                <a16:creationId xmlns:a16="http://schemas.microsoft.com/office/drawing/2014/main" id="{53958256-A542-42DA-BDE5-5F8159F9E665}"/>
              </a:ext>
            </a:extLst>
          </p:cNvPr>
          <p:cNvSpPr/>
          <p:nvPr/>
        </p:nvSpPr>
        <p:spPr>
          <a:xfrm>
            <a:off x="760752" y="5728087"/>
            <a:ext cx="3552042" cy="425252"/>
          </a:xfrm>
          <a:prstGeom prst="roundRect">
            <a:avLst>
              <a:gd name="adj" fmla="val 49999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42" name="Shape 7">
            <a:extLst>
              <a:ext uri="{FF2B5EF4-FFF2-40B4-BE49-F238E27FC236}">
                <a16:creationId xmlns:a16="http://schemas.microsoft.com/office/drawing/2014/main" id="{757D1640-526D-4988-8F88-E273D88A8AAB}"/>
              </a:ext>
            </a:extLst>
          </p:cNvPr>
          <p:cNvSpPr/>
          <p:nvPr/>
        </p:nvSpPr>
        <p:spPr>
          <a:xfrm>
            <a:off x="4419054" y="5728087"/>
            <a:ext cx="3552042" cy="425252"/>
          </a:xfrm>
          <a:prstGeom prst="roundRect">
            <a:avLst>
              <a:gd name="adj" fmla="val 49999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grpSp>
        <p:nvGrpSpPr>
          <p:cNvPr id="2" name="Grup 1">
            <a:extLst>
              <a:ext uri="{FF2B5EF4-FFF2-40B4-BE49-F238E27FC236}">
                <a16:creationId xmlns:a16="http://schemas.microsoft.com/office/drawing/2014/main" id="{1FAFFD0F-BBB9-4245-82FB-D53ADE71A782}"/>
              </a:ext>
            </a:extLst>
          </p:cNvPr>
          <p:cNvGrpSpPr/>
          <p:nvPr/>
        </p:nvGrpSpPr>
        <p:grpSpPr>
          <a:xfrm>
            <a:off x="1534522" y="5759429"/>
            <a:ext cx="7174923" cy="221456"/>
            <a:chOff x="803156" y="5961063"/>
            <a:chExt cx="6926982" cy="221456"/>
          </a:xfrm>
        </p:grpSpPr>
        <p:sp>
          <p:nvSpPr>
            <p:cNvPr id="41" name="Text 6">
              <a:extLst>
                <a:ext uri="{FF2B5EF4-FFF2-40B4-BE49-F238E27FC236}">
                  <a16:creationId xmlns:a16="http://schemas.microsoft.com/office/drawing/2014/main" id="{3E8C3121-4EF2-40A6-9F84-909A2C9FA119}"/>
                </a:ext>
              </a:extLst>
            </p:cNvPr>
            <p:cNvSpPr/>
            <p:nvPr/>
          </p:nvSpPr>
          <p:spPr>
            <a:xfrm>
              <a:off x="803156" y="5961063"/>
              <a:ext cx="3268680" cy="221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Autofit/>
            </a:bodyPr>
            <a:lstStyle/>
            <a:p>
              <a:pPr marL="0" indent="0" algn="l">
                <a:lnSpc>
                  <a:spcPct val="104000"/>
                </a:lnSpc>
                <a:buNone/>
              </a:pPr>
              <a:r>
                <a:rPr lang="tr-TR" sz="2000" b="0" dirty="0">
                  <a:solidFill>
                    <a:srgbClr val="30343B"/>
                  </a:solidFill>
                  <a:latin typeface="Calibri"/>
                  <a:ea typeface="Calibri"/>
                  <a:cs typeface="Calibri"/>
                </a:rPr>
                <a:t>Ortalama: 8,33</a:t>
              </a:r>
              <a:endParaRPr lang="tr-TR" sz="2000" dirty="0"/>
            </a:p>
          </p:txBody>
        </p:sp>
        <p:sp>
          <p:nvSpPr>
            <p:cNvPr id="44" name="Text 8">
              <a:extLst>
                <a:ext uri="{FF2B5EF4-FFF2-40B4-BE49-F238E27FC236}">
                  <a16:creationId xmlns:a16="http://schemas.microsoft.com/office/drawing/2014/main" id="{A8D81297-0187-43B9-8C9F-875F5A3738E5}"/>
                </a:ext>
              </a:extLst>
            </p:cNvPr>
            <p:cNvSpPr/>
            <p:nvPr/>
          </p:nvSpPr>
          <p:spPr>
            <a:xfrm>
              <a:off x="4461458" y="5961063"/>
              <a:ext cx="3268680" cy="221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Autofit/>
            </a:bodyPr>
            <a:lstStyle/>
            <a:p>
              <a:pPr marL="0" indent="0" algn="l">
                <a:lnSpc>
                  <a:spcPct val="104000"/>
                </a:lnSpc>
                <a:buNone/>
              </a:pPr>
              <a:r>
                <a:rPr lang="tr-TR" sz="2000" b="0" dirty="0">
                  <a:solidFill>
                    <a:srgbClr val="30343B"/>
                  </a:solidFill>
                  <a:latin typeface="Calibri"/>
                  <a:ea typeface="Calibri"/>
                  <a:cs typeface="Calibri"/>
                </a:rPr>
                <a:t>Standart sapma: 2,87</a:t>
              </a:r>
              <a:endParaRPr lang="tr-TR" sz="2000" dirty="0"/>
            </a:p>
          </p:txBody>
        </p:sp>
      </p:grpSp>
      <p:sp>
        <p:nvSpPr>
          <p:cNvPr id="45" name="Shape 9">
            <a:extLst>
              <a:ext uri="{FF2B5EF4-FFF2-40B4-BE49-F238E27FC236}">
                <a16:creationId xmlns:a16="http://schemas.microsoft.com/office/drawing/2014/main" id="{E32CB828-85C4-4BF9-B2BC-646C510F4AE1}"/>
              </a:ext>
            </a:extLst>
          </p:cNvPr>
          <p:cNvSpPr/>
          <p:nvPr/>
        </p:nvSpPr>
        <p:spPr>
          <a:xfrm>
            <a:off x="8077356" y="5728087"/>
            <a:ext cx="3552042" cy="425252"/>
          </a:xfrm>
          <a:prstGeom prst="roundRect">
            <a:avLst>
              <a:gd name="adj" fmla="val 49999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47" name="Text 10">
            <a:extLst>
              <a:ext uri="{FF2B5EF4-FFF2-40B4-BE49-F238E27FC236}">
                <a16:creationId xmlns:a16="http://schemas.microsoft.com/office/drawing/2014/main" id="{11E42482-B907-414A-8530-F928FD8CF90D}"/>
              </a:ext>
            </a:extLst>
          </p:cNvPr>
          <p:cNvSpPr/>
          <p:nvPr/>
        </p:nvSpPr>
        <p:spPr>
          <a:xfrm>
            <a:off x="8962398" y="5743764"/>
            <a:ext cx="2667000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tr-TR" sz="2000" b="0" dirty="0">
                <a:solidFill>
                  <a:srgbClr val="30343B"/>
                </a:solidFill>
                <a:latin typeface="Calibri"/>
                <a:ea typeface="Calibri"/>
                <a:cs typeface="Calibri"/>
              </a:rPr>
              <a:t>Sonuç: −1,16</a:t>
            </a:r>
            <a:endParaRPr lang="tr-TR" sz="2000" dirty="0"/>
          </a:p>
        </p:txBody>
      </p:sp>
      <p:sp>
        <p:nvSpPr>
          <p:cNvPr id="50" name="Text 1">
            <a:extLst>
              <a:ext uri="{FF2B5EF4-FFF2-40B4-BE49-F238E27FC236}">
                <a16:creationId xmlns:a16="http://schemas.microsoft.com/office/drawing/2014/main" id="{90695582-DE8D-4C37-AF77-52D266D374B1}"/>
              </a:ext>
            </a:extLst>
          </p:cNvPr>
          <p:cNvSpPr/>
          <p:nvPr/>
        </p:nvSpPr>
        <p:spPr>
          <a:xfrm>
            <a:off x="661475" y="1016925"/>
            <a:ext cx="4811918" cy="3654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b="1" dirty="0">
                <a:solidFill>
                  <a:srgbClr val="1B1B27"/>
                </a:solidFill>
                <a:ea typeface="Calibri" pitchFamily="34" charset="-122"/>
                <a:cs typeface="Calibri" pitchFamily="34" charset="-120"/>
              </a:rPr>
              <a:t>Nasıl Çalışır?</a:t>
            </a:r>
            <a:endParaRPr lang="en-US" sz="2400" b="1" dirty="0"/>
          </a:p>
        </p:txBody>
      </p:sp>
      <p:sp>
        <p:nvSpPr>
          <p:cNvPr id="51" name="Text 2">
            <a:extLst>
              <a:ext uri="{FF2B5EF4-FFF2-40B4-BE49-F238E27FC236}">
                <a16:creationId xmlns:a16="http://schemas.microsoft.com/office/drawing/2014/main" id="{BA7BA15D-3CC6-46D1-9821-7DBFEC4AD103}"/>
              </a:ext>
            </a:extLst>
          </p:cNvPr>
          <p:cNvSpPr/>
          <p:nvPr/>
        </p:nvSpPr>
        <p:spPr>
          <a:xfrm>
            <a:off x="661475" y="1537106"/>
            <a:ext cx="4811918" cy="1190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tr-TR" sz="2400" b="0" dirty="0">
                <a:solidFill>
                  <a:srgbClr val="30343B"/>
                </a:solidFill>
                <a:latin typeface="Calibri"/>
                <a:ea typeface="Calibri"/>
                <a:cs typeface="Calibri"/>
              </a:rPr>
              <a:t>Eğitim verisini ortalama 0 ve</a:t>
            </a:r>
            <a:endParaRPr lang="tr-TR" sz="2400" dirty="0"/>
          </a:p>
          <a:p>
            <a:pPr marL="0" indent="0" algn="l">
              <a:lnSpc>
                <a:spcPct val="117000"/>
              </a:lnSpc>
              <a:buNone/>
            </a:pPr>
            <a:r>
              <a:rPr lang="tr-TR" sz="2400" b="0" dirty="0">
                <a:solidFill>
                  <a:srgbClr val="30343B"/>
                </a:solidFill>
                <a:latin typeface="Calibri"/>
                <a:ea typeface="Calibri"/>
                <a:cs typeface="Calibri"/>
              </a:rPr>
              <a:t>standart sapma 1 olacak şekilde ölçekler.</a:t>
            </a:r>
            <a:endParaRPr lang="tr-TR" sz="2400" dirty="0"/>
          </a:p>
        </p:txBody>
      </p:sp>
      <p:pic>
        <p:nvPicPr>
          <p:cNvPr id="53" name="Resim 52">
            <a:extLst>
              <a:ext uri="{FF2B5EF4-FFF2-40B4-BE49-F238E27FC236}">
                <a16:creationId xmlns:a16="http://schemas.microsoft.com/office/drawing/2014/main" id="{9FE6DE61-2A37-4D49-AA97-B62C8A85718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38" b="438"/>
          <a:stretch/>
        </p:blipFill>
        <p:spPr>
          <a:xfrm>
            <a:off x="760752" y="3102738"/>
            <a:ext cx="4261955" cy="1498344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E1E1EA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sp>
        <p:nvSpPr>
          <p:cNvPr id="100" name="Hesap örneği. Uygulamada parametreler yalnızca eği"/>
          <p:cNvSpPr txBox="1"/>
          <p:nvPr/>
        </p:nvSpPr>
        <p:spPr>
          <a:xfrm>
            <a:off x="761798" y="4939195"/>
            <a:ext cx="1066800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Autofit/>
          </a:bodyPr>
          <a:lstStyle/>
          <a:p>
            <a:pPr marL="0" indent="0"/>
            <a:r>
              <a:rPr lang="tr-TR" sz="2000" dirty="0">
                <a:solidFill>
                  <a:srgbClr val="596173"/>
                </a:solidFill>
                <a:latin typeface="Calibri"/>
                <a:ea typeface="Calibri"/>
                <a:cs typeface="Calibri"/>
              </a:rPr>
              <a:t>Hesap örneği: eğitim yaşları 5, 12, 8 (Ev 1, 3, 4). Standart sapma </a:t>
            </a:r>
            <a:r>
              <a:rPr lang="tr-TR" sz="2000" dirty="0" err="1">
                <a:solidFill>
                  <a:srgbClr val="596173"/>
                </a:solidFill>
                <a:latin typeface="Calibri"/>
                <a:ea typeface="Calibri"/>
                <a:cs typeface="Calibri"/>
              </a:rPr>
              <a:t>n’e</a:t>
            </a:r>
            <a:r>
              <a:rPr lang="tr-TR" sz="2000" dirty="0">
                <a:solidFill>
                  <a:srgbClr val="596173"/>
                </a:solidFill>
                <a:latin typeface="Calibri"/>
                <a:ea typeface="Calibri"/>
                <a:cs typeface="Calibri"/>
              </a:rPr>
              <a:t> bölünerek hesaplanır (</a:t>
            </a:r>
            <a:r>
              <a:rPr lang="tr-TR" sz="2000" dirty="0" err="1">
                <a:solidFill>
                  <a:srgbClr val="596173"/>
                </a:solidFill>
                <a:latin typeface="Calibri"/>
                <a:ea typeface="Calibri"/>
                <a:cs typeface="Calibri"/>
              </a:rPr>
              <a:t>StandardScaler</a:t>
            </a:r>
            <a:r>
              <a:rPr lang="tr-TR" sz="2000" dirty="0">
                <a:solidFill>
                  <a:srgbClr val="596173"/>
                </a:solidFill>
                <a:latin typeface="Calibri"/>
                <a:ea typeface="Calibri"/>
                <a:cs typeface="Calibri"/>
              </a:rPr>
              <a:t> gibi).</a:t>
            </a:r>
            <a:endParaRPr lang="tr-TR" sz="2000" dirty="0"/>
          </a:p>
        </p:txBody>
      </p:sp>
    </p:spTree>
    <p:extLst>
      <p:ext uri="{BB962C8B-B14F-4D97-AF65-F5344CB8AC3E}">
        <p14:creationId xmlns:p14="http://schemas.microsoft.com/office/powerpoint/2010/main" val="409052196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3">
            <a:extLst>
              <a:ext uri="{FF2B5EF4-FFF2-40B4-BE49-F238E27FC236}">
                <a16:creationId xmlns:a16="http://schemas.microsoft.com/office/drawing/2014/main" id="{6141B3A4-E9D9-4FF5-AF5E-8A610748EAF8}"/>
              </a:ext>
            </a:extLst>
          </p:cNvPr>
          <p:cNvSpPr/>
          <p:nvPr/>
        </p:nvSpPr>
        <p:spPr>
          <a:xfrm>
            <a:off x="8048976" y="4032002"/>
            <a:ext cx="3747614" cy="2091184"/>
          </a:xfrm>
          <a:prstGeom prst="roundRect">
            <a:avLst>
              <a:gd name="adj" fmla="val 6335"/>
            </a:avLst>
          </a:prstGeom>
          <a:solidFill>
            <a:srgbClr val="E1E1EA">
              <a:alpha val="45000"/>
            </a:srgbClr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27" name="Shape 3">
            <a:extLst>
              <a:ext uri="{FF2B5EF4-FFF2-40B4-BE49-F238E27FC236}">
                <a16:creationId xmlns:a16="http://schemas.microsoft.com/office/drawing/2014/main" id="{9BC39EEA-A74B-4580-893B-5F2AFC77406C}"/>
              </a:ext>
            </a:extLst>
          </p:cNvPr>
          <p:cNvSpPr/>
          <p:nvPr/>
        </p:nvSpPr>
        <p:spPr>
          <a:xfrm>
            <a:off x="465881" y="1337816"/>
            <a:ext cx="3747614" cy="2091184"/>
          </a:xfrm>
          <a:prstGeom prst="roundRect">
            <a:avLst>
              <a:gd name="adj" fmla="val 6335"/>
            </a:avLst>
          </a:prstGeom>
          <a:solidFill>
            <a:srgbClr val="E1E1EA">
              <a:alpha val="45000"/>
            </a:srgbClr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3" name="Text 9">
            <a:extLst>
              <a:ext uri="{FF2B5EF4-FFF2-40B4-BE49-F238E27FC236}">
                <a16:creationId xmlns:a16="http://schemas.microsoft.com/office/drawing/2014/main" id="{43A487D1-5AE6-4C93-8B91-54F281F5BE34}"/>
              </a:ext>
            </a:extLst>
          </p:cNvPr>
          <p:cNvSpPr/>
          <p:nvPr/>
        </p:nvSpPr>
        <p:spPr>
          <a:xfrm>
            <a:off x="4460986" y="3268883"/>
            <a:ext cx="1486000" cy="5982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3">
            <a:extLst>
              <a:ext uri="{FF2B5EF4-FFF2-40B4-BE49-F238E27FC236}">
                <a16:creationId xmlns:a16="http://schemas.microsoft.com/office/drawing/2014/main" id="{6298C2CA-6C88-4A12-AE98-CDE89DAA6FCE}"/>
              </a:ext>
            </a:extLst>
          </p:cNvPr>
          <p:cNvSpPr/>
          <p:nvPr/>
        </p:nvSpPr>
        <p:spPr>
          <a:xfrm>
            <a:off x="532883" y="1370838"/>
            <a:ext cx="5239115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3C3939"/>
                </a:solidFill>
                <a:effectLst/>
                <a:uLnTx/>
                <a:uFillTx/>
                <a:latin typeface="Calibri" panose="020F0502020204030204"/>
                <a:ea typeface="Raleway" pitchFamily="34" charset="-122"/>
                <a:cs typeface="Raleway" pitchFamily="34" charset="-120"/>
              </a:rPr>
              <a:t>Normalizasyon (Min-Max)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 4">
            <a:extLst>
              <a:ext uri="{FF2B5EF4-FFF2-40B4-BE49-F238E27FC236}">
                <a16:creationId xmlns:a16="http://schemas.microsoft.com/office/drawing/2014/main" id="{E782F772-D1DB-47DB-B198-37331FCBC6C3}"/>
              </a:ext>
            </a:extLst>
          </p:cNvPr>
          <p:cNvSpPr/>
          <p:nvPr/>
        </p:nvSpPr>
        <p:spPr>
          <a:xfrm>
            <a:off x="450487" y="1715392"/>
            <a:ext cx="3784964" cy="7039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Text 7">
            <a:extLst>
              <a:ext uri="{FF2B5EF4-FFF2-40B4-BE49-F238E27FC236}">
                <a16:creationId xmlns:a16="http://schemas.microsoft.com/office/drawing/2014/main" id="{06779BC0-1E4E-448B-83BB-E0A5D2DD8095}"/>
              </a:ext>
            </a:extLst>
          </p:cNvPr>
          <p:cNvSpPr/>
          <p:nvPr/>
        </p:nvSpPr>
        <p:spPr>
          <a:xfrm>
            <a:off x="8153491" y="4032002"/>
            <a:ext cx="3237147" cy="1425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3C3939"/>
                </a:solidFill>
                <a:effectLst/>
                <a:uLnTx/>
                <a:uFillTx/>
                <a:latin typeface="Calibri" panose="020F0502020204030204"/>
                <a:ea typeface="Raleway" pitchFamily="34" charset="-122"/>
                <a:cs typeface="Raleway" pitchFamily="34" charset="-120"/>
              </a:rPr>
              <a:t>Standardizasyon (Z-Score)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Text 8">
            <a:extLst>
              <a:ext uri="{FF2B5EF4-FFF2-40B4-BE49-F238E27FC236}">
                <a16:creationId xmlns:a16="http://schemas.microsoft.com/office/drawing/2014/main" id="{E0385304-03F9-4932-9B36-8FD45E518050}"/>
              </a:ext>
            </a:extLst>
          </p:cNvPr>
          <p:cNvSpPr/>
          <p:nvPr/>
        </p:nvSpPr>
        <p:spPr>
          <a:xfrm>
            <a:off x="754701" y="4131879"/>
            <a:ext cx="5239115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Metin kutusu 20">
            <a:extLst>
              <a:ext uri="{FF2B5EF4-FFF2-40B4-BE49-F238E27FC236}">
                <a16:creationId xmlns:a16="http://schemas.microsoft.com/office/drawing/2014/main" id="{8C055BBE-EEFC-44C3-9EAA-14CFA27E14DB}"/>
              </a:ext>
            </a:extLst>
          </p:cNvPr>
          <p:cNvSpPr txBox="1"/>
          <p:nvPr/>
        </p:nvSpPr>
        <p:spPr>
          <a:xfrm>
            <a:off x="532883" y="1869777"/>
            <a:ext cx="3717962" cy="138212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tr-TR" sz="2400" b="0" i="0" u="none" strike="noStrike" kern="1200" cap="none" spc="0" normalizeH="0" baseline="0" noProof="0" dirty="0">
                <a:ln>
                  <a:noFill/>
                </a:ln>
                <a:solidFill>
                  <a:srgbClr val="30343B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Aralığı değiştirir.</a:t>
            </a:r>
            <a:endParaRPr kumimoji="0" lang="tr-TR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tr-TR" sz="2400" b="0" i="0" u="none" strike="noStrike" kern="1200" cap="none" spc="0" normalizeH="0" baseline="0" noProof="0" dirty="0">
                <a:ln>
                  <a:noFill/>
                </a:ln>
                <a:solidFill>
                  <a:srgbClr val="30343B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Aykırı değerlere duyarlıdır.</a:t>
            </a:r>
            <a:endParaRPr kumimoji="0" lang="tr-TR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Metin kutusu 22">
            <a:extLst>
              <a:ext uri="{FF2B5EF4-FFF2-40B4-BE49-F238E27FC236}">
                <a16:creationId xmlns:a16="http://schemas.microsoft.com/office/drawing/2014/main" id="{640C08D5-721A-4530-AA08-481532994519}"/>
              </a:ext>
            </a:extLst>
          </p:cNvPr>
          <p:cNvSpPr txBox="1"/>
          <p:nvPr/>
        </p:nvSpPr>
        <p:spPr>
          <a:xfrm>
            <a:off x="8153491" y="4494844"/>
            <a:ext cx="3286125" cy="116205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tr-TR" sz="2400" b="0" i="0" u="none" strike="noStrike" kern="1200" cap="none" spc="0" normalizeH="0" baseline="0" noProof="0" dirty="0">
                <a:ln>
                  <a:noFill/>
                </a:ln>
                <a:solidFill>
                  <a:srgbClr val="30343B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Merkez ve ölçek değişir.</a:t>
            </a:r>
            <a:endParaRPr kumimoji="0" lang="tr-TR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tr-TR" sz="2400" b="0" i="0" u="none" strike="noStrike" kern="1200" cap="none" spc="0" normalizeH="0" baseline="0" noProof="0" dirty="0">
                <a:ln>
                  <a:noFill/>
                </a:ln>
                <a:solidFill>
                  <a:srgbClr val="30343B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Aykırı değerlere duyarlıdır.</a:t>
            </a:r>
            <a:endParaRPr kumimoji="0" lang="tr-TR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Text 0">
            <a:extLst>
              <a:ext uri="{FF2B5EF4-FFF2-40B4-BE49-F238E27FC236}">
                <a16:creationId xmlns:a16="http://schemas.microsoft.com/office/drawing/2014/main" id="{E8B3DC5C-E297-4A2D-9152-0A3423685EA9}"/>
              </a:ext>
            </a:extLst>
          </p:cNvPr>
          <p:cNvSpPr/>
          <p:nvPr/>
        </p:nvSpPr>
        <p:spPr>
          <a:xfrm>
            <a:off x="457200" y="285750"/>
            <a:ext cx="112395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tr-TR" sz="3200" b="1" dirty="0">
                <a:solidFill>
                  <a:srgbClr val="1E2A4E"/>
                </a:solidFill>
                <a:latin typeface="Calibri"/>
                <a:ea typeface="Calibri"/>
                <a:cs typeface="Calibri"/>
              </a:rPr>
              <a:t>Aynı verinin iki dönüşümü</a:t>
            </a:r>
            <a:endParaRPr lang="tr-TR" sz="3200" dirty="0"/>
          </a:p>
        </p:txBody>
      </p:sp>
      <p:pic>
        <p:nvPicPr>
          <p:cNvPr id="4" name="Resim 3">
            <a:extLst>
              <a:ext uri="{FF2B5EF4-FFF2-40B4-BE49-F238E27FC236}">
                <a16:creationId xmlns:a16="http://schemas.microsoft.com/office/drawing/2014/main" id="{C5FF2E53-ECE2-4EDD-8564-AEB5D4C582D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60986" y="1257943"/>
            <a:ext cx="7588749" cy="2227133"/>
          </a:xfrm>
          <a:prstGeom prst="rect">
            <a:avLst/>
          </a:prstGeom>
        </p:spPr>
      </p:pic>
      <p:pic>
        <p:nvPicPr>
          <p:cNvPr id="6" name="Resim 5">
            <a:extLst>
              <a:ext uri="{FF2B5EF4-FFF2-40B4-BE49-F238E27FC236}">
                <a16:creationId xmlns:a16="http://schemas.microsoft.com/office/drawing/2014/main" id="{F0033ECD-365C-4646-B297-9D809DC7000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5544" y="4032002"/>
            <a:ext cx="7343352" cy="21434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159812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C82A1EEA-B438-4BB4-BB56-ED9429F5B12B}"/>
              </a:ext>
            </a:extLst>
          </p:cNvPr>
          <p:cNvSpPr/>
          <p:nvPr/>
        </p:nvSpPr>
        <p:spPr>
          <a:xfrm>
            <a:off x="457200" y="285750"/>
            <a:ext cx="112395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tr-TR" sz="3200" b="1" dirty="0">
                <a:solidFill>
                  <a:srgbClr val="1E2A4E"/>
                </a:solidFill>
                <a:latin typeface="Calibri"/>
                <a:ea typeface="Calibri"/>
                <a:cs typeface="Calibri"/>
              </a:rPr>
              <a:t>Özellik türetme</a:t>
            </a:r>
            <a:endParaRPr lang="tr-TR" sz="3200"/>
          </a:p>
        </p:txBody>
      </p:sp>
      <p:sp>
        <p:nvSpPr>
          <p:cNvPr id="8" name="Text 1">
            <a:extLst>
              <a:ext uri="{FF2B5EF4-FFF2-40B4-BE49-F238E27FC236}">
                <a16:creationId xmlns:a16="http://schemas.microsoft.com/office/drawing/2014/main" id="{EAEA0DF0-37F3-488B-9567-21C0C536972F}"/>
              </a:ext>
            </a:extLst>
          </p:cNvPr>
          <p:cNvSpPr/>
          <p:nvPr/>
        </p:nvSpPr>
        <p:spPr>
          <a:xfrm>
            <a:off x="6303018" y="1806581"/>
            <a:ext cx="5315512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tr-TR" sz="2000" b="1" dirty="0">
                <a:solidFill>
                  <a:srgbClr val="30343B"/>
                </a:solidFill>
                <a:latin typeface="Calibri"/>
                <a:ea typeface="Calibri"/>
                <a:cs typeface="Calibri"/>
              </a:rPr>
              <a:t>Mevcut girdiden yeni bir özellik</a:t>
            </a:r>
            <a:endParaRPr lang="tr-TR" sz="2000"/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06158144-57F8-442F-B860-87E489A461E6}"/>
              </a:ext>
            </a:extLst>
          </p:cNvPr>
          <p:cNvSpPr/>
          <p:nvPr/>
        </p:nvSpPr>
        <p:spPr>
          <a:xfrm>
            <a:off x="6303018" y="3248025"/>
            <a:ext cx="5315512" cy="1266825"/>
          </a:xfrm>
          <a:prstGeom prst="rect">
            <a:avLst/>
          </a:prstGeom>
          <a:noFill/>
          <a:ln/>
        </p:spPr>
        <p:txBody>
          <a:bodyPr wrap="square" lIns="0" tIns="38985" rIns="0" bIns="0" rtlCol="0" anchor="t">
            <a:noAutofit/>
          </a:bodyPr>
          <a:lstStyle/>
          <a:p>
            <a:pPr marL="0" indent="0" algn="l">
              <a:lnSpc>
                <a:spcPct val="101000"/>
              </a:lnSpc>
              <a:buSzPct val="100000"/>
            </a:pPr>
            <a:r>
              <a:rPr lang="tr-TR" sz="2200" b="0" dirty="0">
                <a:solidFill>
                  <a:srgbClr val="30343B"/>
                </a:solidFill>
                <a:latin typeface="Calibri"/>
                <a:ea typeface="Calibri"/>
                <a:cs typeface="Calibri"/>
              </a:rPr>
              <a:t>Ev 1: 120 / 3 = 40 m²/oda</a:t>
            </a:r>
            <a:endParaRPr lang="tr-TR" sz="2200"/>
          </a:p>
          <a:p>
            <a:pPr marL="0" indent="0" algn="l">
              <a:lnSpc>
                <a:spcPct val="101000"/>
              </a:lnSpc>
              <a:buSzPct val="100000"/>
            </a:pPr>
            <a:r>
              <a:rPr lang="tr-TR" sz="2200" b="0" dirty="0">
                <a:solidFill>
                  <a:srgbClr val="30343B"/>
                </a:solidFill>
                <a:latin typeface="Calibri"/>
                <a:ea typeface="Calibri"/>
                <a:cs typeface="Calibri"/>
              </a:rPr>
              <a:t>Ev 3: 145 / 4 = 36,25 m²/oda</a:t>
            </a:r>
            <a:endParaRPr lang="tr-TR" sz="2200"/>
          </a:p>
          <a:p>
            <a:pPr marL="0" indent="0" algn="l">
              <a:lnSpc>
                <a:spcPct val="101000"/>
              </a:lnSpc>
              <a:buSzPct val="100000"/>
            </a:pPr>
            <a:r>
              <a:rPr lang="tr-TR" sz="2200" b="0" dirty="0">
                <a:solidFill>
                  <a:srgbClr val="30343B"/>
                </a:solidFill>
                <a:latin typeface="Calibri"/>
                <a:ea typeface="Calibri"/>
                <a:cs typeface="Calibri"/>
              </a:rPr>
              <a:t>Ev 5: 210 / 5 = 42 m²/oda</a:t>
            </a:r>
            <a:endParaRPr lang="tr-TR" sz="2200"/>
          </a:p>
        </p:txBody>
      </p:sp>
      <p:sp>
        <p:nvSpPr>
          <p:cNvPr id="10" name="Shape 4">
            <a:extLst>
              <a:ext uri="{FF2B5EF4-FFF2-40B4-BE49-F238E27FC236}">
                <a16:creationId xmlns:a16="http://schemas.microsoft.com/office/drawing/2014/main" id="{B69736CB-41C2-4D37-B4B8-A37A04A30000}"/>
              </a:ext>
            </a:extLst>
          </p:cNvPr>
          <p:cNvSpPr/>
          <p:nvPr/>
        </p:nvSpPr>
        <p:spPr>
          <a:xfrm>
            <a:off x="6303017" y="4561623"/>
            <a:ext cx="5511067" cy="1001172"/>
          </a:xfrm>
          <a:prstGeom prst="roundRect">
            <a:avLst>
              <a:gd name="adj" fmla="val 15929"/>
            </a:avLst>
          </a:prstGeom>
          <a:solidFill>
            <a:srgbClr val="E1E1EA">
              <a:alpha val="45000"/>
            </a:srgbClr>
          </a:solidFill>
          <a:ln/>
        </p:spPr>
        <p:txBody>
          <a:bodyPr/>
          <a:lstStyle/>
          <a:p>
            <a:endParaRPr lang="tr-TR" dirty="0"/>
          </a:p>
        </p:txBody>
      </p:sp>
      <p:sp>
        <p:nvSpPr>
          <p:cNvPr id="12" name="Text 2">
            <a:extLst>
              <a:ext uri="{FF2B5EF4-FFF2-40B4-BE49-F238E27FC236}">
                <a16:creationId xmlns:a16="http://schemas.microsoft.com/office/drawing/2014/main" id="{728E2088-F8D6-4AB9-A11E-48E701966301}"/>
              </a:ext>
            </a:extLst>
          </p:cNvPr>
          <p:cNvSpPr/>
          <p:nvPr/>
        </p:nvSpPr>
        <p:spPr>
          <a:xfrm>
            <a:off x="6303018" y="2552700"/>
            <a:ext cx="5191125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1000"/>
              </a:lnSpc>
              <a:buNone/>
            </a:pPr>
            <a:r>
              <a:rPr lang="tr-TR" sz="2300" b="0" dirty="0">
                <a:solidFill>
                  <a:srgbClr val="30343B"/>
                </a:solidFill>
                <a:latin typeface="Calibri"/>
                <a:ea typeface="Calibri"/>
                <a:cs typeface="Calibri"/>
              </a:rPr>
              <a:t>Örnek: Alan / oda sayısı</a:t>
            </a:r>
            <a:endParaRPr lang="tr-TR" sz="2300"/>
          </a:p>
        </p:txBody>
      </p:sp>
      <p:sp>
        <p:nvSpPr>
          <p:cNvPr id="13" name="Text 5">
            <a:extLst>
              <a:ext uri="{FF2B5EF4-FFF2-40B4-BE49-F238E27FC236}">
                <a16:creationId xmlns:a16="http://schemas.microsoft.com/office/drawing/2014/main" id="{14DBAC59-EB0D-48D8-8A74-2EF4ADD00494}"/>
              </a:ext>
            </a:extLst>
          </p:cNvPr>
          <p:cNvSpPr/>
          <p:nvPr/>
        </p:nvSpPr>
        <p:spPr>
          <a:xfrm>
            <a:off x="6510032" y="5167893"/>
            <a:ext cx="5511067" cy="4599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1000"/>
              </a:lnSpc>
              <a:buNone/>
            </a:pPr>
            <a:endParaRPr lang="en-US" sz="2000" dirty="0"/>
          </a:p>
        </p:txBody>
      </p:sp>
      <p:sp>
        <p:nvSpPr>
          <p:cNvPr id="15" name="Metin kutusu 14">
            <a:extLst>
              <a:ext uri="{FF2B5EF4-FFF2-40B4-BE49-F238E27FC236}">
                <a16:creationId xmlns:a16="http://schemas.microsoft.com/office/drawing/2014/main" id="{18209289-1AF3-4BAA-BE9D-3515A37BC05F}"/>
              </a:ext>
            </a:extLst>
          </p:cNvPr>
          <p:cNvSpPr txBox="1"/>
          <p:nvPr/>
        </p:nvSpPr>
        <p:spPr>
          <a:xfrm>
            <a:off x="6369346" y="4714875"/>
            <a:ext cx="5086350" cy="90487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indent="0"/>
            <a:r>
              <a:rPr lang="tr-TR" sz="2100" b="0" dirty="0" err="1">
                <a:solidFill>
                  <a:srgbClr val="30343B"/>
                </a:solidFill>
                <a:latin typeface="Calibri"/>
                <a:ea typeface="Calibri"/>
                <a:cs typeface="Calibri"/>
              </a:rPr>
              <a:t>Yeni özellik, tahmin sırasında</a:t>
            </a:r>
            <a:endParaRPr lang="tr-TR" sz="2100"/>
          </a:p>
          <a:p>
            <a:pPr marL="0" indent="0"/>
            <a:r>
              <a:rPr lang="tr-TR" sz="2100" b="0" dirty="0" err="1">
                <a:solidFill>
                  <a:srgbClr val="30343B"/>
                </a:solidFill>
                <a:latin typeface="Calibri"/>
                <a:ea typeface="Calibri"/>
                <a:cs typeface="Calibri"/>
              </a:rPr>
              <a:t>bilinen girdilerden hesaplanmalı.</a:t>
            </a:r>
            <a:endParaRPr lang="tr-TR" sz="2100"/>
          </a:p>
        </p:txBody>
      </p:sp>
      <p:graphicFrame>
        <p:nvGraphicFramePr>
          <p:cNvPr id="16" name="Tablo 15"/>
          <p:cNvGraphicFramePr/>
          <p:nvPr/>
        </p:nvGraphicFramePr>
        <p:xfrm>
          <a:off x="666750" y="2095500"/>
          <a:ext cx="5238750" cy="2857500"/>
        </p:xfrm>
        <a:graphic>
          <a:graphicData uri="http://schemas.openxmlformats.org/drawingml/2006/table">
            <a:tbl>
              <a:tblPr/>
              <a:tblGrid>
                <a:gridCol w="1047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8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47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14375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Ev</a:t>
                      </a:r>
                    </a:p>
                  </a:txBody>
                  <a:tcPr marL="114300" marR="114300" marT="95250" marB="95250" anchor="ctr">
                    <a:solidFill>
                      <a:srgbClr val="1E2A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Alan</a:t>
                      </a:r>
                    </a:p>
                  </a:txBody>
                  <a:tcPr marL="114300" marR="114300" marT="95250" marB="95250" anchor="ctr">
                    <a:solidFill>
                      <a:srgbClr val="1E2A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Oda</a:t>
                      </a:r>
                    </a:p>
                  </a:txBody>
                  <a:tcPr marL="114300" marR="114300" marT="95250" marB="95250" anchor="ctr">
                    <a:solidFill>
                      <a:srgbClr val="1E2A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m² / oda</a:t>
                      </a:r>
                    </a:p>
                  </a:txBody>
                  <a:tcPr marL="114300" marR="114300" marT="95250" marB="95250" anchor="ctr">
                    <a:solidFill>
                      <a:srgbClr val="1E2A4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4375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30343B"/>
                          </a:solidFill>
                          <a:latin typeface="Calibri"/>
                          <a:ea typeface="Calibri"/>
                          <a:cs typeface="Calibri"/>
                        </a:rPr>
                        <a:t>Ev 1</a:t>
                      </a:r>
                    </a:p>
                  </a:txBody>
                  <a:tcPr marL="1143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30343B"/>
                          </a:solidFill>
                          <a:latin typeface="Calibri"/>
                          <a:ea typeface="Calibri"/>
                          <a:cs typeface="Calibri"/>
                        </a:rPr>
                        <a:t>120</a:t>
                      </a:r>
                    </a:p>
                  </a:txBody>
                  <a:tcPr marL="1143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30343B"/>
                          </a:solidFill>
                          <a:latin typeface="Calibri"/>
                          <a:ea typeface="Calibri"/>
                          <a:cs typeface="Calibri"/>
                        </a:rPr>
                        <a:t>3</a:t>
                      </a:r>
                    </a:p>
                  </a:txBody>
                  <a:tcPr marL="1143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30343B"/>
                          </a:solidFill>
                          <a:latin typeface="Calibri"/>
                          <a:ea typeface="Calibri"/>
                          <a:cs typeface="Calibri"/>
                        </a:rPr>
                        <a:t>40</a:t>
                      </a:r>
                    </a:p>
                  </a:txBody>
                  <a:tcPr marL="114300" marR="114300" marT="95250" marB="952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4375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30343B"/>
                          </a:solidFill>
                          <a:latin typeface="Calibri"/>
                          <a:ea typeface="Calibri"/>
                          <a:cs typeface="Calibri"/>
                        </a:rPr>
                        <a:t>Ev 3</a:t>
                      </a:r>
                    </a:p>
                  </a:txBody>
                  <a:tcPr marL="114300" marR="114300" marT="95250" marB="95250" anchor="ctr">
                    <a:solidFill>
                      <a:srgbClr val="EFEF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30343B"/>
                          </a:solidFill>
                          <a:latin typeface="Calibri"/>
                          <a:ea typeface="Calibri"/>
                          <a:cs typeface="Calibri"/>
                        </a:rPr>
                        <a:t>145</a:t>
                      </a:r>
                    </a:p>
                  </a:txBody>
                  <a:tcPr marL="114300" marR="114300" marT="95250" marB="95250" anchor="ctr">
                    <a:solidFill>
                      <a:srgbClr val="EFEF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30343B"/>
                          </a:solidFill>
                          <a:latin typeface="Calibri"/>
                          <a:ea typeface="Calibri"/>
                          <a:cs typeface="Calibri"/>
                        </a:rPr>
                        <a:t>4</a:t>
                      </a:r>
                    </a:p>
                  </a:txBody>
                  <a:tcPr marL="114300" marR="114300" marT="95250" marB="95250" anchor="ctr">
                    <a:solidFill>
                      <a:srgbClr val="EFEF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30343B"/>
                          </a:solidFill>
                          <a:latin typeface="Calibri"/>
                          <a:ea typeface="Calibri"/>
                          <a:cs typeface="Calibri"/>
                        </a:rPr>
                        <a:t>36,25</a:t>
                      </a:r>
                    </a:p>
                  </a:txBody>
                  <a:tcPr marL="114300" marR="114300" marT="95250" marB="95250" anchor="ctr">
                    <a:solidFill>
                      <a:srgbClr val="EFEF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14375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30343B"/>
                          </a:solidFill>
                          <a:latin typeface="Calibri"/>
                          <a:ea typeface="Calibri"/>
                          <a:cs typeface="Calibri"/>
                        </a:rPr>
                        <a:t>Ev 5</a:t>
                      </a:r>
                    </a:p>
                  </a:txBody>
                  <a:tcPr marL="1143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30343B"/>
                          </a:solidFill>
                          <a:latin typeface="Calibri"/>
                          <a:ea typeface="Calibri"/>
                          <a:cs typeface="Calibri"/>
                        </a:rPr>
                        <a:t>210</a:t>
                      </a:r>
                    </a:p>
                  </a:txBody>
                  <a:tcPr marL="1143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30343B"/>
                          </a:solidFill>
                          <a:latin typeface="Calibri"/>
                          <a:ea typeface="Calibri"/>
                          <a:cs typeface="Calibri"/>
                        </a:rPr>
                        <a:t>5</a:t>
                      </a:r>
                    </a:p>
                  </a:txBody>
                  <a:tcPr marL="1143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30343B"/>
                          </a:solidFill>
                          <a:latin typeface="Calibri"/>
                          <a:ea typeface="Calibri"/>
                          <a:cs typeface="Calibri"/>
                        </a:rPr>
                        <a:t>42</a:t>
                      </a:r>
                    </a:p>
                  </a:txBody>
                  <a:tcPr marL="114300" marR="114300" marT="95250" marB="952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5934477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6209CFAA-DA78-4432-A96F-A63F0DC467F4}"/>
              </a:ext>
            </a:extLst>
          </p:cNvPr>
          <p:cNvSpPr/>
          <p:nvPr/>
        </p:nvSpPr>
        <p:spPr>
          <a:xfrm>
            <a:off x="457200" y="285750"/>
            <a:ext cx="112395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tr-TR" sz="3200" b="1" dirty="0">
                <a:solidFill>
                  <a:srgbClr val="1E2A4E"/>
                </a:solidFill>
                <a:latin typeface="Calibri"/>
                <a:ea typeface="Calibri"/>
                <a:cs typeface="Calibri"/>
              </a:rPr>
              <a:t>Uygulama: Güvenli hazırlık akışı</a:t>
            </a:r>
            <a:endParaRPr lang="tr-TR" sz="320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4CEEA2ED-4FC5-46C6-94D7-818F55C69C9B}"/>
              </a:ext>
            </a:extLst>
          </p:cNvPr>
          <p:cNvSpPr/>
          <p:nvPr/>
        </p:nvSpPr>
        <p:spPr>
          <a:xfrm>
            <a:off x="307057" y="1009650"/>
            <a:ext cx="10953750" cy="447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tr-TR" sz="2000" b="0" dirty="0">
                <a:solidFill>
                  <a:srgbClr val="30343B"/>
                </a:solidFill>
                <a:latin typeface="Calibri"/>
                <a:ea typeface="Calibri"/>
                <a:cs typeface="Calibri"/>
              </a:rPr>
              <a:t>Fiyatı bilinen kayıtları ayırır, dönüşümleri eğitim verisinden öğreniriz.</a:t>
            </a:r>
            <a:endParaRPr lang="tr-TR" sz="200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9EFC1471-6642-4438-B10B-1A702466632C}"/>
              </a:ext>
            </a:extLst>
          </p:cNvPr>
          <p:cNvSpPr/>
          <p:nvPr/>
        </p:nvSpPr>
        <p:spPr>
          <a:xfrm>
            <a:off x="661475" y="2314277"/>
            <a:ext cx="10868745" cy="19050"/>
          </a:xfrm>
          <a:prstGeom prst="roundRect">
            <a:avLst>
              <a:gd name="adj" fmla="val 49999"/>
            </a:avLst>
          </a:prstGeom>
          <a:solidFill>
            <a:srgbClr val="C7C7D0"/>
          </a:solidFill>
          <a:ln/>
        </p:spPr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DCD7DE19-10C8-461E-8C1C-5BDF7A510544}"/>
              </a:ext>
            </a:extLst>
          </p:cNvPr>
          <p:cNvSpPr/>
          <p:nvPr/>
        </p:nvSpPr>
        <p:spPr>
          <a:xfrm>
            <a:off x="2789069" y="2042616"/>
            <a:ext cx="19050" cy="271661"/>
          </a:xfrm>
          <a:prstGeom prst="roundRect">
            <a:avLst>
              <a:gd name="adj" fmla="val 49999"/>
            </a:avLst>
          </a:prstGeom>
          <a:solidFill>
            <a:srgbClr val="C7C7D0"/>
          </a:solidFill>
          <a:ln/>
        </p:spPr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3E5F7DB5-39C6-4630-AE84-97DD0EF5DD44}"/>
              </a:ext>
            </a:extLst>
          </p:cNvPr>
          <p:cNvSpPr/>
          <p:nvPr/>
        </p:nvSpPr>
        <p:spPr>
          <a:xfrm>
            <a:off x="2747695" y="2263378"/>
            <a:ext cx="101796" cy="101798"/>
          </a:xfrm>
          <a:prstGeom prst="ellipse">
            <a:avLst/>
          </a:prstGeom>
          <a:solidFill>
            <a:srgbClr val="1B1B27"/>
          </a:solidFill>
          <a:ln/>
        </p:spPr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5DEEF019-3884-4022-A607-466E27F9878B}"/>
              </a:ext>
            </a:extLst>
          </p:cNvPr>
          <p:cNvSpPr/>
          <p:nvPr/>
        </p:nvSpPr>
        <p:spPr>
          <a:xfrm>
            <a:off x="797302" y="1449189"/>
            <a:ext cx="4002583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tr-TR" sz="1900" b="1" dirty="0">
                <a:solidFill>
                  <a:srgbClr val="30343B"/>
                </a:solidFill>
                <a:latin typeface="Calibri"/>
                <a:ea typeface="Calibri"/>
                <a:cs typeface="Calibri"/>
              </a:rPr>
              <a:t>1. Girdi ve hedef</a:t>
            </a:r>
            <a:endParaRPr lang="tr-TR" sz="190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3D3E43B7-7601-426A-9BFE-25FCB5057146}"/>
              </a:ext>
            </a:extLst>
          </p:cNvPr>
          <p:cNvSpPr/>
          <p:nvPr/>
        </p:nvSpPr>
        <p:spPr>
          <a:xfrm>
            <a:off x="797302" y="1720056"/>
            <a:ext cx="400258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lnSpc>
                <a:spcPct val="115000"/>
              </a:lnSpc>
              <a:buNone/>
            </a:pPr>
            <a:r>
              <a:rPr lang="tr-TR" sz="1800" b="0" dirty="0">
                <a:solidFill>
                  <a:srgbClr val="30343B"/>
                </a:solidFill>
                <a:latin typeface="Calibri"/>
                <a:ea typeface="Calibri"/>
                <a:cs typeface="Calibri"/>
              </a:rPr>
              <a:t>Fiyatı eksik Ev 2’yi sakla.</a:t>
            </a:r>
            <a:endParaRPr lang="tr-TR" sz="1800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C6EEFD6A-077A-4120-BCE7-80584BDFA947}"/>
              </a:ext>
            </a:extLst>
          </p:cNvPr>
          <p:cNvSpPr/>
          <p:nvPr/>
        </p:nvSpPr>
        <p:spPr>
          <a:xfrm>
            <a:off x="4987205" y="2314277"/>
            <a:ext cx="19050" cy="271661"/>
          </a:xfrm>
          <a:prstGeom prst="roundRect">
            <a:avLst>
              <a:gd name="adj" fmla="val 49999"/>
            </a:avLst>
          </a:prstGeom>
          <a:solidFill>
            <a:srgbClr val="C7C7D0"/>
          </a:solidFill>
          <a:ln/>
        </p:spPr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444B20E6-D9B2-4DDB-A6B3-616D570D8B14}"/>
              </a:ext>
            </a:extLst>
          </p:cNvPr>
          <p:cNvSpPr/>
          <p:nvPr/>
        </p:nvSpPr>
        <p:spPr>
          <a:xfrm>
            <a:off x="4945832" y="2263378"/>
            <a:ext cx="101796" cy="101798"/>
          </a:xfrm>
          <a:prstGeom prst="ellipse">
            <a:avLst/>
          </a:prstGeom>
          <a:solidFill>
            <a:srgbClr val="1B1B27"/>
          </a:solidFill>
          <a:ln/>
        </p:spPr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9DA49BE0-651A-4DCE-A294-92B86CD56974}"/>
              </a:ext>
            </a:extLst>
          </p:cNvPr>
          <p:cNvSpPr/>
          <p:nvPr/>
        </p:nvSpPr>
        <p:spPr>
          <a:xfrm>
            <a:off x="2995438" y="2721769"/>
            <a:ext cx="4002583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tr-TR" sz="1900" b="1" dirty="0">
                <a:solidFill>
                  <a:srgbClr val="30343B"/>
                </a:solidFill>
                <a:latin typeface="Calibri"/>
                <a:ea typeface="Calibri"/>
                <a:cs typeface="Calibri"/>
              </a:rPr>
              <a:t>2. Veriyi ayırma</a:t>
            </a:r>
            <a:endParaRPr lang="tr-TR" sz="190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0C905A3F-FA6C-41F1-BB84-A2264DF86985}"/>
              </a:ext>
            </a:extLst>
          </p:cNvPr>
          <p:cNvSpPr/>
          <p:nvPr/>
        </p:nvSpPr>
        <p:spPr>
          <a:xfrm>
            <a:off x="2995438" y="2992636"/>
            <a:ext cx="400258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lnSpc>
                <a:spcPct val="115000"/>
              </a:lnSpc>
              <a:buNone/>
            </a:pPr>
            <a:r>
              <a:rPr lang="tr-TR" sz="1800" b="0" dirty="0">
                <a:solidFill>
                  <a:srgbClr val="30343B"/>
                </a:solidFill>
                <a:latin typeface="Calibri"/>
                <a:ea typeface="Calibri"/>
                <a:cs typeface="Calibri"/>
              </a:rPr>
              <a:t>Eğitim / doğrulama / test</a:t>
            </a:r>
            <a:endParaRPr lang="tr-TR" sz="1800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A77B5639-037B-4BEC-AEDE-3DD9D443E580}"/>
              </a:ext>
            </a:extLst>
          </p:cNvPr>
          <p:cNvSpPr/>
          <p:nvPr/>
        </p:nvSpPr>
        <p:spPr>
          <a:xfrm>
            <a:off x="7185341" y="2042616"/>
            <a:ext cx="19050" cy="271661"/>
          </a:xfrm>
          <a:prstGeom prst="roundRect">
            <a:avLst>
              <a:gd name="adj" fmla="val 49999"/>
            </a:avLst>
          </a:prstGeom>
          <a:solidFill>
            <a:srgbClr val="C7C7D0"/>
          </a:solidFill>
          <a:ln/>
        </p:spPr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31146952-6551-424B-9AA0-8C3029E6AE0D}"/>
              </a:ext>
            </a:extLst>
          </p:cNvPr>
          <p:cNvSpPr/>
          <p:nvPr/>
        </p:nvSpPr>
        <p:spPr>
          <a:xfrm>
            <a:off x="7143968" y="2263378"/>
            <a:ext cx="101796" cy="101798"/>
          </a:xfrm>
          <a:prstGeom prst="ellipse">
            <a:avLst/>
          </a:prstGeom>
          <a:solidFill>
            <a:srgbClr val="1B1B27"/>
          </a:solidFill>
          <a:ln/>
        </p:spPr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14D6BC6C-8BD4-474E-840F-7FE2549048C4}"/>
              </a:ext>
            </a:extLst>
          </p:cNvPr>
          <p:cNvSpPr/>
          <p:nvPr/>
        </p:nvSpPr>
        <p:spPr>
          <a:xfrm>
            <a:off x="5193575" y="1449189"/>
            <a:ext cx="4002583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tr-TR" sz="1900" b="1" dirty="0">
                <a:solidFill>
                  <a:srgbClr val="30343B"/>
                </a:solidFill>
                <a:latin typeface="Calibri"/>
                <a:ea typeface="Calibri"/>
                <a:cs typeface="Calibri"/>
              </a:rPr>
              <a:t>3. Eğitimde öğrenme</a:t>
            </a:r>
            <a:endParaRPr lang="tr-TR" sz="190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C2C307A5-64B8-4472-9675-00F3F4E82B21}"/>
              </a:ext>
            </a:extLst>
          </p:cNvPr>
          <p:cNvSpPr/>
          <p:nvPr/>
        </p:nvSpPr>
        <p:spPr>
          <a:xfrm>
            <a:off x="5193575" y="1720056"/>
            <a:ext cx="400258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lnSpc>
                <a:spcPct val="115000"/>
              </a:lnSpc>
              <a:buNone/>
            </a:pPr>
            <a:r>
              <a:rPr lang="tr-TR" sz="1800" b="0" dirty="0">
                <a:solidFill>
                  <a:srgbClr val="30343B"/>
                </a:solidFill>
                <a:latin typeface="Calibri"/>
                <a:ea typeface="Calibri"/>
                <a:cs typeface="Calibri"/>
              </a:rPr>
              <a:t>Doldurma, kodlama, ölçekleme</a:t>
            </a:r>
            <a:endParaRPr lang="tr-TR" sz="1800"/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6D882CA4-7E0C-4663-81CF-E93F46BF8677}"/>
              </a:ext>
            </a:extLst>
          </p:cNvPr>
          <p:cNvSpPr/>
          <p:nvPr/>
        </p:nvSpPr>
        <p:spPr>
          <a:xfrm>
            <a:off x="9383478" y="2314277"/>
            <a:ext cx="19050" cy="271661"/>
          </a:xfrm>
          <a:prstGeom prst="roundRect">
            <a:avLst>
              <a:gd name="adj" fmla="val 49999"/>
            </a:avLst>
          </a:prstGeom>
          <a:solidFill>
            <a:srgbClr val="C7C7D0"/>
          </a:solidFill>
          <a:ln/>
        </p:spPr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98AC6C56-5FE3-4CA8-A88E-C40E44B2894F}"/>
              </a:ext>
            </a:extLst>
          </p:cNvPr>
          <p:cNvSpPr/>
          <p:nvPr/>
        </p:nvSpPr>
        <p:spPr>
          <a:xfrm>
            <a:off x="9342105" y="2263378"/>
            <a:ext cx="101796" cy="101798"/>
          </a:xfrm>
          <a:prstGeom prst="ellipse">
            <a:avLst/>
          </a:prstGeom>
          <a:solidFill>
            <a:srgbClr val="1B1B27"/>
          </a:solidFill>
          <a:ln/>
        </p:spPr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B0EB4A38-15DD-4C97-B3F2-B84FD54D70DC}"/>
              </a:ext>
            </a:extLst>
          </p:cNvPr>
          <p:cNvSpPr/>
          <p:nvPr/>
        </p:nvSpPr>
        <p:spPr>
          <a:xfrm>
            <a:off x="7391711" y="2721769"/>
            <a:ext cx="4002583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tr-TR" sz="1900" b="1" dirty="0">
                <a:solidFill>
                  <a:srgbClr val="30343B"/>
                </a:solidFill>
                <a:latin typeface="Calibri"/>
                <a:ea typeface="Calibri"/>
                <a:cs typeface="Calibri"/>
              </a:rPr>
              <a:t>4. Diğerlerine uygulama</a:t>
            </a:r>
            <a:endParaRPr lang="tr-TR" sz="1900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BC26D609-7464-40B0-B955-747DF6AEDA1A}"/>
              </a:ext>
            </a:extLst>
          </p:cNvPr>
          <p:cNvSpPr/>
          <p:nvPr/>
        </p:nvSpPr>
        <p:spPr>
          <a:xfrm>
            <a:off x="7391711" y="2992636"/>
            <a:ext cx="400258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lnSpc>
                <a:spcPct val="115000"/>
              </a:lnSpc>
              <a:buNone/>
            </a:pPr>
            <a:r>
              <a:rPr lang="tr-TR" sz="1800" b="0" dirty="0">
                <a:solidFill>
                  <a:srgbClr val="30343B"/>
                </a:solidFill>
                <a:latin typeface="Calibri"/>
                <a:ea typeface="Calibri"/>
                <a:cs typeface="Calibri"/>
              </a:rPr>
              <a:t>Aynı parametreleri kullan.</a:t>
            </a:r>
            <a:endParaRPr lang="tr-TR" sz="1800"/>
          </a:p>
        </p:txBody>
      </p:sp>
      <p:graphicFrame>
        <p:nvGraphicFramePr>
          <p:cNvPr id="21" name="Table 0">
            <a:extLst>
              <a:ext uri="{FF2B5EF4-FFF2-40B4-BE49-F238E27FC236}">
                <a16:creationId xmlns:a16="http://schemas.microsoft.com/office/drawing/2014/main" id="{08980BCF-CE28-48D8-8F60-BA28C0D16F7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77226856"/>
              </p:ext>
            </p:extLst>
          </p:nvPr>
        </p:nvGraphicFramePr>
        <p:xfrm>
          <a:off x="661475" y="3350518"/>
          <a:ext cx="10868748" cy="2677650"/>
        </p:xfrm>
        <a:graphic>
          <a:graphicData uri="http://schemas.openxmlformats.org/drawingml/2006/table">
            <a:tbl>
              <a:tblPr/>
              <a:tblGrid>
                <a:gridCol w="181145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1145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1145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1145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1145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81145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1967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tr-TR" sz="1800" b="1" dirty="0" err="1">
                          <a:solidFill>
                            <a:srgbClr val="1E2A4E"/>
                          </a:solidFill>
                          <a:latin typeface="Calibri"/>
                          <a:ea typeface="Calibri"/>
                          <a:cs typeface="Calibri"/>
                        </a:rPr>
                        <a:t>Ev</a:t>
                      </a:r>
                      <a:endParaRPr lang="tr-TR" sz="1800"/>
                    </a:p>
                  </a:txBody>
                  <a:tcPr marL="135857" marR="135857" marT="6350" marB="6350" anchor="ctr">
                    <a:lnL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tr-TR" sz="1800" b="1" dirty="0">
                          <a:solidFill>
                            <a:srgbClr val="1E2A4E"/>
                          </a:solidFill>
                          <a:latin typeface="Calibri"/>
                          <a:ea typeface="Calibri"/>
                          <a:cs typeface="Calibri"/>
                        </a:rPr>
                        <a:t>Yaş</a:t>
                      </a:r>
                      <a:endParaRPr lang="tr-TR" sz="1800"/>
                    </a:p>
                  </a:txBody>
                  <a:tcPr marL="135857" marR="135857" marT="6350" marB="6350" anchor="ctr">
                    <a:lnL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tr-TR" sz="1800" b="1" dirty="0">
                          <a:solidFill>
                            <a:srgbClr val="1E2A4E"/>
                          </a:solidFill>
                          <a:latin typeface="Calibri"/>
                          <a:ea typeface="Calibri"/>
                          <a:cs typeface="Calibri"/>
                        </a:rPr>
                        <a:t>Alan (m²)</a:t>
                      </a:r>
                      <a:endParaRPr lang="tr-TR" sz="1800"/>
                    </a:p>
                  </a:txBody>
                  <a:tcPr marL="135857" marR="135857" marT="6350" marB="6350" anchor="ctr">
                    <a:lnL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tr-TR" sz="1800" b="1" dirty="0">
                          <a:solidFill>
                            <a:srgbClr val="1E2A4E"/>
                          </a:solidFill>
                          <a:latin typeface="Calibri"/>
                          <a:ea typeface="Calibri"/>
                          <a:cs typeface="Calibri"/>
                        </a:rPr>
                        <a:t>Oda</a:t>
                      </a:r>
                      <a:endParaRPr lang="tr-TR" sz="1800"/>
                    </a:p>
                  </a:txBody>
                  <a:tcPr marL="135857" marR="135857" marT="6350" marB="6350" anchor="ctr">
                    <a:lnL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tr-TR" sz="1800" b="1" dirty="0">
                          <a:solidFill>
                            <a:srgbClr val="1E2A4E"/>
                          </a:solidFill>
                          <a:latin typeface="Calibri"/>
                          <a:ea typeface="Calibri"/>
                          <a:cs typeface="Calibri"/>
                        </a:rPr>
                        <a:t>Şehir</a:t>
                      </a:r>
                      <a:endParaRPr lang="tr-TR" sz="1800"/>
                    </a:p>
                  </a:txBody>
                  <a:tcPr marL="135857" marR="135857" marT="6350" marB="6350" anchor="ctr">
                    <a:lnL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tr-TR" sz="1800" b="1" dirty="0">
                          <a:solidFill>
                            <a:srgbClr val="1E2A4E"/>
                          </a:solidFill>
                          <a:latin typeface="Calibri"/>
                          <a:ea typeface="Calibri"/>
                          <a:cs typeface="Calibri"/>
                        </a:rPr>
                        <a:t>Fiyat (bin TL)</a:t>
                      </a:r>
                      <a:endParaRPr lang="tr-TR" sz="1800"/>
                    </a:p>
                  </a:txBody>
                  <a:tcPr marL="135857" marR="135857" marT="6350" marB="6350" anchor="ctr">
                    <a:lnL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957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tr-TR" sz="1800" b="0" dirty="0">
                          <a:solidFill>
                            <a:srgbClr val="30343B"/>
                          </a:solidFill>
                          <a:latin typeface="Calibri"/>
                          <a:ea typeface="Calibri"/>
                          <a:cs typeface="Calibri"/>
                        </a:rPr>
                        <a:t>Ev 1</a:t>
                      </a:r>
                      <a:endParaRPr lang="tr-TR" sz="1800"/>
                    </a:p>
                  </a:txBody>
                  <a:tcPr marL="135857" marR="135857" marT="6350" marB="6350" anchor="ctr">
                    <a:lnL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tr-TR" sz="1800" b="0" dirty="0">
                          <a:solidFill>
                            <a:srgbClr val="30343B"/>
                          </a:solidFill>
                          <a:latin typeface="Calibri"/>
                          <a:ea typeface="Calibri"/>
                          <a:cs typeface="Calibri"/>
                        </a:rPr>
                        <a:t>5</a:t>
                      </a:r>
                      <a:endParaRPr lang="tr-TR" sz="1800"/>
                    </a:p>
                  </a:txBody>
                  <a:tcPr marL="135857" marR="135857" marT="6350" marB="6350" anchor="ctr">
                    <a:lnL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tr-TR" sz="1800" b="0" dirty="0">
                          <a:solidFill>
                            <a:srgbClr val="30343B"/>
                          </a:solidFill>
                          <a:latin typeface="Calibri"/>
                          <a:ea typeface="Calibri"/>
                          <a:cs typeface="Calibri"/>
                        </a:rPr>
                        <a:t>120</a:t>
                      </a:r>
                      <a:endParaRPr lang="tr-TR" sz="1800"/>
                    </a:p>
                  </a:txBody>
                  <a:tcPr marL="135857" marR="135857" marT="6350" marB="6350" anchor="ctr">
                    <a:lnL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tr-TR" sz="1800" b="0" dirty="0">
                          <a:solidFill>
                            <a:srgbClr val="30343B"/>
                          </a:solidFill>
                          <a:latin typeface="Calibri"/>
                          <a:ea typeface="Calibri"/>
                          <a:cs typeface="Calibri"/>
                        </a:rPr>
                        <a:t>3</a:t>
                      </a:r>
                      <a:endParaRPr lang="tr-TR" sz="1800"/>
                    </a:p>
                  </a:txBody>
                  <a:tcPr marL="135857" marR="135857" marT="6350" marB="6350" anchor="ctr">
                    <a:lnL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tr-TR" sz="1800" b="0" dirty="0">
                          <a:solidFill>
                            <a:srgbClr val="30343B"/>
                          </a:solidFill>
                          <a:latin typeface="Calibri"/>
                          <a:ea typeface="Calibri"/>
                          <a:cs typeface="Calibri"/>
                        </a:rPr>
                        <a:t>Kayseri</a:t>
                      </a:r>
                      <a:endParaRPr lang="tr-TR" sz="1800"/>
                    </a:p>
                  </a:txBody>
                  <a:tcPr marL="135857" marR="135857" marT="6350" marB="6350" anchor="ctr">
                    <a:lnL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tr-TR" sz="1800" b="0" dirty="0">
                          <a:solidFill>
                            <a:srgbClr val="30343B"/>
                          </a:solidFill>
                          <a:latin typeface="Calibri"/>
                          <a:ea typeface="Calibri"/>
                          <a:cs typeface="Calibri"/>
                        </a:rPr>
                        <a:t>1.850</a:t>
                      </a:r>
                      <a:endParaRPr lang="tr-TR" sz="1800"/>
                    </a:p>
                  </a:txBody>
                  <a:tcPr marL="135857" marR="135857" marT="6350" marB="6350" anchor="ctr">
                    <a:lnL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957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tr-TR" sz="1800" b="0" dirty="0">
                          <a:solidFill>
                            <a:srgbClr val="30343B"/>
                          </a:solidFill>
                          <a:latin typeface="Calibri"/>
                          <a:ea typeface="Calibri"/>
                          <a:cs typeface="Calibri"/>
                        </a:rPr>
                        <a:t>Ev 2</a:t>
                      </a:r>
                      <a:endParaRPr lang="tr-TR" sz="1800"/>
                    </a:p>
                  </a:txBody>
                  <a:tcPr marL="135857" marR="135857" marT="6350" marB="6350" anchor="ctr">
                    <a:lnL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tr-TR" sz="1800" b="0" dirty="0">
                          <a:solidFill>
                            <a:srgbClr val="30343B"/>
                          </a:solidFill>
                          <a:latin typeface="Calibri"/>
                          <a:ea typeface="Calibri"/>
                          <a:cs typeface="Calibri"/>
                        </a:rPr>
                        <a:t>30</a:t>
                      </a:r>
                      <a:endParaRPr lang="tr-TR" sz="1800"/>
                    </a:p>
                  </a:txBody>
                  <a:tcPr marL="135857" marR="135857" marT="6350" marB="6350" anchor="ctr">
                    <a:lnL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tr-TR" sz="1800" b="0" dirty="0">
                          <a:solidFill>
                            <a:srgbClr val="30343B"/>
                          </a:solidFill>
                          <a:latin typeface="Calibri"/>
                          <a:ea typeface="Calibri"/>
                          <a:cs typeface="Calibri"/>
                        </a:rPr>
                        <a:t>85</a:t>
                      </a:r>
                      <a:endParaRPr lang="tr-TR" sz="1800"/>
                    </a:p>
                  </a:txBody>
                  <a:tcPr marL="135857" marR="135857" marT="6350" marB="6350" anchor="ctr">
                    <a:lnL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tr-TR" sz="1800" b="0" dirty="0">
                          <a:solidFill>
                            <a:srgbClr val="30343B"/>
                          </a:solidFill>
                          <a:latin typeface="Calibri"/>
                          <a:ea typeface="Calibri"/>
                          <a:cs typeface="Calibri"/>
                        </a:rPr>
                        <a:t>2</a:t>
                      </a:r>
                      <a:endParaRPr lang="tr-TR" sz="1800"/>
                    </a:p>
                  </a:txBody>
                  <a:tcPr marL="135857" marR="135857" marT="6350" marB="6350" anchor="ctr">
                    <a:lnL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tr-TR" sz="1800" b="0" dirty="0">
                          <a:solidFill>
                            <a:srgbClr val="30343B"/>
                          </a:solidFill>
                          <a:latin typeface="Calibri"/>
                          <a:ea typeface="Calibri"/>
                          <a:cs typeface="Calibri"/>
                        </a:rPr>
                        <a:t>Ankara</a:t>
                      </a:r>
                      <a:endParaRPr lang="tr-TR" sz="1800"/>
                    </a:p>
                  </a:txBody>
                  <a:tcPr marL="135857" marR="135857" marT="6350" marB="6350" anchor="ctr">
                    <a:lnL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tr-TR" sz="1800" b="1" dirty="0">
                          <a:solidFill>
                            <a:srgbClr val="CF3636"/>
                          </a:solidFill>
                          <a:latin typeface="Calibri"/>
                          <a:ea typeface="Calibri"/>
                          <a:cs typeface="Calibri"/>
                        </a:rPr>
                        <a:t>Eksik</a:t>
                      </a:r>
                      <a:endParaRPr lang="tr-TR" sz="1800"/>
                    </a:p>
                  </a:txBody>
                  <a:tcPr marL="135857" marR="135857" marT="6350" marB="6350" anchor="ctr">
                    <a:lnL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285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tr-TR" sz="1800" b="0" dirty="0">
                          <a:solidFill>
                            <a:srgbClr val="30343B"/>
                          </a:solidFill>
                          <a:latin typeface="Calibri"/>
                          <a:ea typeface="Calibri"/>
                          <a:cs typeface="Calibri"/>
                        </a:rPr>
                        <a:t>Ev 3</a:t>
                      </a:r>
                      <a:endParaRPr lang="tr-TR" sz="1800"/>
                    </a:p>
                  </a:txBody>
                  <a:tcPr marL="135857" marR="135857" marT="6350" marB="6350" anchor="ctr">
                    <a:lnL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tr-TR" sz="1800" b="0" dirty="0">
                          <a:solidFill>
                            <a:srgbClr val="30343B"/>
                          </a:solidFill>
                          <a:latin typeface="Calibri"/>
                          <a:ea typeface="Calibri"/>
                          <a:cs typeface="Calibri"/>
                        </a:rPr>
                        <a:t>12</a:t>
                      </a:r>
                      <a:endParaRPr lang="tr-TR" sz="1800"/>
                    </a:p>
                  </a:txBody>
                  <a:tcPr marL="135857" marR="135857" marT="6350" marB="6350" anchor="ctr">
                    <a:lnL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tr-TR" sz="1800" b="0" dirty="0">
                          <a:solidFill>
                            <a:srgbClr val="30343B"/>
                          </a:solidFill>
                          <a:latin typeface="Calibri"/>
                          <a:ea typeface="Calibri"/>
                          <a:cs typeface="Calibri"/>
                        </a:rPr>
                        <a:t>145</a:t>
                      </a:r>
                      <a:endParaRPr lang="tr-TR" sz="1800"/>
                    </a:p>
                  </a:txBody>
                  <a:tcPr marL="135857" marR="135857" marT="6350" marB="6350" anchor="ctr">
                    <a:lnL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tr-TR" sz="1800" b="0" dirty="0">
                          <a:solidFill>
                            <a:srgbClr val="30343B"/>
                          </a:solidFill>
                          <a:latin typeface="Calibri"/>
                          <a:ea typeface="Calibri"/>
                          <a:cs typeface="Calibri"/>
                        </a:rPr>
                        <a:t>4</a:t>
                      </a:r>
                      <a:endParaRPr lang="tr-TR" sz="1800"/>
                    </a:p>
                  </a:txBody>
                  <a:tcPr marL="135857" marR="135857" marT="6350" marB="6350" anchor="ctr">
                    <a:lnL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tr-TR" sz="1800" b="0" dirty="0">
                          <a:solidFill>
                            <a:srgbClr val="30343B"/>
                          </a:solidFill>
                          <a:latin typeface="Calibri"/>
                          <a:ea typeface="Calibri"/>
                          <a:cs typeface="Calibri"/>
                        </a:rPr>
                        <a:t>İstanbul</a:t>
                      </a:r>
                      <a:endParaRPr lang="tr-TR" sz="1800"/>
                    </a:p>
                  </a:txBody>
                  <a:tcPr marL="135857" marR="135857" marT="6350" marB="6350" anchor="ctr">
                    <a:lnL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tr-TR" sz="1800" b="0" dirty="0">
                          <a:solidFill>
                            <a:srgbClr val="30343B"/>
                          </a:solidFill>
                          <a:latin typeface="Calibri"/>
                          <a:ea typeface="Calibri"/>
                          <a:cs typeface="Calibri"/>
                        </a:rPr>
                        <a:t>3.100</a:t>
                      </a:r>
                      <a:endParaRPr lang="tr-TR" sz="1800"/>
                    </a:p>
                  </a:txBody>
                  <a:tcPr marL="135857" marR="135857" marT="6350" marB="6350" anchor="ctr">
                    <a:lnL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957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tr-TR" sz="1800" b="0" dirty="0">
                          <a:solidFill>
                            <a:srgbClr val="30343B"/>
                          </a:solidFill>
                          <a:latin typeface="Calibri"/>
                          <a:ea typeface="Calibri"/>
                          <a:cs typeface="Calibri"/>
                        </a:rPr>
                        <a:t>Ev 4</a:t>
                      </a:r>
                      <a:endParaRPr lang="tr-TR" sz="1800"/>
                    </a:p>
                  </a:txBody>
                  <a:tcPr marL="135857" marR="135857" marT="6350" marB="6350" anchor="ctr">
                    <a:lnL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tr-TR" sz="1800" b="0" dirty="0">
                          <a:solidFill>
                            <a:srgbClr val="30343B"/>
                          </a:solidFill>
                          <a:latin typeface="Calibri"/>
                          <a:ea typeface="Calibri"/>
                          <a:cs typeface="Calibri"/>
                        </a:rPr>
                        <a:t>8</a:t>
                      </a:r>
                      <a:endParaRPr lang="tr-TR" sz="1800"/>
                    </a:p>
                  </a:txBody>
                  <a:tcPr marL="135857" marR="135857" marT="6350" marB="6350" anchor="ctr">
                    <a:lnL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tr-TR" sz="1800" b="0" dirty="0">
                          <a:solidFill>
                            <a:srgbClr val="30343B"/>
                          </a:solidFill>
                          <a:latin typeface="Calibri"/>
                          <a:ea typeface="Calibri"/>
                          <a:cs typeface="Calibri"/>
                        </a:rPr>
                        <a:t>95</a:t>
                      </a:r>
                      <a:endParaRPr lang="tr-TR" sz="1800"/>
                    </a:p>
                  </a:txBody>
                  <a:tcPr marL="135857" marR="135857" marT="6350" marB="6350" anchor="ctr">
                    <a:lnL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tr-TR" sz="1800" b="0" dirty="0">
                          <a:solidFill>
                            <a:srgbClr val="30343B"/>
                          </a:solidFill>
                          <a:latin typeface="Calibri"/>
                          <a:ea typeface="Calibri"/>
                          <a:cs typeface="Calibri"/>
                        </a:rPr>
                        <a:t>2</a:t>
                      </a:r>
                      <a:endParaRPr lang="tr-TR" sz="1800"/>
                    </a:p>
                  </a:txBody>
                  <a:tcPr marL="135857" marR="135857" marT="6350" marB="6350" anchor="ctr">
                    <a:lnL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tr-TR" sz="1800" b="0" dirty="0">
                          <a:solidFill>
                            <a:srgbClr val="30343B"/>
                          </a:solidFill>
                          <a:latin typeface="Calibri"/>
                          <a:ea typeface="Calibri"/>
                          <a:cs typeface="Calibri"/>
                        </a:rPr>
                        <a:t>Kayseri</a:t>
                      </a:r>
                      <a:endParaRPr lang="tr-TR" sz="1800"/>
                    </a:p>
                  </a:txBody>
                  <a:tcPr marL="135857" marR="135857" marT="6350" marB="6350" anchor="ctr">
                    <a:lnL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tr-TR" sz="1800" b="0" dirty="0">
                          <a:solidFill>
                            <a:srgbClr val="30343B"/>
                          </a:solidFill>
                          <a:latin typeface="Calibri"/>
                          <a:ea typeface="Calibri"/>
                          <a:cs typeface="Calibri"/>
                        </a:rPr>
                        <a:t>1.650</a:t>
                      </a:r>
                      <a:endParaRPr lang="tr-TR" sz="1800"/>
                    </a:p>
                  </a:txBody>
                  <a:tcPr marL="135857" marR="135857" marT="6350" marB="6350" anchor="ctr">
                    <a:lnL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6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tr-TR" sz="1800" b="0" dirty="0">
                          <a:solidFill>
                            <a:srgbClr val="30343B"/>
                          </a:solidFill>
                          <a:latin typeface="Calibri"/>
                          <a:ea typeface="Calibri"/>
                          <a:cs typeface="Calibri"/>
                        </a:rPr>
                        <a:t>Ev 5</a:t>
                      </a:r>
                      <a:endParaRPr lang="tr-TR" sz="1800"/>
                    </a:p>
                  </a:txBody>
                  <a:tcPr marL="135857" marR="135857" marT="6350" marB="6350" anchor="ctr">
                    <a:lnL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tr-TR" sz="1800" b="0" dirty="0">
                          <a:solidFill>
                            <a:srgbClr val="30343B"/>
                          </a:solidFill>
                          <a:latin typeface="Calibri"/>
                          <a:ea typeface="Calibri"/>
                          <a:cs typeface="Calibri"/>
                        </a:rPr>
                        <a:t>40</a:t>
                      </a:r>
                      <a:endParaRPr lang="tr-TR" sz="1800"/>
                    </a:p>
                  </a:txBody>
                  <a:tcPr marL="135857" marR="135857" marT="6350" marB="6350" anchor="ctr">
                    <a:lnL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tr-TR" sz="1800" b="0" dirty="0">
                          <a:solidFill>
                            <a:srgbClr val="30343B"/>
                          </a:solidFill>
                          <a:latin typeface="Calibri"/>
                          <a:ea typeface="Calibri"/>
                          <a:cs typeface="Calibri"/>
                        </a:rPr>
                        <a:t>210</a:t>
                      </a:r>
                      <a:endParaRPr lang="tr-TR" sz="1800"/>
                    </a:p>
                  </a:txBody>
                  <a:tcPr marL="135857" marR="135857" marT="6350" marB="6350" anchor="ctr">
                    <a:lnL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tr-TR" sz="1800" b="0" dirty="0">
                          <a:solidFill>
                            <a:srgbClr val="30343B"/>
                          </a:solidFill>
                          <a:latin typeface="Calibri"/>
                          <a:ea typeface="Calibri"/>
                          <a:cs typeface="Calibri"/>
                        </a:rPr>
                        <a:t>5</a:t>
                      </a:r>
                      <a:endParaRPr lang="tr-TR" sz="1800"/>
                    </a:p>
                  </a:txBody>
                  <a:tcPr marL="135857" marR="135857" marT="6350" marB="6350" anchor="ctr">
                    <a:lnL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tr-TR" sz="1800" b="0" dirty="0">
                          <a:solidFill>
                            <a:srgbClr val="30343B"/>
                          </a:solidFill>
                          <a:latin typeface="Calibri"/>
                          <a:ea typeface="Calibri"/>
                          <a:cs typeface="Calibri"/>
                        </a:rPr>
                        <a:t>İstanbul</a:t>
                      </a:r>
                      <a:endParaRPr lang="tr-TR" sz="1800"/>
                    </a:p>
                  </a:txBody>
                  <a:tcPr marL="135857" marR="135857" marT="6350" marB="6350" anchor="ctr">
                    <a:lnL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tr-TR" sz="1800" b="0" dirty="0">
                          <a:solidFill>
                            <a:srgbClr val="30343B"/>
                          </a:solidFill>
                          <a:latin typeface="Calibri"/>
                          <a:ea typeface="Calibri"/>
                          <a:cs typeface="Calibri"/>
                        </a:rPr>
                        <a:t>9.800</a:t>
                      </a:r>
                      <a:endParaRPr lang="tr-TR" sz="1800"/>
                    </a:p>
                  </a:txBody>
                  <a:tcPr marL="135857" marR="135857" marT="6350" marB="6350" anchor="ctr">
                    <a:lnL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2" name="Text 19">
            <a:extLst>
              <a:ext uri="{FF2B5EF4-FFF2-40B4-BE49-F238E27FC236}">
                <a16:creationId xmlns:a16="http://schemas.microsoft.com/office/drawing/2014/main" id="{EF146B9A-7C64-4DDB-B143-65F1FC9631D9}"/>
              </a:ext>
            </a:extLst>
          </p:cNvPr>
          <p:cNvSpPr/>
          <p:nvPr/>
        </p:nvSpPr>
        <p:spPr>
          <a:xfrm>
            <a:off x="666750" y="6248400"/>
            <a:ext cx="10829925" cy="447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tr-TR" sz="1800" b="0" dirty="0">
                <a:solidFill>
                  <a:srgbClr val="30343B"/>
                </a:solidFill>
                <a:latin typeface="Calibri"/>
                <a:ea typeface="Calibri"/>
                <a:cs typeface="Calibri"/>
              </a:rPr>
              <a:t>Beş kayıt işlemleri göstermek içindir. Model başarısını kanıtlamaz.</a:t>
            </a:r>
            <a:endParaRPr lang="tr-TR" sz="1800"/>
          </a:p>
        </p:txBody>
      </p:sp>
    </p:spTree>
    <p:extLst>
      <p:ext uri="{BB962C8B-B14F-4D97-AF65-F5344CB8AC3E}">
        <p14:creationId xmlns:p14="http://schemas.microsoft.com/office/powerpoint/2010/main" val="114395915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6738FE03-E320-4113-A78E-5105CBA503F8}"/>
              </a:ext>
            </a:extLst>
          </p:cNvPr>
          <p:cNvSpPr/>
          <p:nvPr/>
        </p:nvSpPr>
        <p:spPr>
          <a:xfrm>
            <a:off x="457200" y="285750"/>
            <a:ext cx="112395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tr-TR" sz="3200" b="1" i="0" u="none" strike="noStrike" kern="1200" cap="none" spc="0" normalizeH="0" baseline="0" noProof="0" dirty="0">
                <a:ln>
                  <a:noFill/>
                </a:ln>
                <a:solidFill>
                  <a:srgbClr val="1E2A4E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Uygulama: Pipeline ile güvenli hazırlık</a:t>
            </a:r>
            <a:endParaRPr kumimoji="0" lang="tr-TR" sz="3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0" u="none" strike="noStrike" kern="1200" cap="none" spc="0" normalizeH="0" baseline="0" noProof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Doldurma, ölçekleme ve kodlama tek akışta; kurallar yalnızca eğitimden öğrenilir.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828800"/>
            <a:ext cx="11064240" cy="3566160"/>
          </a:xfrm>
          <a:prstGeom prst="roundRect">
            <a:avLst>
              <a:gd name="adj" fmla="val 4000"/>
            </a:avLst>
          </a:prstGeom>
          <a:solidFill>
            <a:srgbClr val="ECEBE6"/>
          </a:solidFill>
          <a:ln>
            <a:noFill/>
          </a:ln>
          <a:effectLst/>
        </p:spPr>
        <p:txBody>
          <a:bodyPr wrap="square" lIns="32004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1E2A4E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num = Pipeline([("doldur", SimpleImputer(strategy="median")),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1E2A4E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                ("olcekle", MinMaxScaler())])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1E2A4E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1E2A4E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hazirla = ColumnTransformer([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1E2A4E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    ("sayisal", num, ["yas", "alan", "oda"]),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1E2A4E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    ("sehir", OneHotEncoder(handle_unknown="ignore"), ["sehir"]),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1E2A4E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])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1E2A4E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1E2A4E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X_egitim_h = hazirla.fit_transform(X_egitim)   # eğitimde öğren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1E2A4E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X_test_h   = hazirla.transform(X_test)         # testte yalnızca uygula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0" normalizeH="0" baseline="0" noProof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İçe aktarma satırları gösterilmedi. Pipeline, fit_transform ve transform kuralını otomatik korur.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A07D9856-D628-4BD0-B194-0454C1EBE33D}"/>
              </a:ext>
            </a:extLst>
          </p:cNvPr>
          <p:cNvSpPr/>
          <p:nvPr/>
        </p:nvSpPr>
        <p:spPr>
          <a:xfrm>
            <a:off x="457200" y="285750"/>
            <a:ext cx="112395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tr-TR" sz="3200" b="1" dirty="0">
                <a:solidFill>
                  <a:srgbClr val="1E2A4E"/>
                </a:solidFill>
                <a:latin typeface="Calibri"/>
                <a:ea typeface="Calibri"/>
                <a:cs typeface="Calibri"/>
              </a:rPr>
              <a:t>Hazırlanmış model girdileri</a:t>
            </a:r>
            <a:endParaRPr lang="tr-TR" sz="3200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B829BDFF-C8C1-43EC-8EAA-34281C31DE6F}"/>
              </a:ext>
            </a:extLst>
          </p:cNvPr>
          <p:cNvSpPr/>
          <p:nvPr/>
        </p:nvSpPr>
        <p:spPr>
          <a:xfrm>
            <a:off x="477325" y="1174600"/>
            <a:ext cx="110490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tr-TR" sz="2100" b="0" dirty="0">
                <a:solidFill>
                  <a:srgbClr val="30343B"/>
                </a:solidFill>
                <a:latin typeface="Calibri"/>
                <a:ea typeface="Calibri"/>
                <a:cs typeface="Calibri"/>
              </a:rPr>
              <a:t>Örnek: Eğitim Ev 1, 3, 4. Test Ev 5. Tahmin kaydı Ev 2.</a:t>
            </a:r>
            <a:endParaRPr lang="tr-TR" sz="210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B52BAF89-D410-4599-96FE-0C6322BFFF40}"/>
              </a:ext>
            </a:extLst>
          </p:cNvPr>
          <p:cNvSpPr/>
          <p:nvPr/>
        </p:nvSpPr>
        <p:spPr>
          <a:xfrm>
            <a:off x="581025" y="5514975"/>
            <a:ext cx="1095375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tr-TR" sz="2000" b="0" dirty="0">
                <a:solidFill>
                  <a:srgbClr val="30343B"/>
                </a:solidFill>
                <a:latin typeface="Calibri"/>
                <a:ea typeface="Calibri"/>
                <a:cs typeface="Calibri"/>
              </a:rPr>
              <a:t>Alan ölçeği: (alan − 95) / 50. Ev ID yalnızca kayıt takibi içindir . Yaş ve oda ham bırakıldı.</a:t>
            </a:r>
            <a:endParaRPr lang="tr-TR" sz="2000" dirty="0"/>
          </a:p>
        </p:txBody>
      </p:sp>
      <p:graphicFrame>
        <p:nvGraphicFramePr>
          <p:cNvPr id="6" name="Tablo 5"/>
          <p:cNvGraphicFramePr/>
          <p:nvPr/>
        </p:nvGraphicFramePr>
        <p:xfrm>
          <a:off x="581025" y="2000250"/>
          <a:ext cx="10868025" cy="3143250"/>
        </p:xfrm>
        <a:graphic>
          <a:graphicData uri="http://schemas.openxmlformats.org/drawingml/2006/table">
            <a:tbl>
              <a:tblPr/>
              <a:tblGrid>
                <a:gridCol w="1343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81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431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811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3145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3050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23875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Ev ID</a:t>
                      </a:r>
                    </a:p>
                  </a:txBody>
                  <a:tcPr marL="114300" marR="114300" marT="95250" marB="95250" anchor="ctr">
                    <a:solidFill>
                      <a:srgbClr val="1E2A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Yaş</a:t>
                      </a:r>
                    </a:p>
                  </a:txBody>
                  <a:tcPr marL="114300" marR="114300" marT="95250" marB="95250" anchor="ctr">
                    <a:solidFill>
                      <a:srgbClr val="1E2A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Alan ölçekli</a:t>
                      </a:r>
                    </a:p>
                  </a:txBody>
                  <a:tcPr marL="114300" marR="114300" marT="95250" marB="95250" anchor="ctr">
                    <a:solidFill>
                      <a:srgbClr val="1E2A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Oda</a:t>
                      </a:r>
                    </a:p>
                  </a:txBody>
                  <a:tcPr marL="114300" marR="114300" marT="95250" marB="95250" anchor="ctr">
                    <a:solidFill>
                      <a:srgbClr val="1E2A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Kayseri</a:t>
                      </a:r>
                    </a:p>
                  </a:txBody>
                  <a:tcPr marL="114300" marR="114300" marT="95250" marB="95250" anchor="ctr">
                    <a:solidFill>
                      <a:srgbClr val="1E2A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İstanbul</a:t>
                      </a:r>
                    </a:p>
                  </a:txBody>
                  <a:tcPr marL="114300" marR="114300" marT="95250" marB="95250" anchor="ctr">
                    <a:solidFill>
                      <a:srgbClr val="1E2A4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387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30343B"/>
                          </a:solidFill>
                          <a:latin typeface="Calibri"/>
                          <a:ea typeface="Calibri"/>
                          <a:cs typeface="Calibri"/>
                        </a:rPr>
                        <a:t>Ev 1</a:t>
                      </a:r>
                    </a:p>
                  </a:txBody>
                  <a:tcPr marL="1143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30343B"/>
                          </a:solidFill>
                          <a:latin typeface="Calibri"/>
                          <a:ea typeface="Calibri"/>
                          <a:cs typeface="Calibri"/>
                        </a:rPr>
                        <a:t>5</a:t>
                      </a:r>
                    </a:p>
                  </a:txBody>
                  <a:tcPr marL="1143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30343B"/>
                          </a:solidFill>
                          <a:latin typeface="Calibri"/>
                          <a:ea typeface="Calibri"/>
                          <a:cs typeface="Calibri"/>
                        </a:rPr>
                        <a:t>0,50</a:t>
                      </a:r>
                    </a:p>
                  </a:txBody>
                  <a:tcPr marL="1143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30343B"/>
                          </a:solidFill>
                          <a:latin typeface="Calibri"/>
                          <a:ea typeface="Calibri"/>
                          <a:cs typeface="Calibri"/>
                        </a:rPr>
                        <a:t>3</a:t>
                      </a:r>
                    </a:p>
                  </a:txBody>
                  <a:tcPr marL="1143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30343B"/>
                          </a:solidFill>
                          <a:latin typeface="Calibri"/>
                          <a:ea typeface="Calibri"/>
                          <a:cs typeface="Calibri"/>
                        </a:rPr>
                        <a:t>1</a:t>
                      </a:r>
                    </a:p>
                  </a:txBody>
                  <a:tcPr marL="1143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30343B"/>
                          </a:solidFill>
                          <a:latin typeface="Calibri"/>
                          <a:ea typeface="Calibri"/>
                          <a:cs typeface="Calibri"/>
                        </a:rPr>
                        <a:t>0</a:t>
                      </a:r>
                    </a:p>
                  </a:txBody>
                  <a:tcPr marL="114300" marR="114300" marT="95250" marB="952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387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30343B"/>
                          </a:solidFill>
                          <a:latin typeface="Calibri"/>
                          <a:ea typeface="Calibri"/>
                          <a:cs typeface="Calibri"/>
                        </a:rPr>
                        <a:t>Ev 3</a:t>
                      </a:r>
                    </a:p>
                  </a:txBody>
                  <a:tcPr marL="114300" marR="114300" marT="95250" marB="95250" anchor="ctr">
                    <a:solidFill>
                      <a:srgbClr val="EFEF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30343B"/>
                          </a:solidFill>
                          <a:latin typeface="Calibri"/>
                          <a:ea typeface="Calibri"/>
                          <a:cs typeface="Calibri"/>
                        </a:rPr>
                        <a:t>12</a:t>
                      </a:r>
                    </a:p>
                  </a:txBody>
                  <a:tcPr marL="114300" marR="114300" marT="95250" marB="95250" anchor="ctr">
                    <a:solidFill>
                      <a:srgbClr val="EFEF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30343B"/>
                          </a:solidFill>
                          <a:latin typeface="Calibri"/>
                          <a:ea typeface="Calibri"/>
                          <a:cs typeface="Calibri"/>
                        </a:rPr>
                        <a:t>1,00</a:t>
                      </a:r>
                    </a:p>
                  </a:txBody>
                  <a:tcPr marL="114300" marR="114300" marT="95250" marB="95250" anchor="ctr">
                    <a:solidFill>
                      <a:srgbClr val="EFEF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30343B"/>
                          </a:solidFill>
                          <a:latin typeface="Calibri"/>
                          <a:ea typeface="Calibri"/>
                          <a:cs typeface="Calibri"/>
                        </a:rPr>
                        <a:t>4</a:t>
                      </a:r>
                    </a:p>
                  </a:txBody>
                  <a:tcPr marL="114300" marR="114300" marT="95250" marB="95250" anchor="ctr">
                    <a:solidFill>
                      <a:srgbClr val="EFEF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30343B"/>
                          </a:solidFill>
                          <a:latin typeface="Calibri"/>
                          <a:ea typeface="Calibri"/>
                          <a:cs typeface="Calibri"/>
                        </a:rPr>
                        <a:t>0</a:t>
                      </a:r>
                    </a:p>
                  </a:txBody>
                  <a:tcPr marL="114300" marR="114300" marT="95250" marB="95250" anchor="ctr">
                    <a:solidFill>
                      <a:srgbClr val="EFEF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30343B"/>
                          </a:solidFill>
                          <a:latin typeface="Calibri"/>
                          <a:ea typeface="Calibri"/>
                          <a:cs typeface="Calibri"/>
                        </a:rPr>
                        <a:t>1</a:t>
                      </a:r>
                    </a:p>
                  </a:txBody>
                  <a:tcPr marL="114300" marR="114300" marT="95250" marB="95250" anchor="ctr">
                    <a:solidFill>
                      <a:srgbClr val="EFEF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387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30343B"/>
                          </a:solidFill>
                          <a:latin typeface="Calibri"/>
                          <a:ea typeface="Calibri"/>
                          <a:cs typeface="Calibri"/>
                        </a:rPr>
                        <a:t>Ev 4</a:t>
                      </a:r>
                    </a:p>
                  </a:txBody>
                  <a:tcPr marL="1143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30343B"/>
                          </a:solidFill>
                          <a:latin typeface="Calibri"/>
                          <a:ea typeface="Calibri"/>
                          <a:cs typeface="Calibri"/>
                        </a:rPr>
                        <a:t>8</a:t>
                      </a:r>
                    </a:p>
                  </a:txBody>
                  <a:tcPr marL="1143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30343B"/>
                          </a:solidFill>
                          <a:latin typeface="Calibri"/>
                          <a:ea typeface="Calibri"/>
                          <a:cs typeface="Calibri"/>
                        </a:rPr>
                        <a:t>0,00</a:t>
                      </a:r>
                    </a:p>
                  </a:txBody>
                  <a:tcPr marL="1143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30343B"/>
                          </a:solidFill>
                          <a:latin typeface="Calibri"/>
                          <a:ea typeface="Calibri"/>
                          <a:cs typeface="Calibri"/>
                        </a:rPr>
                        <a:t>2</a:t>
                      </a:r>
                    </a:p>
                  </a:txBody>
                  <a:tcPr marL="1143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30343B"/>
                          </a:solidFill>
                          <a:latin typeface="Calibri"/>
                          <a:ea typeface="Calibri"/>
                          <a:cs typeface="Calibri"/>
                        </a:rPr>
                        <a:t>1</a:t>
                      </a:r>
                    </a:p>
                  </a:txBody>
                  <a:tcPr marL="1143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30343B"/>
                          </a:solidFill>
                          <a:latin typeface="Calibri"/>
                          <a:ea typeface="Calibri"/>
                          <a:cs typeface="Calibri"/>
                        </a:rPr>
                        <a:t>0</a:t>
                      </a:r>
                    </a:p>
                  </a:txBody>
                  <a:tcPr marL="114300" marR="114300" marT="95250" marB="952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387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30343B"/>
                          </a:solidFill>
                          <a:latin typeface="Calibri"/>
                          <a:ea typeface="Calibri"/>
                          <a:cs typeface="Calibri"/>
                        </a:rPr>
                        <a:t>Ev 5</a:t>
                      </a:r>
                    </a:p>
                  </a:txBody>
                  <a:tcPr marL="114300" marR="114300" marT="95250" marB="95250" anchor="ctr">
                    <a:solidFill>
                      <a:srgbClr val="EFEF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30343B"/>
                          </a:solidFill>
                          <a:latin typeface="Calibri"/>
                          <a:ea typeface="Calibri"/>
                          <a:cs typeface="Calibri"/>
                        </a:rPr>
                        <a:t>40</a:t>
                      </a:r>
                    </a:p>
                  </a:txBody>
                  <a:tcPr marL="114300" marR="114300" marT="95250" marB="95250" anchor="ctr">
                    <a:solidFill>
                      <a:srgbClr val="EFEF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30343B"/>
                          </a:solidFill>
                          <a:latin typeface="Calibri"/>
                          <a:ea typeface="Calibri"/>
                          <a:cs typeface="Calibri"/>
                        </a:rPr>
                        <a:t>2,30</a:t>
                      </a:r>
                    </a:p>
                  </a:txBody>
                  <a:tcPr marL="114300" marR="114300" marT="95250" marB="95250" anchor="ctr">
                    <a:solidFill>
                      <a:srgbClr val="EFEF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30343B"/>
                          </a:solidFill>
                          <a:latin typeface="Calibri"/>
                          <a:ea typeface="Calibri"/>
                          <a:cs typeface="Calibri"/>
                        </a:rPr>
                        <a:t>5</a:t>
                      </a:r>
                    </a:p>
                  </a:txBody>
                  <a:tcPr marL="114300" marR="114300" marT="95250" marB="95250" anchor="ctr">
                    <a:solidFill>
                      <a:srgbClr val="EFEF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30343B"/>
                          </a:solidFill>
                          <a:latin typeface="Calibri"/>
                          <a:ea typeface="Calibri"/>
                          <a:cs typeface="Calibri"/>
                        </a:rPr>
                        <a:t>0</a:t>
                      </a:r>
                    </a:p>
                  </a:txBody>
                  <a:tcPr marL="114300" marR="114300" marT="95250" marB="95250" anchor="ctr">
                    <a:solidFill>
                      <a:srgbClr val="EFEF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30343B"/>
                          </a:solidFill>
                          <a:latin typeface="Calibri"/>
                          <a:ea typeface="Calibri"/>
                          <a:cs typeface="Calibri"/>
                        </a:rPr>
                        <a:t>1</a:t>
                      </a:r>
                    </a:p>
                  </a:txBody>
                  <a:tcPr marL="114300" marR="114300" marT="95250" marB="95250" anchor="ctr">
                    <a:solidFill>
                      <a:srgbClr val="EFEF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2387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30343B"/>
                          </a:solidFill>
                          <a:latin typeface="Calibri"/>
                          <a:ea typeface="Calibri"/>
                          <a:cs typeface="Calibri"/>
                        </a:rPr>
                        <a:t>Ev 2</a:t>
                      </a:r>
                    </a:p>
                  </a:txBody>
                  <a:tcPr marL="1143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30343B"/>
                          </a:solidFill>
                          <a:latin typeface="Calibri"/>
                          <a:ea typeface="Calibri"/>
                          <a:cs typeface="Calibri"/>
                        </a:rPr>
                        <a:t>30</a:t>
                      </a:r>
                    </a:p>
                  </a:txBody>
                  <a:tcPr marL="1143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30343B"/>
                          </a:solidFill>
                          <a:latin typeface="Calibri"/>
                          <a:ea typeface="Calibri"/>
                          <a:cs typeface="Calibri"/>
                        </a:rPr>
                        <a:t>−0,20</a:t>
                      </a:r>
                    </a:p>
                  </a:txBody>
                  <a:tcPr marL="1143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30343B"/>
                          </a:solidFill>
                          <a:latin typeface="Calibri"/>
                          <a:ea typeface="Calibri"/>
                          <a:cs typeface="Calibri"/>
                        </a:rPr>
                        <a:t>2</a:t>
                      </a:r>
                    </a:p>
                  </a:txBody>
                  <a:tcPr marL="1143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30343B"/>
                          </a:solidFill>
                          <a:latin typeface="Calibri"/>
                          <a:ea typeface="Calibri"/>
                          <a:cs typeface="Calibri"/>
                        </a:rPr>
                        <a:t>0</a:t>
                      </a:r>
                    </a:p>
                  </a:txBody>
                  <a:tcPr marL="1143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30343B"/>
                          </a:solidFill>
                          <a:latin typeface="Calibri"/>
                          <a:ea typeface="Calibri"/>
                          <a:cs typeface="Calibri"/>
                        </a:rPr>
                        <a:t>0</a:t>
                      </a:r>
                    </a:p>
                  </a:txBody>
                  <a:tcPr marL="114300" marR="114300" marT="95250" marB="952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Dikdörtgen 6">
            <a:extLst>
              <a:ext uri="{FF2B5EF4-FFF2-40B4-BE49-F238E27FC236}">
                <a16:creationId xmlns:a16="http://schemas.microsoft.com/office/drawing/2014/main" id="{8071B1D1-5CCE-4F77-92B3-8E34E91C559C}"/>
              </a:ext>
            </a:extLst>
          </p:cNvPr>
          <p:cNvSpPr>
            <a:spLocks noGrp="1"/>
          </p:cNvSpPr>
          <p:nvPr/>
        </p:nvSpPr>
        <p:spPr>
          <a:xfrm>
            <a:off x="581025" y="6296025"/>
            <a:ext cx="10953750" cy="3714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725">
                <a:solidFill>
                  <a:srgbClr val="596173"/>
                </a:solidFill>
                <a:latin typeface="Calibri"/>
                <a:ea typeface="Calibri"/>
                <a:cs typeface="Calibri"/>
              </a:defRPr>
            </a:pPr>
            <a:r>
              <a:rPr sz="1725">
                <a:solidFill>
                  <a:srgbClr val="596173"/>
                </a:solidFill>
                <a:latin typeface="Calibri"/>
                <a:ea typeface="Calibri"/>
                <a:cs typeface="Calibri"/>
              </a:rPr>
              <a:t>Ankara eğitimde yok: bilinmeyen kategori için şehir sütunları 0.</a:t>
            </a:r>
          </a:p>
        </p:txBody>
      </p:sp>
    </p:spTree>
    <p:extLst>
      <p:ext uri="{BB962C8B-B14F-4D97-AF65-F5344CB8AC3E}">
        <p14:creationId xmlns:p14="http://schemas.microsoft.com/office/powerpoint/2010/main" val="171952442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0">
            <a:extLst>
              <a:ext uri="{FF2B5EF4-FFF2-40B4-BE49-F238E27FC236}">
                <a16:creationId xmlns:a16="http://schemas.microsoft.com/office/drawing/2014/main" id="{2AD7D920-2A19-4893-A62C-8792F16B9F22}"/>
              </a:ext>
            </a:extLst>
          </p:cNvPr>
          <p:cNvSpPr/>
          <p:nvPr/>
        </p:nvSpPr>
        <p:spPr>
          <a:xfrm>
            <a:off x="457200" y="285750"/>
            <a:ext cx="112395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tr-TR" sz="3200" b="1" i="0" u="none" strike="noStrike" kern="1200" cap="none" spc="0" normalizeH="0" baseline="0" noProof="0" dirty="0">
                <a:ln>
                  <a:noFill/>
                </a:ln>
                <a:solidFill>
                  <a:srgbClr val="1E2A4E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Mini uygulama: Hazırlık kararları</a:t>
            </a:r>
            <a:endParaRPr kumimoji="0" lang="tr-TR" sz="3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548640" y="1371600"/>
            <a:ext cx="5486400" cy="2011680"/>
          </a:xfrm>
          <a:prstGeom prst="roundRect">
            <a:avLst>
              <a:gd name="adj" fmla="val 6000"/>
            </a:avLst>
          </a:prstGeom>
          <a:solidFill>
            <a:srgbClr val="E9E8EF"/>
          </a:solidFill>
          <a:ln>
            <a:noFill/>
          </a:ln>
          <a:effectLst/>
        </p:spPr>
        <p:txBody>
          <a:bodyPr wrap="square" lIns="274320" tIns="182880" rIns="27432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200" b="1" i="0" u="none" strike="noStrike" kern="1200" cap="none" spc="0" normalizeH="0" baseline="0" noProof="0">
                <a:ln>
                  <a:noFill/>
                </a:ln>
                <a:solidFill>
                  <a:srgbClr val="1E2A4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1. Hedefi belirle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0" u="none" strike="noStrike" kern="1200" cap="none" spc="0" normalizeH="0" baseline="0" noProof="0">
                <a:ln>
                  <a:noFill/>
                </a:ln>
                <a:solidFill>
                  <a:srgbClr val="2B2B2B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Fiyatı eksik Ev 2 ile ne yaparsın?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17920" y="1371600"/>
            <a:ext cx="5486400" cy="2011680"/>
          </a:xfrm>
          <a:prstGeom prst="roundRect">
            <a:avLst>
              <a:gd name="adj" fmla="val 6000"/>
            </a:avLst>
          </a:prstGeom>
          <a:solidFill>
            <a:srgbClr val="E9E8EF"/>
          </a:solidFill>
          <a:ln>
            <a:noFill/>
          </a:ln>
          <a:effectLst/>
        </p:spPr>
        <p:txBody>
          <a:bodyPr wrap="square" lIns="274320" tIns="182880" rIns="27432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200" b="1" i="0" u="none" strike="noStrike" kern="1200" cap="none" spc="0" normalizeH="0" baseline="0" noProof="0">
                <a:ln>
                  <a:noFill/>
                </a:ln>
                <a:solidFill>
                  <a:srgbClr val="1E2A4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2. Bir girdiyi doldur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0" u="none" strike="noStrike" kern="1200" cap="none" spc="0" normalizeH="0" baseline="0" noProof="0">
                <a:ln>
                  <a:noFill/>
                </a:ln>
                <a:solidFill>
                  <a:srgbClr val="2B2B2B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Yeni bir evin yaşı eksik.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0" u="none" strike="noStrike" kern="1200" cap="none" spc="0" normalizeH="0" baseline="0" noProof="0">
                <a:ln>
                  <a:noFill/>
                </a:ln>
                <a:solidFill>
                  <a:srgbClr val="2B2B2B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Eğitim yaşları: 5, 12, 8. Hangi medyanı kullanırsın?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3657600"/>
            <a:ext cx="5486400" cy="2194560"/>
          </a:xfrm>
          <a:prstGeom prst="roundRect">
            <a:avLst>
              <a:gd name="adj" fmla="val 6000"/>
            </a:avLst>
          </a:prstGeom>
          <a:solidFill>
            <a:srgbClr val="E9E8EF"/>
          </a:solidFill>
          <a:ln>
            <a:noFill/>
          </a:ln>
          <a:effectLst/>
        </p:spPr>
        <p:txBody>
          <a:bodyPr wrap="square" lIns="274320" tIns="182880" rIns="27432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200" b="1" i="0" u="none" strike="noStrike" kern="1200" cap="none" spc="0" normalizeH="0" baseline="0" noProof="0">
                <a:ln>
                  <a:noFill/>
                </a:ln>
                <a:solidFill>
                  <a:srgbClr val="1E2A4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3. Yeni değeri ölçekle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0" u="none" strike="noStrike" kern="1200" cap="none" spc="0" normalizeH="0" baseline="0" noProof="0">
                <a:ln>
                  <a:noFill/>
                </a:ln>
                <a:solidFill>
                  <a:srgbClr val="2B2B2B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Eğitim alan aralığı: 95–145 m².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0" u="none" strike="noStrike" kern="1200" cap="none" spc="0" normalizeH="0" baseline="0" noProof="0">
                <a:ln>
                  <a:noFill/>
                </a:ln>
                <a:solidFill>
                  <a:srgbClr val="2B2B2B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210 m² için Min-Max sonucu nedir? 0–1 dışına çıkması hata mı?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17920" y="3657600"/>
            <a:ext cx="5486400" cy="2194560"/>
          </a:xfrm>
          <a:prstGeom prst="roundRect">
            <a:avLst>
              <a:gd name="adj" fmla="val 6000"/>
            </a:avLst>
          </a:prstGeom>
          <a:solidFill>
            <a:srgbClr val="E9E8EF"/>
          </a:solidFill>
          <a:ln>
            <a:noFill/>
          </a:ln>
          <a:effectLst/>
        </p:spPr>
        <p:txBody>
          <a:bodyPr wrap="square" lIns="274320" tIns="182880" rIns="27432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200" b="1" i="0" u="none" strike="noStrike" kern="1200" cap="none" spc="0" normalizeH="0" baseline="0" noProof="0">
                <a:ln>
                  <a:noFill/>
                </a:ln>
                <a:solidFill>
                  <a:srgbClr val="1E2A4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4. Kodla ve kontrol et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0" u="none" strike="noStrike" kern="1200" cap="none" spc="0" normalizeH="0" baseline="0" noProof="0">
                <a:ln>
                  <a:noFill/>
                </a:ln>
                <a:solidFill>
                  <a:srgbClr val="2B2B2B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Şehir için ordinal mi, one-hot mu?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0" u="none" strike="noStrike" kern="1200" cap="none" spc="0" normalizeH="0" baseline="0" noProof="0">
                <a:ln>
                  <a:noFill/>
                </a:ln>
                <a:solidFill>
                  <a:srgbClr val="2B2B2B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Min ve max’ı tüm veriden hesaplamak neden sorun?</a:t>
            </a:r>
          </a:p>
        </p:txBody>
      </p:sp>
    </p:spTree>
    <p:extLst>
      <p:ext uri="{BB962C8B-B14F-4D97-AF65-F5344CB8AC3E}">
        <p14:creationId xmlns:p14="http://schemas.microsoft.com/office/powerpoint/2010/main" val="400750798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0">
            <a:extLst>
              <a:ext uri="{FF2B5EF4-FFF2-40B4-BE49-F238E27FC236}">
                <a16:creationId xmlns:a16="http://schemas.microsoft.com/office/drawing/2014/main" id="{65EE6726-E465-491F-86FE-BBB7A5DD98F3}"/>
              </a:ext>
            </a:extLst>
          </p:cNvPr>
          <p:cNvSpPr/>
          <p:nvPr/>
        </p:nvSpPr>
        <p:spPr>
          <a:xfrm>
            <a:off x="457200" y="285750"/>
            <a:ext cx="112395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tr-TR" sz="3200" b="1" dirty="0">
                <a:solidFill>
                  <a:srgbClr val="1E2A4E"/>
                </a:solidFill>
                <a:latin typeface="Calibri"/>
                <a:ea typeface="Calibri"/>
                <a:cs typeface="Calibri"/>
              </a:rPr>
              <a:t>Kısa kontrol ve sonraki hafta</a:t>
            </a:r>
            <a:endParaRPr lang="tr-TR" sz="3200"/>
          </a:p>
        </p:txBody>
      </p:sp>
      <p:sp>
        <p:nvSpPr>
          <p:cNvPr id="26" name="Shape 3">
            <a:extLst>
              <a:ext uri="{FF2B5EF4-FFF2-40B4-BE49-F238E27FC236}">
                <a16:creationId xmlns:a16="http://schemas.microsoft.com/office/drawing/2014/main" id="{0413EC88-0ED6-42A6-984D-82A0AF9D1DFA}"/>
              </a:ext>
            </a:extLst>
          </p:cNvPr>
          <p:cNvSpPr/>
          <p:nvPr/>
        </p:nvSpPr>
        <p:spPr>
          <a:xfrm>
            <a:off x="661475" y="1876425"/>
            <a:ext cx="5265110" cy="19050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30" name="Shape 7">
            <a:extLst>
              <a:ext uri="{FF2B5EF4-FFF2-40B4-BE49-F238E27FC236}">
                <a16:creationId xmlns:a16="http://schemas.microsoft.com/office/drawing/2014/main" id="{C585981F-8E50-4B5E-B497-567459235282}"/>
              </a:ext>
            </a:extLst>
          </p:cNvPr>
          <p:cNvSpPr/>
          <p:nvPr/>
        </p:nvSpPr>
        <p:spPr>
          <a:xfrm>
            <a:off x="661475" y="3324225"/>
            <a:ext cx="5265110" cy="19050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43" name="Shape 20">
            <a:extLst>
              <a:ext uri="{FF2B5EF4-FFF2-40B4-BE49-F238E27FC236}">
                <a16:creationId xmlns:a16="http://schemas.microsoft.com/office/drawing/2014/main" id="{AE5C03A1-D250-4D47-8534-354578F7176E}"/>
              </a:ext>
            </a:extLst>
          </p:cNvPr>
          <p:cNvSpPr/>
          <p:nvPr/>
        </p:nvSpPr>
        <p:spPr>
          <a:xfrm>
            <a:off x="6271460" y="1876425"/>
            <a:ext cx="5265110" cy="19050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47" name="Shape 24">
            <a:extLst>
              <a:ext uri="{FF2B5EF4-FFF2-40B4-BE49-F238E27FC236}">
                <a16:creationId xmlns:a16="http://schemas.microsoft.com/office/drawing/2014/main" id="{54EF93EC-1DB0-4B0D-BFC8-EFCD3385DBAF}"/>
              </a:ext>
            </a:extLst>
          </p:cNvPr>
          <p:cNvSpPr/>
          <p:nvPr/>
        </p:nvSpPr>
        <p:spPr>
          <a:xfrm>
            <a:off x="6271460" y="3324225"/>
            <a:ext cx="5265110" cy="19050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100" name="Girdi ve hedefi ayır"/>
          <p:cNvSpPr txBox="1"/>
          <p:nvPr/>
        </p:nvSpPr>
        <p:spPr>
          <a:xfrm>
            <a:off x="657225" y="1476375"/>
            <a:ext cx="5238750" cy="476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Autofit/>
          </a:bodyPr>
          <a:lstStyle/>
          <a:p>
            <a:pPr marL="0" indent="0"/>
            <a:r>
              <a:rPr lang="tr-TR" sz="2300" b="1">
                <a:solidFill>
                  <a:srgbClr val="1E2A4E"/>
                </a:solidFill>
                <a:latin typeface="Calibri"/>
                <a:ea typeface="Calibri"/>
                <a:cs typeface="Calibri"/>
              </a:rPr>
              <a:t>Girdi ve hedefi ayır</a:t>
            </a:r>
            <a:endParaRPr lang="tr-TR" sz="2300"/>
          </a:p>
        </p:txBody>
      </p:sp>
      <p:sp>
        <p:nvSpPr>
          <p:cNvPr id="101" name="Eksik hedefi eğitim etiketiyle doldurma."/>
          <p:cNvSpPr txBox="1"/>
          <p:nvPr/>
        </p:nvSpPr>
        <p:spPr>
          <a:xfrm>
            <a:off x="657225" y="2076450"/>
            <a:ext cx="5238750" cy="895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Autofit/>
          </a:bodyPr>
          <a:lstStyle/>
          <a:p>
            <a:pPr marL="0" indent="0"/>
            <a:r>
              <a:rPr lang="tr-TR" sz="2100" b="0">
                <a:solidFill>
                  <a:srgbClr val="30343B"/>
                </a:solidFill>
                <a:latin typeface="Calibri"/>
                <a:ea typeface="Calibri"/>
                <a:cs typeface="Calibri"/>
              </a:rPr>
              <a:t>Eksik hedefi eğitim etiketiyle doldurma.</a:t>
            </a:r>
            <a:endParaRPr lang="tr-TR" sz="2100"/>
          </a:p>
        </p:txBody>
      </p:sp>
      <p:sp>
        <p:nvSpPr>
          <p:cNvPr id="102" name="Anlamı koruyan kodlama"/>
          <p:cNvSpPr txBox="1"/>
          <p:nvPr/>
        </p:nvSpPr>
        <p:spPr>
          <a:xfrm>
            <a:off x="657225" y="3571875"/>
            <a:ext cx="5238750" cy="5238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Autofit/>
          </a:bodyPr>
          <a:lstStyle/>
          <a:p>
            <a:pPr marL="0" indent="0"/>
            <a:r>
              <a:rPr lang="tr-TR" sz="2300" b="1">
                <a:solidFill>
                  <a:srgbClr val="1E2A4E"/>
                </a:solidFill>
                <a:latin typeface="Calibri"/>
                <a:ea typeface="Calibri"/>
                <a:cs typeface="Calibri"/>
              </a:rPr>
              <a:t>Anlamı koruyan kodlama</a:t>
            </a:r>
            <a:endParaRPr lang="tr-TR" sz="2300"/>
          </a:p>
        </p:txBody>
      </p:sp>
      <p:sp>
        <p:nvSpPr>
          <p:cNvPr id="103" name="Sıralı ve sırasız kategoriyi ayırt et."/>
          <p:cNvSpPr txBox="1"/>
          <p:nvPr/>
        </p:nvSpPr>
        <p:spPr>
          <a:xfrm>
            <a:off x="657225" y="4219575"/>
            <a:ext cx="5238750" cy="895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Autofit/>
          </a:bodyPr>
          <a:lstStyle/>
          <a:p>
            <a:pPr marL="0" indent="0"/>
            <a:r>
              <a:rPr lang="tr-TR" sz="2100" b="0">
                <a:solidFill>
                  <a:srgbClr val="30343B"/>
                </a:solidFill>
                <a:latin typeface="Calibri"/>
                <a:ea typeface="Calibri"/>
                <a:cs typeface="Calibri"/>
              </a:rPr>
              <a:t>Sıralı ve sırasız kategoriyi ayırt et.</a:t>
            </a:r>
            <a:endParaRPr lang="tr-TR" sz="2100"/>
          </a:p>
        </p:txBody>
      </p:sp>
      <p:sp>
        <p:nvSpPr>
          <p:cNvPr id="104" name="Eğitimde öğren, diğerlerine uygula"/>
          <p:cNvSpPr txBox="1"/>
          <p:nvPr/>
        </p:nvSpPr>
        <p:spPr>
          <a:xfrm>
            <a:off x="6276975" y="1476375"/>
            <a:ext cx="5238750" cy="6953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Autofit/>
          </a:bodyPr>
          <a:lstStyle/>
          <a:p>
            <a:pPr marL="0" indent="0"/>
            <a:r>
              <a:rPr lang="tr-TR" sz="2300" b="1">
                <a:solidFill>
                  <a:srgbClr val="1E2A4E"/>
                </a:solidFill>
                <a:latin typeface="Calibri"/>
                <a:ea typeface="Calibri"/>
                <a:cs typeface="Calibri"/>
              </a:rPr>
              <a:t>Eğitimde öğren, diğerlerine uygula</a:t>
            </a:r>
            <a:endParaRPr lang="tr-TR" sz="2300"/>
          </a:p>
        </p:txBody>
      </p:sp>
      <p:sp>
        <p:nvSpPr>
          <p:cNvPr id="105" name="Doldurma ve ölçekleme kuralları train’den."/>
          <p:cNvSpPr txBox="1"/>
          <p:nvPr/>
        </p:nvSpPr>
        <p:spPr>
          <a:xfrm>
            <a:off x="6276975" y="2276475"/>
            <a:ext cx="5238750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Autofit/>
          </a:bodyPr>
          <a:lstStyle/>
          <a:p>
            <a:pPr marL="0" indent="0"/>
            <a:r>
              <a:rPr lang="tr-TR" sz="2100" b="0">
                <a:solidFill>
                  <a:srgbClr val="30343B"/>
                </a:solidFill>
                <a:latin typeface="Calibri"/>
                <a:ea typeface="Calibri"/>
                <a:cs typeface="Calibri"/>
              </a:rPr>
              <a:t>Doldurma ve ölçekleme kuralları train’den.</a:t>
            </a:r>
            <a:endParaRPr lang="tr-TR" sz="2100"/>
          </a:p>
        </p:txBody>
      </p:sp>
      <p:sp>
        <p:nvSpPr>
          <p:cNvPr id="106" name="Sonuçları kontrol et"/>
          <p:cNvSpPr txBox="1"/>
          <p:nvPr/>
        </p:nvSpPr>
        <p:spPr>
          <a:xfrm>
            <a:off x="6276975" y="3571875"/>
            <a:ext cx="5238750" cy="5238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Autofit/>
          </a:bodyPr>
          <a:lstStyle/>
          <a:p>
            <a:pPr marL="0" indent="0"/>
            <a:r>
              <a:rPr lang="tr-TR" sz="2300" b="1">
                <a:solidFill>
                  <a:srgbClr val="1E2A4E"/>
                </a:solidFill>
                <a:latin typeface="Calibri"/>
                <a:ea typeface="Calibri"/>
                <a:cs typeface="Calibri"/>
              </a:rPr>
              <a:t>Sonuçları kontrol et</a:t>
            </a:r>
            <a:endParaRPr lang="tr-TR" sz="2300"/>
          </a:p>
        </p:txBody>
      </p:sp>
      <p:sp>
        <p:nvSpPr>
          <p:cNvPr id="107" name="Yeni değer 0–1 dışına çıkabilir mi?"/>
          <p:cNvSpPr txBox="1"/>
          <p:nvPr/>
        </p:nvSpPr>
        <p:spPr>
          <a:xfrm>
            <a:off x="6276975" y="4219575"/>
            <a:ext cx="5238750" cy="857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Autofit/>
          </a:bodyPr>
          <a:lstStyle/>
          <a:p>
            <a:pPr marL="0" indent="0"/>
            <a:r>
              <a:rPr lang="tr-TR" sz="2100" b="0">
                <a:solidFill>
                  <a:srgbClr val="30343B"/>
                </a:solidFill>
                <a:latin typeface="Calibri"/>
                <a:ea typeface="Calibri"/>
                <a:cs typeface="Calibri"/>
              </a:rPr>
              <a:t>Yeni değer 0–1 dışına çıkabilir mi?</a:t>
            </a:r>
            <a:endParaRPr lang="tr-TR" sz="2100"/>
          </a:p>
        </p:txBody>
      </p:sp>
    </p:spTree>
    <p:extLst>
      <p:ext uri="{BB962C8B-B14F-4D97-AF65-F5344CB8AC3E}">
        <p14:creationId xmlns:p14="http://schemas.microsoft.com/office/powerpoint/2010/main" val="72132265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image" Target="../media/image1.png"/></Relationships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a:spPr>
      <a:bodyPr/>
      <a:lstStyle>
        <a:defPPr algn="l">
          <a:defRPr/>
        </a:defPPr>
      </a:lstStyle>
    </a:spDef>
  </a:objectDefaults>
  <a:extraClrSchemeLst/>
</a:theme>
</file>

<file path=ppt/theme/theme2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1147</TotalTime>
  <Words>2844</Words>
  <Application>Microsoft Office PowerPoint</Application>
  <PresentationFormat>Geniş ekran</PresentationFormat>
  <Paragraphs>518</Paragraphs>
  <Slides>25</Slides>
  <Notes>25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4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25</vt:i4>
      </vt:variant>
    </vt:vector>
  </HeadingPairs>
  <TitlesOfParts>
    <vt:vector size="30" baseType="lpstr">
      <vt:lpstr>Arial</vt:lpstr>
      <vt:lpstr>Calibri</vt:lpstr>
      <vt:lpstr>Cambria</vt:lpstr>
      <vt:lpstr>Consolas</vt:lpstr>
      <vt:lpstr>Office Theme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Sunusu</dc:title>
  <dc:creator>Yagmur Baykal</dc:creator>
  <cp:lastModifiedBy>Yagmur Baykal</cp:lastModifiedBy>
  <cp:revision>44</cp:revision>
  <dcterms:created xsi:type="dcterms:W3CDTF">2026-08-28T10:09:36Z</dcterms:created>
  <dcterms:modified xsi:type="dcterms:W3CDTF">2026-10-04T13:38:03Z</dcterms:modified>
</cp:coreProperties>
</file>