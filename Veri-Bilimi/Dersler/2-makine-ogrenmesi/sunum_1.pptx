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1014" r:id="rId2"/>
    <p:sldId id="289" r:id="rId3"/>
    <p:sldId id="283" r:id="rId4"/>
    <p:sldId id="284" r:id="rId5"/>
    <p:sldId id="285" r:id="rId6"/>
    <p:sldId id="1009" r:id="rId7"/>
    <p:sldId id="1010" r:id="rId8"/>
    <p:sldId id="286" r:id="rId9"/>
    <p:sldId id="288" r:id="rId10"/>
    <p:sldId id="1011" r:id="rId11"/>
    <p:sldId id="287" r:id="rId12"/>
    <p:sldId id="1012" r:id="rId13"/>
    <p:sldId id="1013" r:id="rId14"/>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E1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3" d="100"/>
          <a:sy n="53" d="100"/>
        </p:scale>
        <p:origin x="68" y="12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tr-TR"/>
  <c:roundedCorners val="1"/>
  <c:style val="2"/>
  <c:chart>
    <c:title>
      <c:tx>
        <c:rich>
          <a:bodyPr/>
          <a:lstStyle/>
          <a:p>
            <a:r>
              <a:rPr lang="fi-FI" sz="1725" b="1">
                <a:solidFill>
                  <a:srgbClr val="1E2A4E"/>
                </a:solidFill>
                <a:latin typeface="Calibri"/>
                <a:ea typeface="Calibri"/>
                <a:cs typeface="Calibri"/>
              </a:rPr>
              <a:t>Alan ve fiyat: Temsili eğitim verisi</a:t>
            </a:r>
          </a:p>
        </c:rich>
      </c:tx>
      <c:overlay val="0"/>
    </c:title>
    <c:autoTitleDeleted val="0"/>
    <c:plotArea>
      <c:layout/>
      <c:scatterChart>
        <c:scatterStyle val="lineMarker"/>
        <c:varyColors val="1"/>
        <c:ser>
          <c:idx val="0"/>
          <c:order val="0"/>
          <c:tx>
            <c:v>Gerçek fiyat</c:v>
          </c:tx>
          <c:spPr>
            <a:ln w="0">
              <a:noFill/>
            </a:ln>
          </c:spPr>
          <c:marker>
            <c:symbol val="circle"/>
            <c:size val="7"/>
            <c:spPr>
              <a:noFill/>
            </c:spPr>
          </c:marker>
          <c:xVal>
            <c:numRef>
              <c:f>'Chart Data'!$A$2:$A$9</c:f>
              <c:numCache>
                <c:formatCode>General</c:formatCode>
                <c:ptCount val="8"/>
                <c:pt idx="0">
                  <c:v>80</c:v>
                </c:pt>
                <c:pt idx="1">
                  <c:v>80</c:v>
                </c:pt>
                <c:pt idx="2">
                  <c:v>90</c:v>
                </c:pt>
                <c:pt idx="3">
                  <c:v>90</c:v>
                </c:pt>
                <c:pt idx="4">
                  <c:v>100</c:v>
                </c:pt>
                <c:pt idx="5">
                  <c:v>110</c:v>
                </c:pt>
                <c:pt idx="6">
                  <c:v>120</c:v>
                </c:pt>
                <c:pt idx="7">
                  <c:v>130</c:v>
                </c:pt>
              </c:numCache>
            </c:numRef>
          </c:xVal>
          <c:yVal>
            <c:numRef>
              <c:f>'Chart Data'!$B$2:$B$9</c:f>
              <c:numCache>
                <c:formatCode>General</c:formatCode>
                <c:ptCount val="8"/>
                <c:pt idx="0">
                  <c:v>1150</c:v>
                </c:pt>
                <c:pt idx="1">
                  <c:v>1200</c:v>
                </c:pt>
                <c:pt idx="2">
                  <c:v>1400</c:v>
                </c:pt>
                <c:pt idx="3">
                  <c:v>1350</c:v>
                </c:pt>
                <c:pt idx="4">
                  <c:v>1500</c:v>
                </c:pt>
                <c:pt idx="5">
                  <c:v>1450</c:v>
                </c:pt>
                <c:pt idx="6">
                  <c:v>1800</c:v>
                </c:pt>
                <c:pt idx="7">
                  <c:v>1950</c:v>
                </c:pt>
              </c:numCache>
            </c:numRef>
          </c:yVal>
          <c:smooth val="1"/>
          <c:extLst>
            <c:ext xmlns:c16="http://schemas.microsoft.com/office/drawing/2014/chart" uri="{C3380CC4-5D6E-409C-BE32-E72D297353CC}">
              <c16:uniqueId val="{00000000-5B78-4FE4-AE31-0F8FAAB405EB}"/>
            </c:ext>
          </c:extLst>
        </c:ser>
        <c:ser>
          <c:idx val="1"/>
          <c:order val="1"/>
          <c:tx>
            <c:v>OLS tahmini</c:v>
          </c:tx>
          <c:spPr>
            <a:ln w="19050">
              <a:solidFill>
                <a:srgbClr val="2877BF"/>
              </a:solidFill>
            </a:ln>
          </c:spPr>
          <c:marker>
            <c:symbol val="none"/>
          </c:marker>
          <c:xVal>
            <c:numRef>
              <c:f>'Chart Data'!$C$2:$C$3</c:f>
              <c:numCache>
                <c:formatCode>General</c:formatCode>
                <c:ptCount val="2"/>
                <c:pt idx="0">
                  <c:v>75</c:v>
                </c:pt>
                <c:pt idx="1">
                  <c:v>135</c:v>
                </c:pt>
              </c:numCache>
            </c:numRef>
          </c:xVal>
          <c:yVal>
            <c:numRef>
              <c:f>'Chart Data'!$D$2:$D$3</c:f>
              <c:numCache>
                <c:formatCode>General</c:formatCode>
                <c:ptCount val="2"/>
                <c:pt idx="0">
                  <c:v>1115.625</c:v>
                </c:pt>
                <c:pt idx="1">
                  <c:v>1978.125</c:v>
                </c:pt>
              </c:numCache>
            </c:numRef>
          </c:yVal>
          <c:smooth val="1"/>
          <c:extLst>
            <c:ext xmlns:c16="http://schemas.microsoft.com/office/drawing/2014/chart" uri="{C3380CC4-5D6E-409C-BE32-E72D297353CC}">
              <c16:uniqueId val="{00000001-5B78-4FE4-AE31-0F8FAAB405EB}"/>
            </c:ext>
          </c:extLst>
        </c:ser>
        <c:ser>
          <c:idx val="2"/>
          <c:order val="2"/>
          <c:tx>
            <c:v>Hata (residual)</c:v>
          </c:tx>
          <c:spPr>
            <a:ln w="38100">
              <a:solidFill>
                <a:srgbClr val="B18D18"/>
              </a:solidFill>
            </a:ln>
          </c:spPr>
          <c:marker>
            <c:symbol val="none"/>
          </c:marker>
          <c:xVal>
            <c:numRef>
              <c:f>'Chart Data'!$E$2:$E$3</c:f>
              <c:numCache>
                <c:formatCode>General</c:formatCode>
                <c:ptCount val="2"/>
                <c:pt idx="0">
                  <c:v>110</c:v>
                </c:pt>
                <c:pt idx="1">
                  <c:v>110</c:v>
                </c:pt>
              </c:numCache>
            </c:numRef>
          </c:xVal>
          <c:yVal>
            <c:numRef>
              <c:f>'Chart Data'!$F$2:$F$3</c:f>
              <c:numCache>
                <c:formatCode>General</c:formatCode>
                <c:ptCount val="2"/>
                <c:pt idx="0">
                  <c:v>1450</c:v>
                </c:pt>
                <c:pt idx="1">
                  <c:v>1618.75</c:v>
                </c:pt>
              </c:numCache>
            </c:numRef>
          </c:yVal>
          <c:smooth val="1"/>
          <c:extLst>
            <c:ext xmlns:c16="http://schemas.microsoft.com/office/drawing/2014/chart" uri="{C3380CC4-5D6E-409C-BE32-E72D297353CC}">
              <c16:uniqueId val="{00000002-5B78-4FE4-AE31-0F8FAAB405EB}"/>
            </c:ext>
          </c:extLst>
        </c:ser>
        <c:dLbls>
          <c:showLegendKey val="0"/>
          <c:showVal val="0"/>
          <c:showCatName val="0"/>
          <c:showSerName val="0"/>
          <c:showPercent val="0"/>
          <c:showBubbleSize val="0"/>
        </c:dLbls>
        <c:axId val="48650112"/>
        <c:axId val="48672768"/>
      </c:scatterChart>
      <c:valAx>
        <c:axId val="48672768"/>
        <c:scaling>
          <c:orientation val="minMax"/>
          <c:max val="2100"/>
          <c:min val="1000"/>
        </c:scaling>
        <c:delete val="0"/>
        <c:axPos val="l"/>
        <c:majorGridlines>
          <c:spPr>
            <a:ln w="9525">
              <a:solidFill>
                <a:srgbClr val="D6D9E0"/>
              </a:solidFill>
            </a:ln>
          </c:spPr>
        </c:majorGridlines>
        <c:title>
          <c:tx>
            <c:rich>
              <a:bodyPr/>
              <a:lstStyle/>
              <a:p>
                <a:r>
                  <a:rPr lang="tr-TR">
                    <a:latin typeface="Calibri"/>
                    <a:ea typeface="Calibri"/>
                    <a:cs typeface="Calibri"/>
                  </a:rPr>
                  <a:t>Fiyat (bin TL)</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30343B"/>
                </a:solidFill>
                <a:latin typeface="Calibri"/>
                <a:ea typeface="Calibri"/>
                <a:cs typeface="Calibri"/>
              </a:defRPr>
            </a:pPr>
            <a:endParaRPr lang="tr-TR"/>
          </a:p>
        </c:txPr>
        <c:crossAx val="48650112"/>
        <c:crosses val="autoZero"/>
        <c:crossBetween val="midCat"/>
        <c:majorUnit val="250"/>
      </c:valAx>
      <c:valAx>
        <c:axId val="48650112"/>
        <c:scaling>
          <c:orientation val="minMax"/>
          <c:max val="135"/>
          <c:min val="75"/>
        </c:scaling>
        <c:delete val="0"/>
        <c:axPos val="b"/>
        <c:majorGridlines>
          <c:spPr>
            <a:ln w="0">
              <a:noFill/>
            </a:ln>
          </c:spPr>
        </c:majorGridlines>
        <c:title>
          <c:tx>
            <c:rich>
              <a:bodyPr/>
              <a:lstStyle/>
              <a:p>
                <a:r>
                  <a:rPr lang="tr-TR">
                    <a:latin typeface="Calibri"/>
                    <a:ea typeface="Calibri"/>
                    <a:cs typeface="Calibri"/>
                  </a:rPr>
                  <a:t>Alan (m²)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30343B"/>
                </a:solidFill>
                <a:latin typeface="Calibri"/>
                <a:ea typeface="Calibri"/>
                <a:cs typeface="Calibri"/>
              </a:defRPr>
            </a:pPr>
            <a:endParaRPr lang="tr-TR"/>
          </a:p>
        </c:txPr>
        <c:crossAx val="48672768"/>
        <c:crosses val="autoZero"/>
        <c:crossBetween val="midCat"/>
        <c:majorUnit val="15"/>
      </c:valAx>
      <c:spPr>
        <a:solidFill>
          <a:srgbClr val="F7F5EF"/>
        </a:solidFill>
        <a:ln w="0">
          <a:noFill/>
        </a:ln>
      </c:spPr>
    </c:plotArea>
    <c:legend>
      <c:legendPos val="b"/>
      <c:overlay val="0"/>
      <c:txPr>
        <a:bodyPr anchorCtr="1"/>
        <a:lstStyle/>
        <a:p>
          <a:pPr>
            <a:defRPr sz="1350">
              <a:solidFill>
                <a:srgbClr val="30343B"/>
              </a:solidFill>
              <a:latin typeface="Calibri"/>
              <a:ea typeface="Calibri"/>
              <a:cs typeface="Calibri"/>
            </a:defRPr>
          </a:pPr>
          <a:endParaRPr lang="tr-TR"/>
        </a:p>
      </c:txPr>
    </c:legend>
    <c:plotVisOnly val="1"/>
    <c:dispBlanksAs val="zero"/>
    <c:showDLblsOverMax val="1"/>
  </c:chart>
  <c:spPr>
    <a:solidFill>
      <a:srgbClr val="F7F5E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D89E48-8C86-451F-9871-13F4ABD6B6B0}" type="datetimeFigureOut">
              <a:rPr lang="tr-TR" smtClean="0"/>
              <a:t>4.10.2026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6C5A62-01C5-4300-AB3E-A410291738DD}" type="slidenum">
              <a:rPr lang="tr-TR" smtClean="0"/>
              <a:t>‹#›</a:t>
            </a:fld>
            <a:endParaRPr lang="tr-TR"/>
          </a:p>
        </p:txBody>
      </p:sp>
    </p:spTree>
    <p:extLst>
      <p:ext uri="{BB962C8B-B14F-4D97-AF65-F5344CB8AC3E}">
        <p14:creationId xmlns:p14="http://schemas.microsoft.com/office/powerpoint/2010/main" val="2655887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r>
              <a:rPr lang="tr-TR" sz="1200" b="0">
                <a:solidFill>
                  <a:srgbClr val="30343B"/>
                </a:solidFill>
                <a:latin typeface="Calibri"/>
                <a:ea typeface="Calibri"/>
                <a:cs typeface="Calibri"/>
              </a:rPr>
              <a:t>Ön işleme parametrelerini yalnızca eğitim verisinden öğren. Model ve ayar seçimi için doğrulama veya çapraz doğrulama kullan. Test kümesini final değerlendirme için ayır.</a:t>
            </a:r>
            <a:endParaRPr lang="tr-TR" sz="1200"/>
          </a:p>
          <a:p>
            <a:pPr marL="0" indent="0"/>
            <a:endParaRPr lang="tr-TR" sz="1200"/>
          </a:p>
          <a:p>
            <a:pPr marL="0" indent="0"/>
            <a:r>
              <a:rPr lang="tr-TR" sz="1200" b="0">
                <a:solidFill>
                  <a:srgbClr val="30343B"/>
                </a:solidFill>
                <a:latin typeface="Calibri"/>
                <a:ea typeface="Calibri"/>
                <a:cs typeface="Calibri"/>
              </a:rPr>
              <a:t>Kaynaklar:</a:t>
            </a:r>
            <a:endParaRPr lang="tr-TR" sz="1200"/>
          </a:p>
          <a:p>
            <a:pPr marL="0" indent="0"/>
            <a:r>
              <a:rPr lang="tr-TR" sz="1200" b="0">
                <a:solidFill>
                  <a:srgbClr val="30343B"/>
                </a:solidFill>
                <a:latin typeface="Calibri"/>
                <a:ea typeface="Calibri"/>
                <a:cs typeface="Calibri"/>
              </a:rPr>
              <a:t>https://scikit-learn.org/stable/modules/learning_curve.html</a:t>
            </a:r>
            <a:endParaRPr lang="tr-TR" sz="1200"/>
          </a:p>
          <a:p>
            <a:pPr marL="0" indent="0"/>
            <a:r>
              <a:rPr lang="tr-TR" sz="1200" b="0">
                <a:solidFill>
                  <a:srgbClr val="30343B"/>
                </a:solidFill>
                <a:latin typeface="Calibri"/>
                <a:ea typeface="Calibri"/>
                <a:cs typeface="Calibri"/>
              </a:rPr>
              <a:t>https://scikit-learn.org/stable/common_pitfalls.html</a:t>
            </a:r>
            <a:endParaRPr lang="tr-TR" sz="1200"/>
          </a:p>
        </p:txBody>
      </p:sp>
      <p:sp>
        <p:nvSpPr>
          <p:cNvPr id="4" name="Slayt Numarası Yer Tutucusu 3"/>
          <p:cNvSpPr>
            <a:spLocks noGrp="1"/>
          </p:cNvSpPr>
          <p:nvPr>
            <p:ph type="sldNum" sz="quarter" idx="5"/>
          </p:nvPr>
        </p:nvSpPr>
        <p:spPr/>
        <p:txBody>
          <a:bodyPr/>
          <a:lstStyle/>
          <a:p>
            <a:fld id="{466C5A62-01C5-4300-AB3E-A410291738DD}" type="slidenum">
              <a:rPr lang="tr-TR" smtClean="0"/>
              <a:t>2</a:t>
            </a:fld>
            <a:endParaRPr lang="tr-TR"/>
          </a:p>
        </p:txBody>
      </p:sp>
    </p:spTree>
    <p:extLst>
      <p:ext uri="{BB962C8B-B14F-4D97-AF65-F5344CB8AC3E}">
        <p14:creationId xmlns:p14="http://schemas.microsoft.com/office/powerpoint/2010/main" val="2211498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r>
              <a:rPr lang="tr-TR" sz="1200" b="0">
                <a:solidFill>
                  <a:srgbClr val="30343B"/>
                </a:solidFill>
                <a:latin typeface="Calibri"/>
                <a:ea typeface="Calibri"/>
                <a:cs typeface="Calibri"/>
              </a:rPr>
              <a:t>Geleneksel taraftaki alan×15 kuralı yalnızca insanın yazdığı temsili kuraldır; piyasa veya model sonucu değildir. ML tarafı birçok özellik–etiket çiftiyle eğitimi, ardından öğrenilen modelle tahmini anlatır. Fiyatı bilinmeyen Ev2 eğitim etiketi olarak kullanılmaz.</a:t>
            </a:r>
            <a:endParaRPr lang="tr-TR" sz="1200"/>
          </a:p>
        </p:txBody>
      </p:sp>
      <p:sp>
        <p:nvSpPr>
          <p:cNvPr id="4" name="Slayt Numarası Yer Tutucusu 3"/>
          <p:cNvSpPr>
            <a:spLocks noGrp="1"/>
          </p:cNvSpPr>
          <p:nvPr>
            <p:ph type="sldNum" sz="quarter" idx="5"/>
          </p:nvPr>
        </p:nvSpPr>
        <p:spPr/>
        <p:txBody>
          <a:bodyPr/>
          <a:lstStyle/>
          <a:p>
            <a:fld id="{466C5A62-01C5-4300-AB3E-A410291738DD}" type="slidenum">
              <a:rPr lang="tr-TR" smtClean="0"/>
              <a:t>3</a:t>
            </a:fld>
            <a:endParaRPr lang="tr-TR"/>
          </a:p>
        </p:txBody>
      </p:sp>
    </p:spTree>
    <p:extLst>
      <p:ext uri="{BB962C8B-B14F-4D97-AF65-F5344CB8AC3E}">
        <p14:creationId xmlns:p14="http://schemas.microsoft.com/office/powerpoint/2010/main" val="2211498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r>
              <a:rPr lang="tr-TR" sz="1200" b="0">
                <a:solidFill>
                  <a:srgbClr val="30343B"/>
                </a:solidFill>
                <a:latin typeface="Calibri"/>
                <a:ea typeface="Calibri"/>
                <a:cs typeface="Calibri"/>
              </a:rPr>
              <a:t>Bu bölüm denetimli öğrenmeye odaklanır. Küme adlarını yorumlayan insandır; algoritma kendiliğinden lüks/orta gibi anlamları garanti etmez. Robot resimleri öğrenme türlerini temsil eden mevcut çizimlerdir. Pekiştirmeli öğrenme için oyun ajanı örneği kullanılır.</a:t>
            </a:r>
            <a:endParaRPr lang="tr-TR" sz="1200"/>
          </a:p>
        </p:txBody>
      </p:sp>
      <p:sp>
        <p:nvSpPr>
          <p:cNvPr id="4" name="Slayt Numarası Yer Tutucusu 3"/>
          <p:cNvSpPr>
            <a:spLocks noGrp="1"/>
          </p:cNvSpPr>
          <p:nvPr>
            <p:ph type="sldNum" sz="quarter" idx="5"/>
          </p:nvPr>
        </p:nvSpPr>
        <p:spPr/>
        <p:txBody>
          <a:bodyPr/>
          <a:lstStyle/>
          <a:p>
            <a:fld id="{466C5A62-01C5-4300-AB3E-A410291738DD}" type="slidenum">
              <a:rPr lang="tr-TR" smtClean="0"/>
              <a:t>4</a:t>
            </a:fld>
            <a:endParaRPr lang="tr-TR"/>
          </a:p>
        </p:txBody>
      </p:sp>
    </p:spTree>
    <p:extLst>
      <p:ext uri="{BB962C8B-B14F-4D97-AF65-F5344CB8AC3E}">
        <p14:creationId xmlns:p14="http://schemas.microsoft.com/office/powerpoint/2010/main" val="2211498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r>
              <a:rPr lang="tr-TR" sz="1200" b="0">
                <a:solidFill>
                  <a:srgbClr val="30343B"/>
                </a:solidFill>
                <a:latin typeface="Calibri"/>
                <a:ea typeface="Calibri"/>
                <a:cs typeface="Calibri"/>
              </a:rPr>
              <a:t>Mevcut iki dağılım grafiği korunmuştur. Sol grafikteki 150m² / 2,4 milyonTL çağrısı gözlem örneğidir, çizginin aynı yerdeki tahminiyle karıştırılmaz. Sağdaki yatay eşik gerçek fiyat üzerinden örnek sınıf etiketini tanımlar. Fiyatı bu etiketin tahmini için girdi olarak kullanmak hedef sızıntısıdır. Gerçek sınıflandırıcıya alan, yaş, oda gibi tahmin anında bilinen özellikler verilir. Her iki grafik 5 ev tablosundan bağımsız temsili verilerdir.</a:t>
            </a:r>
            <a:endParaRPr lang="tr-TR" sz="1200"/>
          </a:p>
        </p:txBody>
      </p:sp>
      <p:sp>
        <p:nvSpPr>
          <p:cNvPr id="4" name="Slayt Numarası Yer Tutucusu 3"/>
          <p:cNvSpPr>
            <a:spLocks noGrp="1"/>
          </p:cNvSpPr>
          <p:nvPr>
            <p:ph type="sldNum" sz="quarter" idx="5"/>
          </p:nvPr>
        </p:nvSpPr>
        <p:spPr/>
        <p:txBody>
          <a:bodyPr/>
          <a:lstStyle/>
          <a:p>
            <a:fld id="{466C5A62-01C5-4300-AB3E-A410291738DD}" type="slidenum">
              <a:rPr lang="tr-TR" smtClean="0"/>
              <a:t>5</a:t>
            </a:fld>
            <a:endParaRPr lang="tr-TR"/>
          </a:p>
        </p:txBody>
      </p:sp>
    </p:spTree>
    <p:extLst>
      <p:ext uri="{BB962C8B-B14F-4D97-AF65-F5344CB8AC3E}">
        <p14:creationId xmlns:p14="http://schemas.microsoft.com/office/powerpoint/2010/main" val="2211498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r>
              <a:rPr lang="tr-TR" sz="1200" b="0">
                <a:solidFill>
                  <a:srgbClr val="30343B"/>
                </a:solidFill>
                <a:latin typeface="Calibri"/>
                <a:ea typeface="Calibri"/>
                <a:cs typeface="Calibri"/>
              </a:rPr>
              <a:t>Önceki haftanın 5 ev örneğinin bilinen dört fiyatı gösterilir. Ev2 etiketsizdir. Kayıt kimliğiEvID özelliğe dönüştürülmez. Bu küçük tablo yalnızca X/y ve tahmin mantığını anlatır. Sonraki uygulamada güvenilir karşılaştırma için daha büyük bir veri seti gerekir.</a:t>
            </a:r>
            <a:endParaRPr lang="tr-TR" sz="1200"/>
          </a:p>
        </p:txBody>
      </p:sp>
      <p:sp>
        <p:nvSpPr>
          <p:cNvPr id="4" name="Slayt Numarası Yer Tutucusu 3"/>
          <p:cNvSpPr>
            <a:spLocks noGrp="1"/>
          </p:cNvSpPr>
          <p:nvPr>
            <p:ph type="sldNum" sz="quarter" idx="5"/>
          </p:nvPr>
        </p:nvSpPr>
        <p:spPr/>
        <p:txBody>
          <a:bodyPr/>
          <a:lstStyle/>
          <a:p>
            <a:fld id="{466C5A62-01C5-4300-AB3E-A410291738DD}" type="slidenum">
              <a:rPr lang="tr-TR" smtClean="0"/>
              <a:t>6</a:t>
            </a:fld>
            <a:endParaRPr lang="tr-TR"/>
          </a:p>
        </p:txBody>
      </p:sp>
    </p:spTree>
    <p:extLst>
      <p:ext uri="{BB962C8B-B14F-4D97-AF65-F5344CB8AC3E}">
        <p14:creationId xmlns:p14="http://schemas.microsoft.com/office/powerpoint/2010/main" val="2211498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r>
              <a:rPr lang="tr-TR" sz="1200" b="0">
                <a:solidFill>
                  <a:srgbClr val="30343B"/>
                </a:solidFill>
                <a:latin typeface="Calibri"/>
                <a:ea typeface="Calibri"/>
                <a:cs typeface="Calibri"/>
              </a:rPr>
              <a:t>Küçük veri setlerinde eğitim içinde çapraz doğrulama kullanılabilir. Oranlar veri büyüklüğüne ve problem yapısına göre değişir. Zaman serileri kronolojik, aynı kişi/ev tekrarları gruplara göre ayrılabilir. Test sonuçlarıyla tekrar tekrar model seçmek test bilgisini öğrenme sürecine taşır.</a:t>
            </a:r>
            <a:endParaRPr lang="tr-TR" sz="1200"/>
          </a:p>
          <a:p>
            <a:pPr marL="0" indent="0"/>
            <a:endParaRPr lang="tr-TR" sz="1200"/>
          </a:p>
          <a:p>
            <a:pPr marL="0" indent="0"/>
            <a:r>
              <a:rPr lang="tr-TR" sz="1200" b="0">
                <a:solidFill>
                  <a:srgbClr val="30343B"/>
                </a:solidFill>
                <a:latin typeface="Calibri"/>
                <a:ea typeface="Calibri"/>
                <a:cs typeface="Calibri"/>
              </a:rPr>
              <a:t>Kaynaklar:</a:t>
            </a:r>
            <a:endParaRPr lang="tr-TR" sz="1200"/>
          </a:p>
          <a:p>
            <a:pPr marL="0" indent="0"/>
            <a:r>
              <a:rPr lang="tr-TR" sz="1200" b="0">
                <a:solidFill>
                  <a:srgbClr val="30343B"/>
                </a:solidFill>
                <a:latin typeface="Calibri"/>
                <a:ea typeface="Calibri"/>
                <a:cs typeface="Calibri"/>
              </a:rPr>
              <a:t>https://scikit-learn.org/stable/modules/learning_curve.html</a:t>
            </a:r>
            <a:endParaRPr lang="tr-TR" sz="1200"/>
          </a:p>
          <a:p>
            <a:pPr marL="0" indent="0"/>
            <a:r>
              <a:rPr lang="tr-TR" sz="1200" b="0">
                <a:solidFill>
                  <a:srgbClr val="30343B"/>
                </a:solidFill>
                <a:latin typeface="Calibri"/>
                <a:ea typeface="Calibri"/>
                <a:cs typeface="Calibri"/>
              </a:rPr>
              <a:t>https://scikit-learn.org/stable/common_pitfalls.html</a:t>
            </a:r>
            <a:endParaRPr lang="tr-TR" sz="1200"/>
          </a:p>
        </p:txBody>
      </p:sp>
      <p:sp>
        <p:nvSpPr>
          <p:cNvPr id="4" name="Slayt Numarası Yer Tutucusu 3"/>
          <p:cNvSpPr>
            <a:spLocks noGrp="1"/>
          </p:cNvSpPr>
          <p:nvPr>
            <p:ph type="sldNum" sz="quarter" idx="5"/>
          </p:nvPr>
        </p:nvSpPr>
        <p:spPr/>
        <p:txBody>
          <a:bodyPr/>
          <a:lstStyle/>
          <a:p>
            <a:fld id="{466C5A62-01C5-4300-AB3E-A410291738DD}" type="slidenum">
              <a:rPr lang="tr-TR" smtClean="0"/>
              <a:t>7</a:t>
            </a:fld>
            <a:endParaRPr lang="tr-TR"/>
          </a:p>
        </p:txBody>
      </p:sp>
    </p:spTree>
    <p:extLst>
      <p:ext uri="{BB962C8B-B14F-4D97-AF65-F5344CB8AC3E}">
        <p14:creationId xmlns:p14="http://schemas.microsoft.com/office/powerpoint/2010/main" val="2211498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r>
              <a:rPr lang="tr-TR" sz="1200" b="0">
                <a:solidFill>
                  <a:srgbClr val="30343B"/>
                </a:solidFill>
                <a:latin typeface="Calibri"/>
                <a:ea typeface="Calibri"/>
                <a:cs typeface="Calibri"/>
              </a:rPr>
              <a:t>Grafik kendi sayısal verisiyle yeniden oluşturuldu. Yaş yerine alan girdisi kullanılır. Gerçek fiyatlar binTL birimindedir. OLS hataların kareleri toplamını en aza indirir. Dikey artık 110m² noktasında gösterilir. Bu eğitim grafiği bir test performansı kanıtı değildir.</a:t>
            </a:r>
            <a:endParaRPr lang="tr-TR" sz="1200"/>
          </a:p>
          <a:p>
            <a:pPr marL="0" indent="0"/>
            <a:endParaRPr lang="tr-TR" sz="1200"/>
          </a:p>
          <a:p>
            <a:pPr marL="0" indent="0"/>
            <a:r>
              <a:rPr lang="tr-TR" sz="1200" b="0">
                <a:solidFill>
                  <a:srgbClr val="30343B"/>
                </a:solidFill>
                <a:latin typeface="Calibri"/>
                <a:ea typeface="Calibri"/>
                <a:cs typeface="Calibri"/>
              </a:rPr>
              <a:t>Kaynaklar:</a:t>
            </a:r>
            <a:endParaRPr lang="tr-TR" sz="1200"/>
          </a:p>
          <a:p>
            <a:pPr marL="0" indent="0"/>
            <a:r>
              <a:rPr lang="tr-TR" sz="1200" b="0">
                <a:solidFill>
                  <a:srgbClr val="30343B"/>
                </a:solidFill>
                <a:latin typeface="Calibri"/>
                <a:ea typeface="Calibri"/>
                <a:cs typeface="Calibri"/>
              </a:rPr>
              <a:t>https://scikit-learn.org/stable/modules/generated/sklearn.linear_model.LinearRegression.html</a:t>
            </a:r>
            <a:endParaRPr lang="tr-TR" sz="1200"/>
          </a:p>
        </p:txBody>
      </p:sp>
      <p:sp>
        <p:nvSpPr>
          <p:cNvPr id="4" name="Slayt Numarası Yer Tutucusu 3"/>
          <p:cNvSpPr>
            <a:spLocks noGrp="1"/>
          </p:cNvSpPr>
          <p:nvPr>
            <p:ph type="sldNum" sz="quarter" idx="5"/>
          </p:nvPr>
        </p:nvSpPr>
        <p:spPr/>
        <p:txBody>
          <a:bodyPr/>
          <a:lstStyle/>
          <a:p>
            <a:fld id="{466C5A62-01C5-4300-AB3E-A410291738DD}" type="slidenum">
              <a:rPr lang="tr-TR" smtClean="0"/>
              <a:t>8</a:t>
            </a:fld>
            <a:endParaRPr lang="tr-TR"/>
          </a:p>
        </p:txBody>
      </p:sp>
    </p:spTree>
    <p:extLst>
      <p:ext uri="{BB962C8B-B14F-4D97-AF65-F5344CB8AC3E}">
        <p14:creationId xmlns:p14="http://schemas.microsoft.com/office/powerpoint/2010/main" val="2211498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r>
              <a:rPr lang="tr-TR" sz="1200" b="0">
                <a:solidFill>
                  <a:srgbClr val="30343B"/>
                </a:solidFill>
                <a:latin typeface="Calibri"/>
                <a:ea typeface="Calibri"/>
                <a:cs typeface="Calibri"/>
              </a:rPr>
              <a:t>Mevcut ağaç resmi, çerçevesi ve dalları korunmuş; tüm yapraklar tutarlı iki sınıfa çevrilmiştir. Şema temsili bir sınıflandırma ağacıdır. Bu veri setinin eğitilmiş ağacı olarak sunulmaz; şehir dalındaki bazı kombinasyonlar 5 ev tablosunda bulunmaz. Regresyon ağacı ise yapraklarda sayısal değer üretir. Sayısal fiyat örneğinde MSE ölçütüyle bir yaprağın tahmini o yapraktaki eğitim fiyatlarının ortalamasıdır.</a:t>
            </a:r>
            <a:endParaRPr lang="tr-TR" sz="1200"/>
          </a:p>
          <a:p>
            <a:pPr marL="0" indent="0"/>
            <a:endParaRPr lang="tr-TR" sz="1200"/>
          </a:p>
          <a:p>
            <a:pPr marL="0" indent="0"/>
            <a:r>
              <a:rPr lang="tr-TR" sz="1200" b="0">
                <a:solidFill>
                  <a:srgbClr val="30343B"/>
                </a:solidFill>
                <a:latin typeface="Calibri"/>
                <a:ea typeface="Calibri"/>
                <a:cs typeface="Calibri"/>
              </a:rPr>
              <a:t>Kaynaklar:</a:t>
            </a:r>
            <a:endParaRPr lang="tr-TR" sz="1200"/>
          </a:p>
          <a:p>
            <a:pPr marL="0" indent="0"/>
            <a:r>
              <a:rPr lang="tr-TR" sz="1200" b="0">
                <a:solidFill>
                  <a:srgbClr val="30343B"/>
                </a:solidFill>
                <a:latin typeface="Calibri"/>
                <a:ea typeface="Calibri"/>
                <a:cs typeface="Calibri"/>
              </a:rPr>
              <a:t>https://scikit-learn.org/stable/modules/tree.html</a:t>
            </a:r>
            <a:endParaRPr lang="tr-TR" sz="1200"/>
          </a:p>
        </p:txBody>
      </p:sp>
      <p:sp>
        <p:nvSpPr>
          <p:cNvPr id="4" name="Slayt Numarası Yer Tutucusu 3"/>
          <p:cNvSpPr>
            <a:spLocks noGrp="1"/>
          </p:cNvSpPr>
          <p:nvPr>
            <p:ph type="sldNum" sz="quarter" idx="5"/>
          </p:nvPr>
        </p:nvSpPr>
        <p:spPr/>
        <p:txBody>
          <a:bodyPr/>
          <a:lstStyle/>
          <a:p>
            <a:fld id="{466C5A62-01C5-4300-AB3E-A410291738DD}" type="slidenum">
              <a:rPr lang="tr-TR" smtClean="0"/>
              <a:t>9</a:t>
            </a:fld>
            <a:endParaRPr lang="tr-TR"/>
          </a:p>
        </p:txBody>
      </p:sp>
    </p:spTree>
    <p:extLst>
      <p:ext uri="{BB962C8B-B14F-4D97-AF65-F5344CB8AC3E}">
        <p14:creationId xmlns:p14="http://schemas.microsoft.com/office/powerpoint/2010/main" val="2211498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r>
              <a:rPr lang="tr-TR" sz="1200" b="0">
                <a:solidFill>
                  <a:srgbClr val="30343B"/>
                </a:solidFill>
                <a:latin typeface="Calibri"/>
                <a:ea typeface="Calibri"/>
                <a:cs typeface="Calibri"/>
              </a:rPr>
              <a:t>Lineer regresyon ve karar ağacı regressor için fiyat hedefi aynıdır. Sınıflandırma hedefi için ağaç classifier veya lojistik regresyon gibi sınıflandırıcı seçilir. Doğrusal modelde düzenlileştirme; ağaçta derinlik/yaprak ayarı karşılaştırılabilir. Basit referans fiyat tahmini eğitim ortalaması/medyanı olabilir; medyan mutlak hatayı, ortalama kareli hatayı en aza indirir. Burada sahte performans puanları verilmez.</a:t>
            </a:r>
            <a:endParaRPr lang="tr-TR" sz="1200"/>
          </a:p>
          <a:p>
            <a:pPr marL="0" indent="0"/>
            <a:endParaRPr lang="tr-TR" sz="1200"/>
          </a:p>
          <a:p>
            <a:pPr marL="0" indent="0"/>
            <a:r>
              <a:rPr lang="tr-TR" sz="1200" b="0">
                <a:solidFill>
                  <a:srgbClr val="30343B"/>
                </a:solidFill>
                <a:latin typeface="Calibri"/>
                <a:ea typeface="Calibri"/>
                <a:cs typeface="Calibri"/>
              </a:rPr>
              <a:t>Kaynaklar:</a:t>
            </a:r>
            <a:endParaRPr lang="tr-TR" sz="1200"/>
          </a:p>
          <a:p>
            <a:pPr marL="0" indent="0"/>
            <a:r>
              <a:rPr lang="tr-TR" sz="1200" b="0">
                <a:solidFill>
                  <a:srgbClr val="30343B"/>
                </a:solidFill>
                <a:latin typeface="Calibri"/>
                <a:ea typeface="Calibri"/>
                <a:cs typeface="Calibri"/>
              </a:rPr>
              <a:t>https://scikit-learn.org/stable/modules/generated/sklearn.linear_model.LinearRegression.html</a:t>
            </a:r>
            <a:endParaRPr lang="tr-TR" sz="1200"/>
          </a:p>
          <a:p>
            <a:pPr marL="0" indent="0"/>
            <a:r>
              <a:rPr lang="tr-TR" sz="1200" b="0">
                <a:solidFill>
                  <a:srgbClr val="30343B"/>
                </a:solidFill>
                <a:latin typeface="Calibri"/>
                <a:ea typeface="Calibri"/>
                <a:cs typeface="Calibri"/>
              </a:rPr>
              <a:t>https://scikit-learn.org/stable/modules/tree.html</a:t>
            </a:r>
            <a:endParaRPr lang="tr-TR" sz="1200"/>
          </a:p>
          <a:p>
            <a:pPr marL="0" indent="0"/>
            <a:r>
              <a:rPr lang="tr-TR" sz="1200" b="0">
                <a:solidFill>
                  <a:srgbClr val="30343B"/>
                </a:solidFill>
                <a:latin typeface="Calibri"/>
                <a:ea typeface="Calibri"/>
                <a:cs typeface="Calibri"/>
              </a:rPr>
              <a:t>https://scikit-learn.org/stable/modules/learning_curve.html</a:t>
            </a:r>
            <a:endParaRPr lang="tr-TR" sz="1200"/>
          </a:p>
        </p:txBody>
      </p:sp>
      <p:sp>
        <p:nvSpPr>
          <p:cNvPr id="4" name="Slayt Numarası Yer Tutucusu 3"/>
          <p:cNvSpPr>
            <a:spLocks noGrp="1"/>
          </p:cNvSpPr>
          <p:nvPr>
            <p:ph type="sldNum" sz="quarter" idx="5"/>
          </p:nvPr>
        </p:nvSpPr>
        <p:spPr/>
        <p:txBody>
          <a:bodyPr/>
          <a:lstStyle/>
          <a:p>
            <a:fld id="{466C5A62-01C5-4300-AB3E-A410291738DD}" type="slidenum">
              <a:rPr lang="tr-TR" smtClean="0"/>
              <a:t>10</a:t>
            </a:fld>
            <a:endParaRPr lang="tr-TR"/>
          </a:p>
        </p:txBody>
      </p:sp>
    </p:spTree>
    <p:extLst>
      <p:ext uri="{BB962C8B-B14F-4D97-AF65-F5344CB8AC3E}">
        <p14:creationId xmlns:p14="http://schemas.microsoft.com/office/powerpoint/2010/main" val="2211498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r>
              <a:rPr lang="tr-TR" sz="1200" b="0">
                <a:solidFill>
                  <a:srgbClr val="30343B"/>
                </a:solidFill>
                <a:latin typeface="Calibri"/>
                <a:ea typeface="Calibri"/>
                <a:cs typeface="Calibri"/>
              </a:rPr>
              <a:t>Mevcut üç kavramsal grafik korunmuştur. Bunlar hesaplanmış model sonuçları veya 5 ev verisi değildir. Sağdaki çizgi her eğitim noktasını tam olarak kesmediğinden kuruşu kuruşuna ezberler iddiası kaldırılmıştır. Genel hata örüntüsü modellerin eğitim/doğrulama değerlendirmesiyle doğrulanır. Aşırı öğrenmeyi sınırlamak için daha basit model, düzenlileştirme, ağaç derinliği kontrolü ve uygun veri kullanımı düşünülebilir.</a:t>
            </a:r>
            <a:endParaRPr lang="tr-TR" sz="1200"/>
          </a:p>
          <a:p>
            <a:pPr marL="0" indent="0"/>
            <a:endParaRPr lang="tr-TR" sz="1200"/>
          </a:p>
          <a:p>
            <a:pPr marL="0" indent="0"/>
            <a:r>
              <a:rPr lang="tr-TR" sz="1200" b="0">
                <a:solidFill>
                  <a:srgbClr val="30343B"/>
                </a:solidFill>
                <a:latin typeface="Calibri"/>
                <a:ea typeface="Calibri"/>
                <a:cs typeface="Calibri"/>
              </a:rPr>
              <a:t>Kaynaklar:</a:t>
            </a:r>
            <a:endParaRPr lang="tr-TR" sz="1200"/>
          </a:p>
          <a:p>
            <a:pPr marL="0" indent="0"/>
            <a:r>
              <a:rPr lang="tr-TR" sz="1200" b="0">
                <a:solidFill>
                  <a:srgbClr val="30343B"/>
                </a:solidFill>
                <a:latin typeface="Calibri"/>
                <a:ea typeface="Calibri"/>
                <a:cs typeface="Calibri"/>
              </a:rPr>
              <a:t>https://scikit-learn.org/stable/modules/learning_curve.html</a:t>
            </a:r>
            <a:endParaRPr lang="tr-TR" sz="1200"/>
          </a:p>
          <a:p>
            <a:pPr marL="0" indent="0"/>
            <a:r>
              <a:rPr lang="tr-TR" sz="1200" b="0">
                <a:solidFill>
                  <a:srgbClr val="30343B"/>
                </a:solidFill>
                <a:latin typeface="Calibri"/>
                <a:ea typeface="Calibri"/>
                <a:cs typeface="Calibri"/>
              </a:rPr>
              <a:t>https://scikit-learn.org/stable/modules/tree.html</a:t>
            </a:r>
            <a:endParaRPr lang="tr-TR" sz="1200"/>
          </a:p>
        </p:txBody>
      </p:sp>
      <p:sp>
        <p:nvSpPr>
          <p:cNvPr id="4" name="Slayt Numarası Yer Tutucusu 3"/>
          <p:cNvSpPr>
            <a:spLocks noGrp="1"/>
          </p:cNvSpPr>
          <p:nvPr>
            <p:ph type="sldNum" sz="quarter" idx="5"/>
          </p:nvPr>
        </p:nvSpPr>
        <p:spPr/>
        <p:txBody>
          <a:bodyPr/>
          <a:lstStyle/>
          <a:p>
            <a:fld id="{466C5A62-01C5-4300-AB3E-A410291738DD}" type="slidenum">
              <a:rPr lang="tr-TR" smtClean="0"/>
              <a:t>11</a:t>
            </a:fld>
            <a:endParaRPr lang="tr-TR"/>
          </a:p>
        </p:txBody>
      </p:sp>
    </p:spTree>
    <p:extLst>
      <p:ext uri="{BB962C8B-B14F-4D97-AF65-F5344CB8AC3E}">
        <p14:creationId xmlns:p14="http://schemas.microsoft.com/office/powerpoint/2010/main" val="22114987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r>
              <a:rPr lang="tr-TR" sz="1200" b="0">
                <a:solidFill>
                  <a:srgbClr val="30343B"/>
                </a:solidFill>
                <a:latin typeface="Calibri"/>
                <a:ea typeface="Calibri"/>
                <a:cs typeface="Calibri"/>
              </a:rPr>
              <a:t>MAE fiyatla aynı birimdedir. MSE kareli birimde, RMSE fiyat birimindedir. R² mutlak yüzde doğruluk değildir ve negatif olabilir. Accuracy sınıflar dengesizse yanıltıcıdır; precision/recall/F1 ve karışıklık matrisi değerlendirilir. Tek kayıt ortalama metrik göstermek için kullanılmaz; burada yalnızca tek kayıt hatası hesaplanır.</a:t>
            </a:r>
            <a:endParaRPr lang="tr-TR" sz="1200"/>
          </a:p>
          <a:p>
            <a:pPr marL="0" indent="0"/>
            <a:endParaRPr lang="tr-TR" sz="1200"/>
          </a:p>
          <a:p>
            <a:pPr marL="0" indent="0"/>
            <a:r>
              <a:rPr lang="tr-TR" sz="1200" b="0">
                <a:solidFill>
                  <a:srgbClr val="30343B"/>
                </a:solidFill>
                <a:latin typeface="Calibri"/>
                <a:ea typeface="Calibri"/>
                <a:cs typeface="Calibri"/>
              </a:rPr>
              <a:t>Kaynaklar:</a:t>
            </a:r>
            <a:endParaRPr lang="tr-TR" sz="1200"/>
          </a:p>
          <a:p>
            <a:pPr marL="0" indent="0"/>
            <a:r>
              <a:rPr lang="tr-TR" sz="1200" b="0">
                <a:solidFill>
                  <a:srgbClr val="30343B"/>
                </a:solidFill>
                <a:latin typeface="Calibri"/>
                <a:ea typeface="Calibri"/>
                <a:cs typeface="Calibri"/>
              </a:rPr>
              <a:t>https://scikit-learn.org/stable/modules/generated/sklearn.metrics.r2_score.html</a:t>
            </a:r>
            <a:endParaRPr lang="tr-TR" sz="1200"/>
          </a:p>
        </p:txBody>
      </p:sp>
      <p:sp>
        <p:nvSpPr>
          <p:cNvPr id="4" name="Slayt Numarası Yer Tutucusu 3"/>
          <p:cNvSpPr>
            <a:spLocks noGrp="1"/>
          </p:cNvSpPr>
          <p:nvPr>
            <p:ph type="sldNum" sz="quarter" idx="5"/>
          </p:nvPr>
        </p:nvSpPr>
        <p:spPr/>
        <p:txBody>
          <a:bodyPr/>
          <a:lstStyle/>
          <a:p>
            <a:fld id="{466C5A62-01C5-4300-AB3E-A410291738DD}" type="slidenum">
              <a:rPr lang="tr-TR" smtClean="0"/>
              <a:t>12</a:t>
            </a:fld>
            <a:endParaRPr lang="tr-TR"/>
          </a:p>
        </p:txBody>
      </p:sp>
    </p:spTree>
    <p:extLst>
      <p:ext uri="{BB962C8B-B14F-4D97-AF65-F5344CB8AC3E}">
        <p14:creationId xmlns:p14="http://schemas.microsoft.com/office/powerpoint/2010/main" val="22114987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wrap="square">
            <a:noAutofit/>
          </a:bodyPr>
          <a:lstStyle/>
          <a:p>
            <a:pPr marL="0" indent="0"/>
            <a:r>
              <a:rPr lang="tr-TR" sz="1200" b="0">
                <a:solidFill>
                  <a:srgbClr val="30343B"/>
                </a:solidFill>
                <a:latin typeface="Calibri"/>
                <a:ea typeface="Calibri"/>
                <a:cs typeface="Calibri"/>
              </a:rPr>
              <a:t>Uygulama bir sonraki değerlendirme bölümüne bağlanır. Eğitim/etiket örneği olarak küçük ev tablosu korunur; beş gözlemle model performansının güvenilir olduğu iddia edilmez. Gerçek ya da açıkça sentetik daha büyük veri üzerinde aynı bölünme ve metriklerle iki model kıyaslanabilir. Fiyatı eksik Ev2 için sonradan tahmin üretilir.</a:t>
            </a:r>
            <a:endParaRPr lang="tr-TR" sz="1200"/>
          </a:p>
        </p:txBody>
      </p:sp>
      <p:sp>
        <p:nvSpPr>
          <p:cNvPr id="4" name="Slayt Numarası Yer Tutucusu 3"/>
          <p:cNvSpPr>
            <a:spLocks noGrp="1"/>
          </p:cNvSpPr>
          <p:nvPr>
            <p:ph type="sldNum" sz="quarter" idx="5"/>
          </p:nvPr>
        </p:nvSpPr>
        <p:spPr/>
        <p:txBody>
          <a:bodyPr/>
          <a:lstStyle/>
          <a:p>
            <a:fld id="{466C5A62-01C5-4300-AB3E-A410291738DD}" type="slidenum">
              <a:rPr lang="tr-TR" smtClean="0"/>
              <a:t>13</a:t>
            </a:fld>
            <a:endParaRPr lang="tr-TR"/>
          </a:p>
        </p:txBody>
      </p:sp>
    </p:spTree>
    <p:extLst>
      <p:ext uri="{BB962C8B-B14F-4D97-AF65-F5344CB8AC3E}">
        <p14:creationId xmlns:p14="http://schemas.microsoft.com/office/powerpoint/2010/main" val="2211498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89679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97318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52152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47750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971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34853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33725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78347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06811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48412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31146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10/4/2026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5038441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Freeform 2"/>
          <p:cNvSpPr/>
          <p:nvPr/>
        </p:nvSpPr>
        <p:spPr>
          <a:xfrm>
            <a:off x="101600" y="69200"/>
            <a:ext cx="1524000" cy="1528266"/>
          </a:xfrm>
          <a:custGeom>
            <a:avLst/>
            <a:gdLst/>
            <a:ahLst/>
            <a:cxnLst/>
            <a:rect l="l" t="t" r="r" b="b"/>
            <a:pathLst>
              <a:path w="2286000" h="2292399">
                <a:moveTo>
                  <a:pt x="0" y="0"/>
                </a:moveTo>
                <a:lnTo>
                  <a:pt x="2286000" y="0"/>
                </a:lnTo>
                <a:lnTo>
                  <a:pt x="2286000" y="2292399"/>
                </a:lnTo>
                <a:lnTo>
                  <a:pt x="0" y="2292399"/>
                </a:lnTo>
                <a:lnTo>
                  <a:pt x="0" y="0"/>
                </a:lnTo>
                <a:close/>
              </a:path>
            </a:pathLst>
          </a:custGeom>
          <a:blipFill>
            <a:blip r:embed="rId2"/>
            <a:stretch>
              <a:fillRect l="-55612" t="-13573" r="-58047" b="-12600"/>
            </a:stretch>
          </a:blipFill>
        </p:spPr>
      </p:sp>
      <p:sp>
        <p:nvSpPr>
          <p:cNvPr id="3" name="Freeform 3"/>
          <p:cNvSpPr/>
          <p:nvPr/>
        </p:nvSpPr>
        <p:spPr>
          <a:xfrm>
            <a:off x="1778000" y="279400"/>
            <a:ext cx="3302000" cy="1117600"/>
          </a:xfrm>
          <a:custGeom>
            <a:avLst/>
            <a:gdLst/>
            <a:ahLst/>
            <a:cxnLst/>
            <a:rect l="l" t="t" r="r" b="b"/>
            <a:pathLst>
              <a:path w="4591364" h="1527731">
                <a:moveTo>
                  <a:pt x="0" y="0"/>
                </a:moveTo>
                <a:lnTo>
                  <a:pt x="4591363" y="0"/>
                </a:lnTo>
                <a:lnTo>
                  <a:pt x="4591363" y="1527732"/>
                </a:lnTo>
                <a:lnTo>
                  <a:pt x="0" y="1527732"/>
                </a:lnTo>
                <a:lnTo>
                  <a:pt x="0" y="0"/>
                </a:lnTo>
                <a:close/>
              </a:path>
            </a:pathLst>
          </a:custGeom>
          <a:blipFill>
            <a:blip r:embed="rId3"/>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tr-TR"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4" name="Title Text"/>
          <p:cNvSpPr txBox="1"/>
          <p:nvPr/>
        </p:nvSpPr>
        <p:spPr>
          <a:xfrm>
            <a:off x="463492" y="2151841"/>
            <a:ext cx="5931015" cy="871725"/>
          </a:xfrm>
          <a:prstGeom prst="rect">
            <a:avLst/>
          </a:prstGeom>
        </p:spPr>
        <p:txBody>
          <a:bodyPr lIns="0" tIns="0" rIns="0" bIns="0" anchor="t">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tr-TR" sz="5334" b="1" i="0" u="none" strike="noStrike" kern="1200" cap="none" spc="0" normalizeH="0" baseline="0" noProof="0" dirty="0">
                <a:ln>
                  <a:noFill/>
                </a:ln>
                <a:solidFill>
                  <a:srgbClr val="1E2A4E"/>
                </a:solidFill>
                <a:effectLst/>
                <a:uLnTx/>
                <a:uFillTx/>
                <a:latin typeface="Cambria"/>
                <a:ea typeface="Cambria"/>
                <a:cs typeface="Cambria"/>
              </a:rPr>
              <a:t>Makine</a:t>
            </a:r>
          </a:p>
          <a:p>
            <a:pPr marL="0" marR="0" lvl="0" indent="0" algn="l" defTabSz="609630" rtl="0" eaLnBrk="1" fontAlgn="auto" latinLnBrk="0" hangingPunct="1">
              <a:lnSpc>
                <a:spcPct val="100000"/>
              </a:lnSpc>
              <a:spcBef>
                <a:spcPts val="0"/>
              </a:spcBef>
              <a:spcAft>
                <a:spcPts val="0"/>
              </a:spcAft>
              <a:buClrTx/>
              <a:buSzTx/>
              <a:buFontTx/>
              <a:buNone/>
              <a:tabLst/>
              <a:defRPr/>
            </a:pPr>
            <a:r>
              <a:rPr kumimoji="0" lang="tr-TR" sz="5334" b="1" i="0" u="none" strike="noStrike" kern="1200" cap="none" spc="0" normalizeH="0" baseline="0" noProof="0" dirty="0">
                <a:ln>
                  <a:noFill/>
                </a:ln>
                <a:solidFill>
                  <a:srgbClr val="CCA81D"/>
                </a:solidFill>
                <a:effectLst/>
                <a:uLnTx/>
                <a:uFillTx/>
                <a:latin typeface="Cambria"/>
                <a:ea typeface="Cambria"/>
                <a:cs typeface="Cambria"/>
              </a:rPr>
              <a:t>Öğrenmesi</a:t>
            </a:r>
          </a:p>
        </p:txBody>
      </p:sp>
      <p:sp>
        <p:nvSpPr>
          <p:cNvPr id="12" name="Tag Text"/>
          <p:cNvSpPr txBox="1"/>
          <p:nvPr/>
        </p:nvSpPr>
        <p:spPr>
          <a:xfrm>
            <a:off x="4096000" y="6127828"/>
            <a:ext cx="4000000" cy="300000"/>
          </a:xfrm>
          <a:prstGeom prst="rect">
            <a:avLst/>
          </a:prstGeom>
        </p:spPr>
        <p:txBody>
          <a:bodyPr lIns="0" tIns="0" rIns="0" bIns="0" anchor="t">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r>
              <a:rPr kumimoji="0" lang="tr-TR" sz="2933" b="1" i="0" u="none" strike="noStrike" kern="1200" cap="none" spc="0" normalizeH="0" baseline="0" noProof="0" dirty="0">
                <a:ln>
                  <a:noFill/>
                </a:ln>
                <a:solidFill>
                  <a:srgbClr val="1E2A4E"/>
                </a:solidFill>
                <a:effectLst/>
                <a:uLnTx/>
                <a:uFillTx/>
                <a:latin typeface="Calibri"/>
                <a:ea typeface="Calibri"/>
                <a:cs typeface="Calibri"/>
              </a:rPr>
              <a:t>DATA KAMP</a:t>
            </a:r>
            <a:r>
              <a:rPr kumimoji="0" lang="tr-TR" sz="2933" b="0" i="0" u="none" strike="noStrike" kern="1200" cap="none" spc="0" normalizeH="0" baseline="0" noProof="0" dirty="0">
                <a:ln>
                  <a:noFill/>
                </a:ln>
                <a:solidFill>
                  <a:srgbClr val="8A8A8A"/>
                </a:solidFill>
                <a:effectLst/>
                <a:uLnTx/>
                <a:uFillTx/>
                <a:latin typeface="Calibri"/>
                <a:ea typeface="Calibri"/>
                <a:cs typeface="Calibri"/>
              </a:rPr>
              <a:t>  |  </a:t>
            </a:r>
            <a:r>
              <a:rPr kumimoji="0" lang="tr-TR" sz="2933" b="1" i="0" u="none" strike="noStrike" kern="1200" cap="none" spc="0" normalizeH="0" baseline="0" noProof="0" dirty="0">
                <a:ln>
                  <a:noFill/>
                </a:ln>
                <a:solidFill>
                  <a:srgbClr val="CCA81D"/>
                </a:solidFill>
                <a:effectLst/>
                <a:uLnTx/>
                <a:uFillTx/>
                <a:latin typeface="Calibri"/>
                <a:ea typeface="Calibri"/>
                <a:cs typeface="Calibri"/>
              </a:rPr>
              <a:t>3. HAFTA</a:t>
            </a:r>
          </a:p>
        </p:txBody>
      </p:sp>
      <p:sp>
        <p:nvSpPr>
          <p:cNvPr id="5" name="Freeform 5"/>
          <p:cNvSpPr/>
          <p:nvPr/>
        </p:nvSpPr>
        <p:spPr>
          <a:xfrm>
            <a:off x="10718388" y="2126955"/>
            <a:ext cx="1488000" cy="2743200"/>
          </a:xfrm>
          <a:custGeom>
            <a:avLst/>
            <a:gdLst/>
            <a:ahLst/>
            <a:cxnLst/>
            <a:rect l="l" t="t" r="r" b="b"/>
            <a:pathLst>
              <a:path w="2363436" h="4114800">
                <a:moveTo>
                  <a:pt x="0" y="0"/>
                </a:moveTo>
                <a:lnTo>
                  <a:pt x="2363436" y="0"/>
                </a:lnTo>
                <a:lnTo>
                  <a:pt x="2363436"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1336" r="-84880"/>
            </a:stretch>
          </a:blipFill>
        </p:spPr>
      </p:sp>
      <p:sp>
        <p:nvSpPr>
          <p:cNvPr id="6" name="Freeform 6"/>
          <p:cNvSpPr/>
          <p:nvPr/>
        </p:nvSpPr>
        <p:spPr>
          <a:xfrm>
            <a:off x="9514593" y="0"/>
            <a:ext cx="2688000" cy="2743200"/>
          </a:xfrm>
          <a:custGeom>
            <a:avLst/>
            <a:gdLst/>
            <a:ahLst/>
            <a:cxnLst/>
            <a:rect l="l" t="t" r="r" b="b"/>
            <a:pathLst>
              <a:path w="4156364" h="4114800">
                <a:moveTo>
                  <a:pt x="0" y="0"/>
                </a:moveTo>
                <a:lnTo>
                  <a:pt x="4156364" y="0"/>
                </a:lnTo>
                <a:lnTo>
                  <a:pt x="415636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2" r="-3403"/>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tr-TR"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Freeform 7"/>
          <p:cNvSpPr/>
          <p:nvPr/>
        </p:nvSpPr>
        <p:spPr>
          <a:xfrm>
            <a:off x="9532349" y="4239652"/>
            <a:ext cx="2640000" cy="2618348"/>
          </a:xfrm>
          <a:custGeom>
            <a:avLst/>
            <a:gdLst/>
            <a:ahLst/>
            <a:cxnLst/>
            <a:rect l="l" t="t" r="r" b="b"/>
            <a:pathLst>
              <a:path w="4039159" h="3941030">
                <a:moveTo>
                  <a:pt x="0" y="0"/>
                </a:moveTo>
                <a:lnTo>
                  <a:pt x="4039159" y="0"/>
                </a:lnTo>
                <a:lnTo>
                  <a:pt x="4039159" y="3941029"/>
                </a:lnTo>
                <a:lnTo>
                  <a:pt x="0" y="3941029"/>
                </a:lnTo>
                <a:lnTo>
                  <a:pt x="0" y="0"/>
                </a:lnTo>
                <a:close/>
              </a:path>
            </a:pathLst>
          </a:custGeom>
          <a:blipFill>
            <a:blip r:embed="rId4">
              <a:extLst>
                <a:ext uri="{96DAC541-7B7A-43D3-8B79-37D633B846F1}">
                  <asvg:svgBlip xmlns:asvg="http://schemas.microsoft.com/office/drawing/2016/SVG/main" r:embed="rId5"/>
                </a:ext>
              </a:extLst>
            </a:blip>
            <a:stretch>
              <a:fillRect l="-365" r="-4593" b="-4409"/>
            </a:stretch>
          </a:blipFill>
        </p:spPr>
      </p:sp>
      <p:sp>
        <p:nvSpPr>
          <p:cNvPr id="13" name="Metin kutusu 12">
            <a:extLst>
              <a:ext uri="{FF2B5EF4-FFF2-40B4-BE49-F238E27FC236}">
                <a16:creationId xmlns:a16="http://schemas.microsoft.com/office/drawing/2014/main" id="{59DF290D-8A4D-4040-BE12-1C18EB48B69A}"/>
              </a:ext>
            </a:extLst>
          </p:cNvPr>
          <p:cNvSpPr txBox="1"/>
          <p:nvPr/>
        </p:nvSpPr>
        <p:spPr>
          <a:xfrm>
            <a:off x="463492" y="4052477"/>
            <a:ext cx="6106026"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tr-TR" sz="2800" b="1" i="0" u="none" strike="noStrike" kern="1200" cap="none" spc="0" normalizeH="0" baseline="0" noProof="0" dirty="0">
                <a:ln>
                  <a:noFill/>
                </a:ln>
                <a:solidFill>
                  <a:srgbClr val="1E2A4E"/>
                </a:solidFill>
                <a:effectLst/>
                <a:uLnTx/>
                <a:uFillTx/>
                <a:latin typeface="Calibri"/>
                <a:ea typeface="Calibri"/>
                <a:cs typeface="Calibri"/>
              </a:rPr>
              <a:t>Model Tasarımı</a:t>
            </a:r>
            <a:endParaRPr kumimoji="0" lang="tr-TR" sz="2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0" name="Text 0">
            <a:extLst>
              <a:ext uri="{FF2B5EF4-FFF2-40B4-BE49-F238E27FC236}">
                <a16:creationId xmlns:a16="http://schemas.microsoft.com/office/drawing/2014/main" id="{706CBF7D-0144-4165-8A4E-BDF318D45D4E}"/>
              </a:ext>
            </a:extLst>
          </p:cNvPr>
          <p:cNvSpPr/>
          <p:nvPr/>
        </p:nvSpPr>
        <p:spPr>
          <a:xfrm>
            <a:off x="457200" y="285750"/>
            <a:ext cx="11239500" cy="68580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tr-TR" sz="3200" b="1" i="0" u="none" strike="noStrike" kern="1200" cap="none" spc="0" normalizeH="0" baseline="0" noProof="0" dirty="0">
                <a:ln>
                  <a:noFill/>
                </a:ln>
                <a:solidFill>
                  <a:srgbClr val="1E2A4E"/>
                </a:solidFill>
                <a:effectLst/>
                <a:uLnTx/>
                <a:uFillTx/>
                <a:latin typeface="Calibri"/>
                <a:ea typeface="Calibri"/>
                <a:cs typeface="Calibri"/>
              </a:rPr>
              <a:t>Veriden tahmine giden yol</a:t>
            </a:r>
            <a:endParaRPr lang="tr-TR" sz="3200"/>
          </a:p>
        </p:txBody>
      </p:sp>
      <p:grpSp>
        <p:nvGrpSpPr>
          <p:cNvPr id="2" name="Grup 1">
            <a:extLst>
              <a:ext uri="{FF2B5EF4-FFF2-40B4-BE49-F238E27FC236}">
                <a16:creationId xmlns:a16="http://schemas.microsoft.com/office/drawing/2014/main" id="{4C849559-FA66-4554-A1F4-E27E704DA20A}"/>
              </a:ext>
            </a:extLst>
          </p:cNvPr>
          <p:cNvGrpSpPr/>
          <p:nvPr/>
        </p:nvGrpSpPr>
        <p:grpSpPr>
          <a:xfrm>
            <a:off x="546265" y="2262303"/>
            <a:ext cx="11287496" cy="3354725"/>
            <a:chOff x="475446" y="1638849"/>
            <a:chExt cx="10749917" cy="2881526"/>
          </a:xfrm>
        </p:grpSpPr>
        <p:sp>
          <p:nvSpPr>
            <p:cNvPr id="4" name="Title Text"/>
            <p:cNvSpPr txBox="1"/>
            <p:nvPr/>
          </p:nvSpPr>
          <p:spPr>
            <a:xfrm>
              <a:off x="475446" y="2112819"/>
              <a:ext cx="5086724" cy="750107"/>
            </a:xfrm>
            <a:prstGeom prst="rect">
              <a:avLst/>
            </a:prstGeom>
          </p:spPr>
          <p:txBody>
            <a:bodyPr lIns="0" tIns="0" rIns="0" bIns="0" anchor="t">
              <a:noAutofit/>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tr-TR" sz="2000" b="1" i="0" u="none" strike="noStrike" kern="1200" cap="none" spc="0" normalizeH="0" baseline="0" noProof="0" dirty="0">
                <a:ln>
                  <a:noFill/>
                </a:ln>
                <a:solidFill>
                  <a:srgbClr val="CCA81D"/>
                </a:solidFill>
                <a:effectLst/>
                <a:uLnTx/>
                <a:uFillTx/>
                <a:ea typeface="Cambria"/>
                <a:cs typeface="Cambria"/>
              </a:endParaRPr>
            </a:p>
          </p:txBody>
        </p:sp>
        <p:sp>
          <p:nvSpPr>
            <p:cNvPr id="13" name="Text 2">
              <a:extLst>
                <a:ext uri="{FF2B5EF4-FFF2-40B4-BE49-F238E27FC236}">
                  <a16:creationId xmlns:a16="http://schemas.microsoft.com/office/drawing/2014/main" id="{4EEC7796-AE44-41C6-9272-B0E1D276F7B8}"/>
                </a:ext>
              </a:extLst>
            </p:cNvPr>
            <p:cNvSpPr/>
            <p:nvPr/>
          </p:nvSpPr>
          <p:spPr>
            <a:xfrm>
              <a:off x="534822" y="1638849"/>
              <a:ext cx="328951" cy="226828"/>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C3939"/>
                  </a:solidFill>
                  <a:effectLst/>
                  <a:uLnTx/>
                  <a:uFillTx/>
                  <a:ea typeface="Calibri" pitchFamily="34" charset="-122"/>
                  <a:cs typeface="Calibri" pitchFamily="34" charset="-120"/>
                </a:rPr>
                <a:t>01</a:t>
              </a:r>
              <a:endParaRPr kumimoji="0" lang="en-US" sz="2000" b="0" i="0" u="none" strike="noStrike" kern="1200" cap="none" spc="0" normalizeH="0" baseline="0" noProof="0" dirty="0">
                <a:ln>
                  <a:noFill/>
                </a:ln>
                <a:solidFill>
                  <a:prstClr val="black"/>
                </a:solidFill>
                <a:effectLst/>
                <a:uLnTx/>
                <a:uFillTx/>
                <a:ea typeface="Calibri"/>
                <a:cs typeface="Calibri"/>
              </a:endParaRPr>
            </a:p>
          </p:txBody>
        </p:sp>
        <p:sp>
          <p:nvSpPr>
            <p:cNvPr id="14" name="Shape 3">
              <a:extLst>
                <a:ext uri="{FF2B5EF4-FFF2-40B4-BE49-F238E27FC236}">
                  <a16:creationId xmlns:a16="http://schemas.microsoft.com/office/drawing/2014/main" id="{E61BD8BE-EA12-4498-A588-8FD5D7FBB21D}"/>
                </a:ext>
              </a:extLst>
            </p:cNvPr>
            <p:cNvSpPr/>
            <p:nvPr/>
          </p:nvSpPr>
          <p:spPr>
            <a:xfrm>
              <a:off x="534822" y="1968466"/>
              <a:ext cx="3095123" cy="45719"/>
            </a:xfrm>
            <a:prstGeom prst="rect">
              <a:avLst/>
            </a:prstGeom>
            <a:solidFill>
              <a:srgbClr val="1B1B27"/>
            </a:solidFill>
            <a:ln/>
          </p:spPr>
        </p:sp>
        <p:sp>
          <p:nvSpPr>
            <p:cNvPr id="15" name="Text 4">
              <a:extLst>
                <a:ext uri="{FF2B5EF4-FFF2-40B4-BE49-F238E27FC236}">
                  <a16:creationId xmlns:a16="http://schemas.microsoft.com/office/drawing/2014/main" id="{C069C09D-90EC-41D0-840B-259EFEA1C280}"/>
                </a:ext>
              </a:extLst>
            </p:cNvPr>
            <p:cNvSpPr/>
            <p:nvPr/>
          </p:nvSpPr>
          <p:spPr>
            <a:xfrm>
              <a:off x="534822" y="2131420"/>
              <a:ext cx="3095123" cy="283535"/>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tr-TR" sz="2000" b="0" i="0" u="none" strike="noStrike" kern="1200" cap="none" spc="0" normalizeH="0" baseline="0" noProof="0" dirty="0">
                  <a:ln>
                    <a:noFill/>
                  </a:ln>
                  <a:solidFill>
                    <a:srgbClr val="30343B"/>
                  </a:solidFill>
                  <a:effectLst/>
                  <a:uLnTx/>
                  <a:uFillTx/>
                  <a:latin typeface="Calibri"/>
                  <a:ea typeface="Calibri"/>
                  <a:cs typeface="Calibri"/>
                </a:rPr>
                <a:t>Hedefi belirle</a:t>
              </a:r>
              <a:endParaRPr lang="tr-TR" sz="2000"/>
            </a:p>
          </p:txBody>
        </p:sp>
        <p:sp>
          <p:nvSpPr>
            <p:cNvPr id="16" name="Text 5">
              <a:extLst>
                <a:ext uri="{FF2B5EF4-FFF2-40B4-BE49-F238E27FC236}">
                  <a16:creationId xmlns:a16="http://schemas.microsoft.com/office/drawing/2014/main" id="{1C2076BC-F289-4FEE-ABDF-89D86ADB37C3}"/>
                </a:ext>
              </a:extLst>
            </p:cNvPr>
            <p:cNvSpPr/>
            <p:nvPr/>
          </p:nvSpPr>
          <p:spPr>
            <a:xfrm>
              <a:off x="534822" y="2456927"/>
              <a:ext cx="5581298" cy="711124"/>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32000"/>
                </a:lnSpc>
                <a:spcBef>
                  <a:spcPts val="0"/>
                </a:spcBef>
                <a:spcAft>
                  <a:spcPts val="0"/>
                </a:spcAft>
                <a:buClrTx/>
                <a:buSzTx/>
                <a:buFontTx/>
                <a:buNone/>
                <a:tabLst/>
                <a:defRPr/>
              </a:pPr>
              <a:r>
                <a:rPr kumimoji="0" lang="tr-TR" sz="2000" b="0" i="0" u="none" strike="noStrike" kern="1200" cap="none" spc="0" normalizeH="0" baseline="0" noProof="0" dirty="0">
                  <a:ln>
                    <a:noFill/>
                  </a:ln>
                  <a:solidFill>
                    <a:srgbClr val="30343B"/>
                  </a:solidFill>
                  <a:effectLst/>
                  <a:uLnTx/>
                  <a:uFillTx/>
                  <a:latin typeface="Calibri"/>
                  <a:ea typeface="Calibri"/>
                  <a:cs typeface="Calibri"/>
                </a:rPr>
                <a:t>Ev fiyatı: sayısal hedef</a:t>
              </a:r>
              <a:endParaRPr lang="tr-TR" sz="2000"/>
            </a:p>
          </p:txBody>
        </p:sp>
        <p:sp>
          <p:nvSpPr>
            <p:cNvPr id="17" name="Text 6">
              <a:extLst>
                <a:ext uri="{FF2B5EF4-FFF2-40B4-BE49-F238E27FC236}">
                  <a16:creationId xmlns:a16="http://schemas.microsoft.com/office/drawing/2014/main" id="{6D06824E-3F78-4B94-A46E-C2CC98428D67}"/>
                </a:ext>
              </a:extLst>
            </p:cNvPr>
            <p:cNvSpPr/>
            <p:nvPr/>
          </p:nvSpPr>
          <p:spPr>
            <a:xfrm>
              <a:off x="4332480" y="1638849"/>
              <a:ext cx="328951" cy="226828"/>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C3939"/>
                  </a:solidFill>
                  <a:effectLst/>
                  <a:uLnTx/>
                  <a:uFillTx/>
                  <a:ea typeface="Calibri" pitchFamily="34" charset="-122"/>
                  <a:cs typeface="Calibri" pitchFamily="34" charset="-120"/>
                </a:rPr>
                <a:t>02</a:t>
              </a:r>
              <a:endParaRPr kumimoji="0" lang="en-US" sz="2000" b="0" i="0" u="none" strike="noStrike" kern="1200" cap="none" spc="0" normalizeH="0" baseline="0" noProof="0" dirty="0">
                <a:ln>
                  <a:noFill/>
                </a:ln>
                <a:solidFill>
                  <a:prstClr val="black"/>
                </a:solidFill>
                <a:effectLst/>
                <a:uLnTx/>
                <a:uFillTx/>
                <a:ea typeface="Calibri"/>
                <a:cs typeface="Calibri"/>
              </a:endParaRPr>
            </a:p>
          </p:txBody>
        </p:sp>
        <p:sp>
          <p:nvSpPr>
            <p:cNvPr id="18" name="Shape 7">
              <a:extLst>
                <a:ext uri="{FF2B5EF4-FFF2-40B4-BE49-F238E27FC236}">
                  <a16:creationId xmlns:a16="http://schemas.microsoft.com/office/drawing/2014/main" id="{5924406B-AAD7-4E78-985F-006178A9C322}"/>
                </a:ext>
              </a:extLst>
            </p:cNvPr>
            <p:cNvSpPr/>
            <p:nvPr/>
          </p:nvSpPr>
          <p:spPr>
            <a:xfrm>
              <a:off x="4332481" y="1968466"/>
              <a:ext cx="3095210" cy="45719"/>
            </a:xfrm>
            <a:prstGeom prst="rect">
              <a:avLst/>
            </a:prstGeom>
            <a:solidFill>
              <a:srgbClr val="1B1B27"/>
            </a:solidFill>
            <a:ln/>
          </p:spPr>
        </p:sp>
        <p:sp>
          <p:nvSpPr>
            <p:cNvPr id="19" name="Text 8">
              <a:extLst>
                <a:ext uri="{FF2B5EF4-FFF2-40B4-BE49-F238E27FC236}">
                  <a16:creationId xmlns:a16="http://schemas.microsoft.com/office/drawing/2014/main" id="{97BB5A32-F34F-4030-9A8D-F341E22048E8}"/>
                </a:ext>
              </a:extLst>
            </p:cNvPr>
            <p:cNvSpPr/>
            <p:nvPr/>
          </p:nvSpPr>
          <p:spPr>
            <a:xfrm>
              <a:off x="4332481" y="2131420"/>
              <a:ext cx="3095210" cy="283535"/>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tr-TR" sz="2000" b="0" i="0" u="none" strike="noStrike" kern="1200" cap="none" spc="0" normalizeH="0" baseline="0" noProof="0" dirty="0">
                  <a:ln>
                    <a:noFill/>
                  </a:ln>
                  <a:solidFill>
                    <a:srgbClr val="30343B"/>
                  </a:solidFill>
                  <a:effectLst/>
                  <a:uLnTx/>
                  <a:uFillTx/>
                  <a:latin typeface="Calibri"/>
                  <a:ea typeface="Calibri"/>
                  <a:cs typeface="Calibri"/>
                </a:rPr>
                <a:t>Veriyi ayır</a:t>
              </a:r>
              <a:endParaRPr lang="tr-TR" sz="2000"/>
            </a:p>
          </p:txBody>
        </p:sp>
        <p:sp>
          <p:nvSpPr>
            <p:cNvPr id="20" name="Text 9">
              <a:extLst>
                <a:ext uri="{FF2B5EF4-FFF2-40B4-BE49-F238E27FC236}">
                  <a16:creationId xmlns:a16="http://schemas.microsoft.com/office/drawing/2014/main" id="{6A582D15-1071-4CEE-A658-9F6B82A39295}"/>
                </a:ext>
              </a:extLst>
            </p:cNvPr>
            <p:cNvSpPr/>
            <p:nvPr/>
          </p:nvSpPr>
          <p:spPr>
            <a:xfrm>
              <a:off x="4291541" y="2486406"/>
              <a:ext cx="3095210" cy="287987"/>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32000"/>
                </a:lnSpc>
                <a:spcBef>
                  <a:spcPts val="0"/>
                </a:spcBef>
                <a:spcAft>
                  <a:spcPts val="0"/>
                </a:spcAft>
                <a:buClrTx/>
                <a:buSzTx/>
                <a:buFontTx/>
                <a:buNone/>
                <a:tabLst/>
                <a:defRPr/>
              </a:pPr>
              <a:r>
                <a:rPr kumimoji="0" lang="tr-TR" sz="2000" b="0" i="0" u="none" strike="noStrike" kern="1200" cap="none" spc="0" normalizeH="0" baseline="0" noProof="0" dirty="0">
                  <a:ln>
                    <a:noFill/>
                  </a:ln>
                  <a:solidFill>
                    <a:srgbClr val="30343B"/>
                  </a:solidFill>
                  <a:effectLst/>
                  <a:uLnTx/>
                  <a:uFillTx/>
                  <a:latin typeface="Calibri"/>
                  <a:ea typeface="Calibri"/>
                  <a:cs typeface="Calibri"/>
                </a:rPr>
                <a:t>Eğitim, doğrulama, test</a:t>
              </a:r>
              <a:endParaRPr lang="tr-TR" sz="2000"/>
            </a:p>
          </p:txBody>
        </p:sp>
        <p:sp>
          <p:nvSpPr>
            <p:cNvPr id="21" name="Text 10">
              <a:extLst>
                <a:ext uri="{FF2B5EF4-FFF2-40B4-BE49-F238E27FC236}">
                  <a16:creationId xmlns:a16="http://schemas.microsoft.com/office/drawing/2014/main" id="{54B061B2-FE8F-4D4A-A0A0-745E2F39D418}"/>
                </a:ext>
              </a:extLst>
            </p:cNvPr>
            <p:cNvSpPr/>
            <p:nvPr/>
          </p:nvSpPr>
          <p:spPr>
            <a:xfrm>
              <a:off x="8130240" y="1638849"/>
              <a:ext cx="328951" cy="226828"/>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C3939"/>
                  </a:solidFill>
                  <a:effectLst/>
                  <a:uLnTx/>
                  <a:uFillTx/>
                  <a:ea typeface="Calibri" pitchFamily="34" charset="-122"/>
                  <a:cs typeface="Calibri" pitchFamily="34" charset="-120"/>
                </a:rPr>
                <a:t>03</a:t>
              </a:r>
              <a:endParaRPr kumimoji="0" lang="en-US" sz="2000" b="0" i="0" u="none" strike="noStrike" kern="1200" cap="none" spc="0" normalizeH="0" baseline="0" noProof="0" dirty="0">
                <a:ln>
                  <a:noFill/>
                </a:ln>
                <a:solidFill>
                  <a:prstClr val="black"/>
                </a:solidFill>
                <a:effectLst/>
                <a:uLnTx/>
                <a:uFillTx/>
                <a:ea typeface="Calibri"/>
                <a:cs typeface="Calibri"/>
              </a:endParaRPr>
            </a:p>
          </p:txBody>
        </p:sp>
        <p:sp>
          <p:nvSpPr>
            <p:cNvPr id="22" name="Shape 11">
              <a:extLst>
                <a:ext uri="{FF2B5EF4-FFF2-40B4-BE49-F238E27FC236}">
                  <a16:creationId xmlns:a16="http://schemas.microsoft.com/office/drawing/2014/main" id="{C1E24A0C-F14B-4E35-B054-B60A7D72BF06}"/>
                </a:ext>
              </a:extLst>
            </p:cNvPr>
            <p:cNvSpPr/>
            <p:nvPr/>
          </p:nvSpPr>
          <p:spPr>
            <a:xfrm>
              <a:off x="8130240" y="1968466"/>
              <a:ext cx="3095123" cy="45719"/>
            </a:xfrm>
            <a:prstGeom prst="rect">
              <a:avLst/>
            </a:prstGeom>
            <a:solidFill>
              <a:srgbClr val="1B1B27"/>
            </a:solidFill>
            <a:ln/>
          </p:spPr>
        </p:sp>
        <p:sp>
          <p:nvSpPr>
            <p:cNvPr id="23" name="Text 12">
              <a:extLst>
                <a:ext uri="{FF2B5EF4-FFF2-40B4-BE49-F238E27FC236}">
                  <a16:creationId xmlns:a16="http://schemas.microsoft.com/office/drawing/2014/main" id="{E05189E3-65B9-47DA-821E-14DD2D7C432E}"/>
                </a:ext>
              </a:extLst>
            </p:cNvPr>
            <p:cNvSpPr/>
            <p:nvPr/>
          </p:nvSpPr>
          <p:spPr>
            <a:xfrm>
              <a:off x="8130240" y="2131420"/>
              <a:ext cx="3095123" cy="283535"/>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tr-TR" sz="2000" b="0" i="0" u="none" strike="noStrike" kern="1200" cap="none" spc="0" normalizeH="0" baseline="0" noProof="0" dirty="0">
                  <a:ln>
                    <a:noFill/>
                  </a:ln>
                  <a:solidFill>
                    <a:srgbClr val="30343B"/>
                  </a:solidFill>
                  <a:effectLst/>
                  <a:uLnTx/>
                  <a:uFillTx/>
                  <a:latin typeface="Calibri"/>
                  <a:ea typeface="Calibri"/>
                  <a:cs typeface="Calibri"/>
                </a:rPr>
                <a:t>Modeli eğit</a:t>
              </a:r>
              <a:endParaRPr lang="tr-TR" sz="2000"/>
            </a:p>
          </p:txBody>
        </p:sp>
        <p:sp>
          <p:nvSpPr>
            <p:cNvPr id="24" name="Text 13">
              <a:extLst>
                <a:ext uri="{FF2B5EF4-FFF2-40B4-BE49-F238E27FC236}">
                  <a16:creationId xmlns:a16="http://schemas.microsoft.com/office/drawing/2014/main" id="{039C5118-F4CF-495F-B991-E723C88AD5A8}"/>
                </a:ext>
              </a:extLst>
            </p:cNvPr>
            <p:cNvSpPr/>
            <p:nvPr/>
          </p:nvSpPr>
          <p:spPr>
            <a:xfrm>
              <a:off x="8048346" y="2478588"/>
              <a:ext cx="3095123" cy="287987"/>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32000"/>
                </a:lnSpc>
                <a:spcBef>
                  <a:spcPts val="0"/>
                </a:spcBef>
                <a:spcAft>
                  <a:spcPts val="0"/>
                </a:spcAft>
                <a:buClrTx/>
                <a:buSzTx/>
                <a:buFontTx/>
                <a:buNone/>
                <a:tabLst/>
                <a:defRPr/>
              </a:pPr>
              <a:r>
                <a:rPr kumimoji="0" lang="tr-TR" sz="2000" b="0" i="0" u="none" strike="noStrike" kern="1200" cap="none" spc="0" normalizeH="0" baseline="0" noProof="0" dirty="0">
                  <a:ln>
                    <a:noFill/>
                  </a:ln>
                  <a:solidFill>
                    <a:srgbClr val="30343B"/>
                  </a:solidFill>
                  <a:effectLst/>
                  <a:uLnTx/>
                  <a:uFillTx/>
                  <a:latin typeface="Calibri"/>
                  <a:ea typeface="Calibri"/>
                  <a:cs typeface="Calibri"/>
                </a:rPr>
                <a:t>Parametreleri veya kuralları öğren</a:t>
              </a:r>
              <a:endParaRPr lang="tr-TR" sz="2000"/>
            </a:p>
          </p:txBody>
        </p:sp>
        <p:sp>
          <p:nvSpPr>
            <p:cNvPr id="25" name="Text 14">
              <a:extLst>
                <a:ext uri="{FF2B5EF4-FFF2-40B4-BE49-F238E27FC236}">
                  <a16:creationId xmlns:a16="http://schemas.microsoft.com/office/drawing/2014/main" id="{10F8757E-46BE-446F-B7B3-5EA66854793B}"/>
                </a:ext>
              </a:extLst>
            </p:cNvPr>
            <p:cNvSpPr/>
            <p:nvPr/>
          </p:nvSpPr>
          <p:spPr>
            <a:xfrm>
              <a:off x="534822" y="3285818"/>
              <a:ext cx="328951" cy="226828"/>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C3939"/>
                  </a:solidFill>
                  <a:effectLst/>
                  <a:uLnTx/>
                  <a:uFillTx/>
                  <a:ea typeface="Calibri" pitchFamily="34" charset="-122"/>
                  <a:cs typeface="Calibri" pitchFamily="34" charset="-120"/>
                </a:rPr>
                <a:t>04</a:t>
              </a:r>
              <a:endParaRPr kumimoji="0" lang="en-US" sz="2000" b="0" i="0" u="none" strike="noStrike" kern="1200" cap="none" spc="0" normalizeH="0" baseline="0" noProof="0" dirty="0">
                <a:ln>
                  <a:noFill/>
                </a:ln>
                <a:solidFill>
                  <a:prstClr val="black"/>
                </a:solidFill>
                <a:effectLst/>
                <a:uLnTx/>
                <a:uFillTx/>
                <a:ea typeface="Calibri"/>
                <a:cs typeface="Calibri"/>
              </a:endParaRPr>
            </a:p>
          </p:txBody>
        </p:sp>
        <p:sp>
          <p:nvSpPr>
            <p:cNvPr id="26" name="Shape 15">
              <a:extLst>
                <a:ext uri="{FF2B5EF4-FFF2-40B4-BE49-F238E27FC236}">
                  <a16:creationId xmlns:a16="http://schemas.microsoft.com/office/drawing/2014/main" id="{E9AB0079-8CAB-4437-93B8-363DBC106187}"/>
                </a:ext>
              </a:extLst>
            </p:cNvPr>
            <p:cNvSpPr/>
            <p:nvPr/>
          </p:nvSpPr>
          <p:spPr>
            <a:xfrm>
              <a:off x="534822" y="3615434"/>
              <a:ext cx="4723650" cy="45719"/>
            </a:xfrm>
            <a:prstGeom prst="rect">
              <a:avLst/>
            </a:prstGeom>
            <a:solidFill>
              <a:srgbClr val="1B1B27"/>
            </a:solidFill>
            <a:ln/>
          </p:spPr>
        </p:sp>
        <p:sp>
          <p:nvSpPr>
            <p:cNvPr id="27" name="Text 16">
              <a:extLst>
                <a:ext uri="{FF2B5EF4-FFF2-40B4-BE49-F238E27FC236}">
                  <a16:creationId xmlns:a16="http://schemas.microsoft.com/office/drawing/2014/main" id="{E5F38415-0168-40FC-B77F-A23D24740A18}"/>
                </a:ext>
              </a:extLst>
            </p:cNvPr>
            <p:cNvSpPr/>
            <p:nvPr/>
          </p:nvSpPr>
          <p:spPr>
            <a:xfrm>
              <a:off x="534822" y="3778389"/>
              <a:ext cx="4723650" cy="283535"/>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tr-TR" sz="2000" b="0" i="0" u="none" strike="noStrike" kern="1200" cap="none" spc="0" normalizeH="0" baseline="0" noProof="0" dirty="0">
                  <a:ln>
                    <a:noFill/>
                  </a:ln>
                  <a:solidFill>
                    <a:srgbClr val="30343B"/>
                  </a:solidFill>
                  <a:effectLst/>
                  <a:uLnTx/>
                  <a:uFillTx/>
                  <a:latin typeface="Calibri"/>
                  <a:ea typeface="Calibri"/>
                  <a:cs typeface="Calibri"/>
                </a:rPr>
                <a:t>Modelleri karşılaştır</a:t>
              </a:r>
              <a:endParaRPr lang="tr-TR" sz="2000"/>
            </a:p>
          </p:txBody>
        </p:sp>
        <p:sp>
          <p:nvSpPr>
            <p:cNvPr id="28" name="Text 17">
              <a:extLst>
                <a:ext uri="{FF2B5EF4-FFF2-40B4-BE49-F238E27FC236}">
                  <a16:creationId xmlns:a16="http://schemas.microsoft.com/office/drawing/2014/main" id="{E62BF995-44A9-440D-959A-0A9469CC2299}"/>
                </a:ext>
              </a:extLst>
            </p:cNvPr>
            <p:cNvSpPr/>
            <p:nvPr/>
          </p:nvSpPr>
          <p:spPr>
            <a:xfrm>
              <a:off x="534822" y="4232388"/>
              <a:ext cx="4723650" cy="287987"/>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32000"/>
                </a:lnSpc>
                <a:spcBef>
                  <a:spcPts val="0"/>
                </a:spcBef>
                <a:spcAft>
                  <a:spcPts val="0"/>
                </a:spcAft>
                <a:buClrTx/>
                <a:buSzTx/>
                <a:buFontTx/>
                <a:buNone/>
                <a:tabLst/>
                <a:defRPr/>
              </a:pPr>
              <a:r>
                <a:rPr kumimoji="0" lang="tr-TR" sz="2000" b="0" i="0" u="none" strike="noStrike" kern="1200" cap="none" spc="0" normalizeH="0" baseline="0" noProof="0" dirty="0">
                  <a:ln>
                    <a:noFill/>
                  </a:ln>
                  <a:solidFill>
                    <a:srgbClr val="30343B"/>
                  </a:solidFill>
                  <a:effectLst/>
                  <a:uLnTx/>
                  <a:uFillTx/>
                  <a:latin typeface="Calibri"/>
                  <a:ea typeface="Calibri"/>
                  <a:cs typeface="Calibri"/>
                </a:rPr>
                <a:t>Doğrulamada uygun metrik</a:t>
              </a:r>
              <a:endParaRPr lang="tr-TR" sz="2000"/>
            </a:p>
          </p:txBody>
        </p:sp>
        <p:sp>
          <p:nvSpPr>
            <p:cNvPr id="29" name="Text 18">
              <a:extLst>
                <a:ext uri="{FF2B5EF4-FFF2-40B4-BE49-F238E27FC236}">
                  <a16:creationId xmlns:a16="http://schemas.microsoft.com/office/drawing/2014/main" id="{E28D6423-2C9F-4F35-B77E-516F54A1728A}"/>
                </a:ext>
              </a:extLst>
            </p:cNvPr>
            <p:cNvSpPr/>
            <p:nvPr/>
          </p:nvSpPr>
          <p:spPr>
            <a:xfrm>
              <a:off x="6231309" y="3285818"/>
              <a:ext cx="328951" cy="226828"/>
            </a:xfrm>
            <a:prstGeom prst="rect">
              <a:avLst/>
            </a:prstGeom>
            <a:noFill/>
            <a:ln/>
          </p:spPr>
          <p:txBody>
            <a:bodyPr wrap="non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C3939"/>
                  </a:solidFill>
                  <a:effectLst/>
                  <a:uLnTx/>
                  <a:uFillTx/>
                  <a:ea typeface="Calibri" pitchFamily="34" charset="-122"/>
                  <a:cs typeface="Calibri" pitchFamily="34" charset="-120"/>
                </a:rPr>
                <a:t>05</a:t>
              </a:r>
              <a:endParaRPr kumimoji="0" lang="en-US" sz="2000" b="0" i="0" u="none" strike="noStrike" kern="1200" cap="none" spc="0" normalizeH="0" baseline="0" noProof="0" dirty="0">
                <a:ln>
                  <a:noFill/>
                </a:ln>
                <a:solidFill>
                  <a:prstClr val="black"/>
                </a:solidFill>
                <a:effectLst/>
                <a:uLnTx/>
                <a:uFillTx/>
                <a:ea typeface="Calibri"/>
                <a:cs typeface="Calibri"/>
              </a:endParaRPr>
            </a:p>
          </p:txBody>
        </p:sp>
        <p:sp>
          <p:nvSpPr>
            <p:cNvPr id="30" name="Shape 19">
              <a:extLst>
                <a:ext uri="{FF2B5EF4-FFF2-40B4-BE49-F238E27FC236}">
                  <a16:creationId xmlns:a16="http://schemas.microsoft.com/office/drawing/2014/main" id="{A5846694-644C-4229-A0CF-12F802A6C6D8}"/>
                </a:ext>
              </a:extLst>
            </p:cNvPr>
            <p:cNvSpPr/>
            <p:nvPr/>
          </p:nvSpPr>
          <p:spPr>
            <a:xfrm>
              <a:off x="6231309" y="3615434"/>
              <a:ext cx="4723737" cy="45719"/>
            </a:xfrm>
            <a:prstGeom prst="rect">
              <a:avLst/>
            </a:prstGeom>
            <a:solidFill>
              <a:srgbClr val="1B1B27"/>
            </a:solidFill>
            <a:ln/>
          </p:spPr>
        </p:sp>
        <p:sp>
          <p:nvSpPr>
            <p:cNvPr id="31" name="Text 20">
              <a:extLst>
                <a:ext uri="{FF2B5EF4-FFF2-40B4-BE49-F238E27FC236}">
                  <a16:creationId xmlns:a16="http://schemas.microsoft.com/office/drawing/2014/main" id="{1DECC4B1-9BF0-44CD-8AC6-B0ADBD3A4965}"/>
                </a:ext>
              </a:extLst>
            </p:cNvPr>
            <p:cNvSpPr/>
            <p:nvPr/>
          </p:nvSpPr>
          <p:spPr>
            <a:xfrm>
              <a:off x="6231309" y="3778389"/>
              <a:ext cx="4723737" cy="283535"/>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tr-TR" sz="2000" b="0" i="0" u="none" strike="noStrike" kern="1200" cap="none" spc="0" normalizeH="0" baseline="0" noProof="0" dirty="0">
                  <a:ln>
                    <a:noFill/>
                  </a:ln>
                  <a:solidFill>
                    <a:srgbClr val="30343B"/>
                  </a:solidFill>
                  <a:effectLst/>
                  <a:uLnTx/>
                  <a:uFillTx/>
                  <a:latin typeface="Calibri"/>
                  <a:ea typeface="Calibri"/>
                  <a:cs typeface="Calibri"/>
                </a:rPr>
                <a:t>Test et ve yorumla</a:t>
              </a:r>
              <a:endParaRPr lang="tr-TR" sz="2000"/>
            </a:p>
          </p:txBody>
        </p:sp>
        <p:sp>
          <p:nvSpPr>
            <p:cNvPr id="32" name="Text 21">
              <a:extLst>
                <a:ext uri="{FF2B5EF4-FFF2-40B4-BE49-F238E27FC236}">
                  <a16:creationId xmlns:a16="http://schemas.microsoft.com/office/drawing/2014/main" id="{1A42812F-F587-46BF-BFF5-E196C68B320A}"/>
                </a:ext>
              </a:extLst>
            </p:cNvPr>
            <p:cNvSpPr/>
            <p:nvPr/>
          </p:nvSpPr>
          <p:spPr>
            <a:xfrm>
              <a:off x="6231309" y="4232388"/>
              <a:ext cx="4723737" cy="287987"/>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32000"/>
                </a:lnSpc>
                <a:spcBef>
                  <a:spcPts val="0"/>
                </a:spcBef>
                <a:spcAft>
                  <a:spcPts val="0"/>
                </a:spcAft>
                <a:buClrTx/>
                <a:buSzTx/>
                <a:buFontTx/>
                <a:buNone/>
                <a:tabLst/>
                <a:defRPr/>
              </a:pPr>
              <a:r>
                <a:rPr kumimoji="0" lang="tr-TR" sz="2000" b="0" i="0" u="none" strike="noStrike" kern="1200" cap="none" spc="0" normalizeH="0" baseline="0" noProof="0" dirty="0">
                  <a:ln>
                    <a:noFill/>
                  </a:ln>
                  <a:solidFill>
                    <a:srgbClr val="30343B"/>
                  </a:solidFill>
                  <a:effectLst/>
                  <a:uLnTx/>
                  <a:uFillTx/>
                  <a:latin typeface="Calibri"/>
                  <a:ea typeface="Calibri"/>
                  <a:cs typeface="Calibri"/>
                </a:rPr>
                <a:t>Yeni veride hata nerede?</a:t>
              </a:r>
              <a:endParaRPr lang="tr-TR" sz="2000"/>
            </a:p>
          </p:txBody>
        </p:sp>
      </p:grpSp>
      <p:sp>
        <p:nvSpPr>
          <p:cNvPr id="36" name="Text 1">
            <a:extLst>
              <a:ext uri="{FF2B5EF4-FFF2-40B4-BE49-F238E27FC236}">
                <a16:creationId xmlns:a16="http://schemas.microsoft.com/office/drawing/2014/main" id="{C54E098F-50A9-42A3-BD83-DC16E89FA6C2}"/>
              </a:ext>
            </a:extLst>
          </p:cNvPr>
          <p:cNvSpPr/>
          <p:nvPr/>
        </p:nvSpPr>
        <p:spPr>
          <a:xfrm>
            <a:off x="457200" y="1028700"/>
            <a:ext cx="11144250" cy="55245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32000"/>
              </a:lnSpc>
              <a:spcBef>
                <a:spcPts val="0"/>
              </a:spcBef>
              <a:spcAft>
                <a:spcPts val="0"/>
              </a:spcAft>
              <a:buClrTx/>
              <a:buSzTx/>
              <a:buFontTx/>
              <a:buNone/>
              <a:tabLst/>
              <a:defRPr/>
            </a:pPr>
            <a:r>
              <a:rPr kumimoji="0" lang="tr-TR" sz="2200" b="0" i="0" u="none" strike="noStrike" kern="0" cap="none" spc="0" normalizeH="0" baseline="0" noProof="0" dirty="0">
                <a:ln>
                  <a:noFill/>
                </a:ln>
                <a:solidFill>
                  <a:srgbClr val="30343B"/>
                </a:solidFill>
                <a:effectLst/>
                <a:uLnTx/>
                <a:uFillTx/>
                <a:latin typeface="Calibri"/>
                <a:ea typeface="Calibri"/>
                <a:cs typeface="Calibri"/>
              </a:rPr>
              <a:t>Bilgisayar, geçmiş örneklerden yeni bir evin fiyatını nasıl tahmin eder?</a:t>
            </a:r>
            <a:endParaRPr lang="tr-TR" sz="2200"/>
          </a:p>
        </p:txBody>
      </p:sp>
    </p:spTree>
    <p:extLst>
      <p:ext uri="{BB962C8B-B14F-4D97-AF65-F5344CB8AC3E}">
        <p14:creationId xmlns:p14="http://schemas.microsoft.com/office/powerpoint/2010/main" val="4196641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0" name="Text 0">
            <a:extLst>
              <a:ext uri="{FF2B5EF4-FFF2-40B4-BE49-F238E27FC236}">
                <a16:creationId xmlns:a16="http://schemas.microsoft.com/office/drawing/2014/main" id="{00DB1332-8F5C-47DC-9577-800823A853C2}"/>
              </a:ext>
            </a:extLst>
          </p:cNvPr>
          <p:cNvSpPr/>
          <p:nvPr/>
        </p:nvSpPr>
        <p:spPr>
          <a:xfrm>
            <a:off x="457200" y="285750"/>
            <a:ext cx="11239500" cy="685800"/>
          </a:xfrm>
          <a:prstGeom prst="rect">
            <a:avLst/>
          </a:prstGeom>
          <a:noFill/>
          <a:ln/>
        </p:spPr>
        <p:txBody>
          <a:bodyPr wrap="square" lIns="0" tIns="0" rIns="0" bIns="0" rtlCol="0" anchor="t">
            <a:noAutofit/>
          </a:bodyPr>
          <a:lstStyle/>
          <a:p>
            <a:pPr marL="0" indent="0" algn="l">
              <a:lnSpc>
                <a:spcPct val="104000"/>
              </a:lnSpc>
              <a:buNone/>
            </a:pPr>
            <a:r>
              <a:rPr lang="tr-TR" sz="3200" b="1" dirty="0">
                <a:solidFill>
                  <a:srgbClr val="1E2A4E"/>
                </a:solidFill>
                <a:latin typeface="Calibri"/>
                <a:ea typeface="Calibri"/>
                <a:cs typeface="Calibri"/>
              </a:rPr>
              <a:t>Kural yazmak ve veriden öğrenmek</a:t>
            </a:r>
            <a:endParaRPr lang="tr-TR" sz="3200"/>
          </a:p>
        </p:txBody>
      </p:sp>
      <p:grpSp>
        <p:nvGrpSpPr>
          <p:cNvPr id="3" name="Grup 2">
            <a:extLst>
              <a:ext uri="{FF2B5EF4-FFF2-40B4-BE49-F238E27FC236}">
                <a16:creationId xmlns:a16="http://schemas.microsoft.com/office/drawing/2014/main" id="{942217E6-E96E-43A4-A51C-BC640F8FC7E8}"/>
              </a:ext>
            </a:extLst>
          </p:cNvPr>
          <p:cNvGrpSpPr/>
          <p:nvPr/>
        </p:nvGrpSpPr>
        <p:grpSpPr>
          <a:xfrm>
            <a:off x="742650" y="1407226"/>
            <a:ext cx="11057620" cy="4690753"/>
            <a:chOff x="550510" y="1227828"/>
            <a:chExt cx="11233743" cy="5233528"/>
          </a:xfrm>
        </p:grpSpPr>
        <p:sp>
          <p:nvSpPr>
            <p:cNvPr id="54" name="Shape 2">
              <a:extLst>
                <a:ext uri="{FF2B5EF4-FFF2-40B4-BE49-F238E27FC236}">
                  <a16:creationId xmlns:a16="http://schemas.microsoft.com/office/drawing/2014/main" id="{A54710E0-20A6-436F-A26F-B2DD3AC21734}"/>
                </a:ext>
              </a:extLst>
            </p:cNvPr>
            <p:cNvSpPr/>
            <p:nvPr/>
          </p:nvSpPr>
          <p:spPr>
            <a:xfrm>
              <a:off x="7106101" y="1271614"/>
              <a:ext cx="3444704" cy="361132"/>
            </a:xfrm>
            <a:prstGeom prst="roundRect">
              <a:avLst>
                <a:gd name="adj" fmla="val 22132"/>
              </a:avLst>
            </a:prstGeom>
            <a:solidFill>
              <a:srgbClr val="E1E1EA"/>
            </a:solidFill>
            <a:ln/>
          </p:spPr>
        </p:sp>
        <p:sp>
          <p:nvSpPr>
            <p:cNvPr id="11" name="Shape 1">
              <a:extLst>
                <a:ext uri="{FF2B5EF4-FFF2-40B4-BE49-F238E27FC236}">
                  <a16:creationId xmlns:a16="http://schemas.microsoft.com/office/drawing/2014/main" id="{7E4F1E8D-9B26-46B8-AA0B-E45F8CB8B3DD}"/>
                </a:ext>
              </a:extLst>
            </p:cNvPr>
            <p:cNvSpPr/>
            <p:nvPr/>
          </p:nvSpPr>
          <p:spPr>
            <a:xfrm>
              <a:off x="550510" y="1227828"/>
              <a:ext cx="5593767" cy="5233528"/>
            </a:xfrm>
            <a:prstGeom prst="roundRect">
              <a:avLst>
                <a:gd name="adj" fmla="val 2161"/>
              </a:avLst>
            </a:prstGeom>
            <a:noFill/>
            <a:ln/>
          </p:spPr>
        </p:sp>
        <p:sp>
          <p:nvSpPr>
            <p:cNvPr id="13" name="Shape 2">
              <a:extLst>
                <a:ext uri="{FF2B5EF4-FFF2-40B4-BE49-F238E27FC236}">
                  <a16:creationId xmlns:a16="http://schemas.microsoft.com/office/drawing/2014/main" id="{320B31A6-061D-4525-87A7-2904EDBEF29B}"/>
                </a:ext>
              </a:extLst>
            </p:cNvPr>
            <p:cNvSpPr/>
            <p:nvPr/>
          </p:nvSpPr>
          <p:spPr>
            <a:xfrm>
              <a:off x="1405836" y="1271614"/>
              <a:ext cx="3452532" cy="361132"/>
            </a:xfrm>
            <a:prstGeom prst="roundRect">
              <a:avLst>
                <a:gd name="adj" fmla="val 22132"/>
              </a:avLst>
            </a:prstGeom>
            <a:solidFill>
              <a:srgbClr val="E1E1EA"/>
            </a:solidFill>
            <a:ln/>
          </p:spPr>
        </p:sp>
        <p:pic>
          <p:nvPicPr>
            <p:cNvPr id="14" name="Image 0" descr="preencoded.png">
              <a:extLst>
                <a:ext uri="{FF2B5EF4-FFF2-40B4-BE49-F238E27FC236}">
                  <a16:creationId xmlns:a16="http://schemas.microsoft.com/office/drawing/2014/main" id="{56FAAABB-3B5C-4F2D-BC4E-4AEE055FFCEA}"/>
                </a:ext>
              </a:extLst>
            </p:cNvPr>
            <p:cNvPicPr>
              <a:picLocks noChangeAspect="1"/>
            </p:cNvPicPr>
            <p:nvPr/>
          </p:nvPicPr>
          <p:blipFill>
            <a:blip r:embed="rId3"/>
            <a:stretch>
              <a:fillRect/>
            </a:stretch>
          </p:blipFill>
          <p:spPr>
            <a:xfrm>
              <a:off x="777791" y="1413865"/>
              <a:ext cx="113640" cy="125635"/>
            </a:xfrm>
            <a:prstGeom prst="rect">
              <a:avLst/>
            </a:prstGeom>
          </p:spPr>
        </p:pic>
        <p:sp>
          <p:nvSpPr>
            <p:cNvPr id="15" name="Text 3">
              <a:extLst>
                <a:ext uri="{FF2B5EF4-FFF2-40B4-BE49-F238E27FC236}">
                  <a16:creationId xmlns:a16="http://schemas.microsoft.com/office/drawing/2014/main" id="{3D5B5195-F819-43B9-8F7E-C501FE079F4E}"/>
                </a:ext>
              </a:extLst>
            </p:cNvPr>
            <p:cNvSpPr/>
            <p:nvPr/>
          </p:nvSpPr>
          <p:spPr>
            <a:xfrm>
              <a:off x="1685910" y="1303051"/>
              <a:ext cx="3172459" cy="306732"/>
            </a:xfrm>
            <a:prstGeom prst="rect">
              <a:avLst/>
            </a:prstGeom>
            <a:noFill/>
            <a:ln/>
          </p:spPr>
          <p:txBody>
            <a:bodyPr wrap="none" lIns="0" tIns="0" rIns="0" bIns="0" rtlCol="0" anchor="t"/>
            <a:lstStyle/>
            <a:p>
              <a:pPr marL="0" indent="0" algn="l">
                <a:lnSpc>
                  <a:spcPct val="96000"/>
                </a:lnSpc>
                <a:buNone/>
              </a:pPr>
              <a:r>
                <a:rPr lang="en-US" sz="2000" b="1" dirty="0">
                  <a:ea typeface="Calibri" pitchFamily="34" charset="-122"/>
                  <a:cs typeface="Calibri" pitchFamily="34" charset="-120"/>
                </a:rPr>
                <a:t>GELENEKSEL PROGRAMLAMA</a:t>
              </a:r>
              <a:endParaRPr lang="en-US" sz="2000" b="1" dirty="0"/>
            </a:p>
          </p:txBody>
        </p:sp>
        <p:sp>
          <p:nvSpPr>
            <p:cNvPr id="16" name="Text 4">
              <a:extLst>
                <a:ext uri="{FF2B5EF4-FFF2-40B4-BE49-F238E27FC236}">
                  <a16:creationId xmlns:a16="http://schemas.microsoft.com/office/drawing/2014/main" id="{9D55E17E-DC5F-4638-8BFB-D5AFBC63178E}"/>
                </a:ext>
              </a:extLst>
            </p:cNvPr>
            <p:cNvSpPr/>
            <p:nvPr/>
          </p:nvSpPr>
          <p:spPr>
            <a:xfrm>
              <a:off x="692586" y="1725650"/>
              <a:ext cx="284152" cy="196254"/>
            </a:xfrm>
            <a:prstGeom prst="rect">
              <a:avLst/>
            </a:prstGeom>
            <a:noFill/>
            <a:ln/>
          </p:spPr>
          <p:txBody>
            <a:bodyPr wrap="none" lIns="0" tIns="0" rIns="0" bIns="0" rtlCol="0" anchor="ctr"/>
            <a:lstStyle/>
            <a:p>
              <a:pPr marL="0" indent="0" algn="l">
                <a:lnSpc>
                  <a:spcPct val="100000"/>
                </a:lnSpc>
                <a:buNone/>
              </a:pPr>
              <a:r>
                <a:rPr lang="en-US" sz="2000" dirty="0">
                  <a:ea typeface="Calibri" pitchFamily="34" charset="-122"/>
                  <a:cs typeface="Calibri" pitchFamily="34" charset="-120"/>
                </a:rPr>
                <a:t>01</a:t>
              </a:r>
              <a:endParaRPr lang="en-US" sz="2000" dirty="0"/>
            </a:p>
          </p:txBody>
        </p:sp>
        <p:sp>
          <p:nvSpPr>
            <p:cNvPr id="17" name="Shape 5">
              <a:extLst>
                <a:ext uri="{FF2B5EF4-FFF2-40B4-BE49-F238E27FC236}">
                  <a16:creationId xmlns:a16="http://schemas.microsoft.com/office/drawing/2014/main" id="{5DFDADCD-05A8-4317-93BC-335C59A82B87}"/>
                </a:ext>
              </a:extLst>
            </p:cNvPr>
            <p:cNvSpPr/>
            <p:nvPr/>
          </p:nvSpPr>
          <p:spPr>
            <a:xfrm>
              <a:off x="692586" y="1970856"/>
              <a:ext cx="5309616" cy="21557"/>
            </a:xfrm>
            <a:prstGeom prst="rect">
              <a:avLst/>
            </a:prstGeom>
            <a:solidFill>
              <a:srgbClr val="1B1B27"/>
            </a:solidFill>
            <a:ln/>
          </p:spPr>
        </p:sp>
        <p:sp>
          <p:nvSpPr>
            <p:cNvPr id="18" name="Text 6">
              <a:extLst>
                <a:ext uri="{FF2B5EF4-FFF2-40B4-BE49-F238E27FC236}">
                  <a16:creationId xmlns:a16="http://schemas.microsoft.com/office/drawing/2014/main" id="{70C4CDE3-F277-4058-A240-684EB2341A50}"/>
                </a:ext>
              </a:extLst>
            </p:cNvPr>
            <p:cNvSpPr/>
            <p:nvPr/>
          </p:nvSpPr>
          <p:spPr>
            <a:xfrm>
              <a:off x="692585" y="2060562"/>
              <a:ext cx="5309616" cy="245430"/>
            </a:xfrm>
            <a:prstGeom prst="rect">
              <a:avLst/>
            </a:prstGeom>
            <a:noFill/>
            <a:ln/>
          </p:spPr>
          <p:txBody>
            <a:bodyPr wrap="none" lIns="0" tIns="0" rIns="0" bIns="0" rtlCol="0" anchor="t"/>
            <a:lstStyle/>
            <a:p>
              <a:pPr marL="0" indent="0" algn="l">
                <a:lnSpc>
                  <a:spcPct val="104000"/>
                </a:lnSpc>
                <a:buNone/>
              </a:pPr>
              <a:r>
                <a:rPr lang="en-US" sz="2000" b="1" dirty="0" err="1">
                  <a:ea typeface="Calibri" pitchFamily="34" charset="-122"/>
                  <a:cs typeface="Calibri" pitchFamily="34" charset="-120"/>
                </a:rPr>
                <a:t>Girdi</a:t>
              </a:r>
              <a:r>
                <a:rPr lang="en-US" sz="2000" b="1" dirty="0">
                  <a:solidFill>
                    <a:srgbClr val="3C3939"/>
                  </a:solidFill>
                  <a:ea typeface="Calibri" pitchFamily="34" charset="-122"/>
                  <a:cs typeface="Calibri" pitchFamily="34" charset="-120"/>
                </a:rPr>
                <a:t> →</a:t>
              </a:r>
              <a:endParaRPr lang="en-US" sz="2000" b="1" dirty="0"/>
            </a:p>
          </p:txBody>
        </p:sp>
        <p:sp>
          <p:nvSpPr>
            <p:cNvPr id="19" name="Text 7">
              <a:extLst>
                <a:ext uri="{FF2B5EF4-FFF2-40B4-BE49-F238E27FC236}">
                  <a16:creationId xmlns:a16="http://schemas.microsoft.com/office/drawing/2014/main" id="{80F8CFE3-3449-4FD0-99AA-D925C5025FA8}"/>
                </a:ext>
              </a:extLst>
            </p:cNvPr>
            <p:cNvSpPr/>
            <p:nvPr/>
          </p:nvSpPr>
          <p:spPr>
            <a:xfrm>
              <a:off x="3631546" y="2077101"/>
              <a:ext cx="5309616" cy="217924"/>
            </a:xfrm>
            <a:prstGeom prst="rect">
              <a:avLst/>
            </a:prstGeom>
            <a:noFill/>
            <a:ln/>
          </p:spPr>
          <p:txBody>
            <a:bodyPr wrap="square" lIns="0" tIns="0" rIns="0" bIns="0" rtlCol="0" anchor="t">
              <a:noAutofit/>
            </a:bodyPr>
            <a:lstStyle/>
            <a:p>
              <a:pPr marL="0" indent="0" algn="l">
                <a:lnSpc>
                  <a:spcPct val="116000"/>
                </a:lnSpc>
                <a:buNone/>
              </a:pPr>
              <a:r>
                <a:rPr lang="tr-TR" sz="2000" b="0" dirty="0">
                  <a:solidFill>
                    <a:srgbClr val="30343B"/>
                  </a:solidFill>
                  <a:latin typeface="Calibri"/>
                  <a:ea typeface="Calibri"/>
                  <a:cs typeface="Calibri"/>
                </a:rPr>
                <a:t>Alan = 120 m²</a:t>
              </a:r>
              <a:endParaRPr lang="tr-TR" sz="2000"/>
            </a:p>
          </p:txBody>
        </p:sp>
        <p:sp>
          <p:nvSpPr>
            <p:cNvPr id="20" name="Text 8">
              <a:extLst>
                <a:ext uri="{FF2B5EF4-FFF2-40B4-BE49-F238E27FC236}">
                  <a16:creationId xmlns:a16="http://schemas.microsoft.com/office/drawing/2014/main" id="{94A171C4-4B44-4394-A536-8F5AB249C4C7}"/>
                </a:ext>
              </a:extLst>
            </p:cNvPr>
            <p:cNvSpPr/>
            <p:nvPr/>
          </p:nvSpPr>
          <p:spPr>
            <a:xfrm>
              <a:off x="692586" y="2904187"/>
              <a:ext cx="284152" cy="196254"/>
            </a:xfrm>
            <a:prstGeom prst="rect">
              <a:avLst/>
            </a:prstGeom>
            <a:noFill/>
            <a:ln/>
          </p:spPr>
          <p:txBody>
            <a:bodyPr wrap="none" lIns="0" tIns="0" rIns="0" bIns="0" rtlCol="0" anchor="ctr"/>
            <a:lstStyle/>
            <a:p>
              <a:pPr marL="0" indent="0" algn="l">
                <a:lnSpc>
                  <a:spcPct val="100000"/>
                </a:lnSpc>
                <a:buNone/>
              </a:pPr>
              <a:r>
                <a:rPr lang="en-US" sz="2000" dirty="0">
                  <a:ea typeface="Calibri" pitchFamily="34" charset="-122"/>
                  <a:cs typeface="Calibri" pitchFamily="34" charset="-120"/>
                </a:rPr>
                <a:t>02</a:t>
              </a:r>
              <a:endParaRPr lang="en-US" sz="2000" dirty="0"/>
            </a:p>
          </p:txBody>
        </p:sp>
        <p:sp>
          <p:nvSpPr>
            <p:cNvPr id="21" name="Shape 9">
              <a:extLst>
                <a:ext uri="{FF2B5EF4-FFF2-40B4-BE49-F238E27FC236}">
                  <a16:creationId xmlns:a16="http://schemas.microsoft.com/office/drawing/2014/main" id="{7C781629-54D1-4D91-B428-3DD40F6D8B78}"/>
                </a:ext>
              </a:extLst>
            </p:cNvPr>
            <p:cNvSpPr/>
            <p:nvPr/>
          </p:nvSpPr>
          <p:spPr>
            <a:xfrm>
              <a:off x="692586" y="3149393"/>
              <a:ext cx="5309616" cy="21557"/>
            </a:xfrm>
            <a:prstGeom prst="rect">
              <a:avLst/>
            </a:prstGeom>
            <a:solidFill>
              <a:srgbClr val="1B1B27"/>
            </a:solidFill>
            <a:ln/>
          </p:spPr>
        </p:sp>
        <p:sp>
          <p:nvSpPr>
            <p:cNvPr id="22" name="Text 10">
              <a:extLst>
                <a:ext uri="{FF2B5EF4-FFF2-40B4-BE49-F238E27FC236}">
                  <a16:creationId xmlns:a16="http://schemas.microsoft.com/office/drawing/2014/main" id="{413A287C-F9C1-441B-B2BE-D86577A2C132}"/>
                </a:ext>
              </a:extLst>
            </p:cNvPr>
            <p:cNvSpPr/>
            <p:nvPr/>
          </p:nvSpPr>
          <p:spPr>
            <a:xfrm>
              <a:off x="692586" y="3270986"/>
              <a:ext cx="5309616" cy="245430"/>
            </a:xfrm>
            <a:prstGeom prst="rect">
              <a:avLst/>
            </a:prstGeom>
            <a:noFill/>
            <a:ln/>
          </p:spPr>
          <p:txBody>
            <a:bodyPr wrap="none" lIns="0" tIns="0" rIns="0" bIns="0" rtlCol="0" anchor="t"/>
            <a:lstStyle/>
            <a:p>
              <a:pPr marL="0" indent="0" algn="l">
                <a:lnSpc>
                  <a:spcPct val="104000"/>
                </a:lnSpc>
                <a:buNone/>
              </a:pPr>
              <a:r>
                <a:rPr lang="en-US" sz="2000" b="1" dirty="0">
                  <a:ea typeface="Calibri" pitchFamily="34" charset="-122"/>
                  <a:cs typeface="Calibri" pitchFamily="34" charset="-120"/>
                </a:rPr>
                <a:t>Kurallar </a:t>
              </a:r>
              <a:r>
                <a:rPr lang="en-US" sz="2000" b="1" i="1" dirty="0">
                  <a:ea typeface="Calibri" pitchFamily="34" charset="-122"/>
                  <a:cs typeface="Calibri" pitchFamily="34" charset="-120"/>
                </a:rPr>
                <a:t>(insan </a:t>
              </a:r>
              <a:r>
                <a:rPr lang="en-US" sz="2000" b="1" i="1" dirty="0" err="1">
                  <a:ea typeface="Calibri" pitchFamily="34" charset="-122"/>
                  <a:cs typeface="Calibri" pitchFamily="34" charset="-120"/>
                </a:rPr>
                <a:t>yazar</a:t>
              </a:r>
              <a:r>
                <a:rPr lang="en-US" sz="2000" b="1" i="1" dirty="0">
                  <a:ea typeface="Calibri" pitchFamily="34" charset="-122"/>
                  <a:cs typeface="Calibri" pitchFamily="34" charset="-120"/>
                </a:rPr>
                <a:t>)</a:t>
              </a:r>
              <a:r>
                <a:rPr lang="en-US" sz="2000" b="1" dirty="0">
                  <a:solidFill>
                    <a:srgbClr val="3C3939"/>
                  </a:solidFill>
                  <a:ea typeface="Calibri" pitchFamily="34" charset="-122"/>
                  <a:cs typeface="Calibri" pitchFamily="34" charset="-120"/>
                </a:rPr>
                <a:t> →</a:t>
              </a:r>
              <a:endParaRPr lang="en-US" sz="2000" b="1" dirty="0"/>
            </a:p>
          </p:txBody>
        </p:sp>
        <p:sp>
          <p:nvSpPr>
            <p:cNvPr id="23" name="Text 11">
              <a:extLst>
                <a:ext uri="{FF2B5EF4-FFF2-40B4-BE49-F238E27FC236}">
                  <a16:creationId xmlns:a16="http://schemas.microsoft.com/office/drawing/2014/main" id="{9C18F8E4-CC8B-4307-AB5A-094805C1C9F6}"/>
                </a:ext>
              </a:extLst>
            </p:cNvPr>
            <p:cNvSpPr/>
            <p:nvPr/>
          </p:nvSpPr>
          <p:spPr>
            <a:xfrm>
              <a:off x="3631546" y="3295303"/>
              <a:ext cx="5309616" cy="217924"/>
            </a:xfrm>
            <a:prstGeom prst="rect">
              <a:avLst/>
            </a:prstGeom>
            <a:noFill/>
            <a:ln/>
          </p:spPr>
          <p:txBody>
            <a:bodyPr wrap="square" lIns="0" tIns="0" rIns="0" bIns="0" rtlCol="0" anchor="t">
              <a:noAutofit/>
            </a:bodyPr>
            <a:lstStyle/>
            <a:p>
              <a:pPr marL="0" indent="0" algn="l">
                <a:lnSpc>
                  <a:spcPct val="116000"/>
                </a:lnSpc>
                <a:buNone/>
              </a:pPr>
              <a:r>
                <a:rPr lang="tr-TR" sz="2000" b="0" dirty="0">
                  <a:solidFill>
                    <a:srgbClr val="30343B"/>
                  </a:solidFill>
                  <a:latin typeface="Calibri"/>
                  <a:ea typeface="Calibri"/>
                  <a:cs typeface="Calibri"/>
                </a:rPr>
                <a:t>Fiyat = alan × 15</a:t>
              </a:r>
              <a:endParaRPr lang="tr-TR" sz="2000" dirty="0"/>
            </a:p>
          </p:txBody>
        </p:sp>
        <p:sp>
          <p:nvSpPr>
            <p:cNvPr id="24" name="Text 12">
              <a:extLst>
                <a:ext uri="{FF2B5EF4-FFF2-40B4-BE49-F238E27FC236}">
                  <a16:creationId xmlns:a16="http://schemas.microsoft.com/office/drawing/2014/main" id="{6DB6A56B-7B3A-42AC-B374-92D591759C33}"/>
                </a:ext>
              </a:extLst>
            </p:cNvPr>
            <p:cNvSpPr/>
            <p:nvPr/>
          </p:nvSpPr>
          <p:spPr>
            <a:xfrm>
              <a:off x="692586" y="4082724"/>
              <a:ext cx="284152" cy="196254"/>
            </a:xfrm>
            <a:prstGeom prst="rect">
              <a:avLst/>
            </a:prstGeom>
            <a:noFill/>
            <a:ln/>
          </p:spPr>
          <p:txBody>
            <a:bodyPr wrap="none" lIns="0" tIns="0" rIns="0" bIns="0" rtlCol="0" anchor="ctr"/>
            <a:lstStyle/>
            <a:p>
              <a:pPr marL="0" indent="0" algn="l">
                <a:lnSpc>
                  <a:spcPct val="100000"/>
                </a:lnSpc>
                <a:buNone/>
              </a:pPr>
              <a:r>
                <a:rPr lang="en-US" sz="2000" dirty="0">
                  <a:ea typeface="Calibri" pitchFamily="34" charset="-122"/>
                  <a:cs typeface="Calibri" pitchFamily="34" charset="-120"/>
                </a:rPr>
                <a:t>03</a:t>
              </a:r>
              <a:endParaRPr lang="en-US" sz="2000" dirty="0"/>
            </a:p>
          </p:txBody>
        </p:sp>
        <p:sp>
          <p:nvSpPr>
            <p:cNvPr id="25" name="Shape 13">
              <a:extLst>
                <a:ext uri="{FF2B5EF4-FFF2-40B4-BE49-F238E27FC236}">
                  <a16:creationId xmlns:a16="http://schemas.microsoft.com/office/drawing/2014/main" id="{DF2C9FAB-817A-4DC9-8599-267ED3EDCE31}"/>
                </a:ext>
              </a:extLst>
            </p:cNvPr>
            <p:cNvSpPr/>
            <p:nvPr/>
          </p:nvSpPr>
          <p:spPr>
            <a:xfrm>
              <a:off x="692586" y="4327930"/>
              <a:ext cx="5309616" cy="21557"/>
            </a:xfrm>
            <a:prstGeom prst="rect">
              <a:avLst/>
            </a:prstGeom>
            <a:solidFill>
              <a:srgbClr val="1B1B27"/>
            </a:solidFill>
            <a:ln/>
          </p:spPr>
        </p:sp>
        <p:sp>
          <p:nvSpPr>
            <p:cNvPr id="26" name="Text 14">
              <a:extLst>
                <a:ext uri="{FF2B5EF4-FFF2-40B4-BE49-F238E27FC236}">
                  <a16:creationId xmlns:a16="http://schemas.microsoft.com/office/drawing/2014/main" id="{4BD9BEC7-A621-4CB7-AB71-6E80D29EF8AF}"/>
                </a:ext>
              </a:extLst>
            </p:cNvPr>
            <p:cNvSpPr/>
            <p:nvPr/>
          </p:nvSpPr>
          <p:spPr>
            <a:xfrm>
              <a:off x="692586" y="4449523"/>
              <a:ext cx="5309616" cy="252616"/>
            </a:xfrm>
            <a:prstGeom prst="rect">
              <a:avLst/>
            </a:prstGeom>
            <a:noFill/>
            <a:ln/>
          </p:spPr>
          <p:txBody>
            <a:bodyPr wrap="none" lIns="0" tIns="0" rIns="0" bIns="0" rtlCol="0" anchor="t"/>
            <a:lstStyle/>
            <a:p>
              <a:pPr marL="0" indent="0" algn="l">
                <a:lnSpc>
                  <a:spcPct val="104000"/>
                </a:lnSpc>
                <a:buNone/>
              </a:pPr>
              <a:r>
                <a:rPr lang="en-US" sz="2000" dirty="0">
                  <a:ea typeface="Calibri" pitchFamily="34" charset="-122"/>
                  <a:cs typeface="Calibri" pitchFamily="34" charset="-120"/>
                </a:rPr>
                <a:t>⚙️</a:t>
              </a:r>
              <a:r>
                <a:rPr lang="en-US" sz="2000" b="1" dirty="0">
                  <a:ea typeface="Calibri" pitchFamily="34" charset="-122"/>
                  <a:cs typeface="Calibri" pitchFamily="34" charset="-120"/>
                </a:rPr>
                <a:t> </a:t>
              </a:r>
              <a:r>
                <a:rPr lang="en-US" sz="2000" b="1" dirty="0" err="1">
                  <a:ea typeface="Calibri" pitchFamily="34" charset="-122"/>
                  <a:cs typeface="Calibri" pitchFamily="34" charset="-120"/>
                </a:rPr>
                <a:t>Bilgisayar</a:t>
              </a:r>
              <a:r>
                <a:rPr lang="en-US" sz="2000" b="1" dirty="0">
                  <a:solidFill>
                    <a:srgbClr val="3C3939"/>
                  </a:solidFill>
                  <a:ea typeface="Calibri" pitchFamily="34" charset="-122"/>
                  <a:cs typeface="Calibri" pitchFamily="34" charset="-120"/>
                </a:rPr>
                <a:t> →</a:t>
              </a:r>
              <a:endParaRPr lang="en-US" sz="2000" b="1" dirty="0"/>
            </a:p>
          </p:txBody>
        </p:sp>
        <p:sp>
          <p:nvSpPr>
            <p:cNvPr id="27" name="Text 15">
              <a:extLst>
                <a:ext uri="{FF2B5EF4-FFF2-40B4-BE49-F238E27FC236}">
                  <a16:creationId xmlns:a16="http://schemas.microsoft.com/office/drawing/2014/main" id="{0134C94A-0EC4-49C1-BE83-8C45FB1823E1}"/>
                </a:ext>
              </a:extLst>
            </p:cNvPr>
            <p:cNvSpPr/>
            <p:nvPr/>
          </p:nvSpPr>
          <p:spPr>
            <a:xfrm>
              <a:off x="3631546" y="4470153"/>
              <a:ext cx="5309616" cy="217924"/>
            </a:xfrm>
            <a:prstGeom prst="rect">
              <a:avLst/>
            </a:prstGeom>
            <a:noFill/>
            <a:ln/>
          </p:spPr>
          <p:txBody>
            <a:bodyPr wrap="none" lIns="0" tIns="0" rIns="0" bIns="0" rtlCol="0" anchor="t"/>
            <a:lstStyle/>
            <a:p>
              <a:pPr marL="0" indent="0" algn="l">
                <a:lnSpc>
                  <a:spcPct val="116000"/>
                </a:lnSpc>
                <a:buNone/>
              </a:pPr>
              <a:r>
                <a:rPr lang="en-US" sz="2000" dirty="0">
                  <a:ea typeface="Calibri" pitchFamily="34" charset="-122"/>
                  <a:cs typeface="Calibri" pitchFamily="34" charset="-120"/>
                </a:rPr>
                <a:t>Kuralı uygular</a:t>
              </a:r>
              <a:endParaRPr lang="en-US" sz="2000" dirty="0"/>
            </a:p>
          </p:txBody>
        </p:sp>
        <p:sp>
          <p:nvSpPr>
            <p:cNvPr id="28" name="Text 16">
              <a:extLst>
                <a:ext uri="{FF2B5EF4-FFF2-40B4-BE49-F238E27FC236}">
                  <a16:creationId xmlns:a16="http://schemas.microsoft.com/office/drawing/2014/main" id="{B559EEAB-AAC8-4195-B5DD-051D55B8CC22}"/>
                </a:ext>
              </a:extLst>
            </p:cNvPr>
            <p:cNvSpPr/>
            <p:nvPr/>
          </p:nvSpPr>
          <p:spPr>
            <a:xfrm>
              <a:off x="692586" y="5268448"/>
              <a:ext cx="284152" cy="196254"/>
            </a:xfrm>
            <a:prstGeom prst="rect">
              <a:avLst/>
            </a:prstGeom>
            <a:noFill/>
            <a:ln/>
          </p:spPr>
          <p:txBody>
            <a:bodyPr wrap="none" lIns="0" tIns="0" rIns="0" bIns="0" rtlCol="0" anchor="ctr"/>
            <a:lstStyle/>
            <a:p>
              <a:pPr marL="0" indent="0" algn="l">
                <a:lnSpc>
                  <a:spcPct val="100000"/>
                </a:lnSpc>
                <a:buNone/>
              </a:pPr>
              <a:r>
                <a:rPr lang="en-US" sz="2000" dirty="0">
                  <a:ea typeface="Calibri" pitchFamily="34" charset="-122"/>
                  <a:cs typeface="Calibri" pitchFamily="34" charset="-120"/>
                </a:rPr>
                <a:t>04</a:t>
              </a:r>
              <a:endParaRPr lang="en-US" sz="2000" dirty="0"/>
            </a:p>
          </p:txBody>
        </p:sp>
        <p:sp>
          <p:nvSpPr>
            <p:cNvPr id="29" name="Shape 17">
              <a:extLst>
                <a:ext uri="{FF2B5EF4-FFF2-40B4-BE49-F238E27FC236}">
                  <a16:creationId xmlns:a16="http://schemas.microsoft.com/office/drawing/2014/main" id="{F9DCE537-D673-412D-B549-DBDF64381CE8}"/>
                </a:ext>
              </a:extLst>
            </p:cNvPr>
            <p:cNvSpPr/>
            <p:nvPr/>
          </p:nvSpPr>
          <p:spPr>
            <a:xfrm>
              <a:off x="692586" y="5513653"/>
              <a:ext cx="5309616" cy="21557"/>
            </a:xfrm>
            <a:prstGeom prst="rect">
              <a:avLst/>
            </a:prstGeom>
            <a:solidFill>
              <a:srgbClr val="1B1B27"/>
            </a:solidFill>
            <a:ln/>
          </p:spPr>
        </p:sp>
        <p:sp>
          <p:nvSpPr>
            <p:cNvPr id="30" name="Text 18">
              <a:extLst>
                <a:ext uri="{FF2B5EF4-FFF2-40B4-BE49-F238E27FC236}">
                  <a16:creationId xmlns:a16="http://schemas.microsoft.com/office/drawing/2014/main" id="{0042F3B7-B90B-4971-ABCA-B2E47050684F}"/>
                </a:ext>
              </a:extLst>
            </p:cNvPr>
            <p:cNvSpPr/>
            <p:nvPr/>
          </p:nvSpPr>
          <p:spPr>
            <a:xfrm>
              <a:off x="692586" y="5635245"/>
              <a:ext cx="5309616" cy="245430"/>
            </a:xfrm>
            <a:prstGeom prst="rect">
              <a:avLst/>
            </a:prstGeom>
            <a:noFill/>
            <a:ln/>
          </p:spPr>
          <p:txBody>
            <a:bodyPr wrap="none" lIns="0" tIns="0" rIns="0" bIns="0" rtlCol="0" anchor="t"/>
            <a:lstStyle/>
            <a:p>
              <a:pPr marL="0" indent="0" algn="l">
                <a:lnSpc>
                  <a:spcPct val="104000"/>
                </a:lnSpc>
                <a:buNone/>
              </a:pPr>
              <a:r>
                <a:rPr lang="en-US" sz="2000" b="1" dirty="0" err="1">
                  <a:ea typeface="Calibri" pitchFamily="34" charset="-122"/>
                  <a:cs typeface="Calibri" pitchFamily="34" charset="-120"/>
                </a:rPr>
                <a:t>Çıktı</a:t>
              </a:r>
              <a:r>
                <a:rPr lang="en-US" sz="2000" b="1" dirty="0">
                  <a:solidFill>
                    <a:srgbClr val="3C3939"/>
                  </a:solidFill>
                  <a:ea typeface="Calibri" pitchFamily="34" charset="-122"/>
                  <a:cs typeface="Calibri" pitchFamily="34" charset="-120"/>
                </a:rPr>
                <a:t> →</a:t>
              </a:r>
              <a:endParaRPr lang="en-US" sz="2000" b="1" dirty="0"/>
            </a:p>
          </p:txBody>
        </p:sp>
        <p:sp>
          <p:nvSpPr>
            <p:cNvPr id="31" name="Text 19">
              <a:extLst>
                <a:ext uri="{FF2B5EF4-FFF2-40B4-BE49-F238E27FC236}">
                  <a16:creationId xmlns:a16="http://schemas.microsoft.com/office/drawing/2014/main" id="{42D112FC-91DB-4A19-BDE2-8B38E00D094B}"/>
                </a:ext>
              </a:extLst>
            </p:cNvPr>
            <p:cNvSpPr/>
            <p:nvPr/>
          </p:nvSpPr>
          <p:spPr>
            <a:xfrm>
              <a:off x="3631546" y="5664038"/>
              <a:ext cx="5309616" cy="217924"/>
            </a:xfrm>
            <a:prstGeom prst="rect">
              <a:avLst/>
            </a:prstGeom>
            <a:noFill/>
            <a:ln/>
          </p:spPr>
          <p:txBody>
            <a:bodyPr wrap="square" lIns="0" tIns="0" rIns="0" bIns="0" rtlCol="0" anchor="t">
              <a:noAutofit/>
            </a:bodyPr>
            <a:lstStyle/>
            <a:p>
              <a:pPr marL="0" indent="0" algn="l">
                <a:lnSpc>
                  <a:spcPct val="116000"/>
                </a:lnSpc>
                <a:buNone/>
              </a:pPr>
              <a:r>
                <a:rPr lang="tr-TR" sz="2000" b="0" dirty="0">
                  <a:solidFill>
                    <a:srgbClr val="30343B"/>
                  </a:solidFill>
                  <a:latin typeface="Calibri"/>
                  <a:ea typeface="Calibri"/>
                  <a:cs typeface="Calibri"/>
                </a:rPr>
                <a:t>1.800 bin TL (temsili)</a:t>
              </a:r>
              <a:endParaRPr lang="tr-TR" sz="2000"/>
            </a:p>
          </p:txBody>
        </p:sp>
        <p:sp>
          <p:nvSpPr>
            <p:cNvPr id="34" name="Text 21">
              <a:extLst>
                <a:ext uri="{FF2B5EF4-FFF2-40B4-BE49-F238E27FC236}">
                  <a16:creationId xmlns:a16="http://schemas.microsoft.com/office/drawing/2014/main" id="{34DDB3A3-90BA-4A17-B044-5040D681E90E}"/>
                </a:ext>
              </a:extLst>
            </p:cNvPr>
            <p:cNvSpPr/>
            <p:nvPr/>
          </p:nvSpPr>
          <p:spPr>
            <a:xfrm>
              <a:off x="7691845" y="1303051"/>
              <a:ext cx="3381375" cy="381000"/>
            </a:xfrm>
            <a:prstGeom prst="rect">
              <a:avLst/>
            </a:prstGeom>
            <a:noFill/>
            <a:ln/>
          </p:spPr>
          <p:txBody>
            <a:bodyPr wrap="square" lIns="0" tIns="0" rIns="0" bIns="0" rtlCol="0" anchor="t">
              <a:noAutofit/>
            </a:bodyPr>
            <a:lstStyle/>
            <a:p>
              <a:pPr marL="0" indent="0" algn="l">
                <a:lnSpc>
                  <a:spcPct val="96000"/>
                </a:lnSpc>
                <a:buNone/>
              </a:pPr>
              <a:r>
                <a:rPr lang="tr-TR" sz="2000" b="1" dirty="0">
                  <a:solidFill>
                    <a:srgbClr val="1E2A4E"/>
                  </a:solidFill>
                  <a:latin typeface="Calibri"/>
                  <a:ea typeface="Calibri"/>
                  <a:cs typeface="Calibri"/>
                </a:rPr>
                <a:t>MAKİNE ÖĞRENMESİ</a:t>
              </a:r>
              <a:endParaRPr lang="tr-TR" sz="2000"/>
            </a:p>
          </p:txBody>
        </p:sp>
        <p:sp>
          <p:nvSpPr>
            <p:cNvPr id="35" name="Text 22">
              <a:extLst>
                <a:ext uri="{FF2B5EF4-FFF2-40B4-BE49-F238E27FC236}">
                  <a16:creationId xmlns:a16="http://schemas.microsoft.com/office/drawing/2014/main" id="{242534B1-F3C7-46B2-A688-C4A7205C1605}"/>
                </a:ext>
              </a:extLst>
            </p:cNvPr>
            <p:cNvSpPr/>
            <p:nvPr/>
          </p:nvSpPr>
          <p:spPr>
            <a:xfrm>
              <a:off x="6395017" y="1725650"/>
              <a:ext cx="284152" cy="196254"/>
            </a:xfrm>
            <a:prstGeom prst="rect">
              <a:avLst/>
            </a:prstGeom>
            <a:noFill/>
            <a:ln/>
          </p:spPr>
          <p:txBody>
            <a:bodyPr wrap="none" lIns="0" tIns="0" rIns="0" bIns="0" rtlCol="0" anchor="ctr"/>
            <a:lstStyle/>
            <a:p>
              <a:pPr marL="0" indent="0" algn="l">
                <a:lnSpc>
                  <a:spcPct val="100000"/>
                </a:lnSpc>
                <a:buNone/>
              </a:pPr>
              <a:r>
                <a:rPr lang="en-US" sz="2000" dirty="0">
                  <a:solidFill>
                    <a:srgbClr val="3C3939"/>
                  </a:solidFill>
                  <a:ea typeface="Calibri" pitchFamily="34" charset="-122"/>
                  <a:cs typeface="Calibri" pitchFamily="34" charset="-120"/>
                </a:rPr>
                <a:t>01</a:t>
              </a:r>
              <a:endParaRPr lang="en-US" sz="2000" dirty="0"/>
            </a:p>
          </p:txBody>
        </p:sp>
        <p:sp>
          <p:nvSpPr>
            <p:cNvPr id="36" name="Shape 23">
              <a:extLst>
                <a:ext uri="{FF2B5EF4-FFF2-40B4-BE49-F238E27FC236}">
                  <a16:creationId xmlns:a16="http://schemas.microsoft.com/office/drawing/2014/main" id="{7316DD17-4D8F-4659-8D1C-624DECD37825}"/>
                </a:ext>
              </a:extLst>
            </p:cNvPr>
            <p:cNvSpPr/>
            <p:nvPr/>
          </p:nvSpPr>
          <p:spPr>
            <a:xfrm>
              <a:off x="6395017" y="1970856"/>
              <a:ext cx="5389236" cy="21557"/>
            </a:xfrm>
            <a:prstGeom prst="rect">
              <a:avLst/>
            </a:prstGeom>
            <a:solidFill>
              <a:srgbClr val="1B1B27"/>
            </a:solidFill>
            <a:ln/>
          </p:spPr>
        </p:sp>
        <p:sp>
          <p:nvSpPr>
            <p:cNvPr id="37" name="Text 24">
              <a:extLst>
                <a:ext uri="{FF2B5EF4-FFF2-40B4-BE49-F238E27FC236}">
                  <a16:creationId xmlns:a16="http://schemas.microsoft.com/office/drawing/2014/main" id="{51E3645F-8C51-4BB8-88EB-0ECF2560D7A2}"/>
                </a:ext>
              </a:extLst>
            </p:cNvPr>
            <p:cNvSpPr/>
            <p:nvPr/>
          </p:nvSpPr>
          <p:spPr>
            <a:xfrm>
              <a:off x="6395017" y="2092448"/>
              <a:ext cx="5389236" cy="245430"/>
            </a:xfrm>
            <a:prstGeom prst="rect">
              <a:avLst/>
            </a:prstGeom>
            <a:noFill/>
            <a:ln/>
          </p:spPr>
          <p:txBody>
            <a:bodyPr wrap="none" lIns="0" tIns="0" rIns="0" bIns="0" rtlCol="0" anchor="t"/>
            <a:lstStyle/>
            <a:p>
              <a:pPr marL="0" indent="0" algn="l">
                <a:lnSpc>
                  <a:spcPct val="104000"/>
                </a:lnSpc>
                <a:buNone/>
              </a:pPr>
              <a:r>
                <a:rPr lang="en-US" sz="2000" b="1" dirty="0" err="1">
                  <a:solidFill>
                    <a:srgbClr val="1B1B27"/>
                  </a:solidFill>
                  <a:ea typeface="Calibri" pitchFamily="34" charset="-122"/>
                  <a:cs typeface="Calibri" pitchFamily="34" charset="-120"/>
                </a:rPr>
                <a:t>Girdi</a:t>
              </a:r>
              <a:r>
                <a:rPr lang="en-US" sz="2000" b="1" dirty="0">
                  <a:solidFill>
                    <a:srgbClr val="3C3939"/>
                  </a:solidFill>
                  <a:ea typeface="Calibri" pitchFamily="34" charset="-122"/>
                  <a:cs typeface="Calibri" pitchFamily="34" charset="-120"/>
                </a:rPr>
                <a:t> →</a:t>
              </a:r>
              <a:endParaRPr lang="en-US" sz="2000" dirty="0"/>
            </a:p>
          </p:txBody>
        </p:sp>
        <p:sp>
          <p:nvSpPr>
            <p:cNvPr id="38" name="Text 25">
              <a:extLst>
                <a:ext uri="{FF2B5EF4-FFF2-40B4-BE49-F238E27FC236}">
                  <a16:creationId xmlns:a16="http://schemas.microsoft.com/office/drawing/2014/main" id="{DA211180-5773-4713-9CB6-122596CA5C87}"/>
                </a:ext>
              </a:extLst>
            </p:cNvPr>
            <p:cNvSpPr/>
            <p:nvPr/>
          </p:nvSpPr>
          <p:spPr>
            <a:xfrm>
              <a:off x="9037277" y="2056559"/>
              <a:ext cx="2559253" cy="273964"/>
            </a:xfrm>
            <a:prstGeom prst="rect">
              <a:avLst/>
            </a:prstGeom>
            <a:noFill/>
            <a:ln/>
          </p:spPr>
          <p:txBody>
            <a:bodyPr wrap="square" lIns="0" tIns="0" rIns="0" bIns="0" rtlCol="0" anchor="t">
              <a:noAutofit/>
            </a:bodyPr>
            <a:lstStyle/>
            <a:p>
              <a:pPr marL="0" indent="0" algn="l">
                <a:lnSpc>
                  <a:spcPct val="116000"/>
                </a:lnSpc>
                <a:buNone/>
              </a:pPr>
              <a:r>
                <a:rPr lang="tr-TR" sz="2000" b="0" dirty="0">
                  <a:solidFill>
                    <a:srgbClr val="30343B"/>
                  </a:solidFill>
                  <a:latin typeface="Calibri"/>
                  <a:ea typeface="Calibri"/>
                  <a:cs typeface="Calibri"/>
                </a:rPr>
                <a:t>Birçok evin özellikleri</a:t>
              </a:r>
              <a:endParaRPr lang="tr-TR" sz="2000"/>
            </a:p>
          </p:txBody>
        </p:sp>
        <p:sp>
          <p:nvSpPr>
            <p:cNvPr id="39" name="Text 26">
              <a:extLst>
                <a:ext uri="{FF2B5EF4-FFF2-40B4-BE49-F238E27FC236}">
                  <a16:creationId xmlns:a16="http://schemas.microsoft.com/office/drawing/2014/main" id="{C018B3BE-97FB-4646-A32C-31F6DAA9AAD6}"/>
                </a:ext>
              </a:extLst>
            </p:cNvPr>
            <p:cNvSpPr/>
            <p:nvPr/>
          </p:nvSpPr>
          <p:spPr>
            <a:xfrm>
              <a:off x="6395017" y="2904187"/>
              <a:ext cx="284152" cy="196254"/>
            </a:xfrm>
            <a:prstGeom prst="rect">
              <a:avLst/>
            </a:prstGeom>
            <a:noFill/>
            <a:ln/>
          </p:spPr>
          <p:txBody>
            <a:bodyPr wrap="none" lIns="0" tIns="0" rIns="0" bIns="0" rtlCol="0" anchor="ctr"/>
            <a:lstStyle/>
            <a:p>
              <a:pPr marL="0" indent="0" algn="l">
                <a:lnSpc>
                  <a:spcPct val="100000"/>
                </a:lnSpc>
                <a:buNone/>
              </a:pPr>
              <a:r>
                <a:rPr lang="en-US" sz="2000" dirty="0">
                  <a:solidFill>
                    <a:srgbClr val="3C3939"/>
                  </a:solidFill>
                  <a:ea typeface="Calibri" pitchFamily="34" charset="-122"/>
                  <a:cs typeface="Calibri" pitchFamily="34" charset="-120"/>
                </a:rPr>
                <a:t>02</a:t>
              </a:r>
              <a:endParaRPr lang="en-US" sz="2000" dirty="0"/>
            </a:p>
          </p:txBody>
        </p:sp>
        <p:sp>
          <p:nvSpPr>
            <p:cNvPr id="40" name="Shape 27">
              <a:extLst>
                <a:ext uri="{FF2B5EF4-FFF2-40B4-BE49-F238E27FC236}">
                  <a16:creationId xmlns:a16="http://schemas.microsoft.com/office/drawing/2014/main" id="{07719C5C-16C3-4708-A411-08F13D7F265C}"/>
                </a:ext>
              </a:extLst>
            </p:cNvPr>
            <p:cNvSpPr/>
            <p:nvPr/>
          </p:nvSpPr>
          <p:spPr>
            <a:xfrm>
              <a:off x="6395017" y="3149393"/>
              <a:ext cx="5389236" cy="21557"/>
            </a:xfrm>
            <a:prstGeom prst="rect">
              <a:avLst/>
            </a:prstGeom>
            <a:solidFill>
              <a:srgbClr val="1B1B27"/>
            </a:solidFill>
            <a:ln/>
          </p:spPr>
        </p:sp>
        <p:sp>
          <p:nvSpPr>
            <p:cNvPr id="41" name="Text 28">
              <a:extLst>
                <a:ext uri="{FF2B5EF4-FFF2-40B4-BE49-F238E27FC236}">
                  <a16:creationId xmlns:a16="http://schemas.microsoft.com/office/drawing/2014/main" id="{0CFF84C9-CADA-495B-AEBB-BE7441F3039F}"/>
                </a:ext>
              </a:extLst>
            </p:cNvPr>
            <p:cNvSpPr/>
            <p:nvPr/>
          </p:nvSpPr>
          <p:spPr>
            <a:xfrm>
              <a:off x="6395017" y="3270986"/>
              <a:ext cx="5389236" cy="245430"/>
            </a:xfrm>
            <a:prstGeom prst="rect">
              <a:avLst/>
            </a:prstGeom>
            <a:noFill/>
            <a:ln/>
          </p:spPr>
          <p:txBody>
            <a:bodyPr wrap="none" lIns="0" tIns="0" rIns="0" bIns="0" rtlCol="0" anchor="t"/>
            <a:lstStyle/>
            <a:p>
              <a:pPr marL="0" indent="0" algn="l">
                <a:lnSpc>
                  <a:spcPct val="104000"/>
                </a:lnSpc>
                <a:buNone/>
              </a:pPr>
              <a:r>
                <a:rPr lang="en-US" sz="2000" b="1" dirty="0">
                  <a:solidFill>
                    <a:srgbClr val="1B1B27"/>
                  </a:solidFill>
                  <a:ea typeface="Calibri" pitchFamily="34" charset="-122"/>
                  <a:cs typeface="Calibri" pitchFamily="34" charset="-120"/>
                </a:rPr>
                <a:t>Çıktı</a:t>
              </a:r>
              <a:r>
                <a:rPr lang="en-US" sz="2000" b="1" i="1" dirty="0">
                  <a:solidFill>
                    <a:srgbClr val="3C3939"/>
                  </a:solidFill>
                  <a:ea typeface="Calibri" pitchFamily="34" charset="-122"/>
                  <a:cs typeface="Calibri" pitchFamily="34" charset="-120"/>
                </a:rPr>
                <a:t>(</a:t>
              </a:r>
              <a:r>
                <a:rPr lang="en-US" sz="2000" b="1" i="1" dirty="0" err="1">
                  <a:solidFill>
                    <a:srgbClr val="3C3939"/>
                  </a:solidFill>
                  <a:ea typeface="Calibri" pitchFamily="34" charset="-122"/>
                  <a:cs typeface="Calibri" pitchFamily="34" charset="-120"/>
                </a:rPr>
                <a:t>etiket</a:t>
              </a:r>
              <a:r>
                <a:rPr lang="en-US" sz="2000" b="1" i="1" dirty="0">
                  <a:solidFill>
                    <a:srgbClr val="3C3939"/>
                  </a:solidFill>
                  <a:ea typeface="Calibri" pitchFamily="34" charset="-122"/>
                  <a:cs typeface="Calibri" pitchFamily="34" charset="-120"/>
                </a:rPr>
                <a:t>)</a:t>
              </a:r>
              <a:r>
                <a:rPr lang="en-US" sz="2000" b="1" dirty="0">
                  <a:solidFill>
                    <a:srgbClr val="3C3939"/>
                  </a:solidFill>
                  <a:ea typeface="Calibri" pitchFamily="34" charset="-122"/>
                  <a:cs typeface="Calibri" pitchFamily="34" charset="-120"/>
                </a:rPr>
                <a:t> →</a:t>
              </a:r>
              <a:endParaRPr lang="en-US" sz="2000" dirty="0"/>
            </a:p>
          </p:txBody>
        </p:sp>
        <p:sp>
          <p:nvSpPr>
            <p:cNvPr id="42" name="Text 29">
              <a:extLst>
                <a:ext uri="{FF2B5EF4-FFF2-40B4-BE49-F238E27FC236}">
                  <a16:creationId xmlns:a16="http://schemas.microsoft.com/office/drawing/2014/main" id="{115A6B00-A12A-4309-B66B-EBC1651366CE}"/>
                </a:ext>
              </a:extLst>
            </p:cNvPr>
            <p:cNvSpPr/>
            <p:nvPr/>
          </p:nvSpPr>
          <p:spPr>
            <a:xfrm>
              <a:off x="9037277" y="3269976"/>
              <a:ext cx="1436760" cy="362980"/>
            </a:xfrm>
            <a:prstGeom prst="rect">
              <a:avLst/>
            </a:prstGeom>
            <a:noFill/>
            <a:ln/>
          </p:spPr>
          <p:txBody>
            <a:bodyPr wrap="square" lIns="0" tIns="0" rIns="0" bIns="0" rtlCol="0" anchor="t">
              <a:noAutofit/>
            </a:bodyPr>
            <a:lstStyle/>
            <a:p>
              <a:pPr marL="0" indent="0" algn="l">
                <a:lnSpc>
                  <a:spcPct val="116000"/>
                </a:lnSpc>
                <a:buNone/>
              </a:pPr>
              <a:r>
                <a:rPr lang="tr-TR" sz="2000" b="0" dirty="0">
                  <a:solidFill>
                    <a:srgbClr val="30343B"/>
                  </a:solidFill>
                  <a:latin typeface="Calibri"/>
                  <a:ea typeface="Calibri"/>
                  <a:cs typeface="Calibri"/>
                </a:rPr>
                <a:t>Gerçek fiyatlar</a:t>
              </a:r>
              <a:endParaRPr lang="tr-TR" sz="2000"/>
            </a:p>
          </p:txBody>
        </p:sp>
        <p:sp>
          <p:nvSpPr>
            <p:cNvPr id="43" name="Text 30">
              <a:extLst>
                <a:ext uri="{FF2B5EF4-FFF2-40B4-BE49-F238E27FC236}">
                  <a16:creationId xmlns:a16="http://schemas.microsoft.com/office/drawing/2014/main" id="{78DEA631-DAC3-4882-A369-7EF50A43DB15}"/>
                </a:ext>
              </a:extLst>
            </p:cNvPr>
            <p:cNvSpPr/>
            <p:nvPr/>
          </p:nvSpPr>
          <p:spPr>
            <a:xfrm>
              <a:off x="6395017" y="4082724"/>
              <a:ext cx="284152" cy="196254"/>
            </a:xfrm>
            <a:prstGeom prst="rect">
              <a:avLst/>
            </a:prstGeom>
            <a:noFill/>
            <a:ln/>
          </p:spPr>
          <p:txBody>
            <a:bodyPr wrap="none" lIns="0" tIns="0" rIns="0" bIns="0" rtlCol="0" anchor="ctr"/>
            <a:lstStyle/>
            <a:p>
              <a:pPr marL="0" indent="0" algn="l">
                <a:lnSpc>
                  <a:spcPct val="100000"/>
                </a:lnSpc>
                <a:buNone/>
              </a:pPr>
              <a:r>
                <a:rPr lang="en-US" sz="2000" dirty="0">
                  <a:solidFill>
                    <a:srgbClr val="3C3939"/>
                  </a:solidFill>
                  <a:ea typeface="Calibri" pitchFamily="34" charset="-122"/>
                  <a:cs typeface="Calibri" pitchFamily="34" charset="-120"/>
                </a:rPr>
                <a:t>03</a:t>
              </a:r>
              <a:endParaRPr lang="en-US" sz="2000" dirty="0"/>
            </a:p>
          </p:txBody>
        </p:sp>
        <p:sp>
          <p:nvSpPr>
            <p:cNvPr id="44" name="Shape 31">
              <a:extLst>
                <a:ext uri="{FF2B5EF4-FFF2-40B4-BE49-F238E27FC236}">
                  <a16:creationId xmlns:a16="http://schemas.microsoft.com/office/drawing/2014/main" id="{1D49CC28-C9E0-460F-8F90-29162F59E98D}"/>
                </a:ext>
              </a:extLst>
            </p:cNvPr>
            <p:cNvSpPr/>
            <p:nvPr/>
          </p:nvSpPr>
          <p:spPr>
            <a:xfrm>
              <a:off x="6395017" y="4327930"/>
              <a:ext cx="5389236" cy="21557"/>
            </a:xfrm>
            <a:prstGeom prst="rect">
              <a:avLst/>
            </a:prstGeom>
            <a:solidFill>
              <a:srgbClr val="1B1B27"/>
            </a:solidFill>
            <a:ln/>
          </p:spPr>
        </p:sp>
        <p:sp>
          <p:nvSpPr>
            <p:cNvPr id="45" name="Text 32">
              <a:extLst>
                <a:ext uri="{FF2B5EF4-FFF2-40B4-BE49-F238E27FC236}">
                  <a16:creationId xmlns:a16="http://schemas.microsoft.com/office/drawing/2014/main" id="{2B95A552-1F8F-42A9-B553-405E27D711CD}"/>
                </a:ext>
              </a:extLst>
            </p:cNvPr>
            <p:cNvSpPr/>
            <p:nvPr/>
          </p:nvSpPr>
          <p:spPr>
            <a:xfrm>
              <a:off x="6395017" y="4449523"/>
              <a:ext cx="5389236" cy="252616"/>
            </a:xfrm>
            <a:prstGeom prst="rect">
              <a:avLst/>
            </a:prstGeom>
            <a:noFill/>
            <a:ln/>
          </p:spPr>
          <p:txBody>
            <a:bodyPr wrap="none" lIns="0" tIns="0" rIns="0" bIns="0" rtlCol="0" anchor="t"/>
            <a:lstStyle/>
            <a:p>
              <a:pPr marL="0" indent="0" algn="l">
                <a:lnSpc>
                  <a:spcPct val="104000"/>
                </a:lnSpc>
                <a:buNone/>
              </a:pPr>
              <a:r>
                <a:rPr lang="en-US" sz="2000" dirty="0">
                  <a:solidFill>
                    <a:srgbClr val="000000"/>
                  </a:solidFill>
                  <a:ea typeface="Calibri" pitchFamily="34" charset="-122"/>
                  <a:cs typeface="Calibri" pitchFamily="34" charset="-120"/>
                </a:rPr>
                <a:t>🧠</a:t>
              </a:r>
              <a:r>
                <a:rPr lang="en-US" sz="2000" b="1" dirty="0" err="1">
                  <a:solidFill>
                    <a:srgbClr val="3C3939"/>
                  </a:solidFill>
                  <a:ea typeface="Calibri" pitchFamily="34" charset="-122"/>
                  <a:cs typeface="Calibri" pitchFamily="34" charset="-120"/>
                </a:rPr>
                <a:t>Bilgisayar</a:t>
              </a:r>
              <a:r>
                <a:rPr lang="en-US" sz="2000" b="1" dirty="0">
                  <a:solidFill>
                    <a:srgbClr val="3C3939"/>
                  </a:solidFill>
                  <a:ea typeface="Calibri" pitchFamily="34" charset="-122"/>
                  <a:cs typeface="Calibri" pitchFamily="34" charset="-120"/>
                </a:rPr>
                <a:t> →</a:t>
              </a:r>
              <a:endParaRPr lang="en-US" sz="2000" dirty="0"/>
            </a:p>
          </p:txBody>
        </p:sp>
        <p:sp>
          <p:nvSpPr>
            <p:cNvPr id="46" name="Text 33">
              <a:extLst>
                <a:ext uri="{FF2B5EF4-FFF2-40B4-BE49-F238E27FC236}">
                  <a16:creationId xmlns:a16="http://schemas.microsoft.com/office/drawing/2014/main" id="{D9870FFE-8B5B-4F12-B2CA-87917140E249}"/>
                </a:ext>
              </a:extLst>
            </p:cNvPr>
            <p:cNvSpPr/>
            <p:nvPr/>
          </p:nvSpPr>
          <p:spPr>
            <a:xfrm>
              <a:off x="9037277" y="4475344"/>
              <a:ext cx="2238344" cy="350969"/>
            </a:xfrm>
            <a:prstGeom prst="rect">
              <a:avLst/>
            </a:prstGeom>
            <a:noFill/>
            <a:ln/>
          </p:spPr>
          <p:txBody>
            <a:bodyPr wrap="square" lIns="0" tIns="0" rIns="0" bIns="0" rtlCol="0" anchor="t">
              <a:noAutofit/>
            </a:bodyPr>
            <a:lstStyle/>
            <a:p>
              <a:pPr marL="0" indent="0" algn="l">
                <a:lnSpc>
                  <a:spcPct val="116000"/>
                </a:lnSpc>
                <a:buNone/>
              </a:pPr>
              <a:r>
                <a:rPr lang="tr-TR" sz="2000" b="0" dirty="0">
                  <a:solidFill>
                    <a:srgbClr val="30343B"/>
                  </a:solidFill>
                  <a:latin typeface="Calibri"/>
                  <a:ea typeface="Calibri"/>
                  <a:cs typeface="Calibri"/>
                </a:rPr>
                <a:t>İlişkiyi öğrenir</a:t>
              </a:r>
              <a:endParaRPr lang="tr-TR" sz="2000"/>
            </a:p>
          </p:txBody>
        </p:sp>
        <p:sp>
          <p:nvSpPr>
            <p:cNvPr id="47" name="Text 34">
              <a:extLst>
                <a:ext uri="{FF2B5EF4-FFF2-40B4-BE49-F238E27FC236}">
                  <a16:creationId xmlns:a16="http://schemas.microsoft.com/office/drawing/2014/main" id="{25D4911B-6AE9-4C05-A20F-309391927214}"/>
                </a:ext>
              </a:extLst>
            </p:cNvPr>
            <p:cNvSpPr/>
            <p:nvPr/>
          </p:nvSpPr>
          <p:spPr>
            <a:xfrm>
              <a:off x="6395017" y="5268448"/>
              <a:ext cx="284152" cy="196254"/>
            </a:xfrm>
            <a:prstGeom prst="rect">
              <a:avLst/>
            </a:prstGeom>
            <a:noFill/>
            <a:ln/>
          </p:spPr>
          <p:txBody>
            <a:bodyPr wrap="none" lIns="0" tIns="0" rIns="0" bIns="0" rtlCol="0" anchor="ctr"/>
            <a:lstStyle/>
            <a:p>
              <a:pPr marL="0" indent="0" algn="l">
                <a:lnSpc>
                  <a:spcPct val="100000"/>
                </a:lnSpc>
                <a:buNone/>
              </a:pPr>
              <a:r>
                <a:rPr lang="en-US" sz="2000" dirty="0">
                  <a:solidFill>
                    <a:srgbClr val="3C3939"/>
                  </a:solidFill>
                  <a:ea typeface="Calibri" pitchFamily="34" charset="-122"/>
                  <a:cs typeface="Calibri" pitchFamily="34" charset="-120"/>
                </a:rPr>
                <a:t>04</a:t>
              </a:r>
              <a:endParaRPr lang="en-US" sz="2000" dirty="0"/>
            </a:p>
          </p:txBody>
        </p:sp>
        <p:sp>
          <p:nvSpPr>
            <p:cNvPr id="48" name="Shape 35">
              <a:extLst>
                <a:ext uri="{FF2B5EF4-FFF2-40B4-BE49-F238E27FC236}">
                  <a16:creationId xmlns:a16="http://schemas.microsoft.com/office/drawing/2014/main" id="{31E31A4D-2DFE-4065-8E07-360B3308D5FA}"/>
                </a:ext>
              </a:extLst>
            </p:cNvPr>
            <p:cNvSpPr/>
            <p:nvPr/>
          </p:nvSpPr>
          <p:spPr>
            <a:xfrm>
              <a:off x="6395017" y="5513653"/>
              <a:ext cx="5389236" cy="21557"/>
            </a:xfrm>
            <a:prstGeom prst="rect">
              <a:avLst/>
            </a:prstGeom>
            <a:solidFill>
              <a:srgbClr val="1B1B27"/>
            </a:solidFill>
            <a:ln/>
          </p:spPr>
        </p:sp>
        <p:sp>
          <p:nvSpPr>
            <p:cNvPr id="49" name="Text 36">
              <a:extLst>
                <a:ext uri="{FF2B5EF4-FFF2-40B4-BE49-F238E27FC236}">
                  <a16:creationId xmlns:a16="http://schemas.microsoft.com/office/drawing/2014/main" id="{B31CA38A-0AB6-4AD2-9ECC-A1826F510953}"/>
                </a:ext>
              </a:extLst>
            </p:cNvPr>
            <p:cNvSpPr/>
            <p:nvPr/>
          </p:nvSpPr>
          <p:spPr>
            <a:xfrm>
              <a:off x="6395017" y="5635245"/>
              <a:ext cx="5389236" cy="245430"/>
            </a:xfrm>
            <a:prstGeom prst="rect">
              <a:avLst/>
            </a:prstGeom>
            <a:noFill/>
            <a:ln/>
          </p:spPr>
          <p:txBody>
            <a:bodyPr wrap="square" lIns="0" tIns="0" rIns="0" bIns="0" rtlCol="0" anchor="t">
              <a:noAutofit/>
            </a:bodyPr>
            <a:lstStyle/>
            <a:p>
              <a:pPr marL="0" indent="0" algn="l">
                <a:lnSpc>
                  <a:spcPct val="104000"/>
                </a:lnSpc>
                <a:buNone/>
              </a:pPr>
              <a:r>
                <a:rPr lang="tr-TR" sz="2000" b="1" dirty="0">
                  <a:solidFill>
                    <a:srgbClr val="30343B"/>
                  </a:solidFill>
                  <a:latin typeface="Calibri"/>
                  <a:ea typeface="Calibri"/>
                  <a:cs typeface="Calibri"/>
                </a:rPr>
                <a:t>Öğrenilen model</a:t>
              </a:r>
              <a:r>
                <a:rPr lang="en-US" sz="2000" b="1" dirty="0">
                  <a:solidFill>
                    <a:srgbClr val="3C3939"/>
                  </a:solidFill>
                  <a:ea typeface="Calibri" pitchFamily="34" charset="-122"/>
                  <a:cs typeface="Calibri" pitchFamily="34" charset="-120"/>
                </a:rPr>
                <a:t> →</a:t>
              </a:r>
              <a:endParaRPr lang="tr-TR" sz="2000" b="1" dirty="0"/>
            </a:p>
          </p:txBody>
        </p:sp>
        <p:sp>
          <p:nvSpPr>
            <p:cNvPr id="50" name="Text 37">
              <a:extLst>
                <a:ext uri="{FF2B5EF4-FFF2-40B4-BE49-F238E27FC236}">
                  <a16:creationId xmlns:a16="http://schemas.microsoft.com/office/drawing/2014/main" id="{B7D3D4D2-A209-44CA-A674-F67D9610AF45}"/>
                </a:ext>
              </a:extLst>
            </p:cNvPr>
            <p:cNvSpPr/>
            <p:nvPr/>
          </p:nvSpPr>
          <p:spPr>
            <a:xfrm>
              <a:off x="9037277" y="5705303"/>
              <a:ext cx="1959274" cy="350743"/>
            </a:xfrm>
            <a:prstGeom prst="rect">
              <a:avLst/>
            </a:prstGeom>
            <a:noFill/>
            <a:ln/>
          </p:spPr>
          <p:txBody>
            <a:bodyPr wrap="square" lIns="0" tIns="0" rIns="0" bIns="0" rtlCol="0" anchor="t">
              <a:noAutofit/>
            </a:bodyPr>
            <a:lstStyle/>
            <a:p>
              <a:pPr marL="0" indent="0" algn="l">
                <a:lnSpc>
                  <a:spcPct val="116000"/>
                </a:lnSpc>
                <a:buNone/>
              </a:pPr>
              <a:r>
                <a:rPr lang="tr-TR" sz="2000" b="0" dirty="0">
                  <a:solidFill>
                    <a:srgbClr val="30343B"/>
                  </a:solidFill>
                  <a:latin typeface="Calibri"/>
                  <a:ea typeface="Calibri"/>
                  <a:cs typeface="Calibri"/>
                </a:rPr>
                <a:t>Yeni fiyat tahmini</a:t>
              </a:r>
              <a:endParaRPr lang="tr-TR" sz="2000"/>
            </a:p>
          </p:txBody>
        </p:sp>
      </p:grpSp>
      <p:sp>
        <p:nvSpPr>
          <p:cNvPr id="100" name="Öğrenme için çok sayıda örnek gerekir. Tek bir ev,"/>
          <p:cNvSpPr txBox="1"/>
          <p:nvPr/>
        </p:nvSpPr>
        <p:spPr>
          <a:xfrm>
            <a:off x="457200" y="6248400"/>
            <a:ext cx="11049000" cy="447675"/>
          </a:xfrm>
          <a:prstGeom prst="rect">
            <a:avLst/>
          </a:prstGeom>
          <a:noFill/>
          <a:ln>
            <a:noFill/>
          </a:ln>
        </p:spPr>
        <p:txBody>
          <a:bodyPr wrap="square" lIns="0" tIns="0" rIns="0" bIns="0">
            <a:noAutofit/>
          </a:bodyPr>
          <a:lstStyle/>
          <a:p>
            <a:pPr marL="0" indent="0"/>
            <a:r>
              <a:rPr lang="tr-TR" sz="2000">
                <a:solidFill>
                  <a:srgbClr val="1E2A4E"/>
                </a:solidFill>
                <a:latin typeface="Calibri"/>
                <a:ea typeface="Calibri"/>
                <a:cs typeface="Calibri"/>
              </a:rPr>
              <a:t>Öğrenme için çok sayıda örnek gerekir. Tek bir ev, genel kuralı belirlemez.</a:t>
            </a:r>
            <a:endParaRPr lang="tr-TR" sz="2000"/>
          </a:p>
        </p:txBody>
      </p:sp>
    </p:spTree>
    <p:extLst>
      <p:ext uri="{BB962C8B-B14F-4D97-AF65-F5344CB8AC3E}">
        <p14:creationId xmlns:p14="http://schemas.microsoft.com/office/powerpoint/2010/main" val="120886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4D16B1D-A1AB-4048-A95E-2C7800A36719}"/>
              </a:ext>
            </a:extLst>
          </p:cNvPr>
          <p:cNvSpPr/>
          <p:nvPr/>
        </p:nvSpPr>
        <p:spPr>
          <a:xfrm>
            <a:off x="457200" y="285750"/>
            <a:ext cx="11239500" cy="685800"/>
          </a:xfrm>
          <a:prstGeom prst="rect">
            <a:avLst/>
          </a:prstGeom>
          <a:noFill/>
          <a:ln/>
        </p:spPr>
        <p:txBody>
          <a:bodyPr wrap="square" lIns="0" tIns="0" rIns="0" bIns="0" rtlCol="0" anchor="t">
            <a:noAutofit/>
          </a:bodyPr>
          <a:lstStyle/>
          <a:p>
            <a:pPr marL="0" indent="0" algn="l">
              <a:lnSpc>
                <a:spcPct val="104000"/>
              </a:lnSpc>
              <a:buNone/>
            </a:pPr>
            <a:r>
              <a:rPr lang="tr-TR" sz="3200" b="1" dirty="0">
                <a:solidFill>
                  <a:srgbClr val="1E2A4E"/>
                </a:solidFill>
                <a:latin typeface="Calibri"/>
                <a:ea typeface="Calibri"/>
                <a:cs typeface="Calibri"/>
              </a:rPr>
              <a:t>Öğrenme yöntemleri</a:t>
            </a:r>
            <a:endParaRPr lang="tr-TR" sz="3200"/>
          </a:p>
        </p:txBody>
      </p:sp>
      <p:sp>
        <p:nvSpPr>
          <p:cNvPr id="4" name="Text 1">
            <a:extLst>
              <a:ext uri="{FF2B5EF4-FFF2-40B4-BE49-F238E27FC236}">
                <a16:creationId xmlns:a16="http://schemas.microsoft.com/office/drawing/2014/main" id="{B3CFB86F-E5B1-4028-965D-943FC2AF7E57}"/>
              </a:ext>
            </a:extLst>
          </p:cNvPr>
          <p:cNvSpPr/>
          <p:nvPr/>
        </p:nvSpPr>
        <p:spPr>
          <a:xfrm>
            <a:off x="634548" y="3532003"/>
            <a:ext cx="3282570" cy="447675"/>
          </a:xfrm>
          <a:prstGeom prst="rect">
            <a:avLst/>
          </a:prstGeom>
          <a:noFill/>
          <a:ln/>
        </p:spPr>
        <p:txBody>
          <a:bodyPr wrap="square" lIns="0" tIns="0" rIns="0" bIns="0" rtlCol="0" anchor="t">
            <a:noAutofit/>
          </a:bodyPr>
          <a:lstStyle/>
          <a:p>
            <a:pPr marL="0" indent="0" algn="l">
              <a:lnSpc>
                <a:spcPct val="104000"/>
              </a:lnSpc>
              <a:buNone/>
            </a:pPr>
            <a:r>
              <a:rPr lang="tr-TR" sz="2200" b="1" dirty="0">
                <a:solidFill>
                  <a:srgbClr val="1E2A4E"/>
                </a:solidFill>
                <a:latin typeface="Calibri"/>
                <a:ea typeface="Calibri"/>
                <a:cs typeface="Calibri"/>
              </a:rPr>
              <a:t>Denetimli Öğrenme</a:t>
            </a:r>
            <a:endParaRPr lang="tr-TR" sz="2200"/>
          </a:p>
        </p:txBody>
      </p:sp>
      <p:sp>
        <p:nvSpPr>
          <p:cNvPr id="5" name="Text 2">
            <a:extLst>
              <a:ext uri="{FF2B5EF4-FFF2-40B4-BE49-F238E27FC236}">
                <a16:creationId xmlns:a16="http://schemas.microsoft.com/office/drawing/2014/main" id="{D0CD5B43-DB02-48B1-828A-7D9BC452440C}"/>
              </a:ext>
            </a:extLst>
          </p:cNvPr>
          <p:cNvSpPr/>
          <p:nvPr/>
        </p:nvSpPr>
        <p:spPr>
          <a:xfrm>
            <a:off x="590550" y="4048125"/>
            <a:ext cx="3362325" cy="2171700"/>
          </a:xfrm>
          <a:prstGeom prst="rect">
            <a:avLst/>
          </a:prstGeom>
          <a:noFill/>
          <a:ln/>
        </p:spPr>
        <p:txBody>
          <a:bodyPr wrap="square" lIns="0" tIns="0" rIns="0" bIns="0" rtlCol="0" anchor="t">
            <a:noAutofit/>
          </a:bodyPr>
          <a:lstStyle/>
          <a:p>
            <a:pPr marL="0" indent="0" algn="l">
              <a:lnSpc>
                <a:spcPct val="132000"/>
              </a:lnSpc>
              <a:spcAft>
                <a:spcPts val="1250"/>
              </a:spcAft>
              <a:buNone/>
            </a:pPr>
            <a:r>
              <a:rPr lang="tr-TR" sz="2200" b="0" dirty="0">
                <a:solidFill>
                  <a:srgbClr val="30343B"/>
                </a:solidFill>
                <a:latin typeface="Calibri"/>
                <a:ea typeface="Calibri"/>
                <a:cs typeface="Calibri"/>
              </a:rPr>
              <a:t>Özellikler ve gerçek etiketler birlikte verilir.</a:t>
            </a:r>
            <a:endParaRPr lang="tr-TR" sz="2200"/>
          </a:p>
          <a:p>
            <a:pPr marL="0" indent="0" algn="l">
              <a:lnSpc>
                <a:spcPct val="132000"/>
              </a:lnSpc>
              <a:spcAft>
                <a:spcPts val="1250"/>
              </a:spcAft>
              <a:buNone/>
            </a:pPr>
            <a:endParaRPr lang="tr-TR" sz="2200"/>
          </a:p>
          <a:p>
            <a:pPr marL="0" indent="0" algn="l">
              <a:lnSpc>
                <a:spcPct val="132000"/>
              </a:lnSpc>
              <a:spcAft>
                <a:spcPts val="1250"/>
              </a:spcAft>
              <a:buNone/>
            </a:pPr>
            <a:r>
              <a:rPr lang="tr-TR" sz="2200" b="0" dirty="0">
                <a:solidFill>
                  <a:srgbClr val="30343B"/>
                </a:solidFill>
                <a:latin typeface="Calibri"/>
                <a:ea typeface="Calibri"/>
                <a:cs typeface="Calibri"/>
              </a:rPr>
              <a:t>Örnek: Fiyatı bilinen evlerden fiyat tahmini.</a:t>
            </a:r>
            <a:endParaRPr lang="tr-TR" sz="2200"/>
          </a:p>
        </p:txBody>
      </p:sp>
      <p:sp>
        <p:nvSpPr>
          <p:cNvPr id="7" name="Text 3">
            <a:extLst>
              <a:ext uri="{FF2B5EF4-FFF2-40B4-BE49-F238E27FC236}">
                <a16:creationId xmlns:a16="http://schemas.microsoft.com/office/drawing/2014/main" id="{533E6A70-27A7-4E33-BB59-DCCD4330447C}"/>
              </a:ext>
            </a:extLst>
          </p:cNvPr>
          <p:cNvSpPr/>
          <p:nvPr/>
        </p:nvSpPr>
        <p:spPr>
          <a:xfrm>
            <a:off x="4398112" y="3532002"/>
            <a:ext cx="3395776" cy="447675"/>
          </a:xfrm>
          <a:prstGeom prst="rect">
            <a:avLst/>
          </a:prstGeom>
          <a:noFill/>
          <a:ln/>
        </p:spPr>
        <p:txBody>
          <a:bodyPr wrap="square" lIns="0" tIns="0" rIns="0" bIns="0" rtlCol="0" anchor="t">
            <a:noAutofit/>
          </a:bodyPr>
          <a:lstStyle/>
          <a:p>
            <a:pPr marL="0" indent="0" algn="l">
              <a:lnSpc>
                <a:spcPct val="104000"/>
              </a:lnSpc>
              <a:buNone/>
            </a:pPr>
            <a:r>
              <a:rPr lang="tr-TR" sz="2200" b="1" dirty="0">
                <a:solidFill>
                  <a:srgbClr val="1E2A4E"/>
                </a:solidFill>
                <a:latin typeface="Calibri"/>
                <a:ea typeface="Calibri"/>
                <a:cs typeface="Calibri"/>
              </a:rPr>
              <a:t>Denetimsiz Öğrenme</a:t>
            </a:r>
            <a:endParaRPr lang="tr-TR" sz="2200"/>
          </a:p>
        </p:txBody>
      </p:sp>
      <p:sp>
        <p:nvSpPr>
          <p:cNvPr id="8" name="Text 4">
            <a:extLst>
              <a:ext uri="{FF2B5EF4-FFF2-40B4-BE49-F238E27FC236}">
                <a16:creationId xmlns:a16="http://schemas.microsoft.com/office/drawing/2014/main" id="{E5D3B12F-D2B7-4E64-BF06-6B6F63E869F5}"/>
              </a:ext>
            </a:extLst>
          </p:cNvPr>
          <p:cNvSpPr/>
          <p:nvPr/>
        </p:nvSpPr>
        <p:spPr>
          <a:xfrm>
            <a:off x="4352925" y="4048125"/>
            <a:ext cx="3581400" cy="2171700"/>
          </a:xfrm>
          <a:prstGeom prst="rect">
            <a:avLst/>
          </a:prstGeom>
          <a:noFill/>
          <a:ln/>
        </p:spPr>
        <p:txBody>
          <a:bodyPr wrap="square" lIns="0" tIns="0" rIns="0" bIns="0" rtlCol="0" anchor="t">
            <a:noAutofit/>
          </a:bodyPr>
          <a:lstStyle/>
          <a:p>
            <a:pPr marL="0" indent="0" algn="l">
              <a:lnSpc>
                <a:spcPct val="132000"/>
              </a:lnSpc>
              <a:spcAft>
                <a:spcPts val="1250"/>
              </a:spcAft>
              <a:buNone/>
            </a:pPr>
            <a:r>
              <a:rPr lang="tr-TR" sz="2200" b="0" dirty="0">
                <a:solidFill>
                  <a:srgbClr val="30343B"/>
                </a:solidFill>
                <a:latin typeface="Calibri"/>
                <a:ea typeface="Calibri"/>
                <a:cs typeface="Calibri"/>
              </a:rPr>
              <a:t>Etiket olmadan benzerlik ve örüntü aranır.</a:t>
            </a:r>
            <a:endParaRPr lang="tr-TR" sz="2200"/>
          </a:p>
          <a:p>
            <a:pPr marL="0" indent="0" algn="l">
              <a:lnSpc>
                <a:spcPct val="132000"/>
              </a:lnSpc>
              <a:spcAft>
                <a:spcPts val="1250"/>
              </a:spcAft>
              <a:buNone/>
            </a:pPr>
            <a:endParaRPr lang="tr-TR" sz="2200"/>
          </a:p>
          <a:p>
            <a:pPr marL="0" indent="0" algn="l">
              <a:lnSpc>
                <a:spcPct val="132000"/>
              </a:lnSpc>
              <a:spcAft>
                <a:spcPts val="1250"/>
              </a:spcAft>
              <a:buNone/>
            </a:pPr>
            <a:r>
              <a:rPr lang="tr-TR" sz="2200" b="0" dirty="0">
                <a:solidFill>
                  <a:srgbClr val="30343B"/>
                </a:solidFill>
                <a:latin typeface="Calibri"/>
                <a:ea typeface="Calibri"/>
                <a:cs typeface="Calibri"/>
              </a:rPr>
              <a:t>Örnek: Evleri özelliklerine göre kümeleme.</a:t>
            </a:r>
            <a:endParaRPr lang="tr-TR" sz="2200"/>
          </a:p>
        </p:txBody>
      </p:sp>
      <p:sp>
        <p:nvSpPr>
          <p:cNvPr id="10" name="Text 5">
            <a:extLst>
              <a:ext uri="{FF2B5EF4-FFF2-40B4-BE49-F238E27FC236}">
                <a16:creationId xmlns:a16="http://schemas.microsoft.com/office/drawing/2014/main" id="{2A3D5C9B-1A86-4C36-B329-2FE8F19B5CF8}"/>
              </a:ext>
            </a:extLst>
          </p:cNvPr>
          <p:cNvSpPr/>
          <p:nvPr/>
        </p:nvSpPr>
        <p:spPr>
          <a:xfrm>
            <a:off x="8274882" y="3479017"/>
            <a:ext cx="3282570" cy="447675"/>
          </a:xfrm>
          <a:prstGeom prst="rect">
            <a:avLst/>
          </a:prstGeom>
          <a:noFill/>
          <a:ln/>
        </p:spPr>
        <p:txBody>
          <a:bodyPr wrap="square" lIns="0" tIns="0" rIns="0" bIns="0" rtlCol="0" anchor="t">
            <a:noAutofit/>
          </a:bodyPr>
          <a:lstStyle/>
          <a:p>
            <a:pPr marL="0" indent="0" algn="l">
              <a:lnSpc>
                <a:spcPct val="104000"/>
              </a:lnSpc>
              <a:buNone/>
            </a:pPr>
            <a:r>
              <a:rPr lang="tr-TR" sz="2200" b="1" dirty="0">
                <a:solidFill>
                  <a:srgbClr val="1E2A4E"/>
                </a:solidFill>
                <a:latin typeface="Calibri"/>
                <a:ea typeface="Calibri"/>
                <a:cs typeface="Calibri"/>
              </a:rPr>
              <a:t>Pekiştirmeli Öğrenme</a:t>
            </a:r>
            <a:endParaRPr lang="tr-TR" sz="2200"/>
          </a:p>
        </p:txBody>
      </p:sp>
      <p:sp>
        <p:nvSpPr>
          <p:cNvPr id="11" name="Text 6">
            <a:extLst>
              <a:ext uri="{FF2B5EF4-FFF2-40B4-BE49-F238E27FC236}">
                <a16:creationId xmlns:a16="http://schemas.microsoft.com/office/drawing/2014/main" id="{CBBAD7C7-960A-4803-98CA-54A061DBF9F2}"/>
              </a:ext>
            </a:extLst>
          </p:cNvPr>
          <p:cNvSpPr/>
          <p:nvPr/>
        </p:nvSpPr>
        <p:spPr>
          <a:xfrm>
            <a:off x="8229600" y="4048125"/>
            <a:ext cx="3581400" cy="2171700"/>
          </a:xfrm>
          <a:prstGeom prst="rect">
            <a:avLst/>
          </a:prstGeom>
          <a:noFill/>
          <a:ln/>
        </p:spPr>
        <p:txBody>
          <a:bodyPr wrap="square" lIns="0" tIns="0" rIns="0" bIns="0" rtlCol="0" anchor="t">
            <a:noAutofit/>
          </a:bodyPr>
          <a:lstStyle/>
          <a:p>
            <a:pPr marL="0" indent="0" algn="l">
              <a:lnSpc>
                <a:spcPct val="132000"/>
              </a:lnSpc>
              <a:spcAft>
                <a:spcPts val="1250"/>
              </a:spcAft>
              <a:buNone/>
            </a:pPr>
            <a:r>
              <a:rPr lang="tr-TR" sz="2200" b="0" dirty="0">
                <a:solidFill>
                  <a:srgbClr val="30343B"/>
                </a:solidFill>
                <a:latin typeface="Calibri"/>
                <a:ea typeface="Calibri"/>
                <a:cs typeface="Calibri"/>
              </a:rPr>
              <a:t>Bir ajan, çevredeki eylemlerini ödüle göre geliştirir.</a:t>
            </a:r>
            <a:endParaRPr lang="tr-TR" sz="2200"/>
          </a:p>
          <a:p>
            <a:pPr marL="0" indent="0" algn="l">
              <a:lnSpc>
                <a:spcPct val="132000"/>
              </a:lnSpc>
              <a:spcAft>
                <a:spcPts val="1250"/>
              </a:spcAft>
              <a:buNone/>
            </a:pPr>
            <a:endParaRPr lang="tr-TR" sz="2200"/>
          </a:p>
          <a:p>
            <a:pPr marL="0" indent="0" algn="l">
              <a:lnSpc>
                <a:spcPct val="132000"/>
              </a:lnSpc>
              <a:spcAft>
                <a:spcPts val="1250"/>
              </a:spcAft>
              <a:buNone/>
            </a:pPr>
            <a:r>
              <a:rPr lang="tr-TR" sz="2200" b="0" dirty="0">
                <a:solidFill>
                  <a:srgbClr val="30343B"/>
                </a:solidFill>
                <a:latin typeface="Calibri"/>
                <a:ea typeface="Calibri"/>
                <a:cs typeface="Calibri"/>
              </a:rPr>
              <a:t>Örnek: Oyunda puanı artıran hamleleri öğrenme.</a:t>
            </a:r>
            <a:endParaRPr lang="tr-TR" sz="2200"/>
          </a:p>
        </p:txBody>
      </p:sp>
      <p:pic>
        <p:nvPicPr>
          <p:cNvPr id="13" name="Resim 12">
            <a:extLst>
              <a:ext uri="{FF2B5EF4-FFF2-40B4-BE49-F238E27FC236}">
                <a16:creationId xmlns:a16="http://schemas.microsoft.com/office/drawing/2014/main" id="{DB5915B9-88FC-4EB3-90CE-1AB08438660E}"/>
              </a:ext>
            </a:extLst>
          </p:cNvPr>
          <p:cNvPicPr>
            <a:picLocks noChangeAspect="1"/>
          </p:cNvPicPr>
          <p:nvPr/>
        </p:nvPicPr>
        <p:blipFill rotWithShape="1">
          <a:blip r:embed="rId3"/>
          <a:srcRect t="45369" r="68103" b="18793"/>
          <a:stretch/>
        </p:blipFill>
        <p:spPr>
          <a:xfrm>
            <a:off x="357712" y="933632"/>
            <a:ext cx="3003162" cy="2543814"/>
          </a:xfrm>
          <a:prstGeom prst="rect">
            <a:avLst/>
          </a:prstGeom>
        </p:spPr>
      </p:pic>
      <p:pic>
        <p:nvPicPr>
          <p:cNvPr id="14" name="Resim 13">
            <a:extLst>
              <a:ext uri="{FF2B5EF4-FFF2-40B4-BE49-F238E27FC236}">
                <a16:creationId xmlns:a16="http://schemas.microsoft.com/office/drawing/2014/main" id="{999CA96D-AF92-4BC0-B4CA-CBEF39CB5689}"/>
              </a:ext>
            </a:extLst>
          </p:cNvPr>
          <p:cNvPicPr>
            <a:picLocks noChangeAspect="1"/>
          </p:cNvPicPr>
          <p:nvPr/>
        </p:nvPicPr>
        <p:blipFill rotWithShape="1">
          <a:blip r:embed="rId3"/>
          <a:srcRect l="35631" t="44790" r="33243" b="17560"/>
          <a:stretch/>
        </p:blipFill>
        <p:spPr>
          <a:xfrm>
            <a:off x="4398831" y="859961"/>
            <a:ext cx="2951117" cy="2691156"/>
          </a:xfrm>
          <a:prstGeom prst="rect">
            <a:avLst/>
          </a:prstGeom>
        </p:spPr>
      </p:pic>
      <p:pic>
        <p:nvPicPr>
          <p:cNvPr id="15" name="Resim 14">
            <a:extLst>
              <a:ext uri="{FF2B5EF4-FFF2-40B4-BE49-F238E27FC236}">
                <a16:creationId xmlns:a16="http://schemas.microsoft.com/office/drawing/2014/main" id="{95A8BB28-E49A-49F7-A9B3-1F7379218241}"/>
              </a:ext>
            </a:extLst>
          </p:cNvPr>
          <p:cNvPicPr>
            <a:picLocks noChangeAspect="1"/>
          </p:cNvPicPr>
          <p:nvPr/>
        </p:nvPicPr>
        <p:blipFill rotWithShape="1">
          <a:blip r:embed="rId3"/>
          <a:srcRect l="67918" t="44928" r="637" b="17487"/>
          <a:stretch/>
        </p:blipFill>
        <p:spPr>
          <a:xfrm>
            <a:off x="8251796" y="777544"/>
            <a:ext cx="2951117" cy="2659161"/>
          </a:xfrm>
          <a:prstGeom prst="rect">
            <a:avLst/>
          </a:prstGeom>
        </p:spPr>
      </p:pic>
    </p:spTree>
    <p:extLst>
      <p:ext uri="{BB962C8B-B14F-4D97-AF65-F5344CB8AC3E}">
        <p14:creationId xmlns:p14="http://schemas.microsoft.com/office/powerpoint/2010/main" val="238347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4" name="Shape 8">
            <a:extLst>
              <a:ext uri="{FF2B5EF4-FFF2-40B4-BE49-F238E27FC236}">
                <a16:creationId xmlns:a16="http://schemas.microsoft.com/office/drawing/2014/main" id="{DD6F4E88-B7D8-449E-A607-0231E539D2B1}"/>
              </a:ext>
            </a:extLst>
          </p:cNvPr>
          <p:cNvSpPr/>
          <p:nvPr/>
        </p:nvSpPr>
        <p:spPr>
          <a:xfrm>
            <a:off x="6484709" y="5739065"/>
            <a:ext cx="4179021" cy="753657"/>
          </a:xfrm>
          <a:prstGeom prst="roundRect">
            <a:avLst>
              <a:gd name="adj" fmla="val 11338"/>
            </a:avLst>
          </a:prstGeom>
          <a:solidFill>
            <a:srgbClr val="F5F2E3"/>
          </a:solidFill>
          <a:ln/>
        </p:spPr>
      </p:sp>
      <p:sp>
        <p:nvSpPr>
          <p:cNvPr id="13" name="Shape 8">
            <a:extLst>
              <a:ext uri="{FF2B5EF4-FFF2-40B4-BE49-F238E27FC236}">
                <a16:creationId xmlns:a16="http://schemas.microsoft.com/office/drawing/2014/main" id="{ADEDBBE7-9606-48D9-91C5-A8B1C644A582}"/>
              </a:ext>
            </a:extLst>
          </p:cNvPr>
          <p:cNvSpPr/>
          <p:nvPr/>
        </p:nvSpPr>
        <p:spPr>
          <a:xfrm>
            <a:off x="609600" y="5626782"/>
            <a:ext cx="4179021" cy="753657"/>
          </a:xfrm>
          <a:prstGeom prst="roundRect">
            <a:avLst>
              <a:gd name="adj" fmla="val 11338"/>
            </a:avLst>
          </a:prstGeom>
          <a:solidFill>
            <a:srgbClr val="F5F2E3"/>
          </a:solidFill>
          <a:ln/>
        </p:spPr>
      </p:sp>
      <p:pic>
        <p:nvPicPr>
          <p:cNvPr id="12" name="Resim 11">
            <a:extLst>
              <a:ext uri="{FF2B5EF4-FFF2-40B4-BE49-F238E27FC236}">
                <a16:creationId xmlns:a16="http://schemas.microsoft.com/office/drawing/2014/main" id="{DE526052-2BED-4166-ABCB-770F0A1FA0D5}"/>
              </a:ext>
            </a:extLst>
          </p:cNvPr>
          <p:cNvPicPr>
            <a:picLocks noChangeAspect="1"/>
          </p:cNvPicPr>
          <p:nvPr/>
        </p:nvPicPr>
        <p:blipFill rotWithShape="1">
          <a:blip r:embed="rId3"/>
          <a:srcRect l="49619" t="29039" b="14771"/>
          <a:stretch/>
        </p:blipFill>
        <p:spPr>
          <a:xfrm>
            <a:off x="6001129" y="1922435"/>
            <a:ext cx="6142426" cy="3851402"/>
          </a:xfrm>
          <a:prstGeom prst="rect">
            <a:avLst/>
          </a:prstGeom>
        </p:spPr>
      </p:pic>
      <p:sp>
        <p:nvSpPr>
          <p:cNvPr id="2" name="Text 0">
            <a:extLst>
              <a:ext uri="{FF2B5EF4-FFF2-40B4-BE49-F238E27FC236}">
                <a16:creationId xmlns:a16="http://schemas.microsoft.com/office/drawing/2014/main" id="{FD75BB2D-E91C-434F-BF56-2AEE91335EB1}"/>
              </a:ext>
            </a:extLst>
          </p:cNvPr>
          <p:cNvSpPr/>
          <p:nvPr/>
        </p:nvSpPr>
        <p:spPr>
          <a:xfrm>
            <a:off x="457200" y="285750"/>
            <a:ext cx="11239500" cy="685800"/>
          </a:xfrm>
          <a:prstGeom prst="rect">
            <a:avLst/>
          </a:prstGeom>
          <a:noFill/>
          <a:ln/>
        </p:spPr>
        <p:txBody>
          <a:bodyPr wrap="square" lIns="0" tIns="0" rIns="0" bIns="0" rtlCol="0" anchor="t">
            <a:noAutofit/>
          </a:bodyPr>
          <a:lstStyle/>
          <a:p>
            <a:pPr marL="0" indent="0" algn="l">
              <a:lnSpc>
                <a:spcPct val="104000"/>
              </a:lnSpc>
              <a:buNone/>
            </a:pPr>
            <a:r>
              <a:rPr lang="tr-TR" sz="3200" b="1" dirty="0">
                <a:solidFill>
                  <a:srgbClr val="1E2A4E"/>
                </a:solidFill>
                <a:latin typeface="Calibri"/>
                <a:ea typeface="Calibri"/>
                <a:cs typeface="Calibri"/>
              </a:rPr>
              <a:t>Regresyon ve sınıflandırma</a:t>
            </a:r>
            <a:endParaRPr lang="tr-TR" sz="3200"/>
          </a:p>
        </p:txBody>
      </p:sp>
      <p:sp>
        <p:nvSpPr>
          <p:cNvPr id="3" name="Text 1">
            <a:extLst>
              <a:ext uri="{FF2B5EF4-FFF2-40B4-BE49-F238E27FC236}">
                <a16:creationId xmlns:a16="http://schemas.microsoft.com/office/drawing/2014/main" id="{7B488956-EE73-4E74-97F2-7C3C835C81F2}"/>
              </a:ext>
            </a:extLst>
          </p:cNvPr>
          <p:cNvSpPr/>
          <p:nvPr/>
        </p:nvSpPr>
        <p:spPr>
          <a:xfrm>
            <a:off x="457200" y="1114425"/>
            <a:ext cx="5286375" cy="409575"/>
          </a:xfrm>
          <a:prstGeom prst="rect">
            <a:avLst/>
          </a:prstGeom>
          <a:noFill/>
          <a:ln/>
        </p:spPr>
        <p:txBody>
          <a:bodyPr wrap="square" lIns="0" tIns="0" rIns="0" bIns="0" rtlCol="0" anchor="t">
            <a:noAutofit/>
          </a:bodyPr>
          <a:lstStyle/>
          <a:p>
            <a:pPr marL="0" indent="0" algn="l">
              <a:lnSpc>
                <a:spcPct val="104000"/>
              </a:lnSpc>
              <a:buNone/>
            </a:pPr>
            <a:r>
              <a:rPr lang="tr-TR" sz="2300" b="1" dirty="0">
                <a:solidFill>
                  <a:srgbClr val="1E2A4E"/>
                </a:solidFill>
                <a:latin typeface="Calibri"/>
                <a:ea typeface="Calibri"/>
                <a:cs typeface="Calibri"/>
              </a:rPr>
              <a:t>Regresyon: Sayı tahmini</a:t>
            </a:r>
            <a:endParaRPr lang="tr-TR" sz="2300"/>
          </a:p>
        </p:txBody>
      </p:sp>
      <p:sp>
        <p:nvSpPr>
          <p:cNvPr id="4" name="Text 2">
            <a:extLst>
              <a:ext uri="{FF2B5EF4-FFF2-40B4-BE49-F238E27FC236}">
                <a16:creationId xmlns:a16="http://schemas.microsoft.com/office/drawing/2014/main" id="{FB015799-CA6B-4BB1-949E-E5A78C0AA36A}"/>
              </a:ext>
            </a:extLst>
          </p:cNvPr>
          <p:cNvSpPr/>
          <p:nvPr/>
        </p:nvSpPr>
        <p:spPr>
          <a:xfrm>
            <a:off x="457200" y="1552575"/>
            <a:ext cx="5286375" cy="333375"/>
          </a:xfrm>
          <a:prstGeom prst="rect">
            <a:avLst/>
          </a:prstGeom>
          <a:noFill/>
          <a:ln/>
        </p:spPr>
        <p:txBody>
          <a:bodyPr wrap="square" lIns="0" tIns="0" rIns="0" bIns="0" rtlCol="0" anchor="t">
            <a:noAutofit/>
          </a:bodyPr>
          <a:lstStyle/>
          <a:p>
            <a:pPr marL="0" indent="0" algn="l">
              <a:lnSpc>
                <a:spcPct val="110000"/>
              </a:lnSpc>
              <a:spcAft>
                <a:spcPts val="550"/>
              </a:spcAft>
              <a:buNone/>
            </a:pPr>
            <a:r>
              <a:rPr lang="tr-TR" sz="2000" b="0" dirty="0">
                <a:solidFill>
                  <a:srgbClr val="30343B"/>
                </a:solidFill>
                <a:latin typeface="Calibri"/>
                <a:ea typeface="Calibri"/>
                <a:cs typeface="Calibri"/>
              </a:rPr>
              <a:t>Çıktı: Tahmini ev fiyatı</a:t>
            </a:r>
            <a:endParaRPr lang="tr-TR" sz="2000"/>
          </a:p>
        </p:txBody>
      </p:sp>
      <p:sp>
        <p:nvSpPr>
          <p:cNvPr id="6" name="Text 3">
            <a:extLst>
              <a:ext uri="{FF2B5EF4-FFF2-40B4-BE49-F238E27FC236}">
                <a16:creationId xmlns:a16="http://schemas.microsoft.com/office/drawing/2014/main" id="{F16149F9-1953-486A-85BA-6D00754E9342}"/>
              </a:ext>
            </a:extLst>
          </p:cNvPr>
          <p:cNvSpPr/>
          <p:nvPr/>
        </p:nvSpPr>
        <p:spPr>
          <a:xfrm>
            <a:off x="897632" y="5677816"/>
            <a:ext cx="5286375" cy="657225"/>
          </a:xfrm>
          <a:prstGeom prst="rect">
            <a:avLst/>
          </a:prstGeom>
          <a:noFill/>
          <a:ln/>
        </p:spPr>
        <p:txBody>
          <a:bodyPr wrap="square" lIns="0" tIns="0" rIns="0" bIns="0" rtlCol="0" anchor="t">
            <a:noAutofit/>
          </a:bodyPr>
          <a:lstStyle/>
          <a:p>
            <a:pPr marL="0" indent="0" algn="l">
              <a:lnSpc>
                <a:spcPct val="110000"/>
              </a:lnSpc>
              <a:buNone/>
            </a:pPr>
            <a:r>
              <a:rPr lang="tr-TR" sz="2000" b="0" dirty="0">
                <a:solidFill>
                  <a:srgbClr val="30343B"/>
                </a:solidFill>
                <a:latin typeface="Calibri"/>
                <a:ea typeface="Calibri"/>
                <a:cs typeface="Calibri"/>
              </a:rPr>
              <a:t>Lacivert noktalar: gözlemler</a:t>
            </a:r>
            <a:endParaRPr lang="tr-TR" sz="2000" dirty="0"/>
          </a:p>
          <a:p>
            <a:pPr marL="0" indent="0" algn="l">
              <a:lnSpc>
                <a:spcPct val="110000"/>
              </a:lnSpc>
              <a:buNone/>
            </a:pPr>
            <a:r>
              <a:rPr lang="tr-TR" sz="2000" b="0" dirty="0">
                <a:solidFill>
                  <a:srgbClr val="30343B"/>
                </a:solidFill>
                <a:latin typeface="Calibri"/>
                <a:ea typeface="Calibri"/>
                <a:cs typeface="Calibri"/>
              </a:rPr>
              <a:t>Mavi çizgi: doğrusal tahmin</a:t>
            </a:r>
            <a:endParaRPr lang="tr-TR" sz="2000" dirty="0"/>
          </a:p>
        </p:txBody>
      </p:sp>
      <p:sp>
        <p:nvSpPr>
          <p:cNvPr id="7" name="Text 4">
            <a:extLst>
              <a:ext uri="{FF2B5EF4-FFF2-40B4-BE49-F238E27FC236}">
                <a16:creationId xmlns:a16="http://schemas.microsoft.com/office/drawing/2014/main" id="{0E4E03E0-C6AD-43AE-8D63-0CBE1733BA94}"/>
              </a:ext>
            </a:extLst>
          </p:cNvPr>
          <p:cNvSpPr/>
          <p:nvPr/>
        </p:nvSpPr>
        <p:spPr>
          <a:xfrm>
            <a:off x="6248400" y="1114425"/>
            <a:ext cx="5286375" cy="409575"/>
          </a:xfrm>
          <a:prstGeom prst="rect">
            <a:avLst/>
          </a:prstGeom>
          <a:noFill/>
          <a:ln/>
        </p:spPr>
        <p:txBody>
          <a:bodyPr wrap="square" lIns="0" tIns="0" rIns="0" bIns="0" rtlCol="0" anchor="t">
            <a:noAutofit/>
          </a:bodyPr>
          <a:lstStyle/>
          <a:p>
            <a:pPr marL="0" indent="0" algn="l">
              <a:lnSpc>
                <a:spcPct val="104000"/>
              </a:lnSpc>
              <a:buNone/>
            </a:pPr>
            <a:r>
              <a:rPr lang="tr-TR" sz="2300" b="1" dirty="0">
                <a:solidFill>
                  <a:srgbClr val="1E2A4E"/>
                </a:solidFill>
                <a:latin typeface="Calibri"/>
                <a:ea typeface="Calibri"/>
                <a:cs typeface="Calibri"/>
              </a:rPr>
              <a:t>Sınıflandırma: Kategori tahmini</a:t>
            </a:r>
            <a:endParaRPr lang="tr-TR" sz="2300"/>
          </a:p>
        </p:txBody>
      </p:sp>
      <p:sp>
        <p:nvSpPr>
          <p:cNvPr id="8" name="Text 5">
            <a:extLst>
              <a:ext uri="{FF2B5EF4-FFF2-40B4-BE49-F238E27FC236}">
                <a16:creationId xmlns:a16="http://schemas.microsoft.com/office/drawing/2014/main" id="{EE5EF0DB-FBB3-4D22-B1A9-96D27F14BB43}"/>
              </a:ext>
            </a:extLst>
          </p:cNvPr>
          <p:cNvSpPr/>
          <p:nvPr/>
        </p:nvSpPr>
        <p:spPr>
          <a:xfrm>
            <a:off x="6248400" y="1552575"/>
            <a:ext cx="5286375" cy="333375"/>
          </a:xfrm>
          <a:prstGeom prst="rect">
            <a:avLst/>
          </a:prstGeom>
          <a:noFill/>
          <a:ln/>
        </p:spPr>
        <p:txBody>
          <a:bodyPr wrap="square" lIns="0" tIns="0" rIns="0" bIns="0" rtlCol="0" anchor="t">
            <a:noAutofit/>
          </a:bodyPr>
          <a:lstStyle/>
          <a:p>
            <a:pPr marL="0" indent="0" algn="l">
              <a:lnSpc>
                <a:spcPct val="110000"/>
              </a:lnSpc>
              <a:spcAft>
                <a:spcPts val="550"/>
              </a:spcAft>
              <a:buNone/>
            </a:pPr>
            <a:r>
              <a:rPr lang="tr-TR" sz="2000" b="0" dirty="0">
                <a:solidFill>
                  <a:srgbClr val="30343B"/>
                </a:solidFill>
                <a:latin typeface="Calibri"/>
                <a:ea typeface="Calibri"/>
                <a:cs typeface="Calibri"/>
              </a:rPr>
              <a:t>Çıktı: “Uygun” veya “Pahalı”</a:t>
            </a:r>
            <a:endParaRPr lang="tr-TR" sz="2000"/>
          </a:p>
        </p:txBody>
      </p:sp>
      <p:sp>
        <p:nvSpPr>
          <p:cNvPr id="10" name="Text 6">
            <a:extLst>
              <a:ext uri="{FF2B5EF4-FFF2-40B4-BE49-F238E27FC236}">
                <a16:creationId xmlns:a16="http://schemas.microsoft.com/office/drawing/2014/main" id="{18E43A3D-068E-41D1-A4D5-958AD4303E0A}"/>
              </a:ext>
            </a:extLst>
          </p:cNvPr>
          <p:cNvSpPr/>
          <p:nvPr/>
        </p:nvSpPr>
        <p:spPr>
          <a:xfrm>
            <a:off x="6705600" y="5810322"/>
            <a:ext cx="5334000" cy="609600"/>
          </a:xfrm>
          <a:prstGeom prst="rect">
            <a:avLst/>
          </a:prstGeom>
          <a:noFill/>
          <a:ln/>
        </p:spPr>
        <p:txBody>
          <a:bodyPr wrap="square" lIns="0" tIns="0" rIns="0" bIns="0" rtlCol="0" anchor="t">
            <a:noAutofit/>
          </a:bodyPr>
          <a:lstStyle/>
          <a:p>
            <a:pPr marL="0" indent="0" algn="l">
              <a:lnSpc>
                <a:spcPct val="110000"/>
              </a:lnSpc>
              <a:buNone/>
            </a:pPr>
            <a:r>
              <a:rPr lang="tr-TR" sz="2000" b="0" dirty="0">
                <a:solidFill>
                  <a:srgbClr val="30343B"/>
                </a:solidFill>
                <a:latin typeface="Calibri"/>
                <a:ea typeface="Calibri"/>
                <a:cs typeface="Calibri"/>
              </a:rPr>
              <a:t>Yeşil: Uygun   Lacivert: Pahalı</a:t>
            </a:r>
            <a:endParaRPr lang="tr-TR" sz="2000" dirty="0"/>
          </a:p>
          <a:p>
            <a:pPr marL="0" indent="0" algn="l">
              <a:lnSpc>
                <a:spcPct val="110000"/>
              </a:lnSpc>
              <a:buNone/>
            </a:pPr>
            <a:r>
              <a:rPr lang="tr-TR" sz="2000" b="0" dirty="0">
                <a:solidFill>
                  <a:srgbClr val="30343B"/>
                </a:solidFill>
                <a:latin typeface="Calibri"/>
                <a:ea typeface="Calibri"/>
                <a:cs typeface="Calibri"/>
              </a:rPr>
              <a:t>2 milyon TL: örnek etiket eşiği</a:t>
            </a:r>
            <a:endParaRPr lang="tr-TR" sz="2000" dirty="0"/>
          </a:p>
        </p:txBody>
      </p:sp>
      <p:pic>
        <p:nvPicPr>
          <p:cNvPr id="11" name="Resim 10">
            <a:extLst>
              <a:ext uri="{FF2B5EF4-FFF2-40B4-BE49-F238E27FC236}">
                <a16:creationId xmlns:a16="http://schemas.microsoft.com/office/drawing/2014/main" id="{93C3ACA3-C027-446A-AE61-9E85B5B128D4}"/>
              </a:ext>
            </a:extLst>
          </p:cNvPr>
          <p:cNvPicPr>
            <a:picLocks noChangeAspect="1"/>
          </p:cNvPicPr>
          <p:nvPr/>
        </p:nvPicPr>
        <p:blipFill rotWithShape="1">
          <a:blip r:embed="rId3"/>
          <a:srcRect l="1361" t="26843" r="50695" b="15630"/>
          <a:stretch/>
        </p:blipFill>
        <p:spPr>
          <a:xfrm>
            <a:off x="296726" y="1873462"/>
            <a:ext cx="5332295" cy="3597044"/>
          </a:xfrm>
          <a:prstGeom prst="rect">
            <a:avLst/>
          </a:prstGeom>
        </p:spPr>
      </p:pic>
      <p:sp>
        <p:nvSpPr>
          <p:cNvPr id="100" name="Grafikler temsilidir. Sağdaki eşik, öğrenilmiş kar"/>
          <p:cNvSpPr txBox="1"/>
          <p:nvPr/>
        </p:nvSpPr>
        <p:spPr>
          <a:xfrm>
            <a:off x="457200" y="6457950"/>
            <a:ext cx="11049000" cy="304800"/>
          </a:xfrm>
          <a:prstGeom prst="rect">
            <a:avLst/>
          </a:prstGeom>
          <a:noFill/>
          <a:ln>
            <a:noFill/>
          </a:ln>
        </p:spPr>
        <p:txBody>
          <a:bodyPr wrap="square" lIns="0" tIns="0" rIns="0" bIns="0">
            <a:noAutofit/>
          </a:bodyPr>
          <a:lstStyle/>
          <a:p>
            <a:pPr marL="0" indent="0"/>
            <a:r>
              <a:rPr lang="tr-TR" sz="1700">
                <a:solidFill>
                  <a:srgbClr val="596173"/>
                </a:solidFill>
                <a:latin typeface="Calibri"/>
                <a:ea typeface="Calibri"/>
                <a:cs typeface="Calibri"/>
              </a:rPr>
              <a:t>Grafikler temsilidir. Sağdaki eşik, öğrenilmiş karar sınırı değildir.</a:t>
            </a:r>
            <a:endParaRPr lang="tr-TR" sz="1700"/>
          </a:p>
        </p:txBody>
      </p:sp>
    </p:spTree>
    <p:extLst>
      <p:ext uri="{BB962C8B-B14F-4D97-AF65-F5344CB8AC3E}">
        <p14:creationId xmlns:p14="http://schemas.microsoft.com/office/powerpoint/2010/main" val="3969173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0" name="Text 0">
            <a:extLst>
              <a:ext uri="{FF2B5EF4-FFF2-40B4-BE49-F238E27FC236}">
                <a16:creationId xmlns:a16="http://schemas.microsoft.com/office/drawing/2014/main" id="{706CBF7D-0144-4165-8A4E-BDF318D45D4E}"/>
              </a:ext>
            </a:extLst>
          </p:cNvPr>
          <p:cNvSpPr/>
          <p:nvPr/>
        </p:nvSpPr>
        <p:spPr>
          <a:xfrm>
            <a:off x="457200" y="285750"/>
            <a:ext cx="11239500" cy="68580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tr-TR" sz="3200" b="1" i="0" u="none" strike="noStrike" kern="1200" cap="none" spc="0" normalizeH="0" baseline="0" noProof="0" dirty="0">
                <a:ln>
                  <a:noFill/>
                </a:ln>
                <a:solidFill>
                  <a:srgbClr val="1E2A4E"/>
                </a:solidFill>
                <a:effectLst/>
                <a:uLnTx/>
                <a:uFillTx/>
                <a:latin typeface="Calibri"/>
                <a:ea typeface="Calibri"/>
                <a:cs typeface="Calibri"/>
              </a:rPr>
              <a:t>Girdiler, hedef ve yeni tahmin</a:t>
            </a:r>
            <a:endParaRPr lang="tr-TR" sz="3200"/>
          </a:p>
        </p:txBody>
      </p:sp>
      <p:sp>
        <p:nvSpPr>
          <p:cNvPr id="100" name="Eğitim: Fiyatı bilinen evlerin özellikleri + gerçe"/>
          <p:cNvSpPr txBox="1"/>
          <p:nvPr/>
        </p:nvSpPr>
        <p:spPr>
          <a:xfrm>
            <a:off x="457200" y="1247775"/>
            <a:ext cx="10953750" cy="457200"/>
          </a:xfrm>
          <a:prstGeom prst="rect">
            <a:avLst/>
          </a:prstGeom>
          <a:noFill/>
          <a:ln>
            <a:noFill/>
          </a:ln>
        </p:spPr>
        <p:txBody>
          <a:bodyPr wrap="square" lIns="0" tIns="0" rIns="0" bIns="0">
            <a:noAutofit/>
          </a:bodyPr>
          <a:lstStyle/>
          <a:p>
            <a:pPr marL="0" indent="0"/>
            <a:r>
              <a:rPr lang="tr-TR" sz="2400" b="1">
                <a:solidFill>
                  <a:srgbClr val="1E2A4E"/>
                </a:solidFill>
                <a:latin typeface="Calibri"/>
                <a:ea typeface="Calibri"/>
                <a:cs typeface="Calibri"/>
              </a:rPr>
              <a:t>Eğitim: Fiyatı bilinen evlerin özellikleri + gerçek fiyatları</a:t>
            </a:r>
            <a:endParaRPr lang="tr-TR" sz="2400"/>
          </a:p>
        </p:txBody>
      </p:sp>
      <p:sp>
        <p:nvSpPr>
          <p:cNvPr id="101" name="Yeni tahmin: Ev 2’nin özellikleri + eğitilmiş mode"/>
          <p:cNvSpPr txBox="1"/>
          <p:nvPr/>
        </p:nvSpPr>
        <p:spPr>
          <a:xfrm>
            <a:off x="457200" y="4667250"/>
            <a:ext cx="10953750" cy="495300"/>
          </a:xfrm>
          <a:prstGeom prst="rect">
            <a:avLst/>
          </a:prstGeom>
          <a:noFill/>
          <a:ln>
            <a:noFill/>
          </a:ln>
        </p:spPr>
        <p:txBody>
          <a:bodyPr wrap="square" lIns="0" tIns="0" rIns="0" bIns="0">
            <a:noAutofit/>
          </a:bodyPr>
          <a:lstStyle/>
          <a:p>
            <a:pPr marL="0" indent="0"/>
            <a:r>
              <a:rPr lang="tr-TR" sz="2400" b="1">
                <a:solidFill>
                  <a:srgbClr val="1E2A4E"/>
                </a:solidFill>
                <a:latin typeface="Calibri"/>
                <a:ea typeface="Calibri"/>
                <a:cs typeface="Calibri"/>
              </a:rPr>
              <a:t>Yeni tahmin: Ev 2’nin özellikleri + eğitilmiş model</a:t>
            </a:r>
            <a:endParaRPr lang="tr-TR" sz="2400"/>
          </a:p>
        </p:txBody>
      </p:sp>
      <p:sp>
        <p:nvSpPr>
          <p:cNvPr id="102" name="30 yıl     85 m²     2 oda     Ankara"/>
          <p:cNvSpPr txBox="1"/>
          <p:nvPr/>
        </p:nvSpPr>
        <p:spPr>
          <a:xfrm>
            <a:off x="457200" y="5286375"/>
            <a:ext cx="8572500" cy="523875"/>
          </a:xfrm>
          <a:prstGeom prst="rect">
            <a:avLst/>
          </a:prstGeom>
          <a:noFill/>
          <a:ln>
            <a:noFill/>
          </a:ln>
        </p:spPr>
        <p:txBody>
          <a:bodyPr wrap="square" lIns="0" tIns="0" rIns="0" bIns="0">
            <a:noAutofit/>
          </a:bodyPr>
          <a:lstStyle/>
          <a:p>
            <a:pPr marL="0" indent="0"/>
            <a:r>
              <a:rPr lang="tr-TR" sz="2800">
                <a:solidFill>
                  <a:srgbClr val="30343B"/>
                </a:solidFill>
                <a:latin typeface="Calibri"/>
                <a:ea typeface="Calibri"/>
                <a:cs typeface="Calibri"/>
              </a:rPr>
              <a:t>30 yıl     85 m²     2 oda     Ankara</a:t>
            </a:r>
            <a:endParaRPr lang="tr-TR" sz="2800"/>
          </a:p>
        </p:txBody>
      </p:sp>
      <p:sp>
        <p:nvSpPr>
          <p:cNvPr id="103" name="Fiyat bilinmiyor. Model tahmini, gerçek eğitim eti"/>
          <p:cNvSpPr txBox="1"/>
          <p:nvPr/>
        </p:nvSpPr>
        <p:spPr>
          <a:xfrm>
            <a:off x="457200" y="6076950"/>
            <a:ext cx="11144250" cy="457200"/>
          </a:xfrm>
          <a:prstGeom prst="rect">
            <a:avLst/>
          </a:prstGeom>
          <a:noFill/>
          <a:ln>
            <a:noFill/>
          </a:ln>
        </p:spPr>
        <p:txBody>
          <a:bodyPr wrap="square" lIns="0" tIns="0" rIns="0" bIns="0">
            <a:noAutofit/>
          </a:bodyPr>
          <a:lstStyle/>
          <a:p>
            <a:pPr marL="0" indent="0"/>
            <a:r>
              <a:rPr lang="tr-TR" sz="2200">
                <a:solidFill>
                  <a:srgbClr val="596173"/>
                </a:solidFill>
                <a:latin typeface="Calibri"/>
                <a:ea typeface="Calibri"/>
                <a:cs typeface="Calibri"/>
              </a:rPr>
              <a:t>Fiyat bilinmiyor. Model tahmini, gerçek eğitim etiketi değildir.</a:t>
            </a:r>
            <a:endParaRPr lang="tr-TR" sz="2200"/>
          </a:p>
        </p:txBody>
      </p:sp>
      <p:graphicFrame>
        <p:nvGraphicFramePr>
          <p:cNvPr id="104" name="Tablo 103"/>
          <p:cNvGraphicFramePr/>
          <p:nvPr/>
        </p:nvGraphicFramePr>
        <p:xfrm>
          <a:off x="457200" y="1971675"/>
          <a:ext cx="11239500" cy="2381250"/>
        </p:xfrm>
        <a:graphic>
          <a:graphicData uri="http://schemas.openxmlformats.org/drawingml/2006/table">
            <a:tbl>
              <a:tblPr/>
              <a:tblGrid>
                <a:gridCol w="1095375">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2476500">
                  <a:extLst>
                    <a:ext uri="{9D8B030D-6E8A-4147-A177-3AD203B41FA5}">
                      <a16:colId xmlns:a16="http://schemas.microsoft.com/office/drawing/2014/main" val="20004"/>
                    </a:ext>
                  </a:extLst>
                </a:gridCol>
                <a:gridCol w="3762375">
                  <a:extLst>
                    <a:ext uri="{9D8B030D-6E8A-4147-A177-3AD203B41FA5}">
                      <a16:colId xmlns:a16="http://schemas.microsoft.com/office/drawing/2014/main" val="20005"/>
                    </a:ext>
                  </a:extLst>
                </a:gridCol>
              </a:tblGrid>
              <a:tr h="466725">
                <a:tc>
                  <a:txBody>
                    <a:bodyPr/>
                    <a:lstStyle/>
                    <a:p>
                      <a:r>
                        <a:rPr sz="1875" b="1">
                          <a:solidFill>
                            <a:srgbClr val="FFFFFF"/>
                          </a:solidFill>
                          <a:latin typeface="Calibri"/>
                          <a:ea typeface="Calibri"/>
                          <a:cs typeface="Calibri"/>
                        </a:rPr>
                        <a:t>Ev</a:t>
                      </a:r>
                    </a:p>
                  </a:txBody>
                  <a:tcPr marL="114300" marR="114300" marT="95250" marB="95250" anchor="ctr">
                    <a:solidFill>
                      <a:srgbClr val="1E2A4E"/>
                    </a:solidFill>
                  </a:tcPr>
                </a:tc>
                <a:tc>
                  <a:txBody>
                    <a:bodyPr/>
                    <a:lstStyle/>
                    <a:p>
                      <a:r>
                        <a:rPr sz="1875" b="1">
                          <a:solidFill>
                            <a:srgbClr val="FFFFFF"/>
                          </a:solidFill>
                          <a:latin typeface="Calibri"/>
                          <a:ea typeface="Calibri"/>
                          <a:cs typeface="Calibri"/>
                        </a:rPr>
                        <a:t>Yaş</a:t>
                      </a:r>
                    </a:p>
                  </a:txBody>
                  <a:tcPr marL="114300" marR="114300" marT="95250" marB="95250" anchor="ctr">
                    <a:solidFill>
                      <a:srgbClr val="1E2A4E"/>
                    </a:solidFill>
                  </a:tcPr>
                </a:tc>
                <a:tc>
                  <a:txBody>
                    <a:bodyPr/>
                    <a:lstStyle/>
                    <a:p>
                      <a:r>
                        <a:rPr sz="1875" b="1">
                          <a:solidFill>
                            <a:srgbClr val="FFFFFF"/>
                          </a:solidFill>
                          <a:latin typeface="Calibri"/>
                          <a:ea typeface="Calibri"/>
                          <a:cs typeface="Calibri"/>
                        </a:rPr>
                        <a:t>Alan (m²)</a:t>
                      </a:r>
                    </a:p>
                  </a:txBody>
                  <a:tcPr marL="114300" marR="114300" marT="95250" marB="95250" anchor="ctr">
                    <a:solidFill>
                      <a:srgbClr val="1E2A4E"/>
                    </a:solidFill>
                  </a:tcPr>
                </a:tc>
                <a:tc>
                  <a:txBody>
                    <a:bodyPr/>
                    <a:lstStyle/>
                    <a:p>
                      <a:r>
                        <a:rPr sz="1875" b="1">
                          <a:solidFill>
                            <a:srgbClr val="FFFFFF"/>
                          </a:solidFill>
                          <a:latin typeface="Calibri"/>
                          <a:ea typeface="Calibri"/>
                          <a:cs typeface="Calibri"/>
                        </a:rPr>
                        <a:t>Oda</a:t>
                      </a:r>
                    </a:p>
                  </a:txBody>
                  <a:tcPr marL="114300" marR="114300" marT="95250" marB="95250" anchor="ctr">
                    <a:solidFill>
                      <a:srgbClr val="1E2A4E"/>
                    </a:solidFill>
                  </a:tcPr>
                </a:tc>
                <a:tc>
                  <a:txBody>
                    <a:bodyPr/>
                    <a:lstStyle/>
                    <a:p>
                      <a:r>
                        <a:rPr sz="1875" b="1">
                          <a:solidFill>
                            <a:srgbClr val="FFFFFF"/>
                          </a:solidFill>
                          <a:latin typeface="Calibri"/>
                          <a:ea typeface="Calibri"/>
                          <a:cs typeface="Calibri"/>
                        </a:rPr>
                        <a:t>Şehir</a:t>
                      </a:r>
                    </a:p>
                  </a:txBody>
                  <a:tcPr marL="114300" marR="114300" marT="95250" marB="95250" anchor="ctr">
                    <a:solidFill>
                      <a:srgbClr val="1E2A4E"/>
                    </a:solidFill>
                  </a:tcPr>
                </a:tc>
                <a:tc>
                  <a:txBody>
                    <a:bodyPr/>
                    <a:lstStyle/>
                    <a:p>
                      <a:r>
                        <a:rPr sz="1875" b="1">
                          <a:solidFill>
                            <a:srgbClr val="FFFFFF"/>
                          </a:solidFill>
                          <a:latin typeface="Calibri"/>
                          <a:ea typeface="Calibri"/>
                          <a:cs typeface="Calibri"/>
                        </a:rPr>
                        <a:t>y: Fiyat (bin TL)</a:t>
                      </a:r>
                    </a:p>
                  </a:txBody>
                  <a:tcPr marL="114300" marR="114300" marT="95250" marB="95250" anchor="ctr">
                    <a:solidFill>
                      <a:srgbClr val="1E2A4E"/>
                    </a:solidFill>
                  </a:tcPr>
                </a:tc>
                <a:extLst>
                  <a:ext uri="{0D108BD9-81ED-4DB2-BD59-A6C34878D82A}">
                    <a16:rowId xmlns:a16="http://schemas.microsoft.com/office/drawing/2014/main" val="10000"/>
                  </a:ext>
                </a:extLst>
              </a:tr>
              <a:tr h="466725">
                <a:tc>
                  <a:txBody>
                    <a:bodyPr/>
                    <a:lstStyle/>
                    <a:p>
                      <a:r>
                        <a:rPr sz="1875" b="0">
                          <a:solidFill>
                            <a:srgbClr val="30343B"/>
                          </a:solidFill>
                          <a:latin typeface="Calibri"/>
                          <a:ea typeface="Calibri"/>
                          <a:cs typeface="Calibri"/>
                        </a:rPr>
                        <a:t>Ev 1</a:t>
                      </a:r>
                    </a:p>
                  </a:txBody>
                  <a:tcPr marL="114300" marR="114300" marT="95250" marB="95250" anchor="ctr">
                    <a:solidFill>
                      <a:srgbClr val="FFFFFF"/>
                    </a:solidFill>
                  </a:tcPr>
                </a:tc>
                <a:tc>
                  <a:txBody>
                    <a:bodyPr/>
                    <a:lstStyle/>
                    <a:p>
                      <a:r>
                        <a:rPr sz="1875" b="0">
                          <a:solidFill>
                            <a:srgbClr val="30343B"/>
                          </a:solidFill>
                          <a:latin typeface="Calibri"/>
                          <a:ea typeface="Calibri"/>
                          <a:cs typeface="Calibri"/>
                        </a:rPr>
                        <a:t>5</a:t>
                      </a:r>
                    </a:p>
                  </a:txBody>
                  <a:tcPr marL="114300" marR="114300" marT="95250" marB="95250" anchor="ctr">
                    <a:solidFill>
                      <a:srgbClr val="FFFFFF"/>
                    </a:solidFill>
                  </a:tcPr>
                </a:tc>
                <a:tc>
                  <a:txBody>
                    <a:bodyPr/>
                    <a:lstStyle/>
                    <a:p>
                      <a:r>
                        <a:rPr sz="1875" b="0">
                          <a:solidFill>
                            <a:srgbClr val="30343B"/>
                          </a:solidFill>
                          <a:latin typeface="Calibri"/>
                          <a:ea typeface="Calibri"/>
                          <a:cs typeface="Calibri"/>
                        </a:rPr>
                        <a:t>120</a:t>
                      </a:r>
                    </a:p>
                  </a:txBody>
                  <a:tcPr marL="114300" marR="114300" marT="95250" marB="95250" anchor="ctr">
                    <a:solidFill>
                      <a:srgbClr val="FFFFFF"/>
                    </a:solidFill>
                  </a:tcPr>
                </a:tc>
                <a:tc>
                  <a:txBody>
                    <a:bodyPr/>
                    <a:lstStyle/>
                    <a:p>
                      <a:r>
                        <a:rPr sz="1875" b="0">
                          <a:solidFill>
                            <a:srgbClr val="30343B"/>
                          </a:solidFill>
                          <a:latin typeface="Calibri"/>
                          <a:ea typeface="Calibri"/>
                          <a:cs typeface="Calibri"/>
                        </a:rPr>
                        <a:t>3</a:t>
                      </a:r>
                    </a:p>
                  </a:txBody>
                  <a:tcPr marL="114300" marR="114300" marT="95250" marB="95250" anchor="ctr">
                    <a:solidFill>
                      <a:srgbClr val="FFFFFF"/>
                    </a:solidFill>
                  </a:tcPr>
                </a:tc>
                <a:tc>
                  <a:txBody>
                    <a:bodyPr/>
                    <a:lstStyle/>
                    <a:p>
                      <a:r>
                        <a:rPr sz="1875" b="0">
                          <a:solidFill>
                            <a:srgbClr val="30343B"/>
                          </a:solidFill>
                          <a:latin typeface="Calibri"/>
                          <a:ea typeface="Calibri"/>
                          <a:cs typeface="Calibri"/>
                        </a:rPr>
                        <a:t>Kayseri</a:t>
                      </a:r>
                    </a:p>
                  </a:txBody>
                  <a:tcPr marL="114300" marR="114300" marT="95250" marB="95250" anchor="ctr">
                    <a:solidFill>
                      <a:srgbClr val="FFFFFF"/>
                    </a:solidFill>
                  </a:tcPr>
                </a:tc>
                <a:tc>
                  <a:txBody>
                    <a:bodyPr/>
                    <a:lstStyle/>
                    <a:p>
                      <a:r>
                        <a:rPr sz="1875" b="0">
                          <a:solidFill>
                            <a:srgbClr val="30343B"/>
                          </a:solidFill>
                          <a:latin typeface="Calibri"/>
                          <a:ea typeface="Calibri"/>
                          <a:cs typeface="Calibri"/>
                        </a:rPr>
                        <a:t>1.850</a:t>
                      </a:r>
                    </a:p>
                  </a:txBody>
                  <a:tcPr marL="114300" marR="114300" marT="95250" marB="95250" anchor="ctr">
                    <a:solidFill>
                      <a:srgbClr val="FFFFFF"/>
                    </a:solidFill>
                  </a:tcPr>
                </a:tc>
                <a:extLst>
                  <a:ext uri="{0D108BD9-81ED-4DB2-BD59-A6C34878D82A}">
                    <a16:rowId xmlns:a16="http://schemas.microsoft.com/office/drawing/2014/main" val="10001"/>
                  </a:ext>
                </a:extLst>
              </a:tr>
              <a:tr h="466725">
                <a:tc>
                  <a:txBody>
                    <a:bodyPr/>
                    <a:lstStyle/>
                    <a:p>
                      <a:r>
                        <a:rPr sz="1875" b="0">
                          <a:solidFill>
                            <a:srgbClr val="30343B"/>
                          </a:solidFill>
                          <a:latin typeface="Calibri"/>
                          <a:ea typeface="Calibri"/>
                          <a:cs typeface="Calibri"/>
                        </a:rPr>
                        <a:t>Ev 3</a:t>
                      </a:r>
                    </a:p>
                  </a:txBody>
                  <a:tcPr marL="114300" marR="114300" marT="95250" marB="95250" anchor="ctr">
                    <a:solidFill>
                      <a:srgbClr val="EFEFF2"/>
                    </a:solidFill>
                  </a:tcPr>
                </a:tc>
                <a:tc>
                  <a:txBody>
                    <a:bodyPr/>
                    <a:lstStyle/>
                    <a:p>
                      <a:r>
                        <a:rPr sz="1875" b="0">
                          <a:solidFill>
                            <a:srgbClr val="30343B"/>
                          </a:solidFill>
                          <a:latin typeface="Calibri"/>
                          <a:ea typeface="Calibri"/>
                          <a:cs typeface="Calibri"/>
                        </a:rPr>
                        <a:t>12</a:t>
                      </a:r>
                    </a:p>
                  </a:txBody>
                  <a:tcPr marL="114300" marR="114300" marT="95250" marB="95250" anchor="ctr">
                    <a:solidFill>
                      <a:srgbClr val="EFEFF2"/>
                    </a:solidFill>
                  </a:tcPr>
                </a:tc>
                <a:tc>
                  <a:txBody>
                    <a:bodyPr/>
                    <a:lstStyle/>
                    <a:p>
                      <a:r>
                        <a:rPr sz="1875" b="0">
                          <a:solidFill>
                            <a:srgbClr val="30343B"/>
                          </a:solidFill>
                          <a:latin typeface="Calibri"/>
                          <a:ea typeface="Calibri"/>
                          <a:cs typeface="Calibri"/>
                        </a:rPr>
                        <a:t>145</a:t>
                      </a:r>
                    </a:p>
                  </a:txBody>
                  <a:tcPr marL="114300" marR="114300" marT="95250" marB="95250" anchor="ctr">
                    <a:solidFill>
                      <a:srgbClr val="EFEFF2"/>
                    </a:solidFill>
                  </a:tcPr>
                </a:tc>
                <a:tc>
                  <a:txBody>
                    <a:bodyPr/>
                    <a:lstStyle/>
                    <a:p>
                      <a:r>
                        <a:rPr sz="1875" b="0">
                          <a:solidFill>
                            <a:srgbClr val="30343B"/>
                          </a:solidFill>
                          <a:latin typeface="Calibri"/>
                          <a:ea typeface="Calibri"/>
                          <a:cs typeface="Calibri"/>
                        </a:rPr>
                        <a:t>4</a:t>
                      </a:r>
                    </a:p>
                  </a:txBody>
                  <a:tcPr marL="114300" marR="114300" marT="95250" marB="95250" anchor="ctr">
                    <a:solidFill>
                      <a:srgbClr val="EFEFF2"/>
                    </a:solidFill>
                  </a:tcPr>
                </a:tc>
                <a:tc>
                  <a:txBody>
                    <a:bodyPr/>
                    <a:lstStyle/>
                    <a:p>
                      <a:r>
                        <a:rPr sz="1875" b="0">
                          <a:solidFill>
                            <a:srgbClr val="30343B"/>
                          </a:solidFill>
                          <a:latin typeface="Calibri"/>
                          <a:ea typeface="Calibri"/>
                          <a:cs typeface="Calibri"/>
                        </a:rPr>
                        <a:t>İstanbul</a:t>
                      </a:r>
                    </a:p>
                  </a:txBody>
                  <a:tcPr marL="114300" marR="114300" marT="95250" marB="95250" anchor="ctr">
                    <a:solidFill>
                      <a:srgbClr val="EFEFF2"/>
                    </a:solidFill>
                  </a:tcPr>
                </a:tc>
                <a:tc>
                  <a:txBody>
                    <a:bodyPr/>
                    <a:lstStyle/>
                    <a:p>
                      <a:r>
                        <a:rPr sz="1875" b="0">
                          <a:solidFill>
                            <a:srgbClr val="30343B"/>
                          </a:solidFill>
                          <a:latin typeface="Calibri"/>
                          <a:ea typeface="Calibri"/>
                          <a:cs typeface="Calibri"/>
                        </a:rPr>
                        <a:t>3.100</a:t>
                      </a:r>
                    </a:p>
                  </a:txBody>
                  <a:tcPr marL="114300" marR="114300" marT="95250" marB="95250" anchor="ctr">
                    <a:solidFill>
                      <a:srgbClr val="EFEFF2"/>
                    </a:solidFill>
                  </a:tcPr>
                </a:tc>
                <a:extLst>
                  <a:ext uri="{0D108BD9-81ED-4DB2-BD59-A6C34878D82A}">
                    <a16:rowId xmlns:a16="http://schemas.microsoft.com/office/drawing/2014/main" val="10002"/>
                  </a:ext>
                </a:extLst>
              </a:tr>
              <a:tr h="466725">
                <a:tc>
                  <a:txBody>
                    <a:bodyPr/>
                    <a:lstStyle/>
                    <a:p>
                      <a:r>
                        <a:rPr sz="1875" b="0">
                          <a:solidFill>
                            <a:srgbClr val="30343B"/>
                          </a:solidFill>
                          <a:latin typeface="Calibri"/>
                          <a:ea typeface="Calibri"/>
                          <a:cs typeface="Calibri"/>
                        </a:rPr>
                        <a:t>Ev 4</a:t>
                      </a:r>
                    </a:p>
                  </a:txBody>
                  <a:tcPr marL="114300" marR="114300" marT="95250" marB="95250" anchor="ctr">
                    <a:solidFill>
                      <a:srgbClr val="FFFFFF"/>
                    </a:solidFill>
                  </a:tcPr>
                </a:tc>
                <a:tc>
                  <a:txBody>
                    <a:bodyPr/>
                    <a:lstStyle/>
                    <a:p>
                      <a:r>
                        <a:rPr sz="1875" b="0">
                          <a:solidFill>
                            <a:srgbClr val="30343B"/>
                          </a:solidFill>
                          <a:latin typeface="Calibri"/>
                          <a:ea typeface="Calibri"/>
                          <a:cs typeface="Calibri"/>
                        </a:rPr>
                        <a:t>8</a:t>
                      </a:r>
                    </a:p>
                  </a:txBody>
                  <a:tcPr marL="114300" marR="114300" marT="95250" marB="95250" anchor="ctr">
                    <a:solidFill>
                      <a:srgbClr val="FFFFFF"/>
                    </a:solidFill>
                  </a:tcPr>
                </a:tc>
                <a:tc>
                  <a:txBody>
                    <a:bodyPr/>
                    <a:lstStyle/>
                    <a:p>
                      <a:r>
                        <a:rPr sz="1875" b="0">
                          <a:solidFill>
                            <a:srgbClr val="30343B"/>
                          </a:solidFill>
                          <a:latin typeface="Calibri"/>
                          <a:ea typeface="Calibri"/>
                          <a:cs typeface="Calibri"/>
                        </a:rPr>
                        <a:t>95</a:t>
                      </a:r>
                    </a:p>
                  </a:txBody>
                  <a:tcPr marL="114300" marR="114300" marT="95250" marB="95250" anchor="ctr">
                    <a:solidFill>
                      <a:srgbClr val="FFFFFF"/>
                    </a:solidFill>
                  </a:tcPr>
                </a:tc>
                <a:tc>
                  <a:txBody>
                    <a:bodyPr/>
                    <a:lstStyle/>
                    <a:p>
                      <a:r>
                        <a:rPr sz="1875" b="0">
                          <a:solidFill>
                            <a:srgbClr val="30343B"/>
                          </a:solidFill>
                          <a:latin typeface="Calibri"/>
                          <a:ea typeface="Calibri"/>
                          <a:cs typeface="Calibri"/>
                        </a:rPr>
                        <a:t>2</a:t>
                      </a:r>
                    </a:p>
                  </a:txBody>
                  <a:tcPr marL="114300" marR="114300" marT="95250" marB="95250" anchor="ctr">
                    <a:solidFill>
                      <a:srgbClr val="FFFFFF"/>
                    </a:solidFill>
                  </a:tcPr>
                </a:tc>
                <a:tc>
                  <a:txBody>
                    <a:bodyPr/>
                    <a:lstStyle/>
                    <a:p>
                      <a:r>
                        <a:rPr sz="1875" b="0">
                          <a:solidFill>
                            <a:srgbClr val="30343B"/>
                          </a:solidFill>
                          <a:latin typeface="Calibri"/>
                          <a:ea typeface="Calibri"/>
                          <a:cs typeface="Calibri"/>
                        </a:rPr>
                        <a:t>Kayseri</a:t>
                      </a:r>
                    </a:p>
                  </a:txBody>
                  <a:tcPr marL="114300" marR="114300" marT="95250" marB="95250" anchor="ctr">
                    <a:solidFill>
                      <a:srgbClr val="FFFFFF"/>
                    </a:solidFill>
                  </a:tcPr>
                </a:tc>
                <a:tc>
                  <a:txBody>
                    <a:bodyPr/>
                    <a:lstStyle/>
                    <a:p>
                      <a:r>
                        <a:rPr sz="1875" b="0">
                          <a:solidFill>
                            <a:srgbClr val="30343B"/>
                          </a:solidFill>
                          <a:latin typeface="Calibri"/>
                          <a:ea typeface="Calibri"/>
                          <a:cs typeface="Calibri"/>
                        </a:rPr>
                        <a:t>1.650</a:t>
                      </a:r>
                    </a:p>
                  </a:txBody>
                  <a:tcPr marL="114300" marR="114300" marT="95250" marB="95250" anchor="ctr">
                    <a:solidFill>
                      <a:srgbClr val="FFFFFF"/>
                    </a:solidFill>
                  </a:tcPr>
                </a:tc>
                <a:extLst>
                  <a:ext uri="{0D108BD9-81ED-4DB2-BD59-A6C34878D82A}">
                    <a16:rowId xmlns:a16="http://schemas.microsoft.com/office/drawing/2014/main" val="10003"/>
                  </a:ext>
                </a:extLst>
              </a:tr>
              <a:tr h="466725">
                <a:tc>
                  <a:txBody>
                    <a:bodyPr/>
                    <a:lstStyle/>
                    <a:p>
                      <a:r>
                        <a:rPr sz="1875" b="0">
                          <a:solidFill>
                            <a:srgbClr val="30343B"/>
                          </a:solidFill>
                          <a:latin typeface="Calibri"/>
                          <a:ea typeface="Calibri"/>
                          <a:cs typeface="Calibri"/>
                        </a:rPr>
                        <a:t>Ev 5</a:t>
                      </a:r>
                    </a:p>
                  </a:txBody>
                  <a:tcPr marL="114300" marR="114300" marT="95250" marB="95250" anchor="ctr">
                    <a:solidFill>
                      <a:srgbClr val="EFEFF2"/>
                    </a:solidFill>
                  </a:tcPr>
                </a:tc>
                <a:tc>
                  <a:txBody>
                    <a:bodyPr/>
                    <a:lstStyle/>
                    <a:p>
                      <a:r>
                        <a:rPr sz="1875" b="0">
                          <a:solidFill>
                            <a:srgbClr val="30343B"/>
                          </a:solidFill>
                          <a:latin typeface="Calibri"/>
                          <a:ea typeface="Calibri"/>
                          <a:cs typeface="Calibri"/>
                        </a:rPr>
                        <a:t>40</a:t>
                      </a:r>
                    </a:p>
                  </a:txBody>
                  <a:tcPr marL="114300" marR="114300" marT="95250" marB="95250" anchor="ctr">
                    <a:solidFill>
                      <a:srgbClr val="EFEFF2"/>
                    </a:solidFill>
                  </a:tcPr>
                </a:tc>
                <a:tc>
                  <a:txBody>
                    <a:bodyPr/>
                    <a:lstStyle/>
                    <a:p>
                      <a:r>
                        <a:rPr sz="1875" b="0">
                          <a:solidFill>
                            <a:srgbClr val="30343B"/>
                          </a:solidFill>
                          <a:latin typeface="Calibri"/>
                          <a:ea typeface="Calibri"/>
                          <a:cs typeface="Calibri"/>
                        </a:rPr>
                        <a:t>210</a:t>
                      </a:r>
                    </a:p>
                  </a:txBody>
                  <a:tcPr marL="114300" marR="114300" marT="95250" marB="95250" anchor="ctr">
                    <a:solidFill>
                      <a:srgbClr val="EFEFF2"/>
                    </a:solidFill>
                  </a:tcPr>
                </a:tc>
                <a:tc>
                  <a:txBody>
                    <a:bodyPr/>
                    <a:lstStyle/>
                    <a:p>
                      <a:r>
                        <a:rPr sz="1875" b="0">
                          <a:solidFill>
                            <a:srgbClr val="30343B"/>
                          </a:solidFill>
                          <a:latin typeface="Calibri"/>
                          <a:ea typeface="Calibri"/>
                          <a:cs typeface="Calibri"/>
                        </a:rPr>
                        <a:t>5</a:t>
                      </a:r>
                    </a:p>
                  </a:txBody>
                  <a:tcPr marL="114300" marR="114300" marT="95250" marB="95250" anchor="ctr">
                    <a:solidFill>
                      <a:srgbClr val="EFEFF2"/>
                    </a:solidFill>
                  </a:tcPr>
                </a:tc>
                <a:tc>
                  <a:txBody>
                    <a:bodyPr/>
                    <a:lstStyle/>
                    <a:p>
                      <a:r>
                        <a:rPr sz="1875" b="0">
                          <a:solidFill>
                            <a:srgbClr val="30343B"/>
                          </a:solidFill>
                          <a:latin typeface="Calibri"/>
                          <a:ea typeface="Calibri"/>
                          <a:cs typeface="Calibri"/>
                        </a:rPr>
                        <a:t>İstanbul</a:t>
                      </a:r>
                    </a:p>
                  </a:txBody>
                  <a:tcPr marL="114300" marR="114300" marT="95250" marB="95250" anchor="ctr">
                    <a:solidFill>
                      <a:srgbClr val="EFEFF2"/>
                    </a:solidFill>
                  </a:tcPr>
                </a:tc>
                <a:tc>
                  <a:txBody>
                    <a:bodyPr/>
                    <a:lstStyle/>
                    <a:p>
                      <a:r>
                        <a:rPr sz="1875" b="0">
                          <a:solidFill>
                            <a:srgbClr val="30343B"/>
                          </a:solidFill>
                          <a:latin typeface="Calibri"/>
                          <a:ea typeface="Calibri"/>
                          <a:cs typeface="Calibri"/>
                        </a:rPr>
                        <a:t>9.800</a:t>
                      </a:r>
                    </a:p>
                  </a:txBody>
                  <a:tcPr marL="114300" marR="114300" marT="95250" marB="95250" anchor="ctr">
                    <a:solidFill>
                      <a:srgbClr val="EFEFF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96641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0" name="Text 0">
            <a:extLst>
              <a:ext uri="{FF2B5EF4-FFF2-40B4-BE49-F238E27FC236}">
                <a16:creationId xmlns:a16="http://schemas.microsoft.com/office/drawing/2014/main" id="{706CBF7D-0144-4165-8A4E-BDF318D45D4E}"/>
              </a:ext>
            </a:extLst>
          </p:cNvPr>
          <p:cNvSpPr/>
          <p:nvPr/>
        </p:nvSpPr>
        <p:spPr>
          <a:xfrm>
            <a:off x="457200" y="285750"/>
            <a:ext cx="11239500" cy="68580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tr-TR" sz="3200" b="1" i="0" u="none" strike="noStrike" kern="1200" cap="none" spc="0" normalizeH="0" baseline="0" noProof="0" dirty="0">
                <a:ln>
                  <a:noFill/>
                </a:ln>
                <a:solidFill>
                  <a:srgbClr val="1E2A4E"/>
                </a:solidFill>
                <a:effectLst/>
                <a:uLnTx/>
                <a:uFillTx/>
                <a:latin typeface="Calibri"/>
                <a:ea typeface="Calibri"/>
                <a:cs typeface="Calibri"/>
              </a:rPr>
              <a:t>Eğitim, doğrulama ve test</a:t>
            </a:r>
            <a:endParaRPr lang="tr-TR" sz="3200"/>
          </a:p>
        </p:txBody>
      </p:sp>
      <p:sp>
        <p:nvSpPr>
          <p:cNvPr id="100" name="Veriyi, üç farklı amaç için ayırırız."/>
          <p:cNvSpPr txBox="1"/>
          <p:nvPr/>
        </p:nvSpPr>
        <p:spPr>
          <a:xfrm>
            <a:off x="457200" y="1200150"/>
            <a:ext cx="10953750" cy="476250"/>
          </a:xfrm>
          <a:prstGeom prst="rect">
            <a:avLst/>
          </a:prstGeom>
          <a:noFill/>
          <a:ln>
            <a:noFill/>
          </a:ln>
        </p:spPr>
        <p:txBody>
          <a:bodyPr wrap="square" lIns="0" tIns="0" rIns="0" bIns="0">
            <a:noAutofit/>
          </a:bodyPr>
          <a:lstStyle/>
          <a:p>
            <a:pPr marL="0" indent="0"/>
            <a:r>
              <a:rPr lang="tr-TR" sz="2400">
                <a:solidFill>
                  <a:srgbClr val="30343B"/>
                </a:solidFill>
                <a:latin typeface="Calibri"/>
                <a:ea typeface="Calibri"/>
                <a:cs typeface="Calibri"/>
              </a:rPr>
              <a:t>Veriyi, üç farklı amaç için ayırırız.</a:t>
            </a:r>
            <a:endParaRPr lang="tr-TR" sz="2400"/>
          </a:p>
        </p:txBody>
      </p:sp>
      <p:sp>
        <p:nvSpPr>
          <p:cNvPr id="101" name="Ön işleme de eğitimden öğrenir"/>
          <p:cNvSpPr txBox="1"/>
          <p:nvPr/>
        </p:nvSpPr>
        <p:spPr>
          <a:xfrm>
            <a:off x="457200" y="4953000"/>
            <a:ext cx="10953750" cy="476250"/>
          </a:xfrm>
          <a:prstGeom prst="rect">
            <a:avLst/>
          </a:prstGeom>
          <a:noFill/>
          <a:ln>
            <a:noFill/>
          </a:ln>
        </p:spPr>
        <p:txBody>
          <a:bodyPr wrap="square" lIns="0" tIns="0" rIns="0" bIns="0">
            <a:noAutofit/>
          </a:bodyPr>
          <a:lstStyle/>
          <a:p>
            <a:pPr marL="0" indent="0"/>
            <a:r>
              <a:rPr lang="tr-TR" sz="2500" b="1">
                <a:solidFill>
                  <a:srgbClr val="1E2A4E"/>
                </a:solidFill>
                <a:latin typeface="Calibri"/>
                <a:ea typeface="Calibri"/>
                <a:cs typeface="Calibri"/>
              </a:rPr>
              <a:t>Ön işleme de eğitimden öğrenir</a:t>
            </a:r>
            <a:endParaRPr lang="tr-TR" sz="2500"/>
          </a:p>
        </p:txBody>
      </p:sp>
      <p:sp>
        <p:nvSpPr>
          <p:cNvPr id="102" name="Medyan, ölçek ve kodlama eğitimde öğrenilir. Aynı "/>
          <p:cNvSpPr txBox="1"/>
          <p:nvPr/>
        </p:nvSpPr>
        <p:spPr>
          <a:xfrm>
            <a:off x="457200" y="5524500"/>
            <a:ext cx="10953750" cy="876300"/>
          </a:xfrm>
          <a:prstGeom prst="rect">
            <a:avLst/>
          </a:prstGeom>
          <a:noFill/>
          <a:ln>
            <a:noFill/>
          </a:ln>
        </p:spPr>
        <p:txBody>
          <a:bodyPr wrap="square" lIns="0" tIns="0" rIns="0" bIns="0">
            <a:noAutofit/>
          </a:bodyPr>
          <a:lstStyle/>
          <a:p>
            <a:pPr marL="0" indent="0"/>
            <a:r>
              <a:rPr lang="tr-TR" sz="2300">
                <a:solidFill>
                  <a:srgbClr val="30343B"/>
                </a:solidFill>
                <a:latin typeface="Calibri"/>
                <a:ea typeface="Calibri"/>
                <a:cs typeface="Calibri"/>
              </a:rPr>
              <a:t>Medyan, ölçek ve kodlama eğitimde öğrenilir.</a:t>
            </a:r>
            <a:endParaRPr lang="tr-TR" sz="2300"/>
          </a:p>
          <a:p>
            <a:pPr marL="0" indent="0"/>
            <a:r>
              <a:rPr lang="tr-TR" sz="2300">
                <a:solidFill>
                  <a:srgbClr val="30343B"/>
                </a:solidFill>
                <a:latin typeface="Calibri"/>
                <a:ea typeface="Calibri"/>
                <a:cs typeface="Calibri"/>
              </a:rPr>
              <a:t>Aynı dönüşüm doğrulama, test ve yeni kayıtlara uygulanır.</a:t>
            </a:r>
            <a:endParaRPr lang="tr-TR" sz="2300"/>
          </a:p>
        </p:txBody>
      </p:sp>
      <p:graphicFrame>
        <p:nvGraphicFramePr>
          <p:cNvPr id="103" name="Tablo 102"/>
          <p:cNvGraphicFramePr/>
          <p:nvPr/>
        </p:nvGraphicFramePr>
        <p:xfrm>
          <a:off x="457200" y="2019300"/>
          <a:ext cx="11239500" cy="2390775"/>
        </p:xfrm>
        <a:graphic>
          <a:graphicData uri="http://schemas.openxmlformats.org/drawingml/2006/table">
            <a:tbl>
              <a:tblPr/>
              <a:tblGrid>
                <a:gridCol w="3752850">
                  <a:extLst>
                    <a:ext uri="{9D8B030D-6E8A-4147-A177-3AD203B41FA5}">
                      <a16:colId xmlns:a16="http://schemas.microsoft.com/office/drawing/2014/main" val="20000"/>
                    </a:ext>
                  </a:extLst>
                </a:gridCol>
                <a:gridCol w="375285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796925">
                <a:tc>
                  <a:txBody>
                    <a:bodyPr/>
                    <a:lstStyle/>
                    <a:p>
                      <a:r>
                        <a:rPr sz="2025" b="1">
                          <a:solidFill>
                            <a:srgbClr val="FFFFFF"/>
                          </a:solidFill>
                          <a:latin typeface="Calibri"/>
                          <a:ea typeface="Calibri"/>
                          <a:cs typeface="Calibri"/>
                        </a:rPr>
                        <a:t>Eğitim</a:t>
                      </a:r>
                    </a:p>
                  </a:txBody>
                  <a:tcPr marL="114300" marR="114300" marT="95250" marB="95250" anchor="ctr">
                    <a:solidFill>
                      <a:srgbClr val="1E2A4E"/>
                    </a:solidFill>
                  </a:tcPr>
                </a:tc>
                <a:tc>
                  <a:txBody>
                    <a:bodyPr/>
                    <a:lstStyle/>
                    <a:p>
                      <a:r>
                        <a:rPr sz="2025" b="1">
                          <a:solidFill>
                            <a:srgbClr val="FFFFFF"/>
                          </a:solidFill>
                          <a:latin typeface="Calibri"/>
                          <a:ea typeface="Calibri"/>
                          <a:cs typeface="Calibri"/>
                        </a:rPr>
                        <a:t>Doğrulama</a:t>
                      </a:r>
                    </a:p>
                  </a:txBody>
                  <a:tcPr marL="114300" marR="114300" marT="95250" marB="95250" anchor="ctr">
                    <a:solidFill>
                      <a:srgbClr val="1E2A4E"/>
                    </a:solidFill>
                  </a:tcPr>
                </a:tc>
                <a:tc>
                  <a:txBody>
                    <a:bodyPr/>
                    <a:lstStyle/>
                    <a:p>
                      <a:r>
                        <a:rPr sz="2025" b="1">
                          <a:solidFill>
                            <a:srgbClr val="FFFFFF"/>
                          </a:solidFill>
                          <a:latin typeface="Calibri"/>
                          <a:ea typeface="Calibri"/>
                          <a:cs typeface="Calibri"/>
                        </a:rPr>
                        <a:t>Test</a:t>
                      </a:r>
                    </a:p>
                  </a:txBody>
                  <a:tcPr marL="114300" marR="114300" marT="95250" marB="95250" anchor="ctr">
                    <a:solidFill>
                      <a:srgbClr val="1E2A4E"/>
                    </a:solidFill>
                  </a:tcPr>
                </a:tc>
                <a:extLst>
                  <a:ext uri="{0D108BD9-81ED-4DB2-BD59-A6C34878D82A}">
                    <a16:rowId xmlns:a16="http://schemas.microsoft.com/office/drawing/2014/main" val="10000"/>
                  </a:ext>
                </a:extLst>
              </a:tr>
              <a:tr h="796925">
                <a:tc>
                  <a:txBody>
                    <a:bodyPr/>
                    <a:lstStyle/>
                    <a:p>
                      <a:r>
                        <a:rPr sz="2025" b="0">
                          <a:solidFill>
                            <a:srgbClr val="30343B"/>
                          </a:solidFill>
                          <a:latin typeface="Calibri"/>
                          <a:ea typeface="Calibri"/>
                          <a:cs typeface="Calibri"/>
                        </a:rPr>
                        <a:t>Modeli öğrenir</a:t>
                      </a:r>
                    </a:p>
                  </a:txBody>
                  <a:tcPr marL="114300" marR="114300" marT="95250" marB="95250" anchor="ctr">
                    <a:solidFill>
                      <a:srgbClr val="FFFFFF"/>
                    </a:solidFill>
                  </a:tcPr>
                </a:tc>
                <a:tc>
                  <a:txBody>
                    <a:bodyPr/>
                    <a:lstStyle/>
                    <a:p>
                      <a:r>
                        <a:rPr sz="2025" b="0">
                          <a:solidFill>
                            <a:srgbClr val="30343B"/>
                          </a:solidFill>
                          <a:latin typeface="Calibri"/>
                          <a:ea typeface="Calibri"/>
                          <a:cs typeface="Calibri"/>
                        </a:rPr>
                        <a:t>Model ve ayar seçer</a:t>
                      </a:r>
                    </a:p>
                  </a:txBody>
                  <a:tcPr marL="114300" marR="114300" marT="95250" marB="95250" anchor="ctr">
                    <a:solidFill>
                      <a:srgbClr val="FFFFFF"/>
                    </a:solidFill>
                  </a:tcPr>
                </a:tc>
                <a:tc>
                  <a:txBody>
                    <a:bodyPr/>
                    <a:lstStyle/>
                    <a:p>
                      <a:r>
                        <a:rPr sz="2025" b="0">
                          <a:solidFill>
                            <a:srgbClr val="30343B"/>
                          </a:solidFill>
                          <a:latin typeface="Calibri"/>
                          <a:ea typeface="Calibri"/>
                          <a:cs typeface="Calibri"/>
                        </a:rPr>
                        <a:t>Son başarıyı ölçer</a:t>
                      </a:r>
                    </a:p>
                  </a:txBody>
                  <a:tcPr marL="114300" marR="114300" marT="95250" marB="95250" anchor="ctr">
                    <a:solidFill>
                      <a:srgbClr val="FFFFFF"/>
                    </a:solidFill>
                  </a:tcPr>
                </a:tc>
                <a:extLst>
                  <a:ext uri="{0D108BD9-81ED-4DB2-BD59-A6C34878D82A}">
                    <a16:rowId xmlns:a16="http://schemas.microsoft.com/office/drawing/2014/main" val="10001"/>
                  </a:ext>
                </a:extLst>
              </a:tr>
              <a:tr h="796925">
                <a:tc>
                  <a:txBody>
                    <a:bodyPr/>
                    <a:lstStyle/>
                    <a:p>
                      <a:r>
                        <a:rPr sz="2025" b="0">
                          <a:solidFill>
                            <a:srgbClr val="30343B"/>
                          </a:solidFill>
                          <a:latin typeface="Calibri"/>
                          <a:ea typeface="Calibri"/>
                          <a:cs typeface="Calibri"/>
                        </a:rPr>
                        <a:t>Parametreler burada öğrenilir</a:t>
                      </a:r>
                    </a:p>
                  </a:txBody>
                  <a:tcPr marL="114300" marR="114300" marT="95250" marB="95250" anchor="ctr">
                    <a:solidFill>
                      <a:srgbClr val="EFEFF2"/>
                    </a:solidFill>
                  </a:tcPr>
                </a:tc>
                <a:tc>
                  <a:txBody>
                    <a:bodyPr/>
                    <a:lstStyle/>
                    <a:p>
                      <a:r>
                        <a:rPr sz="2025" b="0">
                          <a:solidFill>
                            <a:srgbClr val="30343B"/>
                          </a:solidFill>
                          <a:latin typeface="Calibri"/>
                          <a:ea typeface="Calibri"/>
                          <a:cs typeface="Calibri"/>
                        </a:rPr>
                        <a:t>Görülmemiş veride karşılaştırma</a:t>
                      </a:r>
                    </a:p>
                  </a:txBody>
                  <a:tcPr marL="114300" marR="114300" marT="95250" marB="95250" anchor="ctr">
                    <a:solidFill>
                      <a:srgbClr val="EFEFF2"/>
                    </a:solidFill>
                  </a:tcPr>
                </a:tc>
                <a:tc>
                  <a:txBody>
                    <a:bodyPr/>
                    <a:lstStyle/>
                    <a:p>
                      <a:r>
                        <a:rPr sz="2025" b="0">
                          <a:solidFill>
                            <a:srgbClr val="30343B"/>
                          </a:solidFill>
                          <a:latin typeface="Calibri"/>
                          <a:ea typeface="Calibri"/>
                          <a:cs typeface="Calibri"/>
                        </a:rPr>
                        <a:t>Seçim bittikten sonra kullanılır</a:t>
                      </a:r>
                    </a:p>
                  </a:txBody>
                  <a:tcPr marL="114300" marR="114300" marT="95250" marB="95250" anchor="ctr">
                    <a:solidFill>
                      <a:srgbClr val="EFEFF2"/>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196641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9" name="Shape 2">
            <a:extLst>
              <a:ext uri="{FF2B5EF4-FFF2-40B4-BE49-F238E27FC236}">
                <a16:creationId xmlns:a16="http://schemas.microsoft.com/office/drawing/2014/main" id="{5679E676-5A59-4582-8256-65141CFFECBC}"/>
              </a:ext>
            </a:extLst>
          </p:cNvPr>
          <p:cNvSpPr/>
          <p:nvPr/>
        </p:nvSpPr>
        <p:spPr>
          <a:xfrm>
            <a:off x="5219700" y="5019675"/>
            <a:ext cx="6381750" cy="904875"/>
          </a:xfrm>
          <a:prstGeom prst="roundRect">
            <a:avLst>
              <a:gd name="adj" fmla="val 6588"/>
            </a:avLst>
          </a:prstGeom>
          <a:solidFill>
            <a:srgbClr val="F5F2E3"/>
          </a:solidFill>
          <a:ln/>
        </p:spPr>
        <p:txBody>
          <a:bodyPr wrap="square">
            <a:noAutofit/>
          </a:bodyPr>
          <a:lstStyle/>
          <a:p>
            <a:pPr marL="0" indent="0">
              <a:lnSpc>
                <a:spcPct val="118000"/>
              </a:lnSpc>
              <a:buNone/>
            </a:pPr>
            <a:r>
              <a:rPr lang="tr-TR" sz="2400" b="0" dirty="0">
                <a:solidFill>
                  <a:srgbClr val="30343B"/>
                </a:solidFill>
                <a:latin typeface="Calibri"/>
                <a:ea typeface="Calibri"/>
                <a:cs typeface="Calibri"/>
              </a:rPr>
              <a:t>Tek girdili model: ŷ = a × alan + b</a:t>
            </a:r>
            <a:endParaRPr lang="tr-TR" sz="2400"/>
          </a:p>
          <a:p>
            <a:pPr marL="0" indent="0">
              <a:lnSpc>
                <a:spcPct val="118000"/>
              </a:lnSpc>
              <a:buNone/>
            </a:pPr>
            <a:r>
              <a:rPr lang="tr-TR" sz="2400" b="0" dirty="0">
                <a:solidFill>
                  <a:srgbClr val="30343B"/>
                </a:solidFill>
                <a:latin typeface="Calibri"/>
                <a:ea typeface="Calibri"/>
                <a:cs typeface="Calibri"/>
              </a:rPr>
              <a:t>Kareler toplamı: Σ(y − ŷ)²</a:t>
            </a:r>
            <a:endParaRPr lang="tr-TR" sz="2400"/>
          </a:p>
        </p:txBody>
      </p:sp>
      <p:sp>
        <p:nvSpPr>
          <p:cNvPr id="2" name="Text 0">
            <a:extLst>
              <a:ext uri="{FF2B5EF4-FFF2-40B4-BE49-F238E27FC236}">
                <a16:creationId xmlns:a16="http://schemas.microsoft.com/office/drawing/2014/main" id="{E5307C52-3719-400E-8C0D-FCFB6C8731D3}"/>
              </a:ext>
            </a:extLst>
          </p:cNvPr>
          <p:cNvSpPr/>
          <p:nvPr/>
        </p:nvSpPr>
        <p:spPr>
          <a:xfrm>
            <a:off x="457200" y="285750"/>
            <a:ext cx="11239500" cy="685800"/>
          </a:xfrm>
          <a:prstGeom prst="rect">
            <a:avLst/>
          </a:prstGeom>
          <a:noFill/>
          <a:ln/>
        </p:spPr>
        <p:txBody>
          <a:bodyPr wrap="square" lIns="0" tIns="0" rIns="0" bIns="0" rtlCol="0" anchor="t">
            <a:noAutofit/>
          </a:bodyPr>
          <a:lstStyle/>
          <a:p>
            <a:pPr marL="0" indent="0" algn="l">
              <a:lnSpc>
                <a:spcPct val="104000"/>
              </a:lnSpc>
              <a:buNone/>
            </a:pPr>
            <a:r>
              <a:rPr lang="tr-TR" sz="3200" b="1" dirty="0">
                <a:solidFill>
                  <a:srgbClr val="1E2A4E"/>
                </a:solidFill>
                <a:latin typeface="Calibri"/>
                <a:ea typeface="Calibri"/>
                <a:cs typeface="Calibri"/>
              </a:rPr>
              <a:t>Lineer regresyon: Hatanın karesini küçültme</a:t>
            </a:r>
            <a:endParaRPr lang="tr-TR" sz="3200"/>
          </a:p>
        </p:txBody>
      </p:sp>
      <p:grpSp>
        <p:nvGrpSpPr>
          <p:cNvPr id="18" name="Grup 17">
            <a:extLst>
              <a:ext uri="{FF2B5EF4-FFF2-40B4-BE49-F238E27FC236}">
                <a16:creationId xmlns:a16="http://schemas.microsoft.com/office/drawing/2014/main" id="{16766B9A-26F1-4223-95F0-6E34845283D7}"/>
              </a:ext>
            </a:extLst>
          </p:cNvPr>
          <p:cNvGrpSpPr/>
          <p:nvPr/>
        </p:nvGrpSpPr>
        <p:grpSpPr>
          <a:xfrm>
            <a:off x="376860" y="1105693"/>
            <a:ext cx="4267808" cy="4798545"/>
            <a:chOff x="661475" y="1095970"/>
            <a:chExt cx="4170258" cy="3203178"/>
          </a:xfrm>
        </p:grpSpPr>
        <p:sp>
          <p:nvSpPr>
            <p:cNvPr id="3" name="Text 1">
              <a:extLst>
                <a:ext uri="{FF2B5EF4-FFF2-40B4-BE49-F238E27FC236}">
                  <a16:creationId xmlns:a16="http://schemas.microsoft.com/office/drawing/2014/main" id="{1B816326-D758-4831-927C-1AB97B0B5519}"/>
                </a:ext>
              </a:extLst>
            </p:cNvPr>
            <p:cNvSpPr/>
            <p:nvPr/>
          </p:nvSpPr>
          <p:spPr>
            <a:xfrm>
              <a:off x="661475" y="1095970"/>
              <a:ext cx="4170258" cy="189210"/>
            </a:xfrm>
            <a:prstGeom prst="rect">
              <a:avLst/>
            </a:prstGeom>
            <a:noFill/>
            <a:ln/>
          </p:spPr>
          <p:txBody>
            <a:bodyPr wrap="square" lIns="0" tIns="0" rIns="0" bIns="0" rtlCol="0" anchor="t">
              <a:noAutofit/>
            </a:bodyPr>
            <a:lstStyle/>
            <a:p>
              <a:pPr marL="0" indent="0" algn="l">
                <a:lnSpc>
                  <a:spcPct val="104000"/>
                </a:lnSpc>
                <a:buNone/>
              </a:pPr>
              <a:r>
                <a:rPr lang="tr-TR" sz="2000" b="0" dirty="0">
                  <a:solidFill>
                    <a:srgbClr val="30343B"/>
                  </a:solidFill>
                  <a:latin typeface="Calibri"/>
                  <a:ea typeface="Calibri"/>
                  <a:cs typeface="Calibri"/>
                </a:rPr>
                <a:t>Tek girdili örnek</a:t>
              </a:r>
              <a:endParaRPr lang="tr-TR" sz="2000"/>
            </a:p>
          </p:txBody>
        </p:sp>
        <p:sp>
          <p:nvSpPr>
            <p:cNvPr id="4" name="Text 2">
              <a:extLst>
                <a:ext uri="{FF2B5EF4-FFF2-40B4-BE49-F238E27FC236}">
                  <a16:creationId xmlns:a16="http://schemas.microsoft.com/office/drawing/2014/main" id="{25F96450-DD8E-4F58-900C-C3179DDBC2F4}"/>
                </a:ext>
              </a:extLst>
            </p:cNvPr>
            <p:cNvSpPr/>
            <p:nvPr/>
          </p:nvSpPr>
          <p:spPr>
            <a:xfrm>
              <a:off x="661475" y="1372394"/>
              <a:ext cx="242088" cy="151309"/>
            </a:xfrm>
            <a:prstGeom prst="rect">
              <a:avLst/>
            </a:prstGeom>
            <a:noFill/>
            <a:ln/>
          </p:spPr>
          <p:txBody>
            <a:bodyPr wrap="none" lIns="0" tIns="0" rIns="0" bIns="0" rtlCol="0" anchor="ctr"/>
            <a:lstStyle/>
            <a:p>
              <a:pPr marL="0" indent="0" algn="l">
                <a:lnSpc>
                  <a:spcPct val="100000"/>
                </a:lnSpc>
                <a:buNone/>
              </a:pPr>
              <a:r>
                <a:rPr lang="en-US" dirty="0">
                  <a:solidFill>
                    <a:srgbClr val="3C3939"/>
                  </a:solidFill>
                  <a:ea typeface="Calibri" pitchFamily="34" charset="-122"/>
                  <a:cs typeface="Calibri" pitchFamily="34" charset="-120"/>
                </a:rPr>
                <a:t>01</a:t>
              </a:r>
              <a:endParaRPr lang="en-US" dirty="0"/>
            </a:p>
          </p:txBody>
        </p:sp>
        <p:sp>
          <p:nvSpPr>
            <p:cNvPr id="5" name="Shape 3">
              <a:extLst>
                <a:ext uri="{FF2B5EF4-FFF2-40B4-BE49-F238E27FC236}">
                  <a16:creationId xmlns:a16="http://schemas.microsoft.com/office/drawing/2014/main" id="{BFA2EF0C-6BDB-4035-BAD5-F7D9F21A68FB}"/>
                </a:ext>
              </a:extLst>
            </p:cNvPr>
            <p:cNvSpPr/>
            <p:nvPr/>
          </p:nvSpPr>
          <p:spPr>
            <a:xfrm>
              <a:off x="661475" y="1565473"/>
              <a:ext cx="4170258" cy="12700"/>
            </a:xfrm>
            <a:prstGeom prst="rect">
              <a:avLst/>
            </a:prstGeom>
            <a:solidFill>
              <a:srgbClr val="1B1B27"/>
            </a:solidFill>
            <a:ln/>
          </p:spPr>
        </p:sp>
        <p:sp>
          <p:nvSpPr>
            <p:cNvPr id="6" name="Text 4">
              <a:extLst>
                <a:ext uri="{FF2B5EF4-FFF2-40B4-BE49-F238E27FC236}">
                  <a16:creationId xmlns:a16="http://schemas.microsoft.com/office/drawing/2014/main" id="{A3BDE4D5-FF9D-46D3-8CAD-B03CC81DAA39}"/>
                </a:ext>
              </a:extLst>
            </p:cNvPr>
            <p:cNvSpPr/>
            <p:nvPr/>
          </p:nvSpPr>
          <p:spPr>
            <a:xfrm>
              <a:off x="661475" y="1651397"/>
              <a:ext cx="4170258" cy="189210"/>
            </a:xfrm>
            <a:prstGeom prst="rect">
              <a:avLst/>
            </a:prstGeom>
            <a:noFill/>
            <a:ln/>
          </p:spPr>
          <p:txBody>
            <a:bodyPr wrap="square" lIns="0" tIns="0" rIns="0" bIns="0" rtlCol="0" anchor="t">
              <a:noAutofit/>
            </a:bodyPr>
            <a:lstStyle/>
            <a:p>
              <a:pPr marL="0" indent="0" algn="l">
                <a:lnSpc>
                  <a:spcPct val="104000"/>
                </a:lnSpc>
                <a:buNone/>
              </a:pPr>
              <a:r>
                <a:rPr lang="tr-TR" sz="2000" b="0" dirty="0">
                  <a:solidFill>
                    <a:srgbClr val="30343B"/>
                  </a:solidFill>
                  <a:latin typeface="Calibri"/>
                  <a:ea typeface="Calibri"/>
                  <a:cs typeface="Calibri"/>
                </a:rPr>
                <a:t>1. Model</a:t>
              </a:r>
              <a:endParaRPr lang="tr-TR" sz="2000"/>
            </a:p>
          </p:txBody>
        </p:sp>
        <p:sp>
          <p:nvSpPr>
            <p:cNvPr id="7" name="Text 5">
              <a:extLst>
                <a:ext uri="{FF2B5EF4-FFF2-40B4-BE49-F238E27FC236}">
                  <a16:creationId xmlns:a16="http://schemas.microsoft.com/office/drawing/2014/main" id="{048707C8-D6A9-410F-843A-B4EF671AA3CF}"/>
                </a:ext>
              </a:extLst>
            </p:cNvPr>
            <p:cNvSpPr/>
            <p:nvPr/>
          </p:nvSpPr>
          <p:spPr>
            <a:xfrm>
              <a:off x="661475" y="1918097"/>
              <a:ext cx="4170258" cy="317698"/>
            </a:xfrm>
            <a:prstGeom prst="rect">
              <a:avLst/>
            </a:prstGeom>
            <a:noFill/>
            <a:ln/>
          </p:spPr>
          <p:txBody>
            <a:bodyPr wrap="square" lIns="0" tIns="0" rIns="0" bIns="0" rtlCol="0" anchor="t">
              <a:noAutofit/>
            </a:bodyPr>
            <a:lstStyle/>
            <a:p>
              <a:pPr marL="0" indent="0" algn="l">
                <a:lnSpc>
                  <a:spcPct val="109000"/>
                </a:lnSpc>
                <a:buNone/>
              </a:pPr>
              <a:r>
                <a:rPr lang="tr-TR" sz="2000" b="0" dirty="0">
                  <a:solidFill>
                    <a:srgbClr val="30343B"/>
                  </a:solidFill>
                  <a:latin typeface="Calibri"/>
                  <a:ea typeface="Calibri"/>
                  <a:cs typeface="Calibri"/>
                </a:rPr>
                <a:t>Alan ile fiyat arasındaki ilişkiyi bir doğruyla temsil eder.</a:t>
              </a:r>
              <a:endParaRPr lang="tr-TR" sz="2000"/>
            </a:p>
          </p:txBody>
        </p:sp>
        <p:sp>
          <p:nvSpPr>
            <p:cNvPr id="8" name="Text 6">
              <a:extLst>
                <a:ext uri="{FF2B5EF4-FFF2-40B4-BE49-F238E27FC236}">
                  <a16:creationId xmlns:a16="http://schemas.microsoft.com/office/drawing/2014/main" id="{F380DE07-0F9E-41D4-9C90-ECBCD8286F0C}"/>
                </a:ext>
              </a:extLst>
            </p:cNvPr>
            <p:cNvSpPr/>
            <p:nvPr/>
          </p:nvSpPr>
          <p:spPr>
            <a:xfrm>
              <a:off x="661475" y="2404070"/>
              <a:ext cx="242088" cy="151309"/>
            </a:xfrm>
            <a:prstGeom prst="rect">
              <a:avLst/>
            </a:prstGeom>
            <a:noFill/>
            <a:ln/>
          </p:spPr>
          <p:txBody>
            <a:bodyPr wrap="none" lIns="0" tIns="0" rIns="0" bIns="0" rtlCol="0" anchor="ctr"/>
            <a:lstStyle/>
            <a:p>
              <a:pPr marL="0" indent="0" algn="l">
                <a:lnSpc>
                  <a:spcPct val="100000"/>
                </a:lnSpc>
                <a:buNone/>
              </a:pPr>
              <a:r>
                <a:rPr lang="en-US" dirty="0">
                  <a:solidFill>
                    <a:srgbClr val="3C3939"/>
                  </a:solidFill>
                  <a:ea typeface="Calibri" pitchFamily="34" charset="-122"/>
                  <a:cs typeface="Calibri" pitchFamily="34" charset="-120"/>
                </a:rPr>
                <a:t>02</a:t>
              </a:r>
              <a:endParaRPr lang="en-US" dirty="0"/>
            </a:p>
          </p:txBody>
        </p:sp>
        <p:sp>
          <p:nvSpPr>
            <p:cNvPr id="9" name="Shape 7">
              <a:extLst>
                <a:ext uri="{FF2B5EF4-FFF2-40B4-BE49-F238E27FC236}">
                  <a16:creationId xmlns:a16="http://schemas.microsoft.com/office/drawing/2014/main" id="{377277E1-095C-4507-952C-33EC1EBBADD5}"/>
                </a:ext>
              </a:extLst>
            </p:cNvPr>
            <p:cNvSpPr/>
            <p:nvPr/>
          </p:nvSpPr>
          <p:spPr>
            <a:xfrm>
              <a:off x="661475" y="2597150"/>
              <a:ext cx="4170258" cy="12700"/>
            </a:xfrm>
            <a:prstGeom prst="rect">
              <a:avLst/>
            </a:prstGeom>
            <a:solidFill>
              <a:srgbClr val="1B1B27"/>
            </a:solidFill>
            <a:ln/>
          </p:spPr>
        </p:sp>
        <p:sp>
          <p:nvSpPr>
            <p:cNvPr id="10" name="Text 8">
              <a:extLst>
                <a:ext uri="{FF2B5EF4-FFF2-40B4-BE49-F238E27FC236}">
                  <a16:creationId xmlns:a16="http://schemas.microsoft.com/office/drawing/2014/main" id="{DD487D4B-4CD6-4CAE-ACE6-B7072D8D9723}"/>
                </a:ext>
              </a:extLst>
            </p:cNvPr>
            <p:cNvSpPr/>
            <p:nvPr/>
          </p:nvSpPr>
          <p:spPr>
            <a:xfrm>
              <a:off x="661475" y="2683073"/>
              <a:ext cx="4170258" cy="189210"/>
            </a:xfrm>
            <a:prstGeom prst="rect">
              <a:avLst/>
            </a:prstGeom>
            <a:noFill/>
            <a:ln/>
          </p:spPr>
          <p:txBody>
            <a:bodyPr wrap="square" lIns="0" tIns="0" rIns="0" bIns="0" rtlCol="0" anchor="t">
              <a:noAutofit/>
            </a:bodyPr>
            <a:lstStyle/>
            <a:p>
              <a:pPr marL="0" indent="0" algn="l">
                <a:lnSpc>
                  <a:spcPct val="104000"/>
                </a:lnSpc>
                <a:buNone/>
              </a:pPr>
              <a:r>
                <a:rPr lang="tr-TR" sz="2000" b="0" dirty="0">
                  <a:solidFill>
                    <a:srgbClr val="30343B"/>
                  </a:solidFill>
                  <a:latin typeface="Calibri"/>
                  <a:ea typeface="Calibri"/>
                  <a:cs typeface="Calibri"/>
                </a:rPr>
                <a:t>2. Hata</a:t>
              </a:r>
              <a:endParaRPr lang="tr-TR" sz="2000"/>
            </a:p>
          </p:txBody>
        </p:sp>
        <p:sp>
          <p:nvSpPr>
            <p:cNvPr id="11" name="Text 9">
              <a:extLst>
                <a:ext uri="{FF2B5EF4-FFF2-40B4-BE49-F238E27FC236}">
                  <a16:creationId xmlns:a16="http://schemas.microsoft.com/office/drawing/2014/main" id="{EC775F0F-07E4-43DC-AA5D-A3DDB394505A}"/>
                </a:ext>
              </a:extLst>
            </p:cNvPr>
            <p:cNvSpPr/>
            <p:nvPr/>
          </p:nvSpPr>
          <p:spPr>
            <a:xfrm>
              <a:off x="661475" y="2949773"/>
              <a:ext cx="4170258" cy="317698"/>
            </a:xfrm>
            <a:prstGeom prst="rect">
              <a:avLst/>
            </a:prstGeom>
            <a:noFill/>
            <a:ln/>
          </p:spPr>
          <p:txBody>
            <a:bodyPr wrap="square" lIns="0" tIns="0" rIns="0" bIns="0" rtlCol="0" anchor="t">
              <a:noAutofit/>
            </a:bodyPr>
            <a:lstStyle/>
            <a:p>
              <a:pPr marL="0" indent="0" algn="l">
                <a:lnSpc>
                  <a:spcPct val="109000"/>
                </a:lnSpc>
                <a:buNone/>
              </a:pPr>
              <a:r>
                <a:rPr lang="tr-TR" sz="2000" b="0" dirty="0">
                  <a:solidFill>
                    <a:srgbClr val="30343B"/>
                  </a:solidFill>
                  <a:latin typeface="Calibri"/>
                  <a:ea typeface="Calibri"/>
                  <a:cs typeface="Calibri"/>
                </a:rPr>
                <a:t>Hata = gerçek fiyat − tahmin. Grafikte dikey uzaklıktır.</a:t>
              </a:r>
              <a:endParaRPr lang="tr-TR" sz="2000"/>
            </a:p>
          </p:txBody>
        </p:sp>
        <p:sp>
          <p:nvSpPr>
            <p:cNvPr id="12" name="Text 10">
              <a:extLst>
                <a:ext uri="{FF2B5EF4-FFF2-40B4-BE49-F238E27FC236}">
                  <a16:creationId xmlns:a16="http://schemas.microsoft.com/office/drawing/2014/main" id="{9C39AC1E-13C3-4077-84D2-5D77D62B9E2A}"/>
                </a:ext>
              </a:extLst>
            </p:cNvPr>
            <p:cNvSpPr/>
            <p:nvPr/>
          </p:nvSpPr>
          <p:spPr>
            <a:xfrm>
              <a:off x="661475" y="3435747"/>
              <a:ext cx="242088" cy="151309"/>
            </a:xfrm>
            <a:prstGeom prst="rect">
              <a:avLst/>
            </a:prstGeom>
            <a:noFill/>
            <a:ln/>
          </p:spPr>
          <p:txBody>
            <a:bodyPr wrap="none" lIns="0" tIns="0" rIns="0" bIns="0" rtlCol="0" anchor="ctr"/>
            <a:lstStyle/>
            <a:p>
              <a:pPr marL="0" indent="0" algn="l">
                <a:lnSpc>
                  <a:spcPct val="100000"/>
                </a:lnSpc>
                <a:buNone/>
              </a:pPr>
              <a:r>
                <a:rPr lang="en-US" dirty="0">
                  <a:solidFill>
                    <a:srgbClr val="3C3939"/>
                  </a:solidFill>
                  <a:ea typeface="Calibri" pitchFamily="34" charset="-122"/>
                  <a:cs typeface="Calibri" pitchFamily="34" charset="-120"/>
                </a:rPr>
                <a:t>03</a:t>
              </a:r>
              <a:endParaRPr lang="en-US" dirty="0"/>
            </a:p>
          </p:txBody>
        </p:sp>
        <p:sp>
          <p:nvSpPr>
            <p:cNvPr id="13" name="Shape 11">
              <a:extLst>
                <a:ext uri="{FF2B5EF4-FFF2-40B4-BE49-F238E27FC236}">
                  <a16:creationId xmlns:a16="http://schemas.microsoft.com/office/drawing/2014/main" id="{A230E161-95FF-49FE-9829-891AD86C8B9C}"/>
                </a:ext>
              </a:extLst>
            </p:cNvPr>
            <p:cNvSpPr/>
            <p:nvPr/>
          </p:nvSpPr>
          <p:spPr>
            <a:xfrm>
              <a:off x="661475" y="3628827"/>
              <a:ext cx="4170258" cy="12700"/>
            </a:xfrm>
            <a:prstGeom prst="rect">
              <a:avLst/>
            </a:prstGeom>
            <a:solidFill>
              <a:srgbClr val="1B1B27"/>
            </a:solidFill>
            <a:ln/>
          </p:spPr>
        </p:sp>
        <p:sp>
          <p:nvSpPr>
            <p:cNvPr id="14" name="Text 12">
              <a:extLst>
                <a:ext uri="{FF2B5EF4-FFF2-40B4-BE49-F238E27FC236}">
                  <a16:creationId xmlns:a16="http://schemas.microsoft.com/office/drawing/2014/main" id="{DDC39B26-2EAB-49B5-805C-62B28FB39F4E}"/>
                </a:ext>
              </a:extLst>
            </p:cNvPr>
            <p:cNvSpPr/>
            <p:nvPr/>
          </p:nvSpPr>
          <p:spPr>
            <a:xfrm>
              <a:off x="661475" y="3714750"/>
              <a:ext cx="4170258" cy="189210"/>
            </a:xfrm>
            <a:prstGeom prst="rect">
              <a:avLst/>
            </a:prstGeom>
            <a:noFill/>
            <a:ln/>
          </p:spPr>
          <p:txBody>
            <a:bodyPr wrap="square" lIns="0" tIns="0" rIns="0" bIns="0" rtlCol="0" anchor="t">
              <a:noAutofit/>
            </a:bodyPr>
            <a:lstStyle/>
            <a:p>
              <a:pPr marL="0" indent="0" algn="l">
                <a:lnSpc>
                  <a:spcPct val="104000"/>
                </a:lnSpc>
                <a:buNone/>
              </a:pPr>
              <a:r>
                <a:rPr lang="tr-TR" sz="2000" b="0" dirty="0">
                  <a:solidFill>
                    <a:srgbClr val="30343B"/>
                  </a:solidFill>
                  <a:latin typeface="Calibri"/>
                  <a:ea typeface="Calibri"/>
                  <a:cs typeface="Calibri"/>
                </a:rPr>
                <a:t>3. Eğitim</a:t>
              </a:r>
              <a:endParaRPr lang="tr-TR" sz="2000"/>
            </a:p>
          </p:txBody>
        </p:sp>
        <p:sp>
          <p:nvSpPr>
            <p:cNvPr id="15" name="Text 13">
              <a:extLst>
                <a:ext uri="{FF2B5EF4-FFF2-40B4-BE49-F238E27FC236}">
                  <a16:creationId xmlns:a16="http://schemas.microsoft.com/office/drawing/2014/main" id="{D825B7BC-A835-46A1-AF8A-C7D89F1D5E21}"/>
                </a:ext>
              </a:extLst>
            </p:cNvPr>
            <p:cNvSpPr/>
            <p:nvPr/>
          </p:nvSpPr>
          <p:spPr>
            <a:xfrm>
              <a:off x="661475" y="3981450"/>
              <a:ext cx="4170258" cy="317698"/>
            </a:xfrm>
            <a:prstGeom prst="rect">
              <a:avLst/>
            </a:prstGeom>
            <a:noFill/>
            <a:ln/>
          </p:spPr>
          <p:txBody>
            <a:bodyPr wrap="square" lIns="0" tIns="0" rIns="0" bIns="0" rtlCol="0" anchor="t">
              <a:noAutofit/>
            </a:bodyPr>
            <a:lstStyle/>
            <a:p>
              <a:pPr marL="0" indent="0" algn="l">
                <a:lnSpc>
                  <a:spcPct val="109000"/>
                </a:lnSpc>
                <a:buNone/>
              </a:pPr>
              <a:r>
                <a:rPr lang="tr-TR" sz="2000" b="0" dirty="0">
                  <a:solidFill>
                    <a:srgbClr val="30343B"/>
                  </a:solidFill>
                  <a:latin typeface="Calibri"/>
                  <a:ea typeface="Calibri"/>
                  <a:cs typeface="Calibri"/>
                </a:rPr>
                <a:t>Karelenmiş hataların toplamını en aza indiren katsayıları bulur.</a:t>
              </a:r>
              <a:endParaRPr lang="tr-TR" sz="2000"/>
            </a:p>
          </p:txBody>
        </p:sp>
      </p:grpSp>
      <p:sp>
        <p:nvSpPr>
          <p:cNvPr id="17" name="Text 14">
            <a:extLst>
              <a:ext uri="{FF2B5EF4-FFF2-40B4-BE49-F238E27FC236}">
                <a16:creationId xmlns:a16="http://schemas.microsoft.com/office/drawing/2014/main" id="{FFAD5A72-DA8C-4212-B27F-447A2043C8BC}"/>
              </a:ext>
            </a:extLst>
          </p:cNvPr>
          <p:cNvSpPr/>
          <p:nvPr/>
        </p:nvSpPr>
        <p:spPr>
          <a:xfrm>
            <a:off x="5175739" y="4870226"/>
            <a:ext cx="6403120" cy="863997"/>
          </a:xfrm>
          <a:prstGeom prst="rect">
            <a:avLst/>
          </a:prstGeom>
          <a:noFill/>
          <a:ln/>
        </p:spPr>
        <p:txBody>
          <a:bodyPr wrap="square" lIns="0" tIns="0" rIns="0" bIns="0" rtlCol="0" anchor="t"/>
          <a:lstStyle/>
          <a:p>
            <a:pPr marL="0" indent="0" algn="l">
              <a:lnSpc>
                <a:spcPct val="109000"/>
              </a:lnSpc>
              <a:buNone/>
            </a:pPr>
            <a:endParaRPr lang="en-US" sz="1400" dirty="0"/>
          </a:p>
        </p:txBody>
      </p:sp>
      <p:sp>
        <p:nvSpPr>
          <p:cNvPr id="100" name="Her regresyon modeli doğrusal değildir. Bu grafik "/>
          <p:cNvSpPr txBox="1"/>
          <p:nvPr/>
        </p:nvSpPr>
        <p:spPr>
          <a:xfrm>
            <a:off x="457200" y="6296025"/>
            <a:ext cx="11049000" cy="409575"/>
          </a:xfrm>
          <a:prstGeom prst="rect">
            <a:avLst/>
          </a:prstGeom>
          <a:noFill/>
          <a:ln>
            <a:noFill/>
          </a:ln>
        </p:spPr>
        <p:txBody>
          <a:bodyPr wrap="square" lIns="0" tIns="0" rIns="0" bIns="0">
            <a:noAutofit/>
          </a:bodyPr>
          <a:lstStyle/>
          <a:p>
            <a:pPr marL="0" indent="0"/>
            <a:r>
              <a:rPr lang="tr-TR" sz="1800">
                <a:solidFill>
                  <a:srgbClr val="596173"/>
                </a:solidFill>
                <a:latin typeface="Calibri"/>
                <a:ea typeface="Calibri"/>
                <a:cs typeface="Calibri"/>
              </a:rPr>
              <a:t>Her regresyon modeli doğrusal değildir. Bu grafik temsili eğitim verisidir.</a:t>
            </a:r>
            <a:endParaRPr lang="tr-TR" sz="1800"/>
          </a:p>
        </p:txBody>
      </p:sp>
      <p:graphicFrame>
        <p:nvGraphicFramePr>
          <p:cNvPr id="101" name="Chart"/>
          <p:cNvGraphicFramePr/>
          <p:nvPr/>
        </p:nvGraphicFramePr>
        <p:xfrm>
          <a:off x="4762500" y="1066800"/>
          <a:ext cx="7029450" cy="36671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00573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5D83DAD-1544-4386-B665-91703E1D648E}"/>
              </a:ext>
            </a:extLst>
          </p:cNvPr>
          <p:cNvSpPr/>
          <p:nvPr/>
        </p:nvSpPr>
        <p:spPr>
          <a:xfrm>
            <a:off x="457200" y="285750"/>
            <a:ext cx="11239500" cy="685800"/>
          </a:xfrm>
          <a:prstGeom prst="rect">
            <a:avLst/>
          </a:prstGeom>
          <a:noFill/>
          <a:ln/>
        </p:spPr>
        <p:txBody>
          <a:bodyPr wrap="square" lIns="0" tIns="0" rIns="0" bIns="0" rtlCol="0" anchor="t">
            <a:noAutofit/>
          </a:bodyPr>
          <a:lstStyle/>
          <a:p>
            <a:pPr marL="0" indent="0" algn="l">
              <a:lnSpc>
                <a:spcPct val="104000"/>
              </a:lnSpc>
              <a:buNone/>
            </a:pPr>
            <a:r>
              <a:rPr lang="tr-TR" sz="3200" b="1" dirty="0">
                <a:solidFill>
                  <a:srgbClr val="1E2A4E"/>
                </a:solidFill>
                <a:latin typeface="Calibri"/>
                <a:ea typeface="Calibri"/>
                <a:cs typeface="Calibri"/>
              </a:rPr>
              <a:t>Karar ağaçları: Sorularla tahmin</a:t>
            </a:r>
            <a:endParaRPr lang="tr-TR" sz="3200"/>
          </a:p>
        </p:txBody>
      </p:sp>
      <p:grpSp>
        <p:nvGrpSpPr>
          <p:cNvPr id="10" name="Grup 9">
            <a:extLst>
              <a:ext uri="{FF2B5EF4-FFF2-40B4-BE49-F238E27FC236}">
                <a16:creationId xmlns:a16="http://schemas.microsoft.com/office/drawing/2014/main" id="{2C1AD886-0472-4838-9305-D39DC4DBEB35}"/>
              </a:ext>
            </a:extLst>
          </p:cNvPr>
          <p:cNvGrpSpPr/>
          <p:nvPr/>
        </p:nvGrpSpPr>
        <p:grpSpPr>
          <a:xfrm>
            <a:off x="435844" y="1226281"/>
            <a:ext cx="4789299" cy="4865760"/>
            <a:chOff x="453657" y="1368785"/>
            <a:chExt cx="4079475" cy="4052094"/>
          </a:xfrm>
        </p:grpSpPr>
        <p:sp>
          <p:nvSpPr>
            <p:cNvPr id="3" name="Text 1">
              <a:extLst>
                <a:ext uri="{FF2B5EF4-FFF2-40B4-BE49-F238E27FC236}">
                  <a16:creationId xmlns:a16="http://schemas.microsoft.com/office/drawing/2014/main" id="{1DD4A4D7-7C7D-4D6B-ACB2-34B64CF8DC9B}"/>
                </a:ext>
              </a:extLst>
            </p:cNvPr>
            <p:cNvSpPr/>
            <p:nvPr/>
          </p:nvSpPr>
          <p:spPr>
            <a:xfrm>
              <a:off x="453657" y="1368785"/>
              <a:ext cx="4079475" cy="286048"/>
            </a:xfrm>
            <a:prstGeom prst="rect">
              <a:avLst/>
            </a:prstGeom>
            <a:noFill/>
            <a:ln/>
          </p:spPr>
          <p:txBody>
            <a:bodyPr wrap="none" lIns="0" tIns="0" rIns="0" bIns="0" rtlCol="0" anchor="t"/>
            <a:lstStyle/>
            <a:p>
              <a:pPr marL="0" indent="0" algn="l">
                <a:lnSpc>
                  <a:spcPct val="104000"/>
                </a:lnSpc>
                <a:buNone/>
              </a:pPr>
              <a:r>
                <a:rPr lang="en-US" sz="2000" b="1" dirty="0">
                  <a:solidFill>
                    <a:srgbClr val="1A3A52"/>
                  </a:solidFill>
                  <a:ea typeface="Calibri" pitchFamily="34" charset="-122"/>
                  <a:cs typeface="Calibri" pitchFamily="34" charset="-120"/>
                </a:rPr>
                <a:t>Mantık</a:t>
              </a:r>
              <a:endParaRPr lang="en-US" sz="2000" b="1" dirty="0"/>
            </a:p>
          </p:txBody>
        </p:sp>
        <p:sp>
          <p:nvSpPr>
            <p:cNvPr id="4" name="Text 2">
              <a:extLst>
                <a:ext uri="{FF2B5EF4-FFF2-40B4-BE49-F238E27FC236}">
                  <a16:creationId xmlns:a16="http://schemas.microsoft.com/office/drawing/2014/main" id="{1BB4CC0F-6E9A-42EB-ACDB-7BDF9A904227}"/>
                </a:ext>
              </a:extLst>
            </p:cNvPr>
            <p:cNvSpPr/>
            <p:nvPr/>
          </p:nvSpPr>
          <p:spPr>
            <a:xfrm>
              <a:off x="453657" y="1832137"/>
              <a:ext cx="4079475" cy="865287"/>
            </a:xfrm>
            <a:prstGeom prst="rect">
              <a:avLst/>
            </a:prstGeom>
            <a:noFill/>
            <a:ln/>
          </p:spPr>
          <p:txBody>
            <a:bodyPr wrap="square" lIns="0" tIns="0" rIns="0" bIns="0" rtlCol="0" anchor="t">
              <a:noAutofit/>
            </a:bodyPr>
            <a:lstStyle/>
            <a:p>
              <a:pPr marL="0" indent="0" algn="l">
                <a:lnSpc>
                  <a:spcPct val="131000"/>
                </a:lnSpc>
                <a:buNone/>
              </a:pPr>
              <a:r>
                <a:rPr lang="tr-TR" sz="2000" b="0" dirty="0">
                  <a:solidFill>
                    <a:srgbClr val="30343B"/>
                  </a:solidFill>
                  <a:latin typeface="Calibri"/>
                  <a:ea typeface="Calibri"/>
                  <a:cs typeface="Calibri"/>
                </a:rPr>
                <a:t>Özellik eşiklerine göre veriyi dallara ayırır. Bölünmeleri eğitim verisinden öğrenir.</a:t>
              </a:r>
              <a:endParaRPr lang="tr-TR" sz="2000"/>
            </a:p>
          </p:txBody>
        </p:sp>
        <p:sp>
          <p:nvSpPr>
            <p:cNvPr id="5" name="Text 3">
              <a:extLst>
                <a:ext uri="{FF2B5EF4-FFF2-40B4-BE49-F238E27FC236}">
                  <a16:creationId xmlns:a16="http://schemas.microsoft.com/office/drawing/2014/main" id="{23EA5E1A-0A65-4CC6-B79E-1B64CDCC71B5}"/>
                </a:ext>
              </a:extLst>
            </p:cNvPr>
            <p:cNvSpPr/>
            <p:nvPr/>
          </p:nvSpPr>
          <p:spPr>
            <a:xfrm>
              <a:off x="453657" y="2884262"/>
              <a:ext cx="4079475" cy="286048"/>
            </a:xfrm>
            <a:prstGeom prst="rect">
              <a:avLst/>
            </a:prstGeom>
            <a:noFill/>
            <a:ln/>
          </p:spPr>
          <p:txBody>
            <a:bodyPr wrap="none" lIns="0" tIns="0" rIns="0" bIns="0" rtlCol="0" anchor="t"/>
            <a:lstStyle/>
            <a:p>
              <a:pPr marL="0" indent="0" algn="l">
                <a:lnSpc>
                  <a:spcPct val="104000"/>
                </a:lnSpc>
                <a:buNone/>
              </a:pPr>
              <a:r>
                <a:rPr lang="en-US" sz="2000" b="1" dirty="0">
                  <a:solidFill>
                    <a:srgbClr val="1A3A52"/>
                  </a:solidFill>
                  <a:ea typeface="Calibri" pitchFamily="34" charset="-122"/>
                  <a:cs typeface="Calibri" pitchFamily="34" charset="-120"/>
                </a:rPr>
                <a:t>Avantajı</a:t>
              </a:r>
              <a:endParaRPr lang="en-US" sz="2000" b="1" dirty="0"/>
            </a:p>
          </p:txBody>
        </p:sp>
        <p:sp>
          <p:nvSpPr>
            <p:cNvPr id="6" name="Text 4">
              <a:extLst>
                <a:ext uri="{FF2B5EF4-FFF2-40B4-BE49-F238E27FC236}">
                  <a16:creationId xmlns:a16="http://schemas.microsoft.com/office/drawing/2014/main" id="{4FF2B5DF-1C5E-4305-AD60-E6CDDEF73545}"/>
                </a:ext>
              </a:extLst>
            </p:cNvPr>
            <p:cNvSpPr/>
            <p:nvPr/>
          </p:nvSpPr>
          <p:spPr>
            <a:xfrm>
              <a:off x="453657" y="3338079"/>
              <a:ext cx="4079475" cy="865287"/>
            </a:xfrm>
            <a:prstGeom prst="rect">
              <a:avLst/>
            </a:prstGeom>
            <a:noFill/>
            <a:ln/>
          </p:spPr>
          <p:txBody>
            <a:bodyPr wrap="square" lIns="0" tIns="0" rIns="0" bIns="0" rtlCol="0" anchor="t">
              <a:noAutofit/>
            </a:bodyPr>
            <a:lstStyle/>
            <a:p>
              <a:pPr marL="0" indent="0" algn="l">
                <a:lnSpc>
                  <a:spcPct val="131000"/>
                </a:lnSpc>
                <a:buNone/>
              </a:pPr>
              <a:r>
                <a:rPr lang="tr-TR" sz="2000" b="0" dirty="0">
                  <a:solidFill>
                    <a:srgbClr val="30343B"/>
                  </a:solidFill>
                  <a:latin typeface="Calibri"/>
                  <a:ea typeface="Calibri"/>
                  <a:cs typeface="Calibri"/>
                </a:rPr>
                <a:t>Küçük ağaçların kuralları izlenebilir. Sayısal değer veya sınıf tahmin edebilir.</a:t>
              </a:r>
              <a:endParaRPr lang="tr-TR" sz="2000"/>
            </a:p>
          </p:txBody>
        </p:sp>
        <p:sp>
          <p:nvSpPr>
            <p:cNvPr id="7" name="Text 5">
              <a:extLst>
                <a:ext uri="{FF2B5EF4-FFF2-40B4-BE49-F238E27FC236}">
                  <a16:creationId xmlns:a16="http://schemas.microsoft.com/office/drawing/2014/main" id="{B758832A-D334-409F-A188-5E6D711BDEE7}"/>
                </a:ext>
              </a:extLst>
            </p:cNvPr>
            <p:cNvSpPr/>
            <p:nvPr/>
          </p:nvSpPr>
          <p:spPr>
            <a:xfrm>
              <a:off x="453657" y="4380670"/>
              <a:ext cx="4079475" cy="286048"/>
            </a:xfrm>
            <a:prstGeom prst="rect">
              <a:avLst/>
            </a:prstGeom>
            <a:noFill/>
            <a:ln/>
          </p:spPr>
          <p:txBody>
            <a:bodyPr wrap="none" lIns="0" tIns="0" rIns="0" bIns="0" rtlCol="0" anchor="t"/>
            <a:lstStyle/>
            <a:p>
              <a:pPr marL="0" indent="0" algn="l">
                <a:lnSpc>
                  <a:spcPct val="104000"/>
                </a:lnSpc>
                <a:buNone/>
              </a:pPr>
              <a:r>
                <a:rPr lang="en-US" sz="2000" b="1" dirty="0">
                  <a:solidFill>
                    <a:srgbClr val="1A3A52"/>
                  </a:solidFill>
                  <a:ea typeface="Calibri" pitchFamily="34" charset="-122"/>
                  <a:cs typeface="Calibri" pitchFamily="34" charset="-120"/>
                </a:rPr>
                <a:t>Dezavantajı</a:t>
              </a:r>
              <a:endParaRPr lang="en-US" sz="2000" b="1" dirty="0"/>
            </a:p>
          </p:txBody>
        </p:sp>
        <p:sp>
          <p:nvSpPr>
            <p:cNvPr id="8" name="Text 6">
              <a:extLst>
                <a:ext uri="{FF2B5EF4-FFF2-40B4-BE49-F238E27FC236}">
                  <a16:creationId xmlns:a16="http://schemas.microsoft.com/office/drawing/2014/main" id="{3AFBAF03-C9B4-4EAA-BFF8-D601775B5271}"/>
                </a:ext>
              </a:extLst>
            </p:cNvPr>
            <p:cNvSpPr/>
            <p:nvPr/>
          </p:nvSpPr>
          <p:spPr>
            <a:xfrm>
              <a:off x="453657" y="4844021"/>
              <a:ext cx="4079475" cy="576858"/>
            </a:xfrm>
            <a:prstGeom prst="rect">
              <a:avLst/>
            </a:prstGeom>
            <a:noFill/>
            <a:ln/>
          </p:spPr>
          <p:txBody>
            <a:bodyPr wrap="square" lIns="0" tIns="0" rIns="0" bIns="0" rtlCol="0" anchor="t">
              <a:noAutofit/>
            </a:bodyPr>
            <a:lstStyle/>
            <a:p>
              <a:pPr marL="0" indent="0" algn="l">
                <a:lnSpc>
                  <a:spcPct val="131000"/>
                </a:lnSpc>
                <a:buNone/>
              </a:pPr>
              <a:r>
                <a:rPr lang="tr-TR" sz="2000" b="0" dirty="0">
                  <a:solidFill>
                    <a:srgbClr val="30343B"/>
                  </a:solidFill>
                  <a:latin typeface="Calibri"/>
                  <a:ea typeface="Calibri"/>
                  <a:cs typeface="Calibri"/>
                </a:rPr>
                <a:t>Derin ağaçlar aşırı öğrenebilir. Derinlik ve yaprak boyutu doğrulamada seçilir.</a:t>
              </a:r>
              <a:endParaRPr lang="tr-TR" sz="2000"/>
            </a:p>
          </p:txBody>
        </p:sp>
      </p:grpSp>
      <p:pic>
        <p:nvPicPr>
          <p:cNvPr id="9" name="Image 0" descr="preencoded.png">
            <a:extLst>
              <a:ext uri="{FF2B5EF4-FFF2-40B4-BE49-F238E27FC236}">
                <a16:creationId xmlns:a16="http://schemas.microsoft.com/office/drawing/2014/main" id="{0F9E40C7-5EC7-4143-97DA-C43D3AA21F4A}"/>
              </a:ext>
            </a:extLst>
          </p:cNvPr>
          <p:cNvPicPr>
            <a:picLocks noChangeAspect="1"/>
          </p:cNvPicPr>
          <p:nvPr/>
        </p:nvPicPr>
        <p:blipFill>
          <a:blip r:embed="rId3"/>
          <a:stretch>
            <a:fillRect/>
          </a:stretch>
        </p:blipFill>
        <p:spPr>
          <a:xfrm>
            <a:off x="5506601" y="1782675"/>
            <a:ext cx="6342499" cy="3567708"/>
          </a:xfrm>
          <a:prstGeom prst="rect">
            <a:avLst/>
          </a:prstGeom>
        </p:spPr>
      </p:pic>
      <p:sp>
        <p:nvSpPr>
          <p:cNvPr id="100" name="Pahalı"/>
          <p:cNvSpPr txBox="1"/>
          <p:nvPr/>
        </p:nvSpPr>
        <p:spPr>
          <a:xfrm>
            <a:off x="5943600" y="4629150"/>
            <a:ext cx="1076325" cy="247650"/>
          </a:xfrm>
          <a:prstGeom prst="rect">
            <a:avLst/>
          </a:prstGeom>
          <a:solidFill>
            <a:schemeClr val="bg1"/>
          </a:solidFill>
          <a:ln>
            <a:noFill/>
          </a:ln>
        </p:spPr>
        <p:txBody>
          <a:bodyPr wrap="square" lIns="0" tIns="0" rIns="0" bIns="0">
            <a:noAutofit/>
          </a:bodyPr>
          <a:lstStyle/>
          <a:p>
            <a:pPr marL="0" indent="0" algn="ctr"/>
            <a:r>
              <a:rPr lang="tr-TR" sz="1300" b="1" dirty="0">
                <a:solidFill>
                  <a:srgbClr val="B18D18"/>
                </a:solidFill>
                <a:latin typeface="Calibri"/>
                <a:ea typeface="Calibri"/>
                <a:cs typeface="Calibri"/>
              </a:rPr>
              <a:t>Pahalı</a:t>
            </a:r>
            <a:endParaRPr lang="tr-TR" sz="1300" dirty="0"/>
          </a:p>
        </p:txBody>
      </p:sp>
      <p:sp>
        <p:nvSpPr>
          <p:cNvPr id="101" name="Uygun"/>
          <p:cNvSpPr txBox="1"/>
          <p:nvPr/>
        </p:nvSpPr>
        <p:spPr>
          <a:xfrm>
            <a:off x="7343775" y="4629150"/>
            <a:ext cx="1076325" cy="247650"/>
          </a:xfrm>
          <a:prstGeom prst="rect">
            <a:avLst/>
          </a:prstGeom>
          <a:solidFill>
            <a:schemeClr val="bg1"/>
          </a:solidFill>
          <a:ln>
            <a:noFill/>
          </a:ln>
        </p:spPr>
        <p:txBody>
          <a:bodyPr wrap="square" lIns="0" tIns="0" rIns="0" bIns="0">
            <a:noAutofit/>
          </a:bodyPr>
          <a:lstStyle/>
          <a:p>
            <a:pPr marL="0" indent="0" algn="ctr"/>
            <a:r>
              <a:rPr lang="tr-TR" sz="1300" b="1" dirty="0">
                <a:solidFill>
                  <a:srgbClr val="B18D18"/>
                </a:solidFill>
                <a:latin typeface="Calibri"/>
                <a:ea typeface="Calibri"/>
                <a:cs typeface="Calibri"/>
              </a:rPr>
              <a:t>Uygun</a:t>
            </a:r>
            <a:endParaRPr lang="tr-TR" sz="1300" dirty="0"/>
          </a:p>
        </p:txBody>
      </p:sp>
      <p:sp>
        <p:nvSpPr>
          <p:cNvPr id="102" name="Pahalı"/>
          <p:cNvSpPr txBox="1"/>
          <p:nvPr/>
        </p:nvSpPr>
        <p:spPr>
          <a:xfrm>
            <a:off x="8829675" y="4629150"/>
            <a:ext cx="1076325" cy="247650"/>
          </a:xfrm>
          <a:prstGeom prst="rect">
            <a:avLst/>
          </a:prstGeom>
          <a:solidFill>
            <a:schemeClr val="bg1"/>
          </a:solidFill>
          <a:ln>
            <a:noFill/>
          </a:ln>
        </p:spPr>
        <p:txBody>
          <a:bodyPr wrap="square" lIns="0" tIns="0" rIns="0" bIns="0">
            <a:noAutofit/>
          </a:bodyPr>
          <a:lstStyle/>
          <a:p>
            <a:pPr marL="0" indent="0" algn="ctr"/>
            <a:r>
              <a:rPr lang="tr-TR" sz="1300" b="1" dirty="0">
                <a:solidFill>
                  <a:srgbClr val="B18D18"/>
                </a:solidFill>
                <a:latin typeface="Calibri"/>
                <a:ea typeface="Calibri"/>
                <a:cs typeface="Calibri"/>
              </a:rPr>
              <a:t>Pahalı</a:t>
            </a:r>
            <a:endParaRPr lang="tr-TR" sz="1300" dirty="0"/>
          </a:p>
        </p:txBody>
      </p:sp>
      <p:sp>
        <p:nvSpPr>
          <p:cNvPr id="103" name="Uygun"/>
          <p:cNvSpPr txBox="1"/>
          <p:nvPr/>
        </p:nvSpPr>
        <p:spPr>
          <a:xfrm>
            <a:off x="10258425" y="4629150"/>
            <a:ext cx="1076325" cy="247650"/>
          </a:xfrm>
          <a:prstGeom prst="rect">
            <a:avLst/>
          </a:prstGeom>
          <a:solidFill>
            <a:schemeClr val="bg1"/>
          </a:solidFill>
          <a:ln>
            <a:noFill/>
          </a:ln>
        </p:spPr>
        <p:txBody>
          <a:bodyPr wrap="square" lIns="0" tIns="0" rIns="0" bIns="0">
            <a:noAutofit/>
          </a:bodyPr>
          <a:lstStyle/>
          <a:p>
            <a:pPr marL="0" indent="0" algn="ctr"/>
            <a:r>
              <a:rPr lang="tr-TR" sz="1300" b="1" dirty="0">
                <a:solidFill>
                  <a:srgbClr val="B18D18"/>
                </a:solidFill>
                <a:latin typeface="Calibri"/>
                <a:ea typeface="Calibri"/>
                <a:cs typeface="Calibri"/>
              </a:rPr>
              <a:t>Uygun</a:t>
            </a:r>
            <a:endParaRPr lang="tr-TR" sz="1300" dirty="0"/>
          </a:p>
        </p:txBody>
      </p:sp>
      <p:sp>
        <p:nvSpPr>
          <p:cNvPr id="104" name="Evet"/>
          <p:cNvSpPr txBox="1"/>
          <p:nvPr/>
        </p:nvSpPr>
        <p:spPr>
          <a:xfrm>
            <a:off x="6501493" y="4029389"/>
            <a:ext cx="485775" cy="200025"/>
          </a:xfrm>
          <a:prstGeom prst="rect">
            <a:avLst/>
          </a:prstGeom>
          <a:ln>
            <a:noFill/>
          </a:ln>
        </p:spPr>
        <p:txBody>
          <a:bodyPr wrap="square" lIns="0" tIns="0" rIns="0" bIns="0">
            <a:noAutofit/>
          </a:bodyPr>
          <a:lstStyle/>
          <a:p>
            <a:pPr marL="0" indent="0" algn="ctr"/>
            <a:r>
              <a:rPr lang="tr-TR" sz="1100" b="1" dirty="0">
                <a:solidFill>
                  <a:srgbClr val="1E2A4E"/>
                </a:solidFill>
                <a:latin typeface="Calibri"/>
                <a:ea typeface="Calibri"/>
                <a:cs typeface="Calibri"/>
              </a:rPr>
              <a:t>Evet</a:t>
            </a:r>
            <a:endParaRPr lang="tr-TR" sz="1100" b="1" dirty="0"/>
          </a:p>
        </p:txBody>
      </p:sp>
      <p:sp>
        <p:nvSpPr>
          <p:cNvPr id="105" name="Hayır"/>
          <p:cNvSpPr txBox="1"/>
          <p:nvPr/>
        </p:nvSpPr>
        <p:spPr>
          <a:xfrm>
            <a:off x="7530192" y="4015967"/>
            <a:ext cx="485775" cy="200025"/>
          </a:xfrm>
          <a:prstGeom prst="rect">
            <a:avLst/>
          </a:prstGeom>
          <a:ln>
            <a:noFill/>
          </a:ln>
        </p:spPr>
        <p:txBody>
          <a:bodyPr wrap="square" lIns="0" tIns="0" rIns="0" bIns="0">
            <a:noAutofit/>
          </a:bodyPr>
          <a:lstStyle/>
          <a:p>
            <a:pPr marL="0" indent="0" algn="ctr"/>
            <a:r>
              <a:rPr lang="tr-TR" sz="1100" b="1" dirty="0">
                <a:solidFill>
                  <a:srgbClr val="1E2A4E"/>
                </a:solidFill>
                <a:latin typeface="Calibri"/>
                <a:ea typeface="Calibri"/>
                <a:cs typeface="Calibri"/>
              </a:rPr>
              <a:t>Hayır</a:t>
            </a:r>
            <a:endParaRPr lang="tr-TR" sz="1100" b="1" dirty="0"/>
          </a:p>
        </p:txBody>
      </p:sp>
      <p:sp>
        <p:nvSpPr>
          <p:cNvPr id="106" name="Evet"/>
          <p:cNvSpPr txBox="1"/>
          <p:nvPr/>
        </p:nvSpPr>
        <p:spPr>
          <a:xfrm>
            <a:off x="9296400" y="4010518"/>
            <a:ext cx="485775" cy="200025"/>
          </a:xfrm>
          <a:prstGeom prst="rect">
            <a:avLst/>
          </a:prstGeom>
          <a:ln>
            <a:noFill/>
          </a:ln>
        </p:spPr>
        <p:txBody>
          <a:bodyPr wrap="square" lIns="0" tIns="0" rIns="0" bIns="0">
            <a:noAutofit/>
          </a:bodyPr>
          <a:lstStyle/>
          <a:p>
            <a:pPr marL="0" indent="0" algn="ctr"/>
            <a:r>
              <a:rPr lang="tr-TR" sz="1100" b="1" dirty="0">
                <a:solidFill>
                  <a:srgbClr val="1E2A4E"/>
                </a:solidFill>
                <a:latin typeface="Calibri"/>
                <a:ea typeface="Calibri"/>
                <a:cs typeface="Calibri"/>
              </a:rPr>
              <a:t>Evet</a:t>
            </a:r>
            <a:endParaRPr lang="tr-TR" sz="1100" b="1" dirty="0"/>
          </a:p>
        </p:txBody>
      </p:sp>
      <p:sp>
        <p:nvSpPr>
          <p:cNvPr id="107" name="Hayır"/>
          <p:cNvSpPr txBox="1"/>
          <p:nvPr/>
        </p:nvSpPr>
        <p:spPr>
          <a:xfrm>
            <a:off x="10382497" y="4010518"/>
            <a:ext cx="485775" cy="200025"/>
          </a:xfrm>
          <a:prstGeom prst="rect">
            <a:avLst/>
          </a:prstGeom>
          <a:ln>
            <a:noFill/>
          </a:ln>
        </p:spPr>
        <p:txBody>
          <a:bodyPr wrap="square" lIns="0" tIns="0" rIns="0" bIns="0">
            <a:noAutofit/>
          </a:bodyPr>
          <a:lstStyle/>
          <a:p>
            <a:pPr marL="0" indent="0" algn="ctr"/>
            <a:r>
              <a:rPr lang="tr-TR" sz="1100" b="1" dirty="0">
                <a:solidFill>
                  <a:srgbClr val="1E2A4E"/>
                </a:solidFill>
                <a:latin typeface="Calibri"/>
                <a:ea typeface="Calibri"/>
                <a:cs typeface="Calibri"/>
              </a:rPr>
              <a:t>Hayır</a:t>
            </a:r>
            <a:endParaRPr lang="tr-TR" sz="1100" b="1" dirty="0"/>
          </a:p>
        </p:txBody>
      </p:sp>
      <p:sp>
        <p:nvSpPr>
          <p:cNvPr id="108" name="Temsili sınıflandırma ağacı. 5 ev tablosundan eğit"/>
          <p:cNvSpPr txBox="1"/>
          <p:nvPr/>
        </p:nvSpPr>
        <p:spPr>
          <a:xfrm>
            <a:off x="5514975" y="5476875"/>
            <a:ext cx="6334125" cy="590550"/>
          </a:xfrm>
          <a:prstGeom prst="rect">
            <a:avLst/>
          </a:prstGeom>
          <a:noFill/>
          <a:ln>
            <a:noFill/>
          </a:ln>
        </p:spPr>
        <p:txBody>
          <a:bodyPr wrap="square" lIns="0" tIns="0" rIns="0" bIns="0">
            <a:noAutofit/>
          </a:bodyPr>
          <a:lstStyle/>
          <a:p>
            <a:pPr marL="0" indent="0"/>
            <a:r>
              <a:rPr lang="tr-TR" sz="1800">
                <a:solidFill>
                  <a:srgbClr val="596173"/>
                </a:solidFill>
                <a:latin typeface="Calibri"/>
                <a:ea typeface="Calibri"/>
                <a:cs typeface="Calibri"/>
              </a:rPr>
              <a:t>Temsili sınıflandırma ağacı. 5 ev tablosundan eğitilmemiştir.</a:t>
            </a:r>
            <a:endParaRPr lang="tr-TR" sz="1800"/>
          </a:p>
        </p:txBody>
      </p:sp>
    </p:spTree>
    <p:extLst>
      <p:ext uri="{BB962C8B-B14F-4D97-AF65-F5344CB8AC3E}">
        <p14:creationId xmlns:p14="http://schemas.microsoft.com/office/powerpoint/2010/main" val="67279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0" name="Text 0">
            <a:extLst>
              <a:ext uri="{FF2B5EF4-FFF2-40B4-BE49-F238E27FC236}">
                <a16:creationId xmlns:a16="http://schemas.microsoft.com/office/drawing/2014/main" id="{706CBF7D-0144-4165-8A4E-BDF318D45D4E}"/>
              </a:ext>
            </a:extLst>
          </p:cNvPr>
          <p:cNvSpPr/>
          <p:nvPr/>
        </p:nvSpPr>
        <p:spPr>
          <a:xfrm>
            <a:off x="457200" y="285750"/>
            <a:ext cx="11239500" cy="68580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tr-TR" sz="3200" b="1" i="0" u="none" strike="noStrike" kern="1200" cap="none" spc="0" normalizeH="0" baseline="0" noProof="0" dirty="0">
                <a:ln>
                  <a:noFill/>
                </a:ln>
                <a:solidFill>
                  <a:srgbClr val="1E2A4E"/>
                </a:solidFill>
                <a:effectLst/>
                <a:uLnTx/>
                <a:uFillTx/>
                <a:latin typeface="Calibri"/>
                <a:ea typeface="Calibri"/>
                <a:cs typeface="Calibri"/>
              </a:rPr>
              <a:t>Aynı problem için model seçimi</a:t>
            </a:r>
            <a:endParaRPr lang="tr-TR" sz="3200"/>
          </a:p>
        </p:txBody>
      </p:sp>
      <p:sp>
        <p:nvSpPr>
          <p:cNvPr id="100" name="Karşılaştırma: Aynı eğitim verisi, aynı doğrulama "/>
          <p:cNvSpPr txBox="1"/>
          <p:nvPr/>
        </p:nvSpPr>
        <p:spPr>
          <a:xfrm>
            <a:off x="457200" y="1200150"/>
            <a:ext cx="11144250" cy="523875"/>
          </a:xfrm>
          <a:prstGeom prst="rect">
            <a:avLst/>
          </a:prstGeom>
          <a:noFill/>
          <a:ln>
            <a:noFill/>
          </a:ln>
        </p:spPr>
        <p:txBody>
          <a:bodyPr wrap="square" lIns="0" tIns="0" rIns="0" bIns="0">
            <a:noAutofit/>
          </a:bodyPr>
          <a:lstStyle/>
          <a:p>
            <a:pPr marL="0" indent="0"/>
            <a:r>
              <a:rPr lang="tr-TR" sz="2300">
                <a:solidFill>
                  <a:srgbClr val="1E2A4E"/>
                </a:solidFill>
                <a:latin typeface="Calibri"/>
                <a:ea typeface="Calibri"/>
                <a:cs typeface="Calibri"/>
              </a:rPr>
              <a:t>Karşılaştırma: Aynı eğitim verisi, aynı doğrulama planı, aynı metrik</a:t>
            </a:r>
            <a:endParaRPr lang="tr-TR" sz="2300"/>
          </a:p>
        </p:txBody>
      </p:sp>
      <p:sp>
        <p:nvSpPr>
          <p:cNvPr id="101" name="İlk tercih, doğrulama sonucuna ve problem ihtiyacı"/>
          <p:cNvSpPr txBox="1"/>
          <p:nvPr/>
        </p:nvSpPr>
        <p:spPr>
          <a:xfrm>
            <a:off x="457200" y="5695950"/>
            <a:ext cx="11144250" cy="647700"/>
          </a:xfrm>
          <a:prstGeom prst="rect">
            <a:avLst/>
          </a:prstGeom>
          <a:noFill/>
          <a:ln>
            <a:noFill/>
          </a:ln>
        </p:spPr>
        <p:txBody>
          <a:bodyPr wrap="square" lIns="0" tIns="0" rIns="0" bIns="0">
            <a:noAutofit/>
          </a:bodyPr>
          <a:lstStyle/>
          <a:p>
            <a:pPr marL="0" indent="0"/>
            <a:r>
              <a:rPr lang="tr-TR" sz="2500" b="1">
                <a:solidFill>
                  <a:srgbClr val="1E2A4E"/>
                </a:solidFill>
                <a:latin typeface="Calibri"/>
                <a:ea typeface="Calibri"/>
                <a:cs typeface="Calibri"/>
              </a:rPr>
              <a:t>İlk tercih, doğrulama sonucuna ve problem ihtiyacına dayanır.</a:t>
            </a:r>
            <a:endParaRPr lang="tr-TR" sz="2500"/>
          </a:p>
        </p:txBody>
      </p:sp>
      <p:graphicFrame>
        <p:nvGraphicFramePr>
          <p:cNvPr id="102" name="Tablo 101"/>
          <p:cNvGraphicFramePr/>
          <p:nvPr/>
        </p:nvGraphicFramePr>
        <p:xfrm>
          <a:off x="457200" y="2009775"/>
          <a:ext cx="11239500" cy="3228975"/>
        </p:xfrm>
        <a:graphic>
          <a:graphicData uri="http://schemas.openxmlformats.org/drawingml/2006/table">
            <a:tbl>
              <a:tblPr/>
              <a:tblGrid>
                <a:gridCol w="1714500">
                  <a:extLst>
                    <a:ext uri="{9D8B030D-6E8A-4147-A177-3AD203B41FA5}">
                      <a16:colId xmlns:a16="http://schemas.microsoft.com/office/drawing/2014/main" val="20000"/>
                    </a:ext>
                  </a:extLst>
                </a:gridCol>
                <a:gridCol w="4762500">
                  <a:extLst>
                    <a:ext uri="{9D8B030D-6E8A-4147-A177-3AD203B41FA5}">
                      <a16:colId xmlns:a16="http://schemas.microsoft.com/office/drawing/2014/main" val="20001"/>
                    </a:ext>
                  </a:extLst>
                </a:gridCol>
                <a:gridCol w="4762500">
                  <a:extLst>
                    <a:ext uri="{9D8B030D-6E8A-4147-A177-3AD203B41FA5}">
                      <a16:colId xmlns:a16="http://schemas.microsoft.com/office/drawing/2014/main" val="20002"/>
                    </a:ext>
                  </a:extLst>
                </a:gridCol>
              </a:tblGrid>
              <a:tr h="645795">
                <a:tc>
                  <a:txBody>
                    <a:bodyPr/>
                    <a:lstStyle/>
                    <a:p>
                      <a:endParaRPr/>
                    </a:p>
                  </a:txBody>
                  <a:tcPr marL="114300" marR="114300" marT="95250" marB="95250" anchor="ctr">
                    <a:solidFill>
                      <a:srgbClr val="1E2A4E"/>
                    </a:solidFill>
                  </a:tcPr>
                </a:tc>
                <a:tc>
                  <a:txBody>
                    <a:bodyPr/>
                    <a:lstStyle/>
                    <a:p>
                      <a:r>
                        <a:rPr sz="1875" b="1">
                          <a:solidFill>
                            <a:srgbClr val="FFFFFF"/>
                          </a:solidFill>
                          <a:latin typeface="Calibri"/>
                          <a:ea typeface="Calibri"/>
                          <a:cs typeface="Calibri"/>
                        </a:rPr>
                        <a:t>Lineer regresyon</a:t>
                      </a:r>
                    </a:p>
                  </a:txBody>
                  <a:tcPr marL="114300" marR="114300" marT="95250" marB="95250" anchor="ctr">
                    <a:solidFill>
                      <a:srgbClr val="1E2A4E"/>
                    </a:solidFill>
                  </a:tcPr>
                </a:tc>
                <a:tc>
                  <a:txBody>
                    <a:bodyPr/>
                    <a:lstStyle/>
                    <a:p>
                      <a:r>
                        <a:rPr sz="1875" b="1">
                          <a:solidFill>
                            <a:srgbClr val="FFFFFF"/>
                          </a:solidFill>
                          <a:latin typeface="Calibri"/>
                          <a:ea typeface="Calibri"/>
                          <a:cs typeface="Calibri"/>
                        </a:rPr>
                        <a:t>Karar ağacı (regresyon)</a:t>
                      </a:r>
                    </a:p>
                  </a:txBody>
                  <a:tcPr marL="114300" marR="114300" marT="95250" marB="95250" anchor="ctr">
                    <a:solidFill>
                      <a:srgbClr val="1E2A4E"/>
                    </a:solidFill>
                  </a:tcPr>
                </a:tc>
                <a:extLst>
                  <a:ext uri="{0D108BD9-81ED-4DB2-BD59-A6C34878D82A}">
                    <a16:rowId xmlns:a16="http://schemas.microsoft.com/office/drawing/2014/main" val="10000"/>
                  </a:ext>
                </a:extLst>
              </a:tr>
              <a:tr h="645795">
                <a:tc>
                  <a:txBody>
                    <a:bodyPr/>
                    <a:lstStyle/>
                    <a:p>
                      <a:r>
                        <a:rPr sz="1875" b="0">
                          <a:solidFill>
                            <a:srgbClr val="30343B"/>
                          </a:solidFill>
                          <a:latin typeface="Calibri"/>
                          <a:ea typeface="Calibri"/>
                          <a:cs typeface="Calibri"/>
                        </a:rPr>
                        <a:t>İlişki</a:t>
                      </a:r>
                    </a:p>
                  </a:txBody>
                  <a:tcPr marL="114300" marR="114300" marT="95250" marB="95250" anchor="ctr">
                    <a:solidFill>
                      <a:srgbClr val="FFFFFF"/>
                    </a:solidFill>
                  </a:tcPr>
                </a:tc>
                <a:tc>
                  <a:txBody>
                    <a:bodyPr/>
                    <a:lstStyle/>
                    <a:p>
                      <a:r>
                        <a:rPr sz="1875" b="0">
                          <a:solidFill>
                            <a:srgbClr val="30343B"/>
                          </a:solidFill>
                          <a:latin typeface="Calibri"/>
                          <a:ea typeface="Calibri"/>
                          <a:cs typeface="Calibri"/>
                        </a:rPr>
                        <a:t>Doğrusal ilişkiyi temsil eder</a:t>
                      </a:r>
                    </a:p>
                  </a:txBody>
                  <a:tcPr marL="114300" marR="114300" marT="95250" marB="95250" anchor="ctr">
                    <a:solidFill>
                      <a:srgbClr val="FFFFFF"/>
                    </a:solidFill>
                  </a:tcPr>
                </a:tc>
                <a:tc>
                  <a:txBody>
                    <a:bodyPr/>
                    <a:lstStyle/>
                    <a:p>
                      <a:r>
                        <a:rPr sz="1875" b="0">
                          <a:solidFill>
                            <a:srgbClr val="30343B"/>
                          </a:solidFill>
                          <a:latin typeface="Calibri"/>
                          <a:ea typeface="Calibri"/>
                          <a:cs typeface="Calibri"/>
                        </a:rPr>
                        <a:t>Eşiklerle bölgeler oluşturur</a:t>
                      </a:r>
                    </a:p>
                  </a:txBody>
                  <a:tcPr marL="114300" marR="114300" marT="95250" marB="95250" anchor="ctr">
                    <a:solidFill>
                      <a:srgbClr val="FFFFFF"/>
                    </a:solidFill>
                  </a:tcPr>
                </a:tc>
                <a:extLst>
                  <a:ext uri="{0D108BD9-81ED-4DB2-BD59-A6C34878D82A}">
                    <a16:rowId xmlns:a16="http://schemas.microsoft.com/office/drawing/2014/main" val="10001"/>
                  </a:ext>
                </a:extLst>
              </a:tr>
              <a:tr h="645795">
                <a:tc>
                  <a:txBody>
                    <a:bodyPr/>
                    <a:lstStyle/>
                    <a:p>
                      <a:r>
                        <a:rPr sz="1875" b="0">
                          <a:solidFill>
                            <a:srgbClr val="30343B"/>
                          </a:solidFill>
                          <a:latin typeface="Calibri"/>
                          <a:ea typeface="Calibri"/>
                          <a:cs typeface="Calibri"/>
                        </a:rPr>
                        <a:t>Tahmin</a:t>
                      </a:r>
                    </a:p>
                  </a:txBody>
                  <a:tcPr marL="114300" marR="114300" marT="95250" marB="95250" anchor="ctr">
                    <a:solidFill>
                      <a:srgbClr val="EFEFF2"/>
                    </a:solidFill>
                  </a:tcPr>
                </a:tc>
                <a:tc>
                  <a:txBody>
                    <a:bodyPr/>
                    <a:lstStyle/>
                    <a:p>
                      <a:r>
                        <a:rPr sz="1875" b="0">
                          <a:solidFill>
                            <a:srgbClr val="30343B"/>
                          </a:solidFill>
                          <a:latin typeface="Calibri"/>
                          <a:ea typeface="Calibri"/>
                          <a:cs typeface="Calibri"/>
                        </a:rPr>
                        <a:t>Özelliklerin ağırlıklı birleşimi</a:t>
                      </a:r>
                    </a:p>
                  </a:txBody>
                  <a:tcPr marL="114300" marR="114300" marT="95250" marB="95250" anchor="ctr">
                    <a:solidFill>
                      <a:srgbClr val="EFEFF2"/>
                    </a:solidFill>
                  </a:tcPr>
                </a:tc>
                <a:tc>
                  <a:txBody>
                    <a:bodyPr/>
                    <a:lstStyle/>
                    <a:p>
                      <a:r>
                        <a:rPr sz="1875" b="0">
                          <a:solidFill>
                            <a:srgbClr val="30343B"/>
                          </a:solidFill>
                          <a:latin typeface="Calibri"/>
                          <a:ea typeface="Calibri"/>
                          <a:cs typeface="Calibri"/>
                        </a:rPr>
                        <a:t>Yapraktaki ortalama fiyat</a:t>
                      </a:r>
                    </a:p>
                  </a:txBody>
                  <a:tcPr marL="114300" marR="114300" marT="95250" marB="95250" anchor="ctr">
                    <a:solidFill>
                      <a:srgbClr val="EFEFF2"/>
                    </a:solidFill>
                  </a:tcPr>
                </a:tc>
                <a:extLst>
                  <a:ext uri="{0D108BD9-81ED-4DB2-BD59-A6C34878D82A}">
                    <a16:rowId xmlns:a16="http://schemas.microsoft.com/office/drawing/2014/main" val="10002"/>
                  </a:ext>
                </a:extLst>
              </a:tr>
              <a:tr h="645795">
                <a:tc>
                  <a:txBody>
                    <a:bodyPr/>
                    <a:lstStyle/>
                    <a:p>
                      <a:r>
                        <a:rPr sz="1875" b="0">
                          <a:solidFill>
                            <a:srgbClr val="30343B"/>
                          </a:solidFill>
                          <a:latin typeface="Calibri"/>
                          <a:ea typeface="Calibri"/>
                          <a:cs typeface="Calibri"/>
                        </a:rPr>
                        <a:t>Kontrol</a:t>
                      </a:r>
                    </a:p>
                  </a:txBody>
                  <a:tcPr marL="114300" marR="114300" marT="95250" marB="95250" anchor="ctr">
                    <a:solidFill>
                      <a:srgbClr val="FFFFFF"/>
                    </a:solidFill>
                  </a:tcPr>
                </a:tc>
                <a:tc>
                  <a:txBody>
                    <a:bodyPr/>
                    <a:lstStyle/>
                    <a:p>
                      <a:r>
                        <a:rPr sz="1875" b="0">
                          <a:solidFill>
                            <a:srgbClr val="30343B"/>
                          </a:solidFill>
                          <a:latin typeface="Calibri"/>
                          <a:ea typeface="Calibri"/>
                          <a:cs typeface="Calibri"/>
                        </a:rPr>
                        <a:t>Basit bir başlangıç modeli</a:t>
                      </a:r>
                    </a:p>
                  </a:txBody>
                  <a:tcPr marL="114300" marR="114300" marT="95250" marB="95250" anchor="ctr">
                    <a:solidFill>
                      <a:srgbClr val="FFFFFF"/>
                    </a:solidFill>
                  </a:tcPr>
                </a:tc>
                <a:tc>
                  <a:txBody>
                    <a:bodyPr/>
                    <a:lstStyle/>
                    <a:p>
                      <a:r>
                        <a:rPr sz="1875" b="0">
                          <a:solidFill>
                            <a:srgbClr val="30343B"/>
                          </a:solidFill>
                          <a:latin typeface="Calibri"/>
                          <a:ea typeface="Calibri"/>
                          <a:cs typeface="Calibri"/>
                        </a:rPr>
                        <a:t>Derinlik ve yaprak boyutu</a:t>
                      </a:r>
                    </a:p>
                  </a:txBody>
                  <a:tcPr marL="114300" marR="114300" marT="95250" marB="95250" anchor="ctr">
                    <a:solidFill>
                      <a:srgbClr val="FFFFFF"/>
                    </a:solidFill>
                  </a:tcPr>
                </a:tc>
                <a:extLst>
                  <a:ext uri="{0D108BD9-81ED-4DB2-BD59-A6C34878D82A}">
                    <a16:rowId xmlns:a16="http://schemas.microsoft.com/office/drawing/2014/main" val="10003"/>
                  </a:ext>
                </a:extLst>
              </a:tr>
              <a:tr h="645795">
                <a:tc>
                  <a:txBody>
                    <a:bodyPr/>
                    <a:lstStyle/>
                    <a:p>
                      <a:r>
                        <a:rPr sz="1875" b="0">
                          <a:solidFill>
                            <a:srgbClr val="30343B"/>
                          </a:solidFill>
                          <a:latin typeface="Calibri"/>
                          <a:ea typeface="Calibri"/>
                          <a:cs typeface="Calibri"/>
                        </a:rPr>
                        <a:t>Karar</a:t>
                      </a:r>
                    </a:p>
                  </a:txBody>
                  <a:tcPr marL="114300" marR="114300" marT="95250" marB="95250" anchor="ctr">
                    <a:solidFill>
                      <a:srgbClr val="EFEFF2"/>
                    </a:solidFill>
                  </a:tcPr>
                </a:tc>
                <a:tc>
                  <a:txBody>
                    <a:bodyPr/>
                    <a:lstStyle/>
                    <a:p>
                      <a:r>
                        <a:rPr sz="1875" b="0">
                          <a:solidFill>
                            <a:srgbClr val="30343B"/>
                          </a:solidFill>
                          <a:latin typeface="Calibri"/>
                          <a:ea typeface="Calibri"/>
                          <a:cs typeface="Calibri"/>
                        </a:rPr>
                        <a:t>Doğrulama hatası ve yorumlanabilirlik</a:t>
                      </a:r>
                    </a:p>
                  </a:txBody>
                  <a:tcPr marL="114300" marR="114300" marT="95250" marB="95250" anchor="ctr">
                    <a:solidFill>
                      <a:srgbClr val="EFEFF2"/>
                    </a:solidFill>
                  </a:tcPr>
                </a:tc>
                <a:tc>
                  <a:txBody>
                    <a:bodyPr/>
                    <a:lstStyle/>
                    <a:p>
                      <a:r>
                        <a:rPr sz="1875" b="0">
                          <a:solidFill>
                            <a:srgbClr val="30343B"/>
                          </a:solidFill>
                          <a:latin typeface="Calibri"/>
                          <a:ea typeface="Calibri"/>
                          <a:cs typeface="Calibri"/>
                        </a:rPr>
                        <a:t>Doğrulama hatası ve yorumlanabilirlik</a:t>
                      </a:r>
                    </a:p>
                  </a:txBody>
                  <a:tcPr marL="114300" marR="114300" marT="95250" marB="95250" anchor="ctr">
                    <a:solidFill>
                      <a:srgbClr val="EFEFF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96641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7" name="Shape 5">
            <a:extLst>
              <a:ext uri="{FF2B5EF4-FFF2-40B4-BE49-F238E27FC236}">
                <a16:creationId xmlns:a16="http://schemas.microsoft.com/office/drawing/2014/main" id="{F6A4C4BE-620B-4C26-BD41-A30E031EB848}"/>
              </a:ext>
            </a:extLst>
          </p:cNvPr>
          <p:cNvSpPr/>
          <p:nvPr/>
        </p:nvSpPr>
        <p:spPr>
          <a:xfrm>
            <a:off x="8109677" y="4418233"/>
            <a:ext cx="3545119" cy="1773693"/>
          </a:xfrm>
          <a:prstGeom prst="roundRect">
            <a:avLst>
              <a:gd name="adj" fmla="val 15929"/>
            </a:avLst>
          </a:prstGeom>
          <a:solidFill>
            <a:srgbClr val="E1E1EA">
              <a:alpha val="45000"/>
            </a:srgbClr>
          </a:solidFill>
          <a:ln/>
        </p:spPr>
        <p:txBody>
          <a:bodyPr/>
          <a:lstStyle/>
          <a:p>
            <a:endParaRPr lang="tr-TR" dirty="0"/>
          </a:p>
        </p:txBody>
      </p:sp>
      <p:sp>
        <p:nvSpPr>
          <p:cNvPr id="16" name="Shape 5">
            <a:extLst>
              <a:ext uri="{FF2B5EF4-FFF2-40B4-BE49-F238E27FC236}">
                <a16:creationId xmlns:a16="http://schemas.microsoft.com/office/drawing/2014/main" id="{FEDF6197-3017-4A8D-84AE-E2A8CA2B595A}"/>
              </a:ext>
            </a:extLst>
          </p:cNvPr>
          <p:cNvSpPr/>
          <p:nvPr/>
        </p:nvSpPr>
        <p:spPr>
          <a:xfrm>
            <a:off x="4074692" y="4418233"/>
            <a:ext cx="3545119" cy="1773693"/>
          </a:xfrm>
          <a:prstGeom prst="roundRect">
            <a:avLst>
              <a:gd name="adj" fmla="val 15929"/>
            </a:avLst>
          </a:prstGeom>
          <a:solidFill>
            <a:srgbClr val="E1E1EA">
              <a:alpha val="45000"/>
            </a:srgbClr>
          </a:solidFill>
          <a:ln/>
        </p:spPr>
        <p:txBody>
          <a:bodyPr/>
          <a:lstStyle/>
          <a:p>
            <a:endParaRPr lang="tr-TR" dirty="0"/>
          </a:p>
        </p:txBody>
      </p:sp>
      <p:sp>
        <p:nvSpPr>
          <p:cNvPr id="14" name="Shape 5">
            <a:extLst>
              <a:ext uri="{FF2B5EF4-FFF2-40B4-BE49-F238E27FC236}">
                <a16:creationId xmlns:a16="http://schemas.microsoft.com/office/drawing/2014/main" id="{6C45514F-1F10-4F4A-B98E-91522E77146D}"/>
              </a:ext>
            </a:extLst>
          </p:cNvPr>
          <p:cNvSpPr/>
          <p:nvPr/>
        </p:nvSpPr>
        <p:spPr>
          <a:xfrm>
            <a:off x="258855" y="4431303"/>
            <a:ext cx="3545119" cy="1773693"/>
          </a:xfrm>
          <a:prstGeom prst="roundRect">
            <a:avLst>
              <a:gd name="adj" fmla="val 15929"/>
            </a:avLst>
          </a:prstGeom>
          <a:solidFill>
            <a:srgbClr val="E1E1EA">
              <a:alpha val="45000"/>
            </a:srgbClr>
          </a:solidFill>
          <a:ln/>
        </p:spPr>
        <p:txBody>
          <a:bodyPr/>
          <a:lstStyle/>
          <a:p>
            <a:endParaRPr lang="tr-TR" dirty="0"/>
          </a:p>
        </p:txBody>
      </p:sp>
      <p:sp>
        <p:nvSpPr>
          <p:cNvPr id="2" name="Text 0">
            <a:extLst>
              <a:ext uri="{FF2B5EF4-FFF2-40B4-BE49-F238E27FC236}">
                <a16:creationId xmlns:a16="http://schemas.microsoft.com/office/drawing/2014/main" id="{DB8C21D0-C0EB-4279-AE17-81252B1E71DC}"/>
              </a:ext>
            </a:extLst>
          </p:cNvPr>
          <p:cNvSpPr/>
          <p:nvPr/>
        </p:nvSpPr>
        <p:spPr>
          <a:xfrm>
            <a:off x="457200" y="285750"/>
            <a:ext cx="11239500" cy="685800"/>
          </a:xfrm>
          <a:prstGeom prst="rect">
            <a:avLst/>
          </a:prstGeom>
          <a:noFill/>
          <a:ln/>
        </p:spPr>
        <p:txBody>
          <a:bodyPr wrap="square" lIns="0" tIns="0" rIns="0" bIns="0" rtlCol="0" anchor="t">
            <a:noAutofit/>
          </a:bodyPr>
          <a:lstStyle/>
          <a:p>
            <a:pPr marL="0" indent="0" algn="l">
              <a:lnSpc>
                <a:spcPct val="104000"/>
              </a:lnSpc>
              <a:buNone/>
            </a:pPr>
            <a:r>
              <a:rPr lang="tr-TR" sz="3200" b="1" dirty="0">
                <a:solidFill>
                  <a:srgbClr val="1E2A4E"/>
                </a:solidFill>
                <a:latin typeface="Calibri"/>
                <a:ea typeface="Calibri"/>
                <a:cs typeface="Calibri"/>
              </a:rPr>
              <a:t>Yetersiz öğrenme ve aşırı öğrenme</a:t>
            </a:r>
            <a:endParaRPr lang="tr-TR" sz="3200"/>
          </a:p>
        </p:txBody>
      </p:sp>
      <p:sp>
        <p:nvSpPr>
          <p:cNvPr id="4" name="Text 1">
            <a:extLst>
              <a:ext uri="{FF2B5EF4-FFF2-40B4-BE49-F238E27FC236}">
                <a16:creationId xmlns:a16="http://schemas.microsoft.com/office/drawing/2014/main" id="{3D2715D0-35B1-48C3-85EE-0AE09B5E9317}"/>
              </a:ext>
            </a:extLst>
          </p:cNvPr>
          <p:cNvSpPr/>
          <p:nvPr/>
        </p:nvSpPr>
        <p:spPr>
          <a:xfrm>
            <a:off x="466725" y="4524375"/>
            <a:ext cx="3238500" cy="390525"/>
          </a:xfrm>
          <a:prstGeom prst="rect">
            <a:avLst/>
          </a:prstGeom>
          <a:noFill/>
          <a:ln/>
        </p:spPr>
        <p:txBody>
          <a:bodyPr wrap="square" lIns="0" tIns="0" rIns="0" bIns="0" rtlCol="0" anchor="t">
            <a:noAutofit/>
          </a:bodyPr>
          <a:lstStyle/>
          <a:p>
            <a:pPr marL="0" indent="0" algn="l">
              <a:lnSpc>
                <a:spcPct val="104000"/>
              </a:lnSpc>
              <a:buNone/>
            </a:pPr>
            <a:r>
              <a:rPr lang="tr-TR" sz="2300" b="1" dirty="0">
                <a:solidFill>
                  <a:srgbClr val="1E2A4E"/>
                </a:solidFill>
                <a:latin typeface="Calibri"/>
                <a:ea typeface="Calibri"/>
                <a:cs typeface="Calibri"/>
              </a:rPr>
              <a:t>Yetersiz öğrenme</a:t>
            </a:r>
            <a:endParaRPr lang="tr-TR" sz="2300"/>
          </a:p>
        </p:txBody>
      </p:sp>
      <p:sp>
        <p:nvSpPr>
          <p:cNvPr id="5" name="Text 2">
            <a:extLst>
              <a:ext uri="{FF2B5EF4-FFF2-40B4-BE49-F238E27FC236}">
                <a16:creationId xmlns:a16="http://schemas.microsoft.com/office/drawing/2014/main" id="{BE88E2C1-01AE-46C3-BD0E-D38EE507A928}"/>
              </a:ext>
            </a:extLst>
          </p:cNvPr>
          <p:cNvSpPr/>
          <p:nvPr/>
        </p:nvSpPr>
        <p:spPr>
          <a:xfrm>
            <a:off x="466725" y="5010150"/>
            <a:ext cx="3143250" cy="1028700"/>
          </a:xfrm>
          <a:prstGeom prst="rect">
            <a:avLst/>
          </a:prstGeom>
          <a:noFill/>
          <a:ln/>
        </p:spPr>
        <p:txBody>
          <a:bodyPr wrap="square" lIns="0" tIns="0" rIns="0" bIns="0" rtlCol="0" anchor="t">
            <a:noAutofit/>
          </a:bodyPr>
          <a:lstStyle/>
          <a:p>
            <a:pPr marL="0" indent="0" algn="l">
              <a:lnSpc>
                <a:spcPct val="124000"/>
              </a:lnSpc>
              <a:spcAft>
                <a:spcPts val="950"/>
              </a:spcAft>
              <a:buNone/>
            </a:pPr>
            <a:r>
              <a:rPr lang="tr-TR" sz="2100" b="0" dirty="0">
                <a:solidFill>
                  <a:srgbClr val="30343B"/>
                </a:solidFill>
                <a:latin typeface="Calibri"/>
                <a:ea typeface="Calibri"/>
                <a:cs typeface="Calibri"/>
              </a:rPr>
              <a:t>İlişki yakalanamaz. Eğitim ve doğrulama hatası yüksek olabilir.</a:t>
            </a:r>
            <a:endParaRPr lang="tr-TR" sz="2100"/>
          </a:p>
        </p:txBody>
      </p:sp>
      <p:sp>
        <p:nvSpPr>
          <p:cNvPr id="7" name="Text 3">
            <a:extLst>
              <a:ext uri="{FF2B5EF4-FFF2-40B4-BE49-F238E27FC236}">
                <a16:creationId xmlns:a16="http://schemas.microsoft.com/office/drawing/2014/main" id="{88D57539-6752-4112-9F42-B4E4076883E7}"/>
              </a:ext>
            </a:extLst>
          </p:cNvPr>
          <p:cNvSpPr/>
          <p:nvPr/>
        </p:nvSpPr>
        <p:spPr>
          <a:xfrm>
            <a:off x="4286250" y="4524375"/>
            <a:ext cx="3238500" cy="390525"/>
          </a:xfrm>
          <a:prstGeom prst="rect">
            <a:avLst/>
          </a:prstGeom>
          <a:noFill/>
          <a:ln/>
        </p:spPr>
        <p:txBody>
          <a:bodyPr wrap="square" lIns="0" tIns="0" rIns="0" bIns="0" rtlCol="0" anchor="t">
            <a:noAutofit/>
          </a:bodyPr>
          <a:lstStyle/>
          <a:p>
            <a:pPr marL="0" indent="0" algn="l">
              <a:lnSpc>
                <a:spcPct val="104000"/>
              </a:lnSpc>
              <a:buNone/>
            </a:pPr>
            <a:r>
              <a:rPr lang="tr-TR" sz="2300" b="1" dirty="0">
                <a:solidFill>
                  <a:srgbClr val="1E2A4E"/>
                </a:solidFill>
                <a:latin typeface="Calibri"/>
                <a:ea typeface="Calibri"/>
                <a:cs typeface="Calibri"/>
              </a:rPr>
              <a:t>Daha iyi uyum</a:t>
            </a:r>
            <a:endParaRPr lang="tr-TR" sz="2300"/>
          </a:p>
        </p:txBody>
      </p:sp>
      <p:sp>
        <p:nvSpPr>
          <p:cNvPr id="8" name="Text 4">
            <a:extLst>
              <a:ext uri="{FF2B5EF4-FFF2-40B4-BE49-F238E27FC236}">
                <a16:creationId xmlns:a16="http://schemas.microsoft.com/office/drawing/2014/main" id="{AA02FFA8-FEEA-4968-8DF2-D0914EECB821}"/>
              </a:ext>
            </a:extLst>
          </p:cNvPr>
          <p:cNvSpPr/>
          <p:nvPr/>
        </p:nvSpPr>
        <p:spPr>
          <a:xfrm>
            <a:off x="4286250" y="5010150"/>
            <a:ext cx="3143250" cy="1028700"/>
          </a:xfrm>
          <a:prstGeom prst="rect">
            <a:avLst/>
          </a:prstGeom>
          <a:noFill/>
          <a:ln/>
        </p:spPr>
        <p:txBody>
          <a:bodyPr wrap="square" lIns="0" tIns="0" rIns="0" bIns="0" rtlCol="0" anchor="t">
            <a:noAutofit/>
          </a:bodyPr>
          <a:lstStyle/>
          <a:p>
            <a:pPr marL="0" indent="0" algn="l">
              <a:lnSpc>
                <a:spcPct val="124000"/>
              </a:lnSpc>
              <a:spcAft>
                <a:spcPts val="950"/>
              </a:spcAft>
              <a:buNone/>
            </a:pPr>
            <a:r>
              <a:rPr lang="tr-TR" sz="2100" b="0" dirty="0">
                <a:solidFill>
                  <a:srgbClr val="30343B"/>
                </a:solidFill>
                <a:latin typeface="Calibri"/>
                <a:ea typeface="Calibri"/>
                <a:cs typeface="Calibri"/>
              </a:rPr>
              <a:t>Ana örüntü yakalanır. Yeni verideki hata doğrulamada ölçülür.</a:t>
            </a:r>
            <a:endParaRPr lang="tr-TR" sz="2100"/>
          </a:p>
        </p:txBody>
      </p:sp>
      <p:sp>
        <p:nvSpPr>
          <p:cNvPr id="10" name="Text 5">
            <a:extLst>
              <a:ext uri="{FF2B5EF4-FFF2-40B4-BE49-F238E27FC236}">
                <a16:creationId xmlns:a16="http://schemas.microsoft.com/office/drawing/2014/main" id="{F416C4E8-D966-47FF-84B5-E425322046BE}"/>
              </a:ext>
            </a:extLst>
          </p:cNvPr>
          <p:cNvSpPr/>
          <p:nvPr/>
        </p:nvSpPr>
        <p:spPr>
          <a:xfrm>
            <a:off x="8258175" y="4524375"/>
            <a:ext cx="3238500" cy="390525"/>
          </a:xfrm>
          <a:prstGeom prst="rect">
            <a:avLst/>
          </a:prstGeom>
          <a:noFill/>
          <a:ln/>
        </p:spPr>
        <p:txBody>
          <a:bodyPr wrap="square" lIns="0" tIns="0" rIns="0" bIns="0" rtlCol="0" anchor="t">
            <a:noAutofit/>
          </a:bodyPr>
          <a:lstStyle/>
          <a:p>
            <a:pPr marL="0" indent="0" algn="l">
              <a:lnSpc>
                <a:spcPct val="104000"/>
              </a:lnSpc>
              <a:buNone/>
            </a:pPr>
            <a:r>
              <a:rPr lang="tr-TR" sz="2300" b="1" dirty="0">
                <a:solidFill>
                  <a:srgbClr val="1E2A4E"/>
                </a:solidFill>
                <a:latin typeface="Calibri"/>
                <a:ea typeface="Calibri"/>
                <a:cs typeface="Calibri"/>
              </a:rPr>
              <a:t>Aşırı öğrenme</a:t>
            </a:r>
            <a:endParaRPr lang="tr-TR" sz="2300"/>
          </a:p>
        </p:txBody>
      </p:sp>
      <p:sp>
        <p:nvSpPr>
          <p:cNvPr id="11" name="Text 6">
            <a:extLst>
              <a:ext uri="{FF2B5EF4-FFF2-40B4-BE49-F238E27FC236}">
                <a16:creationId xmlns:a16="http://schemas.microsoft.com/office/drawing/2014/main" id="{0F990BD3-D6D1-44C2-9E1A-806A6B6244D5}"/>
              </a:ext>
            </a:extLst>
          </p:cNvPr>
          <p:cNvSpPr/>
          <p:nvPr/>
        </p:nvSpPr>
        <p:spPr>
          <a:xfrm>
            <a:off x="8258175" y="5010150"/>
            <a:ext cx="3143250" cy="1028700"/>
          </a:xfrm>
          <a:prstGeom prst="rect">
            <a:avLst/>
          </a:prstGeom>
          <a:noFill/>
          <a:ln/>
        </p:spPr>
        <p:txBody>
          <a:bodyPr wrap="square" lIns="0" tIns="0" rIns="0" bIns="0" rtlCol="0" anchor="t">
            <a:noAutofit/>
          </a:bodyPr>
          <a:lstStyle/>
          <a:p>
            <a:pPr marL="0" indent="0" algn="l">
              <a:lnSpc>
                <a:spcPct val="124000"/>
              </a:lnSpc>
              <a:spcAft>
                <a:spcPts val="950"/>
              </a:spcAft>
              <a:buNone/>
            </a:pPr>
            <a:r>
              <a:rPr lang="tr-TR" sz="2100" b="0" dirty="0">
                <a:solidFill>
                  <a:srgbClr val="30343B"/>
                </a:solidFill>
                <a:latin typeface="Calibri"/>
                <a:ea typeface="Calibri"/>
                <a:cs typeface="Calibri"/>
              </a:rPr>
              <a:t>Eğitim hatası düşükken doğrulama hatası artabilir.</a:t>
            </a:r>
            <a:endParaRPr lang="tr-TR" sz="2100"/>
          </a:p>
        </p:txBody>
      </p:sp>
      <p:sp>
        <p:nvSpPr>
          <p:cNvPr id="12" name="Text 7">
            <a:extLst>
              <a:ext uri="{FF2B5EF4-FFF2-40B4-BE49-F238E27FC236}">
                <a16:creationId xmlns:a16="http://schemas.microsoft.com/office/drawing/2014/main" id="{7ED01B2F-ADAA-46B6-B420-012EE0E3F209}"/>
              </a:ext>
            </a:extLst>
          </p:cNvPr>
          <p:cNvSpPr/>
          <p:nvPr/>
        </p:nvSpPr>
        <p:spPr>
          <a:xfrm>
            <a:off x="356682" y="6085483"/>
            <a:ext cx="11478330" cy="241598"/>
          </a:xfrm>
          <a:prstGeom prst="rect">
            <a:avLst/>
          </a:prstGeom>
          <a:noFill/>
          <a:ln/>
        </p:spPr>
        <p:txBody>
          <a:bodyPr wrap="none" lIns="0" tIns="0" rIns="0" bIns="0" rtlCol="0" anchor="t"/>
          <a:lstStyle/>
          <a:p>
            <a:pPr marL="0" indent="0" algn="ctr">
              <a:lnSpc>
                <a:spcPct val="124000"/>
              </a:lnSpc>
              <a:buNone/>
            </a:pPr>
            <a:endParaRPr lang="en-US" sz="1250" dirty="0"/>
          </a:p>
        </p:txBody>
      </p:sp>
      <p:pic>
        <p:nvPicPr>
          <p:cNvPr id="19" name="Resim 18">
            <a:extLst>
              <a:ext uri="{FF2B5EF4-FFF2-40B4-BE49-F238E27FC236}">
                <a16:creationId xmlns:a16="http://schemas.microsoft.com/office/drawing/2014/main" id="{2D3D1FAA-E365-4713-B064-20CBAB946CBD}"/>
              </a:ext>
            </a:extLst>
          </p:cNvPr>
          <p:cNvPicPr>
            <a:picLocks noChangeAspect="1"/>
          </p:cNvPicPr>
          <p:nvPr/>
        </p:nvPicPr>
        <p:blipFill>
          <a:blip r:embed="rId3"/>
          <a:stretch>
            <a:fillRect/>
          </a:stretch>
        </p:blipFill>
        <p:spPr>
          <a:xfrm>
            <a:off x="348579" y="1009480"/>
            <a:ext cx="3352800" cy="3143250"/>
          </a:xfrm>
          <a:prstGeom prst="rect">
            <a:avLst/>
          </a:prstGeom>
        </p:spPr>
      </p:pic>
      <p:pic>
        <p:nvPicPr>
          <p:cNvPr id="2050" name="Picture 2">
            <a:extLst>
              <a:ext uri="{FF2B5EF4-FFF2-40B4-BE49-F238E27FC236}">
                <a16:creationId xmlns:a16="http://schemas.microsoft.com/office/drawing/2014/main" id="{CC3E9806-AAF5-443A-9C84-CD9963F2FA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9617" y="1060400"/>
            <a:ext cx="3352800" cy="31432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E80FD3EA-1FE2-4EFC-ADD8-8D5E701D46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28978" y="1009480"/>
            <a:ext cx="3352800" cy="3143250"/>
          </a:xfrm>
          <a:prstGeom prst="rect">
            <a:avLst/>
          </a:prstGeom>
          <a:noFill/>
          <a:extLst>
            <a:ext uri="{909E8E84-426E-40DD-AFC4-6F175D3DCCD1}">
              <a14:hiddenFill xmlns:a14="http://schemas.microsoft.com/office/drawing/2010/main">
                <a:solidFill>
                  <a:srgbClr val="FFFFFF"/>
                </a:solidFill>
              </a14:hiddenFill>
            </a:ext>
          </a:extLst>
        </p:spPr>
      </p:pic>
      <p:sp>
        <p:nvSpPr>
          <p:cNvPr id="100" name="Şematik örnek: Noktalar veri, turuncu eğriler mode"/>
          <p:cNvSpPr txBox="1"/>
          <p:nvPr/>
        </p:nvSpPr>
        <p:spPr>
          <a:xfrm>
            <a:off x="457200" y="6381750"/>
            <a:ext cx="11144250" cy="352425"/>
          </a:xfrm>
          <a:prstGeom prst="rect">
            <a:avLst/>
          </a:prstGeom>
          <a:noFill/>
          <a:ln>
            <a:noFill/>
          </a:ln>
        </p:spPr>
        <p:txBody>
          <a:bodyPr wrap="square" lIns="0" tIns="0" rIns="0" bIns="0">
            <a:noAutofit/>
          </a:bodyPr>
          <a:lstStyle/>
          <a:p>
            <a:pPr marL="0" indent="0"/>
            <a:r>
              <a:rPr lang="tr-TR" sz="1800">
                <a:solidFill>
                  <a:srgbClr val="596173"/>
                </a:solidFill>
                <a:latin typeface="Calibri"/>
                <a:ea typeface="Calibri"/>
                <a:cs typeface="Calibri"/>
              </a:rPr>
              <a:t>Şematik örnek: Noktalar veri, turuncu eğriler modeldir.</a:t>
            </a:r>
            <a:endParaRPr lang="tr-TR" sz="1800"/>
          </a:p>
        </p:txBody>
      </p:sp>
    </p:spTree>
    <p:extLst>
      <p:ext uri="{BB962C8B-B14F-4D97-AF65-F5344CB8AC3E}">
        <p14:creationId xmlns:p14="http://schemas.microsoft.com/office/powerpoint/2010/main" val="3817736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0" name="Text 0">
            <a:extLst>
              <a:ext uri="{FF2B5EF4-FFF2-40B4-BE49-F238E27FC236}">
                <a16:creationId xmlns:a16="http://schemas.microsoft.com/office/drawing/2014/main" id="{706CBF7D-0144-4165-8A4E-BDF318D45D4E}"/>
              </a:ext>
            </a:extLst>
          </p:cNvPr>
          <p:cNvSpPr/>
          <p:nvPr/>
        </p:nvSpPr>
        <p:spPr>
          <a:xfrm>
            <a:off x="457200" y="285750"/>
            <a:ext cx="11239500" cy="68580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tr-TR" sz="3200" b="1" i="0" u="none" strike="noStrike" kern="1200" cap="none" spc="0" normalizeH="0" baseline="0" noProof="0" dirty="0">
                <a:ln>
                  <a:noFill/>
                </a:ln>
                <a:solidFill>
                  <a:srgbClr val="1E2A4E"/>
                </a:solidFill>
                <a:effectLst/>
                <a:uLnTx/>
                <a:uFillTx/>
                <a:latin typeface="Calibri"/>
                <a:ea typeface="Calibri"/>
                <a:cs typeface="Calibri"/>
              </a:rPr>
              <a:t>Doğru problem, doğru metrik</a:t>
            </a:r>
            <a:endParaRPr lang="tr-TR" sz="3200"/>
          </a:p>
        </p:txBody>
      </p:sp>
      <p:sp>
        <p:nvSpPr>
          <p:cNvPr id="100" name="Regresyonda sayısal hata, sınıflandırmada sınıf ba"/>
          <p:cNvSpPr txBox="1"/>
          <p:nvPr/>
        </p:nvSpPr>
        <p:spPr>
          <a:xfrm>
            <a:off x="457200" y="1200150"/>
            <a:ext cx="11144250" cy="523875"/>
          </a:xfrm>
          <a:prstGeom prst="rect">
            <a:avLst/>
          </a:prstGeom>
          <a:noFill/>
          <a:ln>
            <a:noFill/>
          </a:ln>
        </p:spPr>
        <p:txBody>
          <a:bodyPr wrap="square" lIns="0" tIns="0" rIns="0" bIns="0">
            <a:noAutofit/>
          </a:bodyPr>
          <a:lstStyle/>
          <a:p>
            <a:pPr marL="0" indent="0"/>
            <a:r>
              <a:rPr lang="tr-TR" sz="2300">
                <a:solidFill>
                  <a:srgbClr val="30343B"/>
                </a:solidFill>
                <a:latin typeface="Calibri"/>
                <a:ea typeface="Calibri"/>
                <a:cs typeface="Calibri"/>
              </a:rPr>
              <a:t>Regresyonda sayısal hata, sınıflandırmada sınıf başarısı ölçülür.</a:t>
            </a:r>
            <a:endParaRPr lang="tr-TR" sz="2300"/>
          </a:p>
        </p:txBody>
      </p:sp>
      <p:sp>
        <p:nvSpPr>
          <p:cNvPr id="101" name="Örnek hata: Gerçek 1.850, tahmin 1.800 bin TL. Mut"/>
          <p:cNvSpPr txBox="1"/>
          <p:nvPr/>
        </p:nvSpPr>
        <p:spPr>
          <a:xfrm>
            <a:off x="457200" y="5467350"/>
            <a:ext cx="11144250" cy="590550"/>
          </a:xfrm>
          <a:prstGeom prst="rect">
            <a:avLst/>
          </a:prstGeom>
          <a:noFill/>
          <a:ln>
            <a:noFill/>
          </a:ln>
        </p:spPr>
        <p:txBody>
          <a:bodyPr wrap="square" lIns="0" tIns="0" rIns="0" bIns="0">
            <a:noAutofit/>
          </a:bodyPr>
          <a:lstStyle/>
          <a:p>
            <a:pPr marL="0" indent="0"/>
            <a:r>
              <a:rPr lang="tr-TR" sz="2300" b="1">
                <a:solidFill>
                  <a:srgbClr val="1E2A4E"/>
                </a:solidFill>
                <a:latin typeface="Calibri"/>
                <a:ea typeface="Calibri"/>
                <a:cs typeface="Calibri"/>
              </a:rPr>
              <a:t>Örnek hata: Gerçek 1.850, tahmin 1.800 bin TL. Mutlak hata = 50 bin TL.</a:t>
            </a:r>
            <a:endParaRPr lang="tr-TR" sz="2300"/>
          </a:p>
        </p:txBody>
      </p:sp>
      <p:sp>
        <p:nvSpPr>
          <p:cNvPr id="102" name="Metriklerin hesaplanması ve hata analizi: sonraki "/>
          <p:cNvSpPr txBox="1"/>
          <p:nvPr/>
        </p:nvSpPr>
        <p:spPr>
          <a:xfrm>
            <a:off x="457200" y="6267450"/>
            <a:ext cx="11144250" cy="390525"/>
          </a:xfrm>
          <a:prstGeom prst="rect">
            <a:avLst/>
          </a:prstGeom>
          <a:noFill/>
          <a:ln>
            <a:noFill/>
          </a:ln>
        </p:spPr>
        <p:txBody>
          <a:bodyPr wrap="square" lIns="0" tIns="0" rIns="0" bIns="0">
            <a:noAutofit/>
          </a:bodyPr>
          <a:lstStyle/>
          <a:p>
            <a:pPr marL="0" indent="0"/>
            <a:r>
              <a:rPr lang="tr-TR" sz="2000">
                <a:solidFill>
                  <a:srgbClr val="596173"/>
                </a:solidFill>
                <a:latin typeface="Calibri"/>
                <a:ea typeface="Calibri"/>
                <a:cs typeface="Calibri"/>
              </a:rPr>
              <a:t>Metriklerin hesaplanması ve hata analizi: sonraki bölüm.</a:t>
            </a:r>
            <a:endParaRPr lang="tr-TR" sz="2000"/>
          </a:p>
        </p:txBody>
      </p:sp>
      <p:graphicFrame>
        <p:nvGraphicFramePr>
          <p:cNvPr id="103" name="Tablo 102"/>
          <p:cNvGraphicFramePr/>
          <p:nvPr/>
        </p:nvGraphicFramePr>
        <p:xfrm>
          <a:off x="457200" y="2000250"/>
          <a:ext cx="11239500" cy="3114675"/>
        </p:xfrm>
        <a:graphic>
          <a:graphicData uri="http://schemas.openxmlformats.org/drawingml/2006/table">
            <a:tbl>
              <a:tblPr/>
              <a:tblGrid>
                <a:gridCol w="2619375">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5524500">
                  <a:extLst>
                    <a:ext uri="{9D8B030D-6E8A-4147-A177-3AD203B41FA5}">
                      <a16:colId xmlns:a16="http://schemas.microsoft.com/office/drawing/2014/main" val="20002"/>
                    </a:ext>
                  </a:extLst>
                </a:gridCol>
              </a:tblGrid>
              <a:tr h="622935">
                <a:tc>
                  <a:txBody>
                    <a:bodyPr/>
                    <a:lstStyle/>
                    <a:p>
                      <a:r>
                        <a:rPr sz="1800" b="1">
                          <a:solidFill>
                            <a:srgbClr val="FFFFFF"/>
                          </a:solidFill>
                          <a:latin typeface="Calibri"/>
                          <a:ea typeface="Calibri"/>
                          <a:cs typeface="Calibri"/>
                        </a:rPr>
                        <a:t>Problem</a:t>
                      </a:r>
                    </a:p>
                  </a:txBody>
                  <a:tcPr marL="114300" marR="114300" marT="95250" marB="95250" anchor="ctr">
                    <a:solidFill>
                      <a:srgbClr val="1E2A4E"/>
                    </a:solidFill>
                  </a:tcPr>
                </a:tc>
                <a:tc>
                  <a:txBody>
                    <a:bodyPr/>
                    <a:lstStyle/>
                    <a:p>
                      <a:r>
                        <a:rPr sz="1800" b="1">
                          <a:solidFill>
                            <a:srgbClr val="FFFFFF"/>
                          </a:solidFill>
                          <a:latin typeface="Calibri"/>
                          <a:ea typeface="Calibri"/>
                          <a:cs typeface="Calibri"/>
                        </a:rPr>
                        <a:t>Başlangıç metrikleri</a:t>
                      </a:r>
                    </a:p>
                  </a:txBody>
                  <a:tcPr marL="114300" marR="114300" marT="95250" marB="95250" anchor="ctr">
                    <a:solidFill>
                      <a:srgbClr val="1E2A4E"/>
                    </a:solidFill>
                  </a:tcPr>
                </a:tc>
                <a:tc>
                  <a:txBody>
                    <a:bodyPr/>
                    <a:lstStyle/>
                    <a:p>
                      <a:r>
                        <a:rPr sz="1800" b="1">
                          <a:solidFill>
                            <a:srgbClr val="FFFFFF"/>
                          </a:solidFill>
                          <a:latin typeface="Calibri"/>
                          <a:ea typeface="Calibri"/>
                          <a:cs typeface="Calibri"/>
                        </a:rPr>
                        <a:t>Nasıl yorumlanır?</a:t>
                      </a:r>
                    </a:p>
                  </a:txBody>
                  <a:tcPr marL="114300" marR="114300" marT="95250" marB="95250" anchor="ctr">
                    <a:solidFill>
                      <a:srgbClr val="1E2A4E"/>
                    </a:solidFill>
                  </a:tcPr>
                </a:tc>
                <a:extLst>
                  <a:ext uri="{0D108BD9-81ED-4DB2-BD59-A6C34878D82A}">
                    <a16:rowId xmlns:a16="http://schemas.microsoft.com/office/drawing/2014/main" val="10000"/>
                  </a:ext>
                </a:extLst>
              </a:tr>
              <a:tr h="622935">
                <a:tc>
                  <a:txBody>
                    <a:bodyPr/>
                    <a:lstStyle/>
                    <a:p>
                      <a:r>
                        <a:rPr sz="1800" b="0">
                          <a:solidFill>
                            <a:srgbClr val="30343B"/>
                          </a:solidFill>
                          <a:latin typeface="Calibri"/>
                          <a:ea typeface="Calibri"/>
                          <a:cs typeface="Calibri"/>
                        </a:rPr>
                        <a:t>Regresyon</a:t>
                      </a:r>
                    </a:p>
                  </a:txBody>
                  <a:tcPr marL="114300" marR="114300" marT="95250" marB="95250" anchor="ctr">
                    <a:solidFill>
                      <a:srgbClr val="FFFFFF"/>
                    </a:solidFill>
                  </a:tcPr>
                </a:tc>
                <a:tc>
                  <a:txBody>
                    <a:bodyPr/>
                    <a:lstStyle/>
                    <a:p>
                      <a:r>
                        <a:rPr sz="1800" b="0">
                          <a:solidFill>
                            <a:srgbClr val="30343B"/>
                          </a:solidFill>
                          <a:latin typeface="Calibri"/>
                          <a:ea typeface="Calibri"/>
                          <a:cs typeface="Calibri"/>
                        </a:rPr>
                        <a:t>MAE / RMSE</a:t>
                      </a:r>
                    </a:p>
                  </a:txBody>
                  <a:tcPr marL="114300" marR="114300" marT="95250" marB="95250" anchor="ctr">
                    <a:solidFill>
                      <a:srgbClr val="FFFFFF"/>
                    </a:solidFill>
                  </a:tcPr>
                </a:tc>
                <a:tc>
                  <a:txBody>
                    <a:bodyPr/>
                    <a:lstStyle/>
                    <a:p>
                      <a:r>
                        <a:rPr sz="1800" b="0">
                          <a:solidFill>
                            <a:srgbClr val="30343B"/>
                          </a:solidFill>
                          <a:latin typeface="Calibri"/>
                          <a:ea typeface="Calibri"/>
                          <a:cs typeface="Calibri"/>
                        </a:rPr>
                        <a:t>Düşük hata daha iyi</a:t>
                      </a:r>
                    </a:p>
                  </a:txBody>
                  <a:tcPr marL="114300" marR="114300" marT="95250" marB="95250" anchor="ctr">
                    <a:solidFill>
                      <a:srgbClr val="FFFFFF"/>
                    </a:solidFill>
                  </a:tcPr>
                </a:tc>
                <a:extLst>
                  <a:ext uri="{0D108BD9-81ED-4DB2-BD59-A6C34878D82A}">
                    <a16:rowId xmlns:a16="http://schemas.microsoft.com/office/drawing/2014/main" val="10001"/>
                  </a:ext>
                </a:extLst>
              </a:tr>
              <a:tr h="622935">
                <a:tc>
                  <a:txBody>
                    <a:bodyPr/>
                    <a:lstStyle/>
                    <a:p>
                      <a:r>
                        <a:rPr sz="1800" b="0">
                          <a:solidFill>
                            <a:srgbClr val="30343B"/>
                          </a:solidFill>
                          <a:latin typeface="Calibri"/>
                          <a:ea typeface="Calibri"/>
                          <a:cs typeface="Calibri"/>
                        </a:rPr>
                        <a:t>Regresyon</a:t>
                      </a:r>
                    </a:p>
                  </a:txBody>
                  <a:tcPr marL="114300" marR="114300" marT="95250" marB="95250" anchor="ctr">
                    <a:solidFill>
                      <a:srgbClr val="EFEFF2"/>
                    </a:solidFill>
                  </a:tcPr>
                </a:tc>
                <a:tc>
                  <a:txBody>
                    <a:bodyPr/>
                    <a:lstStyle/>
                    <a:p>
                      <a:r>
                        <a:rPr sz="1800" b="0">
                          <a:solidFill>
                            <a:srgbClr val="30343B"/>
                          </a:solidFill>
                          <a:latin typeface="Calibri"/>
                          <a:ea typeface="Calibri"/>
                          <a:cs typeface="Calibri"/>
                        </a:rPr>
                        <a:t>R²</a:t>
                      </a:r>
                    </a:p>
                  </a:txBody>
                  <a:tcPr marL="114300" marR="114300" marT="95250" marB="95250" anchor="ctr">
                    <a:solidFill>
                      <a:srgbClr val="EFEFF2"/>
                    </a:solidFill>
                  </a:tcPr>
                </a:tc>
                <a:tc>
                  <a:txBody>
                    <a:bodyPr/>
                    <a:lstStyle/>
                    <a:p>
                      <a:r>
                        <a:rPr sz="1800" b="0">
                          <a:solidFill>
                            <a:srgbClr val="30343B"/>
                          </a:solidFill>
                          <a:latin typeface="Calibri"/>
                          <a:ea typeface="Calibri"/>
                          <a:cs typeface="Calibri"/>
                        </a:rPr>
                        <a:t>Daha yüksek daha iyi; negatif olabilir</a:t>
                      </a:r>
                    </a:p>
                  </a:txBody>
                  <a:tcPr marL="114300" marR="114300" marT="95250" marB="95250" anchor="ctr">
                    <a:solidFill>
                      <a:srgbClr val="EFEFF2"/>
                    </a:solidFill>
                  </a:tcPr>
                </a:tc>
                <a:extLst>
                  <a:ext uri="{0D108BD9-81ED-4DB2-BD59-A6C34878D82A}">
                    <a16:rowId xmlns:a16="http://schemas.microsoft.com/office/drawing/2014/main" val="10002"/>
                  </a:ext>
                </a:extLst>
              </a:tr>
              <a:tr h="622935">
                <a:tc>
                  <a:txBody>
                    <a:bodyPr/>
                    <a:lstStyle/>
                    <a:p>
                      <a:r>
                        <a:rPr sz="1800" b="0">
                          <a:solidFill>
                            <a:srgbClr val="30343B"/>
                          </a:solidFill>
                          <a:latin typeface="Calibri"/>
                          <a:ea typeface="Calibri"/>
                          <a:cs typeface="Calibri"/>
                        </a:rPr>
                        <a:t>Sınıflandırma</a:t>
                      </a:r>
                    </a:p>
                  </a:txBody>
                  <a:tcPr marL="114300" marR="114300" marT="95250" marB="95250" anchor="ctr">
                    <a:solidFill>
                      <a:srgbClr val="FFFFFF"/>
                    </a:solidFill>
                  </a:tcPr>
                </a:tc>
                <a:tc>
                  <a:txBody>
                    <a:bodyPr/>
                    <a:lstStyle/>
                    <a:p>
                      <a:r>
                        <a:rPr sz="1800" b="0">
                          <a:solidFill>
                            <a:srgbClr val="30343B"/>
                          </a:solidFill>
                          <a:latin typeface="Calibri"/>
                          <a:ea typeface="Calibri"/>
                          <a:cs typeface="Calibri"/>
                        </a:rPr>
                        <a:t>Accuracy</a:t>
                      </a:r>
                    </a:p>
                  </a:txBody>
                  <a:tcPr marL="114300" marR="114300" marT="95250" marB="95250" anchor="ctr">
                    <a:solidFill>
                      <a:srgbClr val="FFFFFF"/>
                    </a:solidFill>
                  </a:tcPr>
                </a:tc>
                <a:tc>
                  <a:txBody>
                    <a:bodyPr/>
                    <a:lstStyle/>
                    <a:p>
                      <a:r>
                        <a:rPr sz="1800" b="0">
                          <a:solidFill>
                            <a:srgbClr val="30343B"/>
                          </a:solidFill>
                          <a:latin typeface="Calibri"/>
                          <a:ea typeface="Calibri"/>
                          <a:cs typeface="Calibri"/>
                        </a:rPr>
                        <a:t>Doğru sınıf tahminlerinin oranı</a:t>
                      </a:r>
                    </a:p>
                  </a:txBody>
                  <a:tcPr marL="114300" marR="114300" marT="95250" marB="95250" anchor="ctr">
                    <a:solidFill>
                      <a:srgbClr val="FFFFFF"/>
                    </a:solidFill>
                  </a:tcPr>
                </a:tc>
                <a:extLst>
                  <a:ext uri="{0D108BD9-81ED-4DB2-BD59-A6C34878D82A}">
                    <a16:rowId xmlns:a16="http://schemas.microsoft.com/office/drawing/2014/main" val="10003"/>
                  </a:ext>
                </a:extLst>
              </a:tr>
              <a:tr h="622935">
                <a:tc>
                  <a:txBody>
                    <a:bodyPr/>
                    <a:lstStyle/>
                    <a:p>
                      <a:r>
                        <a:rPr sz="1800" b="0">
                          <a:solidFill>
                            <a:srgbClr val="30343B"/>
                          </a:solidFill>
                          <a:latin typeface="Calibri"/>
                          <a:ea typeface="Calibri"/>
                          <a:cs typeface="Calibri"/>
                        </a:rPr>
                        <a:t>Dengesiz sınıflar</a:t>
                      </a:r>
                    </a:p>
                  </a:txBody>
                  <a:tcPr marL="114300" marR="114300" marT="95250" marB="95250" anchor="ctr">
                    <a:solidFill>
                      <a:srgbClr val="EFEFF2"/>
                    </a:solidFill>
                  </a:tcPr>
                </a:tc>
                <a:tc>
                  <a:txBody>
                    <a:bodyPr/>
                    <a:lstStyle/>
                    <a:p>
                      <a:r>
                        <a:rPr sz="1800" b="0">
                          <a:solidFill>
                            <a:srgbClr val="30343B"/>
                          </a:solidFill>
                          <a:latin typeface="Calibri"/>
                          <a:ea typeface="Calibri"/>
                          <a:cs typeface="Calibri"/>
                        </a:rPr>
                        <a:t>Precision / Recall / F1</a:t>
                      </a:r>
                    </a:p>
                  </a:txBody>
                  <a:tcPr marL="114300" marR="114300" marT="95250" marB="95250" anchor="ctr">
                    <a:solidFill>
                      <a:srgbClr val="EFEFF2"/>
                    </a:solidFill>
                  </a:tcPr>
                </a:tc>
                <a:tc>
                  <a:txBody>
                    <a:bodyPr/>
                    <a:lstStyle/>
                    <a:p>
                      <a:r>
                        <a:rPr sz="1800" b="0">
                          <a:solidFill>
                            <a:srgbClr val="30343B"/>
                          </a:solidFill>
                          <a:latin typeface="Calibri"/>
                          <a:ea typeface="Calibri"/>
                          <a:cs typeface="Calibri"/>
                        </a:rPr>
                        <a:t>Hata türüne ve sınıfa göre bakılır</a:t>
                      </a:r>
                    </a:p>
                  </a:txBody>
                  <a:tcPr marL="114300" marR="114300" marT="95250" marB="95250" anchor="ctr">
                    <a:solidFill>
                      <a:srgbClr val="EFEFF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196641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10" name="Text 0">
            <a:extLst>
              <a:ext uri="{FF2B5EF4-FFF2-40B4-BE49-F238E27FC236}">
                <a16:creationId xmlns:a16="http://schemas.microsoft.com/office/drawing/2014/main" id="{706CBF7D-0144-4165-8A4E-BDF318D45D4E}"/>
              </a:ext>
            </a:extLst>
          </p:cNvPr>
          <p:cNvSpPr/>
          <p:nvPr/>
        </p:nvSpPr>
        <p:spPr>
          <a:xfrm>
            <a:off x="457200" y="285750"/>
            <a:ext cx="11239500" cy="685800"/>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4000"/>
              </a:lnSpc>
              <a:spcBef>
                <a:spcPts val="0"/>
              </a:spcBef>
              <a:spcAft>
                <a:spcPts val="0"/>
              </a:spcAft>
              <a:buClrTx/>
              <a:buSzTx/>
              <a:buFontTx/>
              <a:buNone/>
              <a:tabLst/>
              <a:defRPr/>
            </a:pPr>
            <a:r>
              <a:rPr kumimoji="0" lang="tr-TR" sz="3200" b="1" i="0" u="none" strike="noStrike" kern="1200" cap="none" spc="0" normalizeH="0" baseline="0" noProof="0" dirty="0">
                <a:ln>
                  <a:noFill/>
                </a:ln>
                <a:solidFill>
                  <a:srgbClr val="1E2A4E"/>
                </a:solidFill>
                <a:effectLst/>
                <a:uLnTx/>
                <a:uFillTx/>
                <a:latin typeface="Calibri"/>
                <a:ea typeface="Calibri"/>
                <a:cs typeface="Calibri"/>
              </a:rPr>
              <a:t>Mini uygulama: Ev fiyatı tahmini</a:t>
            </a:r>
            <a:endParaRPr lang="tr-TR" sz="3200"/>
          </a:p>
        </p:txBody>
      </p:sp>
      <p:sp>
        <p:nvSpPr>
          <p:cNvPr id="100" name="01"/>
          <p:cNvSpPr txBox="1"/>
          <p:nvPr/>
        </p:nvSpPr>
        <p:spPr>
          <a:xfrm>
            <a:off x="457200" y="1504950"/>
            <a:ext cx="857250" cy="523875"/>
          </a:xfrm>
          <a:prstGeom prst="rect">
            <a:avLst/>
          </a:prstGeom>
          <a:noFill/>
          <a:ln>
            <a:noFill/>
          </a:ln>
        </p:spPr>
        <p:txBody>
          <a:bodyPr wrap="square" lIns="0" tIns="0" rIns="0" bIns="0">
            <a:noAutofit/>
          </a:bodyPr>
          <a:lstStyle/>
          <a:p>
            <a:pPr marL="0" indent="0"/>
            <a:r>
              <a:rPr lang="tr-TR" sz="3200" b="1">
                <a:solidFill>
                  <a:srgbClr val="B18D18"/>
                </a:solidFill>
                <a:latin typeface="Calibri"/>
                <a:ea typeface="Calibri"/>
                <a:cs typeface="Calibri"/>
              </a:rPr>
              <a:t>01</a:t>
            </a:r>
            <a:endParaRPr lang="tr-TR" sz="3200"/>
          </a:p>
        </p:txBody>
      </p:sp>
      <p:sp>
        <p:nvSpPr>
          <p:cNvPr id="101" name="Girdileri ve hedefi seç"/>
          <p:cNvSpPr txBox="1"/>
          <p:nvPr/>
        </p:nvSpPr>
        <p:spPr>
          <a:xfrm>
            <a:off x="1533525" y="1504950"/>
            <a:ext cx="10001250" cy="581025"/>
          </a:xfrm>
          <a:prstGeom prst="rect">
            <a:avLst/>
          </a:prstGeom>
          <a:noFill/>
          <a:ln>
            <a:noFill/>
          </a:ln>
        </p:spPr>
        <p:txBody>
          <a:bodyPr wrap="square" lIns="0" tIns="0" rIns="0" bIns="0">
            <a:noAutofit/>
          </a:bodyPr>
          <a:lstStyle/>
          <a:p>
            <a:pPr marL="0" indent="0"/>
            <a:r>
              <a:rPr lang="tr-TR" sz="2600">
                <a:solidFill>
                  <a:srgbClr val="1E2A4E"/>
                </a:solidFill>
                <a:latin typeface="Calibri"/>
                <a:ea typeface="Calibri"/>
                <a:cs typeface="Calibri"/>
              </a:rPr>
              <a:t>Girdileri ve hedefi seç</a:t>
            </a:r>
            <a:endParaRPr lang="tr-TR" sz="2600"/>
          </a:p>
        </p:txBody>
      </p:sp>
      <p:sp>
        <p:nvSpPr>
          <p:cNvPr id="102" name="02"/>
          <p:cNvSpPr txBox="1"/>
          <p:nvPr/>
        </p:nvSpPr>
        <p:spPr>
          <a:xfrm>
            <a:off x="457200" y="2505075"/>
            <a:ext cx="857250" cy="523875"/>
          </a:xfrm>
          <a:prstGeom prst="rect">
            <a:avLst/>
          </a:prstGeom>
          <a:noFill/>
          <a:ln>
            <a:noFill/>
          </a:ln>
        </p:spPr>
        <p:txBody>
          <a:bodyPr wrap="square" lIns="0" tIns="0" rIns="0" bIns="0">
            <a:noAutofit/>
          </a:bodyPr>
          <a:lstStyle/>
          <a:p>
            <a:pPr marL="0" indent="0"/>
            <a:r>
              <a:rPr lang="tr-TR" sz="3200" b="1">
                <a:solidFill>
                  <a:srgbClr val="B18D18"/>
                </a:solidFill>
                <a:latin typeface="Calibri"/>
                <a:ea typeface="Calibri"/>
                <a:cs typeface="Calibri"/>
              </a:rPr>
              <a:t>02</a:t>
            </a:r>
            <a:endParaRPr lang="tr-TR" sz="3200"/>
          </a:p>
        </p:txBody>
      </p:sp>
      <p:sp>
        <p:nvSpPr>
          <p:cNvPr id="103" name="Veriyi ayır, ön işlemeyi eğitimde öğren"/>
          <p:cNvSpPr txBox="1"/>
          <p:nvPr/>
        </p:nvSpPr>
        <p:spPr>
          <a:xfrm>
            <a:off x="1533525" y="2505075"/>
            <a:ext cx="10001250" cy="581025"/>
          </a:xfrm>
          <a:prstGeom prst="rect">
            <a:avLst/>
          </a:prstGeom>
          <a:noFill/>
          <a:ln>
            <a:noFill/>
          </a:ln>
        </p:spPr>
        <p:txBody>
          <a:bodyPr wrap="square" lIns="0" tIns="0" rIns="0" bIns="0">
            <a:noAutofit/>
          </a:bodyPr>
          <a:lstStyle/>
          <a:p>
            <a:pPr marL="0" indent="0"/>
            <a:r>
              <a:rPr lang="tr-TR" sz="2600">
                <a:solidFill>
                  <a:srgbClr val="1E2A4E"/>
                </a:solidFill>
                <a:latin typeface="Calibri"/>
                <a:ea typeface="Calibri"/>
                <a:cs typeface="Calibri"/>
              </a:rPr>
              <a:t>Veriyi ayır, ön işlemeyi eğitimde öğren</a:t>
            </a:r>
            <a:endParaRPr lang="tr-TR" sz="2600"/>
          </a:p>
        </p:txBody>
      </p:sp>
      <p:sp>
        <p:nvSpPr>
          <p:cNvPr id="104" name="03"/>
          <p:cNvSpPr txBox="1"/>
          <p:nvPr/>
        </p:nvSpPr>
        <p:spPr>
          <a:xfrm>
            <a:off x="457200" y="3505200"/>
            <a:ext cx="857250" cy="523875"/>
          </a:xfrm>
          <a:prstGeom prst="rect">
            <a:avLst/>
          </a:prstGeom>
          <a:noFill/>
          <a:ln>
            <a:noFill/>
          </a:ln>
        </p:spPr>
        <p:txBody>
          <a:bodyPr wrap="square" lIns="0" tIns="0" rIns="0" bIns="0">
            <a:noAutofit/>
          </a:bodyPr>
          <a:lstStyle/>
          <a:p>
            <a:pPr marL="0" indent="0"/>
            <a:r>
              <a:rPr lang="tr-TR" sz="3200" b="1">
                <a:solidFill>
                  <a:srgbClr val="B18D18"/>
                </a:solidFill>
                <a:latin typeface="Calibri"/>
                <a:ea typeface="Calibri"/>
                <a:cs typeface="Calibri"/>
              </a:rPr>
              <a:t>03</a:t>
            </a:r>
            <a:endParaRPr lang="tr-TR" sz="3200"/>
          </a:p>
        </p:txBody>
      </p:sp>
      <p:sp>
        <p:nvSpPr>
          <p:cNvPr id="105" name="Lineer regresyon ve karar ağacını karşılaştır"/>
          <p:cNvSpPr txBox="1"/>
          <p:nvPr/>
        </p:nvSpPr>
        <p:spPr>
          <a:xfrm>
            <a:off x="1533525" y="3505200"/>
            <a:ext cx="10001250" cy="581025"/>
          </a:xfrm>
          <a:prstGeom prst="rect">
            <a:avLst/>
          </a:prstGeom>
          <a:noFill/>
          <a:ln>
            <a:noFill/>
          </a:ln>
        </p:spPr>
        <p:txBody>
          <a:bodyPr wrap="square" lIns="0" tIns="0" rIns="0" bIns="0">
            <a:noAutofit/>
          </a:bodyPr>
          <a:lstStyle/>
          <a:p>
            <a:pPr marL="0" indent="0"/>
            <a:r>
              <a:rPr lang="tr-TR" sz="2600">
                <a:solidFill>
                  <a:srgbClr val="1E2A4E"/>
                </a:solidFill>
                <a:latin typeface="Calibri"/>
                <a:ea typeface="Calibri"/>
                <a:cs typeface="Calibri"/>
              </a:rPr>
              <a:t>Lineer regresyon ve karar ağacını karşılaştır</a:t>
            </a:r>
            <a:endParaRPr lang="tr-TR" sz="2600"/>
          </a:p>
        </p:txBody>
      </p:sp>
      <p:sp>
        <p:nvSpPr>
          <p:cNvPr id="106" name="04"/>
          <p:cNvSpPr txBox="1"/>
          <p:nvPr/>
        </p:nvSpPr>
        <p:spPr>
          <a:xfrm>
            <a:off x="457200" y="4505325"/>
            <a:ext cx="857250" cy="523875"/>
          </a:xfrm>
          <a:prstGeom prst="rect">
            <a:avLst/>
          </a:prstGeom>
          <a:noFill/>
          <a:ln>
            <a:noFill/>
          </a:ln>
        </p:spPr>
        <p:txBody>
          <a:bodyPr wrap="square" lIns="0" tIns="0" rIns="0" bIns="0">
            <a:noAutofit/>
          </a:bodyPr>
          <a:lstStyle/>
          <a:p>
            <a:pPr marL="0" indent="0"/>
            <a:r>
              <a:rPr lang="tr-TR" sz="3200" b="1">
                <a:solidFill>
                  <a:srgbClr val="B18D18"/>
                </a:solidFill>
                <a:latin typeface="Calibri"/>
                <a:ea typeface="Calibri"/>
                <a:cs typeface="Calibri"/>
              </a:rPr>
              <a:t>04</a:t>
            </a:r>
            <a:endParaRPr lang="tr-TR" sz="3200"/>
          </a:p>
        </p:txBody>
      </p:sp>
      <p:sp>
        <p:nvSpPr>
          <p:cNvPr id="107" name="Seçilen modeli testte ölç, hatalı tahminleri incel"/>
          <p:cNvSpPr txBox="1"/>
          <p:nvPr/>
        </p:nvSpPr>
        <p:spPr>
          <a:xfrm>
            <a:off x="1533525" y="4505325"/>
            <a:ext cx="10001250" cy="581025"/>
          </a:xfrm>
          <a:prstGeom prst="rect">
            <a:avLst/>
          </a:prstGeom>
          <a:noFill/>
          <a:ln>
            <a:noFill/>
          </a:ln>
        </p:spPr>
        <p:txBody>
          <a:bodyPr wrap="square" lIns="0" tIns="0" rIns="0" bIns="0">
            <a:noAutofit/>
          </a:bodyPr>
          <a:lstStyle/>
          <a:p>
            <a:pPr marL="0" indent="0"/>
            <a:r>
              <a:rPr lang="tr-TR" sz="2600">
                <a:solidFill>
                  <a:srgbClr val="1E2A4E"/>
                </a:solidFill>
                <a:latin typeface="Calibri"/>
                <a:ea typeface="Calibri"/>
                <a:cs typeface="Calibri"/>
              </a:rPr>
              <a:t>Seçilen modeli testte ölç, hatalı tahminleri incele</a:t>
            </a:r>
            <a:endParaRPr lang="tr-TR" sz="2600"/>
          </a:p>
        </p:txBody>
      </p:sp>
      <p:sp>
        <p:nvSpPr>
          <p:cNvPr id="109" name="5 ev mantığı anlamak içindir. Güvenilir değerlendi"/>
          <p:cNvSpPr txBox="1"/>
          <p:nvPr/>
        </p:nvSpPr>
        <p:spPr>
          <a:xfrm>
            <a:off x="457200" y="5724525"/>
            <a:ext cx="11144250" cy="781050"/>
          </a:xfrm>
          <a:prstGeom prst="rect">
            <a:avLst/>
          </a:prstGeom>
          <a:noFill/>
          <a:ln>
            <a:noFill/>
          </a:ln>
        </p:spPr>
        <p:txBody>
          <a:bodyPr wrap="square" lIns="0" tIns="0" rIns="0" bIns="0">
            <a:noAutofit/>
          </a:bodyPr>
          <a:lstStyle/>
          <a:p>
            <a:pPr marL="0" indent="0"/>
            <a:r>
              <a:rPr lang="tr-TR" sz="2300">
                <a:solidFill>
                  <a:srgbClr val="596173"/>
                </a:solidFill>
                <a:latin typeface="Calibri"/>
                <a:ea typeface="Calibri"/>
                <a:cs typeface="Calibri"/>
              </a:rPr>
              <a:t>5 ev mantığı anlamak içindir. Güvenilir değerlendirme için daha büyük veri gerekir.</a:t>
            </a:r>
            <a:endParaRPr lang="tr-TR" sz="2300"/>
          </a:p>
        </p:txBody>
      </p:sp>
    </p:spTree>
    <p:extLst>
      <p:ext uri="{BB962C8B-B14F-4D97-AF65-F5344CB8AC3E}">
        <p14:creationId xmlns:p14="http://schemas.microsoft.com/office/powerpoint/2010/main" val="419664198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image" Target="../media/image1.pn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spPr>
      <a:bodyPr/>
      <a:lstStyle>
        <a:defPPr algn="l">
          <a:defRPr/>
        </a:defPPr>
      </a:lstStyle>
    </a:spDef>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TotalTime>
  <Words>1611</Words>
  <Application>Microsoft Office PowerPoint</Application>
  <PresentationFormat>Geniş ekran</PresentationFormat>
  <Paragraphs>258</Paragraphs>
  <Slides>13</Slides>
  <Notes>12</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13</vt:i4>
      </vt:variant>
    </vt:vector>
  </HeadingPairs>
  <TitlesOfParts>
    <vt:vector size="17" baseType="lpstr">
      <vt:lpstr>Arial</vt:lpstr>
      <vt:lpstr>Calibri</vt:lpstr>
      <vt:lpstr>Cambria</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Yagmur Baykal</dc:creator>
  <cp:lastModifiedBy>Yagmur Baykal</cp:lastModifiedBy>
  <cp:revision>16</cp:revision>
  <dcterms:created xsi:type="dcterms:W3CDTF">2026-09-22T11:27:31Z</dcterms:created>
  <dcterms:modified xsi:type="dcterms:W3CDTF">2026-10-04T13:49:02Z</dcterms:modified>
</cp:coreProperties>
</file>