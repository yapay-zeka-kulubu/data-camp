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1012" r:id="rId2"/>
    <p:sldId id="1007" r:id="rId3"/>
    <p:sldId id="286" r:id="rId4"/>
    <p:sldId id="283" r:id="rId5"/>
    <p:sldId id="1011" r:id="rId6"/>
    <p:sldId id="1008" r:id="rId7"/>
    <p:sldId id="284" r:id="rId8"/>
    <p:sldId id="285" r:id="rId9"/>
    <p:sldId id="1009" r:id="rId10"/>
    <p:sldId id="1010" r:id="rId11"/>
    <p:sldId id="287" r:id="rId12"/>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68" y="1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tr-TR"/>
  <c:roundedCorners val="1"/>
  <c:style val="2"/>
  <c:chart>
    <c:title>
      <c:tx>
        <c:rich>
          <a:bodyPr/>
          <a:lstStyle/>
          <a:p>
            <a:r>
              <a:rPr lang="tr-TR" sz="1725" b="1">
                <a:solidFill>
                  <a:srgbClr val="1E2A4E"/>
                </a:solidFill>
                <a:latin typeface="Calibri"/>
                <a:ea typeface="Calibri"/>
                <a:cs typeface="Calibri"/>
              </a:rPr>
              <a:t>Gerçek fiyat ve temsili tahmin</a:t>
            </a:r>
          </a:p>
        </c:rich>
      </c:tx>
      <c:overlay val="0"/>
    </c:title>
    <c:autoTitleDeleted val="0"/>
    <c:plotArea>
      <c:layout/>
      <c:barChart>
        <c:barDir val="col"/>
        <c:grouping val="clustered"/>
        <c:varyColors val="0"/>
        <c:ser>
          <c:idx val="0"/>
          <c:order val="0"/>
          <c:tx>
            <c:v>Gerçek</c:v>
          </c:tx>
          <c:spPr>
            <a:solidFill>
              <a:srgbClr val="1E2A4E"/>
            </a:solidFill>
          </c:spPr>
          <c:invertIfNegative val="1"/>
          <c:cat>
            <c:strRef>
              <c:f>'Chart Data'!$A$2:$A$3</c:f>
              <c:strCache>
                <c:ptCount val="2"/>
                <c:pt idx="0">
                  <c:v>Ev 1</c:v>
                </c:pt>
                <c:pt idx="1">
                  <c:v>Ev 4</c:v>
                </c:pt>
              </c:strCache>
            </c:strRef>
          </c:cat>
          <c:val>
            <c:numRef>
              <c:f>'Chart Data'!$B$2:$B$3</c:f>
              <c:numCache>
                <c:formatCode>General</c:formatCode>
                <c:ptCount val="2"/>
                <c:pt idx="0">
                  <c:v>1850</c:v>
                </c:pt>
                <c:pt idx="1">
                  <c:v>1650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ECF-46E2-B4EB-216FCB7D34E4}"/>
            </c:ext>
          </c:extLst>
        </c:ser>
        <c:ser>
          <c:idx val="1"/>
          <c:order val="1"/>
          <c:tx>
            <c:v>Tahmin</c:v>
          </c:tx>
          <c:spPr>
            <a:solidFill>
              <a:srgbClr val="B18D18"/>
            </a:solidFill>
          </c:spPr>
          <c:invertIfNegative val="1"/>
          <c:cat>
            <c:strRef>
              <c:f>'Chart Data'!$C$2:$C$3</c:f>
              <c:strCache>
                <c:ptCount val="2"/>
                <c:pt idx="0">
                  <c:v>Ev 1</c:v>
                </c:pt>
                <c:pt idx="1">
                  <c:v>Ev 4</c:v>
                </c:pt>
              </c:strCache>
            </c:strRef>
          </c:cat>
          <c:val>
            <c:numRef>
              <c:f>'Chart Data'!$D$2:$D$3</c:f>
              <c:numCache>
                <c:formatCode>General</c:formatCode>
                <c:ptCount val="2"/>
                <c:pt idx="0">
                  <c:v>1900</c:v>
                </c:pt>
                <c:pt idx="1">
                  <c:v>1725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ECF-46E2-B4EB-216FCB7D34E4}"/>
            </c:ext>
          </c:extLst>
        </c:ser>
        <c:dLbls>
          <c:showLegendKey val="0"/>
          <c:showVal val="0"/>
          <c:showCatName val="0"/>
          <c:showSerName val="0"/>
          <c:showPercent val="0"/>
          <c:showBubbleSize val="0"/>
        </c:dLbls>
        <c:gapWidth val="90"/>
        <c:axId val="48650112"/>
        <c:axId val="48672768"/>
      </c:barChart>
      <c:catAx>
        <c:axId val="48650112"/>
        <c:scaling>
          <c:orientation val="minMax"/>
        </c:scaling>
        <c:delete val="0"/>
        <c:axPos val="b"/>
        <c:majorGridlines>
          <c:spPr>
            <a:ln w="0">
              <a:noFill/>
            </a:ln>
          </c:spPr>
        </c:majorGridlines>
        <c:numFmt formatCode="General" sourceLinked="1"/>
        <c:majorTickMark val="none"/>
        <c:minorTickMark val="none"/>
        <c:tickLblPos val="nextTo"/>
        <c:spPr>
          <a:ln w="9525">
            <a:solidFill>
              <a:srgbClr val="D4D4D4"/>
            </a:solidFill>
            <a:prstDash val="solid"/>
          </a:ln>
        </c:spPr>
        <c:txPr>
          <a:bodyPr anchorCtr="1"/>
          <a:lstStyle/>
          <a:p>
            <a:pPr>
              <a:defRPr sz="1650">
                <a:solidFill>
                  <a:srgbClr val="30343B"/>
                </a:solidFill>
                <a:latin typeface="Calibri"/>
                <a:ea typeface="Calibri"/>
                <a:cs typeface="Calibri"/>
              </a:defRPr>
            </a:pPr>
            <a:endParaRPr lang="tr-TR"/>
          </a:p>
        </c:txPr>
        <c:crossAx val="48672768"/>
        <c:crosses val="autoZero"/>
        <c:auto val="1"/>
        <c:lblAlgn val="ctr"/>
        <c:lblOffset val="100"/>
        <c:noMultiLvlLbl val="1"/>
      </c:catAx>
      <c:valAx>
        <c:axId val="48672768"/>
        <c:scaling>
          <c:orientation val="minMax"/>
          <c:max val="2200"/>
          <c:min val="0"/>
        </c:scaling>
        <c:delete val="0"/>
        <c:axPos val="l"/>
        <c:majorGridlines>
          <c:spPr>
            <a:ln w="9525">
              <a:solidFill>
                <a:srgbClr val="D6D9E0"/>
              </a:solidFill>
            </a:ln>
          </c:spPr>
        </c:majorGridlines>
        <c:title>
          <c:tx>
            <c:rich>
              <a:bodyPr/>
              <a:lstStyle/>
              <a:p>
                <a:r>
                  <a:rPr lang="tr-TR">
                    <a:latin typeface="Calibri"/>
                    <a:ea typeface="Calibri"/>
                    <a:cs typeface="Calibri"/>
                  </a:rPr>
                  <a:t>Fiyat (bin TL)</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425">
                <a:solidFill>
                  <a:srgbClr val="30343B"/>
                </a:solidFill>
                <a:latin typeface="Calibri"/>
                <a:ea typeface="Calibri"/>
                <a:cs typeface="Calibri"/>
              </a:defRPr>
            </a:pPr>
            <a:endParaRPr lang="tr-TR"/>
          </a:p>
        </c:txPr>
        <c:crossAx val="48650112"/>
        <c:crosses val="autoZero"/>
        <c:crossBetween val="between"/>
        <c:majorUnit val="500"/>
      </c:valAx>
      <c:spPr>
        <a:solidFill>
          <a:srgbClr val="F7F5EF"/>
        </a:solidFill>
        <a:ln w="0">
          <a:noFill/>
        </a:ln>
      </c:spPr>
    </c:plotArea>
    <c:legend>
      <c:legendPos val="b"/>
      <c:overlay val="0"/>
      <c:txPr>
        <a:bodyPr anchorCtr="1"/>
        <a:lstStyle/>
        <a:p>
          <a:pPr>
            <a:defRPr sz="1500">
              <a:solidFill>
                <a:srgbClr val="30343B"/>
              </a:solidFill>
              <a:latin typeface="Calibri"/>
              <a:ea typeface="Calibri"/>
              <a:cs typeface="Calibri"/>
            </a:defRPr>
          </a:pPr>
          <a:endParaRPr lang="tr-TR"/>
        </a:p>
      </c:txPr>
    </c:legend>
    <c:plotVisOnly val="1"/>
    <c:dispBlanksAs val="zero"/>
    <c:showDLblsOverMax val="1"/>
  </c:chart>
  <c:spPr>
    <a:solidFill>
      <a:srgbClr val="F7F5E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tr-TR"/>
  <c:roundedCorners val="1"/>
  <c:style val="2"/>
  <c:chart>
    <c:title>
      <c:tx>
        <c:rich>
          <a:bodyPr/>
          <a:lstStyle/>
          <a:p>
            <a:r>
              <a:rPr lang="tr-TR" sz="1725" b="1">
                <a:solidFill>
                  <a:srgbClr val="1E2A4E"/>
                </a:solidFill>
                <a:latin typeface="Calibri"/>
                <a:ea typeface="Calibri"/>
                <a:cs typeface="Calibri"/>
              </a:rPr>
              <a:t>Aynı iki örnekte R² karşılaştırması</a:t>
            </a:r>
          </a:p>
        </c:rich>
      </c:tx>
      <c:overlay val="0"/>
    </c:title>
    <c:autoTitleDeleted val="0"/>
    <c:plotArea>
      <c:layout/>
      <c:barChart>
        <c:barDir val="col"/>
        <c:grouping val="clustered"/>
        <c:varyColors val="0"/>
        <c:ser>
          <c:idx val="0"/>
          <c:order val="0"/>
          <c:tx>
            <c:v>R²</c:v>
          </c:tx>
          <c:spPr>
            <a:solidFill>
              <a:srgbClr val="1E2A4E"/>
            </a:solidFill>
          </c:spPr>
          <c:invertIfNegative val="0"/>
          <c:dLbls>
            <c:spPr>
              <a:noFill/>
              <a:ln>
                <a:noFill/>
              </a:ln>
              <a:effectLst/>
            </c:spPr>
            <c:txPr>
              <a:bodyPr anchorCtr="1"/>
              <a:lstStyle/>
              <a:p>
                <a:pPr>
                  <a:defRPr sz="1350">
                    <a:solidFill>
                      <a:srgbClr val="1E2A4E"/>
                    </a:solidFill>
                    <a:latin typeface="Calibri"/>
                    <a:ea typeface="Calibri"/>
                    <a:cs typeface="Calibri"/>
                  </a:defRPr>
                </a:pPr>
                <a:endParaRPr lang="tr-T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Ters</c:v>
                </c:pt>
                <c:pt idx="1">
                  <c:v>Ortalama</c:v>
                </c:pt>
                <c:pt idx="2">
                  <c:v>Örnek</c:v>
                </c:pt>
                <c:pt idx="3">
                  <c:v>Tam</c:v>
                </c:pt>
              </c:strCache>
            </c:strRef>
          </c:cat>
          <c:val>
            <c:numRef>
              <c:f>'Chart Data'!$B$2:$B$5</c:f>
              <c:numCache>
                <c:formatCode>General</c:formatCode>
                <c:ptCount val="4"/>
                <c:pt idx="0">
                  <c:v>-3</c:v>
                </c:pt>
                <c:pt idx="1">
                  <c:v>0</c:v>
                </c:pt>
                <c:pt idx="2">
                  <c:v>0.59375</c:v>
                </c:pt>
                <c:pt idx="3">
                  <c:v>1</c:v>
                </c:pt>
              </c:numCache>
            </c:numRef>
          </c:val>
          <c:extLst>
            <c:ext xmlns:c16="http://schemas.microsoft.com/office/drawing/2014/chart" uri="{C3380CC4-5D6E-409C-BE32-E72D297353CC}">
              <c16:uniqueId val="{00000000-1EE4-4DE1-BDFB-105EE2DED4A9}"/>
            </c:ext>
          </c:extLst>
        </c:ser>
        <c:dLbls>
          <c:dLblPos val="outEnd"/>
          <c:showLegendKey val="0"/>
          <c:showVal val="1"/>
          <c:showCatName val="0"/>
          <c:showSerName val="0"/>
          <c:showPercent val="0"/>
          <c:showBubbleSize val="0"/>
        </c:dLbls>
        <c:gapWidth val="75"/>
        <c:axId val="48650112"/>
        <c:axId val="48672768"/>
      </c:barChart>
      <c:catAx>
        <c:axId val="48650112"/>
        <c:scaling>
          <c:orientation val="minMax"/>
        </c:scaling>
        <c:delete val="0"/>
        <c:axPos val="b"/>
        <c:majorGridlines>
          <c:spPr>
            <a:ln w="0">
              <a:noFill/>
            </a:ln>
          </c:spPr>
        </c:majorGridlines>
        <c:numFmt formatCode="General" sourceLinked="1"/>
        <c:majorTickMark val="none"/>
        <c:minorTickMark val="none"/>
        <c:tickLblPos val="low"/>
        <c:spPr>
          <a:ln w="9525">
            <a:solidFill>
              <a:srgbClr val="D4D4D4"/>
            </a:solidFill>
            <a:prstDash val="solid"/>
          </a:ln>
        </c:spPr>
        <c:txPr>
          <a:bodyPr anchorCtr="1"/>
          <a:lstStyle/>
          <a:p>
            <a:pPr>
              <a:defRPr sz="1425">
                <a:solidFill>
                  <a:srgbClr val="30343B"/>
                </a:solidFill>
                <a:latin typeface="Calibri"/>
                <a:ea typeface="Calibri"/>
                <a:cs typeface="Calibri"/>
              </a:defRPr>
            </a:pPr>
            <a:endParaRPr lang="tr-TR"/>
          </a:p>
        </c:txPr>
        <c:crossAx val="48672768"/>
        <c:crosses val="autoZero"/>
        <c:auto val="1"/>
        <c:lblAlgn val="ctr"/>
        <c:lblOffset val="100"/>
        <c:noMultiLvlLbl val="1"/>
      </c:catAx>
      <c:valAx>
        <c:axId val="48672768"/>
        <c:scaling>
          <c:orientation val="minMax"/>
          <c:max val="1.5"/>
          <c:min val="-3.5"/>
        </c:scaling>
        <c:delete val="0"/>
        <c:axPos val="l"/>
        <c:majorGridlines>
          <c:spPr>
            <a:ln w="9525">
              <a:solidFill>
                <a:srgbClr val="D6D9E0"/>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425">
                <a:solidFill>
                  <a:srgbClr val="30343B"/>
                </a:solidFill>
                <a:latin typeface="Calibri"/>
                <a:ea typeface="Calibri"/>
                <a:cs typeface="Calibri"/>
              </a:defRPr>
            </a:pPr>
            <a:endParaRPr lang="tr-TR"/>
          </a:p>
        </c:txPr>
        <c:crossAx val="48650112"/>
        <c:crosses val="autoZero"/>
        <c:crossBetween val="between"/>
        <c:majorUnit val="1"/>
      </c:valAx>
      <c:spPr>
        <a:solidFill>
          <a:srgbClr val="F7F5EF"/>
        </a:solidFill>
        <a:ln w="0">
          <a:noFill/>
        </a:ln>
      </c:spPr>
    </c:plotArea>
    <c:plotVisOnly val="1"/>
    <c:dispBlanksAs val="zero"/>
    <c:showDLblsOverMax val="1"/>
  </c:chart>
  <c:spPr>
    <a:solidFill>
      <a:srgbClr val="F7F5E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7298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lnSpc>
                <a:spcPct val="110000"/>
              </a:lnSpc>
              <a:spcAft>
                <a:spcPts val="0"/>
              </a:spcAft>
            </a:pPr>
            <a:r>
              <a:rPr lang="tr-TR" sz="1200" b="0">
                <a:solidFill>
                  <a:srgbClr val="30343B"/>
                </a:solidFill>
                <a:latin typeface="Calibri"/>
                <a:ea typeface="Calibri"/>
                <a:cs typeface="Calibri"/>
              </a:rPr>
              <a:t>Bu sayfa ilk bölümün eğitim/doğrulama/test slaydını yeniden anlatmak yerine kısa bir geçiş sunar. Küçük veri üzerinde eğitim kümesinin içinde çapraz doğrulama uygulanabilir. İlk bölümdeki 5 ev örneği yalnızca öğretim amaçlıdır.</a:t>
            </a:r>
            <a:endParaRPr lang="tr-TR" sz="1200"/>
          </a:p>
          <a:p>
            <a:pPr marL="0" indent="0">
              <a:lnSpc>
                <a:spcPct val="110000"/>
              </a:lnSpc>
              <a:spcAft>
                <a:spcPts val="0"/>
              </a:spcAft>
            </a:pPr>
            <a:endParaRPr lang="tr-TR" sz="1200"/>
          </a:p>
          <a:p>
            <a:pPr marL="0" indent="0">
              <a:lnSpc>
                <a:spcPct val="110000"/>
              </a:lnSpc>
              <a:spcAft>
                <a:spcPts val="0"/>
              </a:spcAft>
            </a:pPr>
            <a:r>
              <a:rPr lang="tr-TR" sz="1200" b="0">
                <a:solidFill>
                  <a:srgbClr val="30343B"/>
                </a:solidFill>
                <a:latin typeface="Calibri"/>
                <a:ea typeface="Calibri"/>
                <a:cs typeface="Calibri"/>
              </a:rPr>
              <a:t>Kaynaklar:</a:t>
            </a:r>
            <a:endParaRPr lang="tr-TR" sz="1200"/>
          </a:p>
          <a:p>
            <a:pPr marL="0" indent="0">
              <a:lnSpc>
                <a:spcPct val="110000"/>
              </a:lnSpc>
              <a:spcAft>
                <a:spcPts val="0"/>
              </a:spcAft>
            </a:pPr>
            <a:r>
              <a:rPr lang="tr-TR" sz="1200" b="0">
                <a:solidFill>
                  <a:srgbClr val="30343B"/>
                </a:solidFill>
                <a:latin typeface="Calibri"/>
                <a:ea typeface="Calibri"/>
                <a:cs typeface="Calibri"/>
              </a:rPr>
              <a:t>https://scikit-learn.org/stable/modules/cross_validation.html</a:t>
            </a:r>
            <a:endParaRPr lang="tr-TR" sz="1200"/>
          </a:p>
          <a:p>
            <a:pPr marL="0" indent="0">
              <a:lnSpc>
                <a:spcPct val="110000"/>
              </a:lnSpc>
              <a:spcAft>
                <a:spcPts val="0"/>
              </a:spcAft>
            </a:pPr>
            <a:r>
              <a:rPr lang="tr-TR" sz="1200" b="0">
                <a:solidFill>
                  <a:srgbClr val="30343B"/>
                </a:solidFill>
                <a:latin typeface="Calibri"/>
                <a:ea typeface="Calibri"/>
                <a:cs typeface="Calibri"/>
              </a:rPr>
              <a:t>https://scikit-learn.org/stable/common_pitfalls.html</a:t>
            </a:r>
            <a:endParaRPr lang="tr-TR" sz="120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6C5A62-01C5-4300-AB3E-A410291738DD}"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1498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lnSpc>
                <a:spcPct val="110000"/>
              </a:lnSpc>
              <a:spcAft>
                <a:spcPts val="0"/>
              </a:spcAft>
            </a:pPr>
            <a:r>
              <a:rPr lang="tr-TR" sz="1200" b="0">
                <a:solidFill>
                  <a:srgbClr val="30343B"/>
                </a:solidFill>
                <a:latin typeface="Calibri"/>
                <a:ea typeface="Calibri"/>
                <a:cs typeface="Calibri"/>
              </a:rPr>
              <a:t>Mevcut eğitim/test oran görseli korunmuştur. Oran örnektir, güvenilirliği tek başına garanti etmez. Veri sızıntısı yalnızca eğitimden önce oluşmaz. Test etiketlerine veya test puanına göre ayar seçmek de test bağımsızlığını bozar. StandardScaler ortalama ve standart sapmayı eğitimde fit eder; diğer kümelerde yalnızca transform kullanılır.</a:t>
            </a:r>
            <a:endParaRPr lang="tr-TR" sz="1200"/>
          </a:p>
          <a:p>
            <a:pPr marL="0" indent="0">
              <a:lnSpc>
                <a:spcPct val="110000"/>
              </a:lnSpc>
              <a:spcAft>
                <a:spcPts val="0"/>
              </a:spcAft>
            </a:pPr>
            <a:endParaRPr lang="tr-TR" sz="1200"/>
          </a:p>
          <a:p>
            <a:pPr marL="0" indent="0">
              <a:lnSpc>
                <a:spcPct val="110000"/>
              </a:lnSpc>
              <a:spcAft>
                <a:spcPts val="0"/>
              </a:spcAft>
            </a:pPr>
            <a:r>
              <a:rPr lang="tr-TR" sz="1200" b="0">
                <a:solidFill>
                  <a:srgbClr val="30343B"/>
                </a:solidFill>
                <a:latin typeface="Calibri"/>
                <a:ea typeface="Calibri"/>
                <a:cs typeface="Calibri"/>
              </a:rPr>
              <a:t>Kaynaklar:</a:t>
            </a:r>
            <a:endParaRPr lang="tr-TR" sz="1200"/>
          </a:p>
          <a:p>
            <a:pPr marL="0" indent="0">
              <a:lnSpc>
                <a:spcPct val="110000"/>
              </a:lnSpc>
              <a:spcAft>
                <a:spcPts val="0"/>
              </a:spcAft>
            </a:pPr>
            <a:r>
              <a:rPr lang="tr-TR" sz="1200" b="0">
                <a:solidFill>
                  <a:srgbClr val="30343B"/>
                </a:solidFill>
                <a:latin typeface="Calibri"/>
                <a:ea typeface="Calibri"/>
                <a:cs typeface="Calibri"/>
              </a:rPr>
              <a:t>https://scikit-learn.org/stable/common_pitfalls.html</a:t>
            </a:r>
            <a:endParaRPr lang="tr-TR" sz="1200"/>
          </a:p>
          <a:p>
            <a:pPr marL="0" indent="0">
              <a:lnSpc>
                <a:spcPct val="110000"/>
              </a:lnSpc>
              <a:spcAft>
                <a:spcPts val="0"/>
              </a:spcAft>
            </a:pPr>
            <a:r>
              <a:rPr lang="tr-TR" sz="1200" b="0">
                <a:solidFill>
                  <a:srgbClr val="30343B"/>
                </a:solidFill>
                <a:latin typeface="Calibri"/>
                <a:ea typeface="Calibri"/>
                <a:cs typeface="Calibri"/>
              </a:rPr>
              <a:t>https://scikit-learn.org/stable/modules/cross_validation.html</a:t>
            </a:r>
            <a:endParaRPr lang="tr-TR" sz="120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6C5A62-01C5-4300-AB3E-A410291738DD}"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1498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lnSpc>
                <a:spcPct val="110000"/>
              </a:lnSpc>
              <a:spcAft>
                <a:spcPts val="0"/>
              </a:spcAft>
            </a:pPr>
            <a:r>
              <a:rPr lang="tr-TR" sz="1200" b="0">
                <a:solidFill>
                  <a:srgbClr val="30343B"/>
                </a:solidFill>
                <a:latin typeface="Calibri"/>
                <a:ea typeface="Calibri"/>
                <a:cs typeface="Calibri"/>
              </a:rPr>
              <a:t>Hafta2 ev tablosundaki gerçek fiyatlar: Ev1 1850binTL, Ev4 1650binTL. 1900 ve1725 hesaplama için temsili tahminlerdir; eğitilmiş model çıktıları değildir. Hata−50,−75; kareler2500,5625; toplam8125; MSE4062.5. Önceki tabloda medyan2475 gerçek etiket gibi kullanılmıştı, kaldırıldı. Ev2 fiyatı bilinmiyor ve değerlendirme etiketi oluşturulmuyor. Bu sayfa yalnızca aritmetik örneğidir.</a:t>
            </a:r>
            <a:endParaRPr lang="tr-TR" sz="1200"/>
          </a:p>
          <a:p>
            <a:pPr marL="0" indent="0">
              <a:lnSpc>
                <a:spcPct val="110000"/>
              </a:lnSpc>
              <a:spcAft>
                <a:spcPts val="0"/>
              </a:spcAft>
            </a:pPr>
            <a:endParaRPr lang="tr-TR" sz="1200"/>
          </a:p>
          <a:p>
            <a:pPr marL="0" indent="0">
              <a:lnSpc>
                <a:spcPct val="110000"/>
              </a:lnSpc>
              <a:spcAft>
                <a:spcPts val="0"/>
              </a:spcAft>
            </a:pPr>
            <a:r>
              <a:rPr lang="tr-TR" sz="1200" b="0">
                <a:solidFill>
                  <a:srgbClr val="30343B"/>
                </a:solidFill>
                <a:latin typeface="Calibri"/>
                <a:ea typeface="Calibri"/>
                <a:cs typeface="Calibri"/>
              </a:rPr>
              <a:t>Kaynaklar:</a:t>
            </a:r>
            <a:endParaRPr lang="tr-TR" sz="1200"/>
          </a:p>
          <a:p>
            <a:pPr marL="0" indent="0">
              <a:lnSpc>
                <a:spcPct val="110000"/>
              </a:lnSpc>
              <a:spcAft>
                <a:spcPts val="0"/>
              </a:spcAft>
            </a:pPr>
            <a:r>
              <a:rPr lang="tr-TR" sz="1200" b="0">
                <a:solidFill>
                  <a:srgbClr val="30343B"/>
                </a:solidFill>
                <a:latin typeface="Calibri"/>
                <a:ea typeface="Calibri"/>
                <a:cs typeface="Calibri"/>
              </a:rPr>
              <a:t>https://scikit-learn.org/stable/modules/model_evaluation.html</a:t>
            </a:r>
            <a:endParaRPr lang="tr-TR" sz="120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6C5A62-01C5-4300-AB3E-A410291738DD}"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1498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lnSpc>
                <a:spcPct val="110000"/>
              </a:lnSpc>
              <a:spcAft>
                <a:spcPts val="0"/>
              </a:spcAft>
            </a:pPr>
            <a:r>
              <a:rPr lang="tr-TR" sz="1200" b="0">
                <a:solidFill>
                  <a:srgbClr val="30343B"/>
                </a:solidFill>
                <a:latin typeface="Calibri"/>
                <a:ea typeface="Calibri"/>
                <a:cs typeface="Calibri"/>
              </a:rPr>
              <a:t>MAE=(50+75)/2=62.5binTL. MSE=(2500+5625)/2=4062.5(binTL)^2. RMSE=sqrt(4062.5)=63.7377439binTL. BinTL63.74 yaklaşık63,740TL. Kareleme büyük hatalara ağırlık verir. MAE/MSE değerlerini farklı hedef birimleri veya farklı veri setleri üzerinde bağlamsız kıyaslamayın.</a:t>
            </a:r>
            <a:endParaRPr lang="tr-TR" sz="1200"/>
          </a:p>
          <a:p>
            <a:pPr marL="0" indent="0">
              <a:lnSpc>
                <a:spcPct val="110000"/>
              </a:lnSpc>
              <a:spcAft>
                <a:spcPts val="0"/>
              </a:spcAft>
            </a:pPr>
            <a:endParaRPr lang="tr-TR" sz="1200"/>
          </a:p>
          <a:p>
            <a:pPr marL="0" indent="0">
              <a:lnSpc>
                <a:spcPct val="110000"/>
              </a:lnSpc>
              <a:spcAft>
                <a:spcPts val="0"/>
              </a:spcAft>
            </a:pPr>
            <a:r>
              <a:rPr lang="tr-TR" sz="1200" b="0">
                <a:solidFill>
                  <a:srgbClr val="30343B"/>
                </a:solidFill>
                <a:latin typeface="Calibri"/>
                <a:ea typeface="Calibri"/>
                <a:cs typeface="Calibri"/>
              </a:rPr>
              <a:t>Kaynaklar:</a:t>
            </a:r>
            <a:endParaRPr lang="tr-TR" sz="1200"/>
          </a:p>
          <a:p>
            <a:pPr marL="0" indent="0">
              <a:lnSpc>
                <a:spcPct val="110000"/>
              </a:lnSpc>
              <a:spcAft>
                <a:spcPts val="0"/>
              </a:spcAft>
            </a:pPr>
            <a:r>
              <a:rPr lang="tr-TR" sz="1200" b="0">
                <a:solidFill>
                  <a:srgbClr val="30343B"/>
                </a:solidFill>
                <a:latin typeface="Calibri"/>
                <a:ea typeface="Calibri"/>
                <a:cs typeface="Calibri"/>
              </a:rPr>
              <a:t>https://scikit-learn.org/stable/modules/model_evaluation.html</a:t>
            </a:r>
            <a:endParaRPr lang="tr-TR" sz="120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6C5A62-01C5-4300-AB3E-A410291738DD}"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1498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lnSpc>
                <a:spcPct val="110000"/>
              </a:lnSpc>
              <a:spcAft>
                <a:spcPts val="0"/>
              </a:spcAft>
            </a:pPr>
            <a:r>
              <a:rPr lang="tr-TR" sz="1200" b="0">
                <a:solidFill>
                  <a:srgbClr val="30343B"/>
                </a:solidFill>
                <a:latin typeface="Calibri"/>
                <a:ea typeface="Calibri"/>
                <a:cs typeface="Calibri"/>
              </a:rPr>
              <a:t>Değerlendirilen gerçek değerler1850,1650; ortalama1750; TSS=(100)^2+(-100)^2=20000. Önceki temsili tahminler1900,1725; SSE8125; R²=.59375. Ortalama referans tahminleri1750,1750 içinR²0; tam tahmin1850,1650 için1; ters tahmin1650,1850 için−3. Sağdaki skor grafiği aynı iki örnekten hesaplanmıştır. Sonuçlar gerçek model performansı olarak sunulmaz. R² negatif olabilir; tek gözlem için tanımsızdır ve sabit gerçek hedef durumunda özel yorum gerekir.</a:t>
            </a:r>
            <a:endParaRPr lang="tr-TR" sz="1200"/>
          </a:p>
          <a:p>
            <a:pPr marL="0" indent="0">
              <a:lnSpc>
                <a:spcPct val="110000"/>
              </a:lnSpc>
              <a:spcAft>
                <a:spcPts val="0"/>
              </a:spcAft>
            </a:pPr>
            <a:endParaRPr lang="tr-TR" sz="1200"/>
          </a:p>
          <a:p>
            <a:pPr marL="0" indent="0">
              <a:lnSpc>
                <a:spcPct val="110000"/>
              </a:lnSpc>
              <a:spcAft>
                <a:spcPts val="0"/>
              </a:spcAft>
            </a:pPr>
            <a:r>
              <a:rPr lang="tr-TR" sz="1200" b="0">
                <a:solidFill>
                  <a:srgbClr val="30343B"/>
                </a:solidFill>
                <a:latin typeface="Calibri"/>
                <a:ea typeface="Calibri"/>
                <a:cs typeface="Calibri"/>
              </a:rPr>
              <a:t>Kaynaklar:</a:t>
            </a:r>
            <a:endParaRPr lang="tr-TR" sz="1200"/>
          </a:p>
          <a:p>
            <a:pPr marL="0" indent="0">
              <a:lnSpc>
                <a:spcPct val="110000"/>
              </a:lnSpc>
              <a:spcAft>
                <a:spcPts val="0"/>
              </a:spcAft>
            </a:pPr>
            <a:r>
              <a:rPr lang="tr-TR" sz="1200" b="0">
                <a:solidFill>
                  <a:srgbClr val="30343B"/>
                </a:solidFill>
                <a:latin typeface="Calibri"/>
                <a:ea typeface="Calibri"/>
                <a:cs typeface="Calibri"/>
              </a:rPr>
              <a:t>https://scikit-learn.org/stable/modules/generated/sklearn.metrics.r2_score.html</a:t>
            </a:r>
            <a:endParaRPr lang="tr-TR" sz="120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6C5A62-01C5-4300-AB3E-A410291738DD}"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1498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lnSpc>
                <a:spcPct val="110000"/>
              </a:lnSpc>
              <a:spcAft>
                <a:spcPts val="0"/>
              </a:spcAft>
            </a:pPr>
            <a:r>
              <a:rPr lang="tr-TR" sz="1200" b="0">
                <a:solidFill>
                  <a:srgbClr val="30343B"/>
                </a:solidFill>
                <a:latin typeface="Calibri"/>
                <a:ea typeface="Calibri"/>
                <a:cs typeface="Calibri"/>
              </a:rPr>
              <a:t>Matris temsili sayılardır, IMDb üzerinde çalıştırılmış model sonucu değildir. Satırlar gerçek, sütunlar tahmin olarak scikit-learn ile aynı yönde düzenlendi. Pozitif sınıf olumlu. TP40,FN20,FP10,TN30. Önceki matris transpoze yönde ve kendi başlıklarına göre doğruydu; burada metrik/kod uyumu için eksenler değiştirildi.</a:t>
            </a:r>
            <a:endParaRPr lang="tr-TR" sz="1200"/>
          </a:p>
          <a:p>
            <a:pPr marL="0" indent="0">
              <a:lnSpc>
                <a:spcPct val="110000"/>
              </a:lnSpc>
              <a:spcAft>
                <a:spcPts val="0"/>
              </a:spcAft>
            </a:pPr>
            <a:endParaRPr lang="tr-TR" sz="1200"/>
          </a:p>
          <a:p>
            <a:pPr marL="0" indent="0">
              <a:lnSpc>
                <a:spcPct val="110000"/>
              </a:lnSpc>
              <a:spcAft>
                <a:spcPts val="0"/>
              </a:spcAft>
            </a:pPr>
            <a:r>
              <a:rPr lang="tr-TR" sz="1200" b="0">
                <a:solidFill>
                  <a:srgbClr val="30343B"/>
                </a:solidFill>
                <a:latin typeface="Calibri"/>
                <a:ea typeface="Calibri"/>
                <a:cs typeface="Calibri"/>
              </a:rPr>
              <a:t>Kaynaklar:</a:t>
            </a:r>
            <a:endParaRPr lang="tr-TR" sz="1200"/>
          </a:p>
          <a:p>
            <a:pPr marL="0" indent="0">
              <a:lnSpc>
                <a:spcPct val="110000"/>
              </a:lnSpc>
              <a:spcAft>
                <a:spcPts val="0"/>
              </a:spcAft>
            </a:pPr>
            <a:r>
              <a:rPr lang="tr-TR" sz="1200" b="0">
                <a:solidFill>
                  <a:srgbClr val="30343B"/>
                </a:solidFill>
                <a:latin typeface="Calibri"/>
                <a:ea typeface="Calibri"/>
                <a:cs typeface="Calibri"/>
              </a:rPr>
              <a:t>https://scikit-learn.org/stable/modules/model_evaluation.html</a:t>
            </a:r>
            <a:endParaRPr lang="tr-TR" sz="120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6C5A62-01C5-4300-AB3E-A410291738DD}"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1498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lnSpc>
                <a:spcPct val="110000"/>
              </a:lnSpc>
              <a:spcAft>
                <a:spcPts val="0"/>
              </a:spcAft>
            </a:pPr>
            <a:r>
              <a:rPr lang="tr-TR" sz="1200" b="0">
                <a:solidFill>
                  <a:srgbClr val="30343B"/>
                </a:solidFill>
                <a:latin typeface="Calibri"/>
                <a:ea typeface="Calibri"/>
                <a:cs typeface="Calibri"/>
              </a:rPr>
              <a:t>Accuracy=(TP+TN)/N=.7;Precision=TP/(TP+FP)=.8;Recall=TP/(TP+FN)=2/3;F1=2TP/(2TP+FP+FN)=80/110=.7272727. FormüldekiPrecisionRecall oran olarak kullanılır. Sıfır payda durumları ayrı ele alınır. Dengesiz sınıflarda yalnızca tek skoru kullanmak yerine sınıf bazında sonuçları okuyun.</a:t>
            </a:r>
            <a:endParaRPr lang="tr-TR" sz="1200"/>
          </a:p>
          <a:p>
            <a:pPr marL="0" indent="0">
              <a:lnSpc>
                <a:spcPct val="110000"/>
              </a:lnSpc>
              <a:spcAft>
                <a:spcPts val="0"/>
              </a:spcAft>
            </a:pPr>
            <a:endParaRPr lang="tr-TR" sz="1200"/>
          </a:p>
          <a:p>
            <a:pPr marL="0" indent="0">
              <a:lnSpc>
                <a:spcPct val="110000"/>
              </a:lnSpc>
              <a:spcAft>
                <a:spcPts val="0"/>
              </a:spcAft>
            </a:pPr>
            <a:r>
              <a:rPr lang="tr-TR" sz="1200" b="0">
                <a:solidFill>
                  <a:srgbClr val="30343B"/>
                </a:solidFill>
                <a:latin typeface="Calibri"/>
                <a:ea typeface="Calibri"/>
                <a:cs typeface="Calibri"/>
              </a:rPr>
              <a:t>Kaynaklar:</a:t>
            </a:r>
            <a:endParaRPr lang="tr-TR" sz="1200"/>
          </a:p>
          <a:p>
            <a:pPr marL="0" indent="0">
              <a:lnSpc>
                <a:spcPct val="110000"/>
              </a:lnSpc>
              <a:spcAft>
                <a:spcPts val="0"/>
              </a:spcAft>
            </a:pPr>
            <a:r>
              <a:rPr lang="tr-TR" sz="1200" b="0">
                <a:solidFill>
                  <a:srgbClr val="30343B"/>
                </a:solidFill>
                <a:latin typeface="Calibri"/>
                <a:ea typeface="Calibri"/>
                <a:cs typeface="Calibri"/>
              </a:rPr>
              <a:t>https://scikit-learn.org/stable/modules/model_evaluation.html</a:t>
            </a:r>
            <a:endParaRPr lang="tr-TR" sz="1200"/>
          </a:p>
          <a:p>
            <a:pPr marL="0" indent="0">
              <a:lnSpc>
                <a:spcPct val="110000"/>
              </a:lnSpc>
              <a:spcAft>
                <a:spcPts val="0"/>
              </a:spcAft>
            </a:pPr>
            <a:r>
              <a:rPr lang="tr-TR" sz="1200" b="0">
                <a:solidFill>
                  <a:srgbClr val="30343B"/>
                </a:solidFill>
                <a:latin typeface="Calibri"/>
                <a:ea typeface="Calibri"/>
                <a:cs typeface="Calibri"/>
              </a:rPr>
              <a:t>https://scikit-learn.org/stable/modules/generated/sklearn.metrics.f1_score.html</a:t>
            </a:r>
            <a:endParaRPr lang="tr-TR" sz="120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6C5A62-01C5-4300-AB3E-A410291738DD}"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1498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lnSpc>
                <a:spcPct val="110000"/>
              </a:lnSpc>
              <a:spcAft>
                <a:spcPts val="0"/>
              </a:spcAft>
            </a:pPr>
            <a:r>
              <a:rPr lang="tr-TR" sz="1200" b="0">
                <a:solidFill>
                  <a:srgbClr val="30343B"/>
                </a:solidFill>
                <a:latin typeface="Calibri"/>
                <a:ea typeface="Calibri"/>
                <a:cs typeface="Calibri"/>
              </a:rPr>
              <a:t>Gerçek990olumlu10olumsuz, hepsiolumlu tahmin:Accuracy990/1000=.99. OlumluTP990,FP10,FN0;F1=1980/1990=.994974874. Olumsuz sınıfTP0,FN10;Recall0. OlumsuzF1 sıfırdır;macroF1 yaklaşık.497487437. Çoğunluk sınıfınınF1’i de yanıltıcı olabilir. Pozitif sınıfın nasıl tanımlandığını ve ortalama türünü belirtin. Temsili aritmetik örneğidir.</a:t>
            </a:r>
            <a:endParaRPr lang="tr-TR" sz="1200"/>
          </a:p>
          <a:p>
            <a:pPr marL="0" indent="0">
              <a:lnSpc>
                <a:spcPct val="110000"/>
              </a:lnSpc>
              <a:spcAft>
                <a:spcPts val="0"/>
              </a:spcAft>
            </a:pPr>
            <a:endParaRPr lang="tr-TR" sz="1200"/>
          </a:p>
          <a:p>
            <a:pPr marL="0" indent="0">
              <a:lnSpc>
                <a:spcPct val="110000"/>
              </a:lnSpc>
              <a:spcAft>
                <a:spcPts val="0"/>
              </a:spcAft>
            </a:pPr>
            <a:r>
              <a:rPr lang="tr-TR" sz="1200" b="0">
                <a:solidFill>
                  <a:srgbClr val="30343B"/>
                </a:solidFill>
                <a:latin typeface="Calibri"/>
                <a:ea typeface="Calibri"/>
                <a:cs typeface="Calibri"/>
              </a:rPr>
              <a:t>Kaynaklar:</a:t>
            </a:r>
            <a:endParaRPr lang="tr-TR" sz="1200"/>
          </a:p>
          <a:p>
            <a:pPr marL="0" indent="0">
              <a:lnSpc>
                <a:spcPct val="110000"/>
              </a:lnSpc>
              <a:spcAft>
                <a:spcPts val="0"/>
              </a:spcAft>
            </a:pPr>
            <a:r>
              <a:rPr lang="tr-TR" sz="1200" b="0">
                <a:solidFill>
                  <a:srgbClr val="30343B"/>
                </a:solidFill>
                <a:latin typeface="Calibri"/>
                <a:ea typeface="Calibri"/>
                <a:cs typeface="Calibri"/>
              </a:rPr>
              <a:t>https://scikit-learn.org/stable/modules/generated/sklearn.metrics.f1_score.html</a:t>
            </a:r>
            <a:endParaRPr lang="tr-TR" sz="120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6C5A62-01C5-4300-AB3E-A410291738DD}"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1498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lnSpc>
                <a:spcPct val="110000"/>
              </a:lnSpc>
              <a:spcAft>
                <a:spcPts val="0"/>
              </a:spcAft>
            </a:pPr>
            <a:r>
              <a:rPr lang="tr-TR" sz="1200" b="0">
                <a:solidFill>
                  <a:srgbClr val="30343B"/>
                </a:solidFill>
                <a:latin typeface="Calibri"/>
                <a:ea typeface="Calibri"/>
                <a:cs typeface="Calibri"/>
              </a:rPr>
              <a:t>Birinci bölümün mini uygulamasını tamamlayan ölçüm adımıdır. Öğrenciler aynı eğitim/doğrulama bölünmesiyleLinearRegression veDecisionTreeRegressor karşılaştırır; ayar seçimini doğrulamada veya eğitim içindeki çapraz doğrulamada yapar. Tablo çalışma alanıdır, hücrelere sahte model puanları konulmaz. Büyük veri üzerinde eğitim ve doğrulama RMSE kıyaslanarak yetersiz/aşırı öğrenme belirtileri tartışılabilir. Test kümesi final değerlendirme için kullanılır. Hedefi eksikEv2 için sonra tahmin yapılabilir, gerçek etiket olarak değerlendirmeye sokulmaz.</a:t>
            </a:r>
            <a:endParaRPr lang="tr-TR" sz="1200"/>
          </a:p>
          <a:p>
            <a:pPr marL="0" indent="0">
              <a:lnSpc>
                <a:spcPct val="110000"/>
              </a:lnSpc>
              <a:spcAft>
                <a:spcPts val="0"/>
              </a:spcAft>
            </a:pPr>
            <a:endParaRPr lang="tr-TR" sz="1200"/>
          </a:p>
          <a:p>
            <a:pPr marL="0" indent="0">
              <a:lnSpc>
                <a:spcPct val="110000"/>
              </a:lnSpc>
              <a:spcAft>
                <a:spcPts val="0"/>
              </a:spcAft>
            </a:pPr>
            <a:r>
              <a:rPr lang="tr-TR" sz="1200" b="0">
                <a:solidFill>
                  <a:srgbClr val="30343B"/>
                </a:solidFill>
                <a:latin typeface="Calibri"/>
                <a:ea typeface="Calibri"/>
                <a:cs typeface="Calibri"/>
              </a:rPr>
              <a:t>Kaynaklar:</a:t>
            </a:r>
            <a:endParaRPr lang="tr-TR" sz="1200"/>
          </a:p>
          <a:p>
            <a:pPr marL="0" indent="0">
              <a:lnSpc>
                <a:spcPct val="110000"/>
              </a:lnSpc>
              <a:spcAft>
                <a:spcPts val="0"/>
              </a:spcAft>
            </a:pPr>
            <a:r>
              <a:rPr lang="tr-TR" sz="1200" b="0">
                <a:solidFill>
                  <a:srgbClr val="30343B"/>
                </a:solidFill>
                <a:latin typeface="Calibri"/>
                <a:ea typeface="Calibri"/>
                <a:cs typeface="Calibri"/>
              </a:rPr>
              <a:t>https://scikit-learn.org/stable/modules/cross_validation.html</a:t>
            </a:r>
            <a:endParaRPr lang="tr-TR" sz="1200"/>
          </a:p>
          <a:p>
            <a:pPr marL="0" indent="0">
              <a:lnSpc>
                <a:spcPct val="110000"/>
              </a:lnSpc>
              <a:spcAft>
                <a:spcPts val="0"/>
              </a:spcAft>
            </a:pPr>
            <a:r>
              <a:rPr lang="tr-TR" sz="1200" b="0">
                <a:solidFill>
                  <a:srgbClr val="30343B"/>
                </a:solidFill>
                <a:latin typeface="Calibri"/>
                <a:ea typeface="Calibri"/>
                <a:cs typeface="Calibri"/>
              </a:rPr>
              <a:t>https://scikit-learn.org/stable/common_pitfalls.html</a:t>
            </a:r>
            <a:endParaRPr lang="tr-TR" sz="120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6C5A62-01C5-4300-AB3E-A410291738DD}"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14987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lnSpc>
                <a:spcPct val="110000"/>
              </a:lnSpc>
              <a:spcAft>
                <a:spcPts val="0"/>
              </a:spcAft>
            </a:pPr>
            <a:r>
              <a:rPr lang="tr-TR" sz="1200" b="0">
                <a:solidFill>
                  <a:srgbClr val="30343B"/>
                </a:solidFill>
                <a:latin typeface="Calibri"/>
                <a:ea typeface="Calibri"/>
                <a:cs typeface="Calibri"/>
              </a:rPr>
              <a:t>Bölüm1 veBölüm2 aynı3.hafta kapsamıdır. Haftalık kapanış modeli kurma, uygun değerlendirme, hata türleri ve genelleme ilişkisini kurar. İleri algoritmalar/derin öğrenme eklenmez. Kontrol sorusunun örneği önceki dengesiz sınıf sayfasındaki olumsuz yorumlardır.</a:t>
            </a:r>
            <a:endParaRPr lang="tr-TR" sz="120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6C5A62-01C5-4300-AB3E-A410291738DD}"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1498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61123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7342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0144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89224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29424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09921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342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87397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98448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39070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58107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10/4/2026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420262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9" Type="http://schemas.openxmlformats.org/officeDocument/2006/relationships/chart" Target="../charts/char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Freeform 2"/>
          <p:cNvSpPr/>
          <p:nvPr/>
        </p:nvSpPr>
        <p:spPr>
          <a:xfrm>
            <a:off x="250205" y="233712"/>
            <a:ext cx="1524000" cy="1528266"/>
          </a:xfrm>
          <a:custGeom>
            <a:avLst/>
            <a:gdLst/>
            <a:ahLst/>
            <a:cxnLst/>
            <a:rect l="l" t="t" r="r" b="b"/>
            <a:pathLst>
              <a:path w="2286000" h="2292399">
                <a:moveTo>
                  <a:pt x="0" y="0"/>
                </a:moveTo>
                <a:lnTo>
                  <a:pt x="2286000" y="0"/>
                </a:lnTo>
                <a:lnTo>
                  <a:pt x="2286000" y="2292399"/>
                </a:lnTo>
                <a:lnTo>
                  <a:pt x="0" y="2292399"/>
                </a:lnTo>
                <a:lnTo>
                  <a:pt x="0" y="0"/>
                </a:lnTo>
                <a:close/>
              </a:path>
            </a:pathLst>
          </a:custGeom>
          <a:blipFill>
            <a:blip r:embed="rId2"/>
            <a:stretch>
              <a:fillRect l="-55612" t="-13573" r="-58047" b="-12600"/>
            </a:stretch>
          </a:blipFill>
        </p:spPr>
        <p:txBody>
          <a:bodyPr/>
          <a:lstStyle/>
          <a:p>
            <a:endParaRPr lang="tr-TR" dirty="0"/>
          </a:p>
        </p:txBody>
      </p:sp>
      <p:sp>
        <p:nvSpPr>
          <p:cNvPr id="3" name="Freeform 3"/>
          <p:cNvSpPr/>
          <p:nvPr/>
        </p:nvSpPr>
        <p:spPr>
          <a:xfrm>
            <a:off x="1874834" y="439045"/>
            <a:ext cx="3302000" cy="1117600"/>
          </a:xfrm>
          <a:custGeom>
            <a:avLst/>
            <a:gdLst/>
            <a:ahLst/>
            <a:cxnLst/>
            <a:rect l="l" t="t" r="r" b="b"/>
            <a:pathLst>
              <a:path w="4591364" h="1527731">
                <a:moveTo>
                  <a:pt x="0" y="0"/>
                </a:moveTo>
                <a:lnTo>
                  <a:pt x="4591363" y="0"/>
                </a:lnTo>
                <a:lnTo>
                  <a:pt x="4591363" y="1527732"/>
                </a:lnTo>
                <a:lnTo>
                  <a:pt x="0" y="1527732"/>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tr-TR"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Title Text"/>
          <p:cNvSpPr txBox="1"/>
          <p:nvPr/>
        </p:nvSpPr>
        <p:spPr>
          <a:xfrm>
            <a:off x="560327" y="2126955"/>
            <a:ext cx="5931015" cy="871725"/>
          </a:xfrm>
          <a:prstGeom prst="rect">
            <a:avLst/>
          </a:prstGeom>
        </p:spPr>
        <p:txBody>
          <a:bodyPr lIns="0" tIns="0" rIns="0" bIns="0" anchor="t">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tr-TR" sz="5334" b="1" i="0" u="none" strike="noStrike" kern="1200" cap="none" spc="0" normalizeH="0" baseline="0" noProof="0" dirty="0">
                <a:ln>
                  <a:noFill/>
                </a:ln>
                <a:solidFill>
                  <a:srgbClr val="1E2A4E"/>
                </a:solidFill>
                <a:effectLst/>
                <a:uLnTx/>
                <a:uFillTx/>
                <a:latin typeface="Cambria"/>
                <a:ea typeface="Cambria"/>
                <a:cs typeface="Cambria"/>
              </a:rPr>
              <a:t>Makine</a:t>
            </a:r>
          </a:p>
          <a:p>
            <a:pPr marL="0" marR="0" lvl="0" indent="0" algn="l" defTabSz="609630" rtl="0" eaLnBrk="1" fontAlgn="auto" latinLnBrk="0" hangingPunct="1">
              <a:lnSpc>
                <a:spcPct val="100000"/>
              </a:lnSpc>
              <a:spcBef>
                <a:spcPts val="0"/>
              </a:spcBef>
              <a:spcAft>
                <a:spcPts val="0"/>
              </a:spcAft>
              <a:buClrTx/>
              <a:buSzTx/>
              <a:buFontTx/>
              <a:buNone/>
              <a:tabLst/>
              <a:defRPr/>
            </a:pPr>
            <a:r>
              <a:rPr kumimoji="0" lang="tr-TR" sz="5334" b="1" i="0" u="none" strike="noStrike" kern="1200" cap="none" spc="0" normalizeH="0" baseline="0" noProof="0" dirty="0">
                <a:ln>
                  <a:noFill/>
                </a:ln>
                <a:solidFill>
                  <a:srgbClr val="CCA81D"/>
                </a:solidFill>
                <a:effectLst/>
                <a:uLnTx/>
                <a:uFillTx/>
                <a:latin typeface="Cambria"/>
                <a:ea typeface="Cambria"/>
                <a:cs typeface="Cambria"/>
              </a:rPr>
              <a:t>Öğrenmesi</a:t>
            </a:r>
          </a:p>
        </p:txBody>
      </p:sp>
      <p:sp>
        <p:nvSpPr>
          <p:cNvPr id="12" name="Tag Text"/>
          <p:cNvSpPr txBox="1"/>
          <p:nvPr/>
        </p:nvSpPr>
        <p:spPr>
          <a:xfrm>
            <a:off x="4203865" y="6110016"/>
            <a:ext cx="4000000" cy="300000"/>
          </a:xfrm>
          <a:prstGeom prst="rect">
            <a:avLst/>
          </a:prstGeom>
        </p:spPr>
        <p:txBody>
          <a:bodyPr lIns="0" tIns="0" rIns="0" bIns="0" anchor="t">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tr-TR" sz="2933" b="1" i="0" u="none" strike="noStrike" kern="1200" cap="none" spc="0" normalizeH="0" baseline="0" noProof="0" dirty="0">
                <a:ln>
                  <a:noFill/>
                </a:ln>
                <a:solidFill>
                  <a:srgbClr val="1E2A4E"/>
                </a:solidFill>
                <a:effectLst/>
                <a:uLnTx/>
                <a:uFillTx/>
                <a:latin typeface="Calibri"/>
                <a:ea typeface="Calibri"/>
                <a:cs typeface="Calibri"/>
              </a:rPr>
              <a:t>DATA KAMP</a:t>
            </a:r>
            <a:r>
              <a:rPr kumimoji="0" lang="tr-TR" sz="2933" b="0" i="0" u="none" strike="noStrike" kern="1200" cap="none" spc="0" normalizeH="0" baseline="0" noProof="0" dirty="0">
                <a:ln>
                  <a:noFill/>
                </a:ln>
                <a:solidFill>
                  <a:srgbClr val="8A8A8A"/>
                </a:solidFill>
                <a:effectLst/>
                <a:uLnTx/>
                <a:uFillTx/>
                <a:latin typeface="Calibri"/>
                <a:ea typeface="Calibri"/>
                <a:cs typeface="Calibri"/>
              </a:rPr>
              <a:t>  |  </a:t>
            </a:r>
            <a:r>
              <a:rPr kumimoji="0" lang="tr-TR" sz="2933" b="1" i="0" u="none" strike="noStrike" kern="1200" cap="none" spc="0" normalizeH="0" baseline="0" noProof="0" dirty="0">
                <a:ln>
                  <a:noFill/>
                </a:ln>
                <a:solidFill>
                  <a:srgbClr val="CCA81D"/>
                </a:solidFill>
                <a:effectLst/>
                <a:uLnTx/>
                <a:uFillTx/>
                <a:latin typeface="Calibri"/>
                <a:ea typeface="Calibri"/>
                <a:cs typeface="Calibri"/>
              </a:rPr>
              <a:t>3. HAFTA</a:t>
            </a:r>
          </a:p>
        </p:txBody>
      </p:sp>
      <p:sp>
        <p:nvSpPr>
          <p:cNvPr id="5" name="Freeform 5"/>
          <p:cNvSpPr/>
          <p:nvPr/>
        </p:nvSpPr>
        <p:spPr>
          <a:xfrm>
            <a:off x="10718388" y="2126955"/>
            <a:ext cx="1488000" cy="2743200"/>
          </a:xfrm>
          <a:custGeom>
            <a:avLst/>
            <a:gdLst/>
            <a:ahLst/>
            <a:cxnLst/>
            <a:rect l="l" t="t" r="r" b="b"/>
            <a:pathLst>
              <a:path w="2363436" h="4114800">
                <a:moveTo>
                  <a:pt x="0" y="0"/>
                </a:moveTo>
                <a:lnTo>
                  <a:pt x="2363436" y="0"/>
                </a:lnTo>
                <a:lnTo>
                  <a:pt x="236343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1336" r="-84880"/>
            </a:stretch>
          </a:blipFill>
        </p:spPr>
      </p:sp>
      <p:sp>
        <p:nvSpPr>
          <p:cNvPr id="6" name="Freeform 6"/>
          <p:cNvSpPr/>
          <p:nvPr/>
        </p:nvSpPr>
        <p:spPr>
          <a:xfrm>
            <a:off x="9514593" y="0"/>
            <a:ext cx="2688000" cy="2743200"/>
          </a:xfrm>
          <a:custGeom>
            <a:avLst/>
            <a:gdLst/>
            <a:ahLst/>
            <a:cxnLst/>
            <a:rect l="l" t="t" r="r" b="b"/>
            <a:pathLst>
              <a:path w="4156364" h="4114800">
                <a:moveTo>
                  <a:pt x="0" y="0"/>
                </a:moveTo>
                <a:lnTo>
                  <a:pt x="4156364" y="0"/>
                </a:lnTo>
                <a:lnTo>
                  <a:pt x="415636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2" r="-3403"/>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tr-TR"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reeform 7"/>
          <p:cNvSpPr/>
          <p:nvPr/>
        </p:nvSpPr>
        <p:spPr>
          <a:xfrm>
            <a:off x="9532349" y="4239652"/>
            <a:ext cx="2640000" cy="2618348"/>
          </a:xfrm>
          <a:custGeom>
            <a:avLst/>
            <a:gdLst/>
            <a:ahLst/>
            <a:cxnLst/>
            <a:rect l="l" t="t" r="r" b="b"/>
            <a:pathLst>
              <a:path w="4039159" h="3941030">
                <a:moveTo>
                  <a:pt x="0" y="0"/>
                </a:moveTo>
                <a:lnTo>
                  <a:pt x="4039159" y="0"/>
                </a:lnTo>
                <a:lnTo>
                  <a:pt x="4039159" y="3941029"/>
                </a:lnTo>
                <a:lnTo>
                  <a:pt x="0" y="3941029"/>
                </a:lnTo>
                <a:lnTo>
                  <a:pt x="0" y="0"/>
                </a:lnTo>
                <a:close/>
              </a:path>
            </a:pathLst>
          </a:custGeom>
          <a:blipFill>
            <a:blip r:embed="rId4">
              <a:extLst>
                <a:ext uri="{96DAC541-7B7A-43D3-8B79-37D633B846F1}">
                  <asvg:svgBlip xmlns:asvg="http://schemas.microsoft.com/office/drawing/2016/SVG/main" r:embed="rId5"/>
                </a:ext>
              </a:extLst>
            </a:blip>
            <a:stretch>
              <a:fillRect l="-365" r="-4593" b="-4409"/>
            </a:stretch>
          </a:blipFill>
        </p:spPr>
      </p:sp>
      <p:sp>
        <p:nvSpPr>
          <p:cNvPr id="9" name="Metin kutusu 8">
            <a:extLst>
              <a:ext uri="{FF2B5EF4-FFF2-40B4-BE49-F238E27FC236}">
                <a16:creationId xmlns:a16="http://schemas.microsoft.com/office/drawing/2014/main" id="{F88AD9AF-E4CE-4C43-AD7A-8E29C6AFF98A}"/>
              </a:ext>
            </a:extLst>
          </p:cNvPr>
          <p:cNvSpPr txBox="1"/>
          <p:nvPr/>
        </p:nvSpPr>
        <p:spPr>
          <a:xfrm>
            <a:off x="560327" y="4031128"/>
            <a:ext cx="374666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tr-TR" sz="2800" b="1" i="0" u="none" strike="noStrike" kern="1200" cap="none" spc="0" normalizeH="0" baseline="0" noProof="0" dirty="0">
                <a:ln>
                  <a:noFill/>
                </a:ln>
                <a:solidFill>
                  <a:srgbClr val="3A4A6B"/>
                </a:solidFill>
                <a:effectLst/>
                <a:uLnTx/>
                <a:uFillTx/>
                <a:latin typeface="Calibri"/>
                <a:ea typeface="Calibri"/>
                <a:cs typeface="Calibri"/>
              </a:rPr>
              <a:t>Model Değerlendirme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0" name="Text 0">
            <a:extLst>
              <a:ext uri="{FF2B5EF4-FFF2-40B4-BE49-F238E27FC236}">
                <a16:creationId xmlns:a16="http://schemas.microsoft.com/office/drawing/2014/main" id="{BB9EEFCA-6038-43DE-B173-64D241884766}"/>
              </a:ext>
            </a:extLst>
          </p:cNvPr>
          <p:cNvSpPr/>
          <p:nvPr/>
        </p:nvSpPr>
        <p:spPr>
          <a:xfrm>
            <a:off x="457200" y="285750"/>
            <a:ext cx="11239500" cy="685800"/>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Calibri"/>
                <a:ea typeface="Calibri"/>
                <a:cs typeface="Calibri"/>
              </a:defRPr>
            </a:lvl1pPr>
            <a:lvl2pPr marL="457200" algn="l" defTabSz="914400" rtl="0" eaLnBrk="1" latinLnBrk="0" hangingPunct="1">
              <a:defRPr sz="1800" kern="1200">
                <a:solidFill>
                  <a:schemeClr val="tx1"/>
                </a:solidFill>
                <a:latin typeface="Calibri"/>
                <a:ea typeface="Calibri"/>
                <a:cs typeface="Calibri"/>
              </a:defRPr>
            </a:lvl2pPr>
            <a:lvl3pPr marL="914400" algn="l" defTabSz="914400" rtl="0" eaLnBrk="1" latinLnBrk="0" hangingPunct="1">
              <a:defRPr sz="1800" kern="1200">
                <a:solidFill>
                  <a:schemeClr val="tx1"/>
                </a:solidFill>
                <a:latin typeface="Calibri"/>
                <a:ea typeface="Calibri"/>
                <a:cs typeface="Calibri"/>
              </a:defRPr>
            </a:lvl3pPr>
            <a:lvl4pPr marL="1371600" algn="l" defTabSz="914400" rtl="0" eaLnBrk="1" latinLnBrk="0" hangingPunct="1">
              <a:defRPr sz="1800" kern="1200">
                <a:solidFill>
                  <a:schemeClr val="tx1"/>
                </a:solidFill>
                <a:latin typeface="Calibri"/>
                <a:ea typeface="Calibri"/>
                <a:cs typeface="Calibri"/>
              </a:defRPr>
            </a:lvl4pPr>
            <a:lvl5pPr marL="1828800" algn="l" defTabSz="914400" rtl="0" eaLnBrk="1" latinLnBrk="0" hangingPunct="1">
              <a:defRPr sz="1800" kern="1200">
                <a:solidFill>
                  <a:schemeClr val="tx1"/>
                </a:solidFill>
                <a:latin typeface="Calibri"/>
                <a:ea typeface="Calibri"/>
                <a:cs typeface="Calibri"/>
              </a:defRPr>
            </a:lvl5pPr>
            <a:lvl6pPr marL="2286000" algn="l" defTabSz="914400" rtl="0" eaLnBrk="1" latinLnBrk="0" hangingPunct="1">
              <a:defRPr sz="1800" kern="1200">
                <a:solidFill>
                  <a:schemeClr val="tx1"/>
                </a:solidFill>
                <a:latin typeface="Calibri"/>
                <a:ea typeface="Calibri"/>
                <a:cs typeface="Calibri"/>
              </a:defRPr>
            </a:lvl6pPr>
            <a:lvl7pPr marL="2743200" algn="l" defTabSz="914400" rtl="0" eaLnBrk="1" latinLnBrk="0" hangingPunct="1">
              <a:defRPr sz="1800" kern="1200">
                <a:solidFill>
                  <a:schemeClr val="tx1"/>
                </a:solidFill>
                <a:latin typeface="Calibri"/>
                <a:ea typeface="Calibri"/>
                <a:cs typeface="Calibri"/>
              </a:defRPr>
            </a:lvl7pPr>
            <a:lvl8pPr marL="3200400" algn="l" defTabSz="914400" rtl="0" eaLnBrk="1" latinLnBrk="0" hangingPunct="1">
              <a:defRPr sz="1800" kern="1200">
                <a:solidFill>
                  <a:schemeClr val="tx1"/>
                </a:solidFill>
                <a:latin typeface="Calibri"/>
                <a:ea typeface="Calibri"/>
                <a:cs typeface="Calibri"/>
              </a:defRPr>
            </a:lvl8pPr>
            <a:lvl9pPr marL="3657600" algn="l" defTabSz="914400" rtl="0" eaLnBrk="1" latinLnBrk="0" hangingPunct="1">
              <a:defRPr sz="1800" kern="1200">
                <a:solidFill>
                  <a:schemeClr val="tx1"/>
                </a:solidFill>
                <a:latin typeface="Calibri"/>
                <a:ea typeface="Calibri"/>
                <a:cs typeface="Calibri"/>
              </a:defRPr>
            </a:lvl9pPr>
          </a:lstStyle>
          <a:p>
            <a:pPr marL="0" indent="0" algn="l">
              <a:buNone/>
            </a:pPr>
            <a:r>
              <a:rPr lang="tr-TR" sz="3200" b="1" dirty="0">
                <a:solidFill>
                  <a:srgbClr val="1E2A4E"/>
                </a:solidFill>
                <a:latin typeface="Calibri"/>
                <a:ea typeface="Calibri"/>
                <a:cs typeface="Calibri"/>
              </a:rPr>
              <a:t>İlk bölümden devam: Modeli nasıl değerlendireceğiz?</a:t>
            </a:r>
            <a:endParaRPr lang="tr-TR" sz="3200"/>
          </a:p>
        </p:txBody>
      </p:sp>
      <p:sp>
        <p:nvSpPr>
          <p:cNvPr id="100" name="Modeli kurduk ve seçim mantığını gördük. Şimdi tah"/>
          <p:cNvSpPr txBox="1"/>
          <p:nvPr/>
        </p:nvSpPr>
        <p:spPr>
          <a:xfrm>
            <a:off x="457200" y="1238250"/>
            <a:ext cx="11144250" cy="590550"/>
          </a:xfrm>
          <a:prstGeom prst="rect">
            <a:avLst/>
          </a:prstGeom>
          <a:noFill/>
          <a:ln>
            <a:noFill/>
          </a:ln>
        </p:spPr>
        <p:txBody>
          <a:bodyPr wrap="square" lIns="0" tIns="0" rIns="0" bIns="0">
            <a:noAutofit/>
          </a:bodyPr>
          <a:lstStyle/>
          <a:p>
            <a:pPr marL="0" indent="0">
              <a:lnSpc>
                <a:spcPct val="110000"/>
              </a:lnSpc>
              <a:spcAft>
                <a:spcPts val="0"/>
              </a:spcAft>
            </a:pPr>
            <a:r>
              <a:rPr lang="tr-TR" sz="2400">
                <a:solidFill>
                  <a:srgbClr val="1E2A4E"/>
                </a:solidFill>
                <a:latin typeface="Calibri"/>
                <a:ea typeface="Calibri"/>
                <a:cs typeface="Calibri"/>
              </a:rPr>
              <a:t>Modeli kurduk ve seçim mantığını gördük. Şimdi tahminleri ölçüyoruz.</a:t>
            </a:r>
            <a:endParaRPr lang="tr-TR" sz="2400"/>
          </a:p>
        </p:txBody>
      </p:sp>
      <p:sp>
        <p:nvSpPr>
          <p:cNvPr id="101" name="01"/>
          <p:cNvSpPr txBox="1"/>
          <p:nvPr/>
        </p:nvSpPr>
        <p:spPr>
          <a:xfrm>
            <a:off x="457200" y="2219325"/>
            <a:ext cx="866775" cy="571500"/>
          </a:xfrm>
          <a:prstGeom prst="rect">
            <a:avLst/>
          </a:prstGeom>
          <a:noFill/>
          <a:ln>
            <a:noFill/>
          </a:ln>
        </p:spPr>
        <p:txBody>
          <a:bodyPr wrap="square" lIns="0" tIns="0" rIns="0" bIns="0">
            <a:noAutofit/>
          </a:bodyPr>
          <a:lstStyle/>
          <a:p>
            <a:pPr marL="0" indent="0">
              <a:lnSpc>
                <a:spcPct val="110000"/>
              </a:lnSpc>
              <a:spcAft>
                <a:spcPts val="0"/>
              </a:spcAft>
            </a:pPr>
            <a:r>
              <a:rPr lang="tr-TR" sz="3200" b="1">
                <a:solidFill>
                  <a:srgbClr val="B18D18"/>
                </a:solidFill>
                <a:latin typeface="Calibri"/>
                <a:ea typeface="Calibri"/>
                <a:cs typeface="Calibri"/>
              </a:rPr>
              <a:t>01</a:t>
            </a:r>
            <a:endParaRPr lang="tr-TR" sz="3200"/>
          </a:p>
        </p:txBody>
      </p:sp>
      <p:sp>
        <p:nvSpPr>
          <p:cNvPr id="102" name="Eğitim"/>
          <p:cNvSpPr txBox="1"/>
          <p:nvPr/>
        </p:nvSpPr>
        <p:spPr>
          <a:xfrm>
            <a:off x="1562100" y="2219325"/>
            <a:ext cx="2762250" cy="504825"/>
          </a:xfrm>
          <a:prstGeom prst="rect">
            <a:avLst/>
          </a:prstGeom>
          <a:noFill/>
          <a:ln>
            <a:noFill/>
          </a:ln>
        </p:spPr>
        <p:txBody>
          <a:bodyPr wrap="square" lIns="0" tIns="0" rIns="0" bIns="0">
            <a:noAutofit/>
          </a:bodyPr>
          <a:lstStyle/>
          <a:p>
            <a:pPr marL="0" indent="0">
              <a:lnSpc>
                <a:spcPct val="110000"/>
              </a:lnSpc>
              <a:spcAft>
                <a:spcPts val="0"/>
              </a:spcAft>
            </a:pPr>
            <a:r>
              <a:rPr lang="tr-TR" sz="2600" b="1">
                <a:solidFill>
                  <a:srgbClr val="1E2A4E"/>
                </a:solidFill>
                <a:latin typeface="Calibri"/>
                <a:ea typeface="Calibri"/>
                <a:cs typeface="Calibri"/>
              </a:rPr>
              <a:t>Eğitim</a:t>
            </a:r>
            <a:endParaRPr lang="tr-TR" sz="2600"/>
          </a:p>
        </p:txBody>
      </p:sp>
      <p:sp>
        <p:nvSpPr>
          <p:cNvPr id="103" name="Model ve ön işleme parametrelerini öğrenir."/>
          <p:cNvSpPr txBox="1"/>
          <p:nvPr/>
        </p:nvSpPr>
        <p:spPr>
          <a:xfrm>
            <a:off x="4486275" y="2219325"/>
            <a:ext cx="7143750" cy="733425"/>
          </a:xfrm>
          <a:prstGeom prst="rect">
            <a:avLst/>
          </a:prstGeom>
          <a:noFill/>
          <a:ln>
            <a:noFill/>
          </a:ln>
        </p:spPr>
        <p:txBody>
          <a:bodyPr wrap="square" lIns="0" tIns="0" rIns="0" bIns="0">
            <a:noAutofit/>
          </a:bodyPr>
          <a:lstStyle/>
          <a:p>
            <a:pPr marL="0" indent="0">
              <a:lnSpc>
                <a:spcPct val="110000"/>
              </a:lnSpc>
              <a:spcAft>
                <a:spcPts val="0"/>
              </a:spcAft>
            </a:pPr>
            <a:r>
              <a:rPr lang="tr-TR" sz="2400">
                <a:solidFill>
                  <a:srgbClr val="30343B"/>
                </a:solidFill>
                <a:latin typeface="Calibri"/>
                <a:ea typeface="Calibri"/>
                <a:cs typeface="Calibri"/>
              </a:rPr>
              <a:t>Model ve ön işleme parametrelerini öğrenir.</a:t>
            </a:r>
            <a:endParaRPr lang="tr-TR" sz="2400"/>
          </a:p>
        </p:txBody>
      </p:sp>
      <p:sp>
        <p:nvSpPr>
          <p:cNvPr id="104" name="02"/>
          <p:cNvSpPr txBox="1"/>
          <p:nvPr/>
        </p:nvSpPr>
        <p:spPr>
          <a:xfrm>
            <a:off x="457200" y="3314700"/>
            <a:ext cx="866775" cy="571500"/>
          </a:xfrm>
          <a:prstGeom prst="rect">
            <a:avLst/>
          </a:prstGeom>
          <a:noFill/>
          <a:ln>
            <a:noFill/>
          </a:ln>
        </p:spPr>
        <p:txBody>
          <a:bodyPr wrap="square" lIns="0" tIns="0" rIns="0" bIns="0">
            <a:noAutofit/>
          </a:bodyPr>
          <a:lstStyle/>
          <a:p>
            <a:pPr marL="0" indent="0">
              <a:lnSpc>
                <a:spcPct val="110000"/>
              </a:lnSpc>
              <a:spcAft>
                <a:spcPts val="0"/>
              </a:spcAft>
            </a:pPr>
            <a:r>
              <a:rPr lang="tr-TR" sz="3200" b="1">
                <a:solidFill>
                  <a:srgbClr val="B18D18"/>
                </a:solidFill>
                <a:latin typeface="Calibri"/>
                <a:ea typeface="Calibri"/>
                <a:cs typeface="Calibri"/>
              </a:rPr>
              <a:t>02</a:t>
            </a:r>
            <a:endParaRPr lang="tr-TR" sz="3200"/>
          </a:p>
        </p:txBody>
      </p:sp>
      <p:sp>
        <p:nvSpPr>
          <p:cNvPr id="105" name="Doğrulama"/>
          <p:cNvSpPr txBox="1"/>
          <p:nvPr/>
        </p:nvSpPr>
        <p:spPr>
          <a:xfrm>
            <a:off x="1562100" y="3314700"/>
            <a:ext cx="2762250" cy="504825"/>
          </a:xfrm>
          <a:prstGeom prst="rect">
            <a:avLst/>
          </a:prstGeom>
          <a:noFill/>
          <a:ln>
            <a:noFill/>
          </a:ln>
        </p:spPr>
        <p:txBody>
          <a:bodyPr wrap="square" lIns="0" tIns="0" rIns="0" bIns="0">
            <a:noAutofit/>
          </a:bodyPr>
          <a:lstStyle/>
          <a:p>
            <a:pPr marL="0" indent="0">
              <a:lnSpc>
                <a:spcPct val="110000"/>
              </a:lnSpc>
              <a:spcAft>
                <a:spcPts val="0"/>
              </a:spcAft>
            </a:pPr>
            <a:r>
              <a:rPr lang="tr-TR" sz="2600" b="1">
                <a:solidFill>
                  <a:srgbClr val="1E2A4E"/>
                </a:solidFill>
                <a:latin typeface="Calibri"/>
                <a:ea typeface="Calibri"/>
                <a:cs typeface="Calibri"/>
              </a:rPr>
              <a:t>Doğrulama</a:t>
            </a:r>
            <a:endParaRPr lang="tr-TR" sz="2600"/>
          </a:p>
        </p:txBody>
      </p:sp>
      <p:sp>
        <p:nvSpPr>
          <p:cNvPr id="106" name="Modeli ve ayarlarını karşılaştırır."/>
          <p:cNvSpPr txBox="1"/>
          <p:nvPr/>
        </p:nvSpPr>
        <p:spPr>
          <a:xfrm>
            <a:off x="4486275" y="3314700"/>
            <a:ext cx="7143750" cy="733425"/>
          </a:xfrm>
          <a:prstGeom prst="rect">
            <a:avLst/>
          </a:prstGeom>
          <a:noFill/>
          <a:ln>
            <a:noFill/>
          </a:ln>
        </p:spPr>
        <p:txBody>
          <a:bodyPr wrap="square" lIns="0" tIns="0" rIns="0" bIns="0">
            <a:noAutofit/>
          </a:bodyPr>
          <a:lstStyle/>
          <a:p>
            <a:pPr marL="0" indent="0">
              <a:lnSpc>
                <a:spcPct val="110000"/>
              </a:lnSpc>
              <a:spcAft>
                <a:spcPts val="0"/>
              </a:spcAft>
            </a:pPr>
            <a:r>
              <a:rPr lang="tr-TR" sz="2400">
                <a:solidFill>
                  <a:srgbClr val="30343B"/>
                </a:solidFill>
                <a:latin typeface="Calibri"/>
                <a:ea typeface="Calibri"/>
                <a:cs typeface="Calibri"/>
              </a:rPr>
              <a:t>Modeli ve ayarlarını karşılaştırır.</a:t>
            </a:r>
            <a:endParaRPr lang="tr-TR" sz="2400"/>
          </a:p>
        </p:txBody>
      </p:sp>
      <p:sp>
        <p:nvSpPr>
          <p:cNvPr id="107" name="03"/>
          <p:cNvSpPr txBox="1"/>
          <p:nvPr/>
        </p:nvSpPr>
        <p:spPr>
          <a:xfrm>
            <a:off x="457200" y="4410075"/>
            <a:ext cx="866775" cy="571500"/>
          </a:xfrm>
          <a:prstGeom prst="rect">
            <a:avLst/>
          </a:prstGeom>
          <a:noFill/>
          <a:ln>
            <a:noFill/>
          </a:ln>
        </p:spPr>
        <p:txBody>
          <a:bodyPr wrap="square" lIns="0" tIns="0" rIns="0" bIns="0">
            <a:noAutofit/>
          </a:bodyPr>
          <a:lstStyle/>
          <a:p>
            <a:pPr marL="0" indent="0">
              <a:lnSpc>
                <a:spcPct val="110000"/>
              </a:lnSpc>
              <a:spcAft>
                <a:spcPts val="0"/>
              </a:spcAft>
            </a:pPr>
            <a:r>
              <a:rPr lang="tr-TR" sz="3200" b="1">
                <a:solidFill>
                  <a:srgbClr val="B18D18"/>
                </a:solidFill>
                <a:latin typeface="Calibri"/>
                <a:ea typeface="Calibri"/>
                <a:cs typeface="Calibri"/>
              </a:rPr>
              <a:t>03</a:t>
            </a:r>
            <a:endParaRPr lang="tr-TR" sz="3200"/>
          </a:p>
        </p:txBody>
      </p:sp>
      <p:sp>
        <p:nvSpPr>
          <p:cNvPr id="108" name="Test"/>
          <p:cNvSpPr txBox="1"/>
          <p:nvPr/>
        </p:nvSpPr>
        <p:spPr>
          <a:xfrm>
            <a:off x="1562100" y="4410075"/>
            <a:ext cx="2762250" cy="504825"/>
          </a:xfrm>
          <a:prstGeom prst="rect">
            <a:avLst/>
          </a:prstGeom>
          <a:noFill/>
          <a:ln>
            <a:noFill/>
          </a:ln>
        </p:spPr>
        <p:txBody>
          <a:bodyPr wrap="square" lIns="0" tIns="0" rIns="0" bIns="0">
            <a:noAutofit/>
          </a:bodyPr>
          <a:lstStyle/>
          <a:p>
            <a:pPr marL="0" indent="0">
              <a:lnSpc>
                <a:spcPct val="110000"/>
              </a:lnSpc>
              <a:spcAft>
                <a:spcPts val="0"/>
              </a:spcAft>
            </a:pPr>
            <a:r>
              <a:rPr lang="tr-TR" sz="2600" b="1">
                <a:solidFill>
                  <a:srgbClr val="1E2A4E"/>
                </a:solidFill>
                <a:latin typeface="Calibri"/>
                <a:ea typeface="Calibri"/>
                <a:cs typeface="Calibri"/>
              </a:rPr>
              <a:t>Test</a:t>
            </a:r>
            <a:endParaRPr lang="tr-TR" sz="2600"/>
          </a:p>
        </p:txBody>
      </p:sp>
      <p:sp>
        <p:nvSpPr>
          <p:cNvPr id="109" name="Seçim bittikten sonra yeni verideki başarıyı ölçer"/>
          <p:cNvSpPr txBox="1"/>
          <p:nvPr/>
        </p:nvSpPr>
        <p:spPr>
          <a:xfrm>
            <a:off x="4486275" y="4410075"/>
            <a:ext cx="7143750" cy="733425"/>
          </a:xfrm>
          <a:prstGeom prst="rect">
            <a:avLst/>
          </a:prstGeom>
          <a:noFill/>
          <a:ln>
            <a:noFill/>
          </a:ln>
        </p:spPr>
        <p:txBody>
          <a:bodyPr wrap="square" lIns="0" tIns="0" rIns="0" bIns="0">
            <a:noAutofit/>
          </a:bodyPr>
          <a:lstStyle/>
          <a:p>
            <a:pPr marL="0" indent="0">
              <a:lnSpc>
                <a:spcPct val="110000"/>
              </a:lnSpc>
              <a:spcAft>
                <a:spcPts val="0"/>
              </a:spcAft>
            </a:pPr>
            <a:r>
              <a:rPr lang="tr-TR" sz="2400">
                <a:solidFill>
                  <a:srgbClr val="30343B"/>
                </a:solidFill>
                <a:latin typeface="Calibri"/>
                <a:ea typeface="Calibri"/>
                <a:cs typeface="Calibri"/>
              </a:rPr>
              <a:t>Seçim bittikten sonra yeni verideki başarıyı ölçer.</a:t>
            </a:r>
            <a:endParaRPr lang="tr-TR" sz="2400"/>
          </a:p>
        </p:txBody>
      </p:sp>
      <p:sp>
        <p:nvSpPr>
          <p:cNvPr id="110" name="Test sonuçları model ve ayar seçimi için kullanılm"/>
          <p:cNvSpPr txBox="1"/>
          <p:nvPr/>
        </p:nvSpPr>
        <p:spPr>
          <a:xfrm>
            <a:off x="457200" y="5838825"/>
            <a:ext cx="11144250" cy="552450"/>
          </a:xfrm>
          <a:prstGeom prst="rect">
            <a:avLst/>
          </a:prstGeom>
          <a:noFill/>
          <a:ln>
            <a:noFill/>
          </a:ln>
        </p:spPr>
        <p:txBody>
          <a:bodyPr wrap="square" lIns="0" tIns="0" rIns="0" bIns="0">
            <a:noAutofit/>
          </a:bodyPr>
          <a:lstStyle/>
          <a:p>
            <a:pPr marL="0" indent="0">
              <a:lnSpc>
                <a:spcPct val="110000"/>
              </a:lnSpc>
              <a:spcAft>
                <a:spcPts val="0"/>
              </a:spcAft>
            </a:pPr>
            <a:r>
              <a:rPr lang="tr-TR" sz="2400" b="1">
                <a:solidFill>
                  <a:srgbClr val="1E2A4E"/>
                </a:solidFill>
                <a:latin typeface="Calibri"/>
                <a:ea typeface="Calibri"/>
                <a:cs typeface="Calibri"/>
              </a:rPr>
              <a:t>Test sonuçları model ve ayar seçimi için kullanılmaz.</a:t>
            </a:r>
            <a:endParaRPr lang="tr-TR" sz="2400"/>
          </a:p>
        </p:txBody>
      </p:sp>
    </p:spTree>
    <p:extLst>
      <p:ext uri="{BB962C8B-B14F-4D97-AF65-F5344CB8AC3E}">
        <p14:creationId xmlns:p14="http://schemas.microsoft.com/office/powerpoint/2010/main" val="1461125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1" name="Shape 1">
            <a:extLst>
              <a:ext uri="{FF2B5EF4-FFF2-40B4-BE49-F238E27FC236}">
                <a16:creationId xmlns:a16="http://schemas.microsoft.com/office/drawing/2014/main" id="{77F275CA-5501-4732-ABCD-391CC7439671}"/>
              </a:ext>
            </a:extLst>
          </p:cNvPr>
          <p:cNvSpPr/>
          <p:nvPr/>
        </p:nvSpPr>
        <p:spPr>
          <a:xfrm>
            <a:off x="6294289" y="2108809"/>
            <a:ext cx="5394941" cy="1993960"/>
          </a:xfrm>
          <a:prstGeom prst="roundRect">
            <a:avLst>
              <a:gd name="adj" fmla="val 2871"/>
            </a:avLst>
          </a:prstGeom>
          <a:solidFill>
            <a:srgbClr val="E1E1EA">
              <a:alpha val="45000"/>
            </a:srgbClr>
          </a:solidFill>
          <a:ln w="6350">
            <a:solidFill>
              <a:srgbClr val="C7C7D0"/>
            </a:solidFill>
            <a:prstDash val="solid"/>
          </a:ln>
        </p:spPr>
      </p:sp>
      <p:sp>
        <p:nvSpPr>
          <p:cNvPr id="2" name="Text 0">
            <a:extLst>
              <a:ext uri="{FF2B5EF4-FFF2-40B4-BE49-F238E27FC236}">
                <a16:creationId xmlns:a16="http://schemas.microsoft.com/office/drawing/2014/main" id="{A8618D1C-92DC-4016-9AC8-EED80BA1AEC8}"/>
              </a:ext>
            </a:extLst>
          </p:cNvPr>
          <p:cNvSpPr/>
          <p:nvPr/>
        </p:nvSpPr>
        <p:spPr>
          <a:xfrm>
            <a:off x="457200" y="285750"/>
            <a:ext cx="11239500" cy="685800"/>
          </a:xfrm>
          <a:prstGeom prst="rect">
            <a:avLst/>
          </a:prstGeom>
          <a:noFill/>
          <a:ln/>
        </p:spPr>
        <p:txBody>
          <a:bodyPr wrap="square" lIns="0" tIns="0" rIns="0" bIns="0" rtlCol="0" anchor="t">
            <a:noAutofit/>
          </a:bodyPr>
          <a:lstStyle/>
          <a:p>
            <a:pPr marL="0" indent="0" algn="l">
              <a:buNone/>
            </a:pPr>
            <a:r>
              <a:rPr lang="tr-TR" sz="3200" b="1" dirty="0">
                <a:solidFill>
                  <a:srgbClr val="1E2A4E"/>
                </a:solidFill>
                <a:latin typeface="Calibri"/>
                <a:ea typeface="Calibri"/>
                <a:cs typeface="Calibri"/>
              </a:rPr>
              <a:t>Veri sızıntısı: Değerlendirmeyi koruma</a:t>
            </a:r>
            <a:endParaRPr lang="tr-TR" sz="3200"/>
          </a:p>
        </p:txBody>
      </p:sp>
      <p:sp>
        <p:nvSpPr>
          <p:cNvPr id="3" name="Text 1">
            <a:extLst>
              <a:ext uri="{FF2B5EF4-FFF2-40B4-BE49-F238E27FC236}">
                <a16:creationId xmlns:a16="http://schemas.microsoft.com/office/drawing/2014/main" id="{34918E8D-2670-4D68-A6FB-ECEF8CE29687}"/>
              </a:ext>
            </a:extLst>
          </p:cNvPr>
          <p:cNvSpPr/>
          <p:nvPr/>
        </p:nvSpPr>
        <p:spPr>
          <a:xfrm>
            <a:off x="457200" y="1314450"/>
            <a:ext cx="5334000" cy="457200"/>
          </a:xfrm>
          <a:prstGeom prst="rect">
            <a:avLst/>
          </a:prstGeom>
          <a:noFill/>
          <a:ln/>
        </p:spPr>
        <p:txBody>
          <a:bodyPr wrap="square" lIns="0" tIns="0" rIns="0" bIns="0" rtlCol="0" anchor="t">
            <a:noAutofit/>
          </a:bodyPr>
          <a:lstStyle/>
          <a:p>
            <a:pPr marL="0" indent="0" algn="l">
              <a:buNone/>
            </a:pPr>
            <a:r>
              <a:rPr lang="tr-TR" sz="2600" b="1" dirty="0">
                <a:solidFill>
                  <a:srgbClr val="1E2A4E"/>
                </a:solidFill>
                <a:latin typeface="Calibri"/>
                <a:ea typeface="Calibri"/>
                <a:cs typeface="Calibri"/>
              </a:rPr>
              <a:t>Önce veriyi ayır</a:t>
            </a:r>
            <a:endParaRPr lang="tr-TR" sz="2600"/>
          </a:p>
        </p:txBody>
      </p:sp>
      <p:sp>
        <p:nvSpPr>
          <p:cNvPr id="4" name="Text 2">
            <a:extLst>
              <a:ext uri="{FF2B5EF4-FFF2-40B4-BE49-F238E27FC236}">
                <a16:creationId xmlns:a16="http://schemas.microsoft.com/office/drawing/2014/main" id="{B07BC05B-3838-48A8-8ED7-4582DAA6F04E}"/>
              </a:ext>
            </a:extLst>
          </p:cNvPr>
          <p:cNvSpPr/>
          <p:nvPr/>
        </p:nvSpPr>
        <p:spPr>
          <a:xfrm>
            <a:off x="457200" y="1990725"/>
            <a:ext cx="5238750" cy="1619250"/>
          </a:xfrm>
          <a:prstGeom prst="rect">
            <a:avLst/>
          </a:prstGeom>
          <a:noFill/>
          <a:ln/>
        </p:spPr>
        <p:txBody>
          <a:bodyPr wrap="square" lIns="0" tIns="0" rIns="0" bIns="0" rtlCol="0" anchor="t">
            <a:noAutofit/>
          </a:bodyPr>
          <a:lstStyle/>
          <a:p>
            <a:pPr marL="0" indent="0" algn="l">
              <a:buNone/>
            </a:pPr>
            <a:r>
              <a:rPr lang="tr-TR" sz="2300" b="0" dirty="0">
                <a:solidFill>
                  <a:srgbClr val="30343B"/>
                </a:solidFill>
                <a:latin typeface="Calibri"/>
                <a:ea typeface="Calibri"/>
                <a:cs typeface="Calibri"/>
              </a:rPr>
              <a:t>Eğitim puanı tek başına yeterli değildir. Seçim doğrulamada, son ölçüm testte yapılır.</a:t>
            </a:r>
            <a:endParaRPr lang="tr-TR" sz="2300"/>
          </a:p>
        </p:txBody>
      </p:sp>
      <p:pic>
        <p:nvPicPr>
          <p:cNvPr id="5" name="Image 0" descr="preencoded.png">
            <a:extLst>
              <a:ext uri="{FF2B5EF4-FFF2-40B4-BE49-F238E27FC236}">
                <a16:creationId xmlns:a16="http://schemas.microsoft.com/office/drawing/2014/main" id="{1529F322-7F0D-40BB-ACCD-155188345AEE}"/>
              </a:ext>
            </a:extLst>
          </p:cNvPr>
          <p:cNvPicPr>
            <a:picLocks noChangeAspect="1"/>
          </p:cNvPicPr>
          <p:nvPr/>
        </p:nvPicPr>
        <p:blipFill rotWithShape="1">
          <a:blip r:embed="rId3"/>
          <a:srcRect t="26619" b="22378"/>
          <a:stretch/>
        </p:blipFill>
        <p:spPr>
          <a:xfrm>
            <a:off x="457200" y="3590973"/>
            <a:ext cx="5238750" cy="1504950"/>
          </a:xfrm>
          <a:prstGeom prst="rect">
            <a:avLst/>
          </a:prstGeom>
        </p:spPr>
      </p:pic>
      <p:sp>
        <p:nvSpPr>
          <p:cNvPr id="6" name="Text 3">
            <a:extLst>
              <a:ext uri="{FF2B5EF4-FFF2-40B4-BE49-F238E27FC236}">
                <a16:creationId xmlns:a16="http://schemas.microsoft.com/office/drawing/2014/main" id="{1B27293E-9976-43EF-805A-7C8591879F19}"/>
              </a:ext>
            </a:extLst>
          </p:cNvPr>
          <p:cNvSpPr/>
          <p:nvPr/>
        </p:nvSpPr>
        <p:spPr>
          <a:xfrm>
            <a:off x="6296025" y="1314450"/>
            <a:ext cx="5238750" cy="666750"/>
          </a:xfrm>
          <a:prstGeom prst="rect">
            <a:avLst/>
          </a:prstGeom>
          <a:noFill/>
          <a:ln/>
        </p:spPr>
        <p:txBody>
          <a:bodyPr wrap="square" lIns="0" tIns="0" rIns="0" bIns="0" rtlCol="0" anchor="t">
            <a:noAutofit/>
          </a:bodyPr>
          <a:lstStyle/>
          <a:p>
            <a:pPr marL="0" indent="0" algn="l">
              <a:buNone/>
            </a:pPr>
            <a:r>
              <a:rPr lang="tr-TR" sz="2600" b="1" dirty="0">
                <a:solidFill>
                  <a:srgbClr val="1E2A4E"/>
                </a:solidFill>
                <a:latin typeface="Calibri"/>
                <a:ea typeface="Calibri"/>
                <a:cs typeface="Calibri"/>
              </a:rPr>
              <a:t>Ön işleme eğitimden öğrenir</a:t>
            </a:r>
            <a:endParaRPr lang="tr-TR" sz="2600"/>
          </a:p>
        </p:txBody>
      </p:sp>
      <p:pic>
        <p:nvPicPr>
          <p:cNvPr id="8" name="Image 1" descr="preencoded.png">
            <a:extLst>
              <a:ext uri="{FF2B5EF4-FFF2-40B4-BE49-F238E27FC236}">
                <a16:creationId xmlns:a16="http://schemas.microsoft.com/office/drawing/2014/main" id="{0F7C4A27-2391-49FF-8411-C28B45E4D3D8}"/>
              </a:ext>
            </a:extLst>
          </p:cNvPr>
          <p:cNvPicPr>
            <a:picLocks noChangeAspect="1"/>
          </p:cNvPicPr>
          <p:nvPr/>
        </p:nvPicPr>
        <p:blipFill>
          <a:blip r:embed="rId4"/>
          <a:stretch>
            <a:fillRect/>
          </a:stretch>
        </p:blipFill>
        <p:spPr>
          <a:xfrm>
            <a:off x="6462749" y="2171005"/>
            <a:ext cx="253795" cy="203002"/>
          </a:xfrm>
          <a:prstGeom prst="rect">
            <a:avLst/>
          </a:prstGeom>
        </p:spPr>
      </p:pic>
      <p:sp>
        <p:nvSpPr>
          <p:cNvPr id="9" name="Text 5">
            <a:extLst>
              <a:ext uri="{FF2B5EF4-FFF2-40B4-BE49-F238E27FC236}">
                <a16:creationId xmlns:a16="http://schemas.microsoft.com/office/drawing/2014/main" id="{192C3EC9-64DF-473F-AE53-5DC16210482B}"/>
              </a:ext>
            </a:extLst>
          </p:cNvPr>
          <p:cNvSpPr/>
          <p:nvPr/>
        </p:nvSpPr>
        <p:spPr>
          <a:xfrm>
            <a:off x="6819900" y="2171700"/>
            <a:ext cx="4486275" cy="495300"/>
          </a:xfrm>
          <a:prstGeom prst="rect">
            <a:avLst/>
          </a:prstGeom>
          <a:noFill/>
          <a:ln/>
        </p:spPr>
        <p:txBody>
          <a:bodyPr wrap="square" lIns="0" tIns="0" rIns="0" bIns="0" rtlCol="0" anchor="t">
            <a:noAutofit/>
          </a:bodyPr>
          <a:lstStyle/>
          <a:p>
            <a:pPr marL="0" indent="0" algn="l">
              <a:buNone/>
            </a:pPr>
            <a:r>
              <a:rPr lang="tr-TR" sz="2200" b="1" dirty="0">
                <a:solidFill>
                  <a:srgbClr val="1E2A4E"/>
                </a:solidFill>
                <a:latin typeface="Calibri"/>
                <a:ea typeface="Calibri"/>
                <a:cs typeface="Calibri"/>
              </a:rPr>
              <a:t>Yanıltıcı sonuçlara yol açabilir</a:t>
            </a:r>
            <a:endParaRPr lang="tr-TR" sz="2200"/>
          </a:p>
        </p:txBody>
      </p:sp>
      <p:sp>
        <p:nvSpPr>
          <p:cNvPr id="10" name="Text 6">
            <a:extLst>
              <a:ext uri="{FF2B5EF4-FFF2-40B4-BE49-F238E27FC236}">
                <a16:creationId xmlns:a16="http://schemas.microsoft.com/office/drawing/2014/main" id="{F9487EAE-D63B-418B-BE6D-C716B188413D}"/>
              </a:ext>
            </a:extLst>
          </p:cNvPr>
          <p:cNvSpPr/>
          <p:nvPr/>
        </p:nvSpPr>
        <p:spPr>
          <a:xfrm>
            <a:off x="6505575" y="2790825"/>
            <a:ext cx="4886325" cy="1685925"/>
          </a:xfrm>
          <a:prstGeom prst="rect">
            <a:avLst/>
          </a:prstGeom>
          <a:noFill/>
          <a:ln/>
        </p:spPr>
        <p:txBody>
          <a:bodyPr wrap="square" lIns="0" tIns="0" rIns="0" bIns="0" rtlCol="0" anchor="t">
            <a:noAutofit/>
          </a:bodyPr>
          <a:lstStyle/>
          <a:p>
            <a:pPr marL="0" indent="0" algn="l">
              <a:buNone/>
            </a:pPr>
            <a:r>
              <a:rPr lang="tr-TR" sz="2200" b="0" dirty="0">
                <a:solidFill>
                  <a:srgbClr val="30343B"/>
                </a:solidFill>
                <a:latin typeface="Calibri"/>
                <a:ea typeface="Calibri"/>
                <a:cs typeface="Calibri"/>
              </a:rPr>
              <a:t>Yanlış: Tüm veriden istatistik öğrenmek.</a:t>
            </a:r>
            <a:endParaRPr lang="tr-TR" sz="2200"/>
          </a:p>
          <a:p>
            <a:pPr marL="0" indent="0" algn="l">
              <a:buNone/>
            </a:pPr>
            <a:r>
              <a:rPr lang="tr-TR" sz="2200" b="0" dirty="0">
                <a:solidFill>
                  <a:srgbClr val="30343B"/>
                </a:solidFill>
                <a:latin typeface="Calibri"/>
                <a:ea typeface="Calibri"/>
                <a:cs typeface="Calibri"/>
              </a:rPr>
              <a:t>Doğru: Eğitimden öğren, diğer kümelere uygula.</a:t>
            </a:r>
            <a:endParaRPr lang="tr-TR" sz="2200"/>
          </a:p>
        </p:txBody>
      </p:sp>
      <p:sp>
        <p:nvSpPr>
          <p:cNvPr id="100" name="%80 / %20 yalnızca örnek orandır. Eğitim içinde do"/>
          <p:cNvSpPr txBox="1"/>
          <p:nvPr/>
        </p:nvSpPr>
        <p:spPr>
          <a:xfrm>
            <a:off x="693320" y="5543550"/>
            <a:ext cx="8101764" cy="676275"/>
          </a:xfrm>
          <a:prstGeom prst="rect">
            <a:avLst/>
          </a:prstGeom>
          <a:noFill/>
          <a:ln>
            <a:noFill/>
          </a:ln>
        </p:spPr>
        <p:txBody>
          <a:bodyPr wrap="square" lIns="0" tIns="0" rIns="0" bIns="0">
            <a:noAutofit/>
          </a:bodyPr>
          <a:lstStyle/>
          <a:p>
            <a:pPr marL="0" indent="0">
              <a:lnSpc>
                <a:spcPct val="110000"/>
              </a:lnSpc>
              <a:spcAft>
                <a:spcPts val="0"/>
              </a:spcAft>
            </a:pPr>
            <a:r>
              <a:rPr lang="tr-TR" sz="1900" dirty="0">
                <a:solidFill>
                  <a:srgbClr val="596173"/>
                </a:solidFill>
                <a:latin typeface="Calibri"/>
                <a:ea typeface="Calibri"/>
                <a:cs typeface="Calibri"/>
              </a:rPr>
              <a:t>%80 / %20 yalnızca örnek orandır.</a:t>
            </a:r>
            <a:r>
              <a:rPr lang="tr-TR" sz="1900" dirty="0"/>
              <a:t> </a:t>
            </a:r>
            <a:r>
              <a:rPr lang="tr-TR" sz="1900" dirty="0">
                <a:solidFill>
                  <a:srgbClr val="596173"/>
                </a:solidFill>
                <a:latin typeface="Calibri"/>
                <a:ea typeface="Calibri"/>
                <a:cs typeface="Calibri"/>
              </a:rPr>
              <a:t>Eğitim içinde doğrulama ayrıca planlanır.</a:t>
            </a:r>
            <a:endParaRPr lang="tr-TR" sz="1900" dirty="0"/>
          </a:p>
        </p:txBody>
      </p:sp>
      <p:sp>
        <p:nvSpPr>
          <p:cNvPr id="101" name="Test skoruna göre tekrar tekrar model seçmek de de"/>
          <p:cNvSpPr txBox="1"/>
          <p:nvPr/>
        </p:nvSpPr>
        <p:spPr>
          <a:xfrm>
            <a:off x="6329362" y="4343448"/>
            <a:ext cx="5238750" cy="981075"/>
          </a:xfrm>
          <a:prstGeom prst="rect">
            <a:avLst/>
          </a:prstGeom>
          <a:noFill/>
          <a:ln>
            <a:noFill/>
          </a:ln>
        </p:spPr>
        <p:txBody>
          <a:bodyPr wrap="square" lIns="0" tIns="0" rIns="0" bIns="0">
            <a:noAutofit/>
          </a:bodyPr>
          <a:lstStyle/>
          <a:p>
            <a:pPr marL="0" indent="0">
              <a:lnSpc>
                <a:spcPct val="110000"/>
              </a:lnSpc>
              <a:spcAft>
                <a:spcPts val="0"/>
              </a:spcAft>
            </a:pPr>
            <a:r>
              <a:rPr lang="tr-TR" sz="2200" dirty="0">
                <a:solidFill>
                  <a:srgbClr val="1E2A4E"/>
                </a:solidFill>
                <a:latin typeface="Calibri"/>
                <a:ea typeface="Calibri"/>
                <a:cs typeface="Calibri"/>
              </a:rPr>
              <a:t>Test skoruna göre tekrar tekrar model seçmek de değerlendirmeyi bozar.</a:t>
            </a:r>
            <a:endParaRPr lang="tr-TR" sz="2200" dirty="0"/>
          </a:p>
        </p:txBody>
      </p:sp>
    </p:spTree>
    <p:extLst>
      <p:ext uri="{BB962C8B-B14F-4D97-AF65-F5344CB8AC3E}">
        <p14:creationId xmlns:p14="http://schemas.microsoft.com/office/powerpoint/2010/main" val="3413637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9" name="Text 0">
            <a:extLst>
              <a:ext uri="{FF2B5EF4-FFF2-40B4-BE49-F238E27FC236}">
                <a16:creationId xmlns:a16="http://schemas.microsoft.com/office/drawing/2014/main" id="{35CD72CD-AE8C-48D5-ADFD-50F4A793769C}"/>
              </a:ext>
            </a:extLst>
          </p:cNvPr>
          <p:cNvSpPr/>
          <p:nvPr/>
        </p:nvSpPr>
        <p:spPr>
          <a:xfrm>
            <a:off x="457200" y="285750"/>
            <a:ext cx="11239500" cy="685800"/>
          </a:xfrm>
          <a:prstGeom prst="rect">
            <a:avLst/>
          </a:prstGeom>
          <a:noFill/>
          <a:ln/>
        </p:spPr>
        <p:txBody>
          <a:bodyPr wrap="square" lIns="0" tIns="0" rIns="0" bIns="0" rtlCol="0" anchor="t">
            <a:noAutofit/>
          </a:bodyPr>
          <a:lstStyle/>
          <a:p>
            <a:pPr marL="0" indent="0" algn="l">
              <a:buNone/>
            </a:pPr>
            <a:r>
              <a:rPr lang="tr-TR" sz="3200" b="1" dirty="0">
                <a:solidFill>
                  <a:srgbClr val="1E2A4E"/>
                </a:solidFill>
                <a:latin typeface="Calibri"/>
                <a:ea typeface="Calibri"/>
                <a:cs typeface="Calibri"/>
              </a:rPr>
              <a:t>Regresyonda hata: Gerçek fiyat ve tahmin</a:t>
            </a:r>
            <a:endParaRPr lang="tr-TR" sz="3200"/>
          </a:p>
        </p:txBody>
      </p:sp>
      <p:sp>
        <p:nvSpPr>
          <p:cNvPr id="13" name="Text 3">
            <a:extLst>
              <a:ext uri="{FF2B5EF4-FFF2-40B4-BE49-F238E27FC236}">
                <a16:creationId xmlns:a16="http://schemas.microsoft.com/office/drawing/2014/main" id="{D5A0C40C-953B-41E0-9DFA-96195B03BDA0}"/>
              </a:ext>
            </a:extLst>
          </p:cNvPr>
          <p:cNvSpPr/>
          <p:nvPr/>
        </p:nvSpPr>
        <p:spPr>
          <a:xfrm>
            <a:off x="457200" y="1238250"/>
            <a:ext cx="5143500" cy="495300"/>
          </a:xfrm>
          <a:prstGeom prst="rect">
            <a:avLst/>
          </a:prstGeom>
          <a:noFill/>
          <a:ln/>
        </p:spPr>
        <p:txBody>
          <a:bodyPr wrap="square" lIns="0" tIns="0" rIns="0" bIns="0" rtlCol="0" anchor="t">
            <a:noAutofit/>
          </a:bodyPr>
          <a:lstStyle/>
          <a:p>
            <a:pPr marL="0" indent="0" algn="l">
              <a:buNone/>
            </a:pPr>
            <a:r>
              <a:rPr lang="tr-TR" sz="2500" b="1" dirty="0">
                <a:solidFill>
                  <a:srgbClr val="1E2A4E"/>
                </a:solidFill>
                <a:latin typeface="Calibri"/>
                <a:ea typeface="Calibri"/>
                <a:cs typeface="Calibri"/>
              </a:rPr>
              <a:t>Hata = Gerçek − Tahmin</a:t>
            </a:r>
            <a:endParaRPr lang="tr-TR" sz="2500"/>
          </a:p>
        </p:txBody>
      </p:sp>
      <p:sp>
        <p:nvSpPr>
          <p:cNvPr id="14" name="Text 4">
            <a:extLst>
              <a:ext uri="{FF2B5EF4-FFF2-40B4-BE49-F238E27FC236}">
                <a16:creationId xmlns:a16="http://schemas.microsoft.com/office/drawing/2014/main" id="{90BDCC79-1322-4808-84CE-529FDD2E41D2}"/>
              </a:ext>
            </a:extLst>
          </p:cNvPr>
          <p:cNvSpPr/>
          <p:nvPr/>
        </p:nvSpPr>
        <p:spPr>
          <a:xfrm>
            <a:off x="457200" y="1847850"/>
            <a:ext cx="5114925" cy="800100"/>
          </a:xfrm>
          <a:prstGeom prst="rect">
            <a:avLst/>
          </a:prstGeom>
          <a:noFill/>
          <a:ln/>
        </p:spPr>
        <p:txBody>
          <a:bodyPr wrap="square" lIns="0" tIns="0" rIns="0" bIns="0" rtlCol="0" anchor="t">
            <a:noAutofit/>
          </a:bodyPr>
          <a:lstStyle/>
          <a:p>
            <a:pPr marL="0" indent="0" algn="l">
              <a:buNone/>
            </a:pPr>
            <a:r>
              <a:rPr lang="tr-TR" sz="2200" b="0" dirty="0">
                <a:solidFill>
                  <a:srgbClr val="30343B"/>
                </a:solidFill>
                <a:latin typeface="Calibri"/>
                <a:ea typeface="Calibri"/>
                <a:cs typeface="Calibri"/>
              </a:rPr>
              <a:t>Fiyatlar bin TL. Tahminler hesaplama için temsilidir.</a:t>
            </a:r>
            <a:endParaRPr lang="tr-TR" sz="2200"/>
          </a:p>
        </p:txBody>
      </p:sp>
      <p:graphicFrame>
        <p:nvGraphicFramePr>
          <p:cNvPr id="15" name="Table 0">
            <a:extLst>
              <a:ext uri="{FF2B5EF4-FFF2-40B4-BE49-F238E27FC236}">
                <a16:creationId xmlns:a16="http://schemas.microsoft.com/office/drawing/2014/main" id="{15351F31-D321-4E46-A2F8-46BCCBDF51BC}"/>
              </a:ext>
            </a:extLst>
          </p:cNvPr>
          <p:cNvGraphicFramePr>
            <a:graphicFrameLocks noGrp="1"/>
          </p:cNvGraphicFramePr>
          <p:nvPr>
            <p:extLst>
              <p:ext uri="{D42A27DB-BD31-4B8C-83A1-F6EECF244321}">
                <p14:modId xmlns:p14="http://schemas.microsoft.com/office/powerpoint/2010/main" val="96238260"/>
              </p:ext>
            </p:extLst>
          </p:nvPr>
        </p:nvGraphicFramePr>
        <p:xfrm>
          <a:off x="457200" y="2952750"/>
          <a:ext cx="4984540" cy="1505215"/>
        </p:xfrm>
        <a:graphic>
          <a:graphicData uri="http://schemas.openxmlformats.org/drawingml/2006/table">
            <a:tbl>
              <a:tblPr/>
              <a:tblGrid>
                <a:gridCol w="1495362">
                  <a:extLst>
                    <a:ext uri="{9D8B030D-6E8A-4147-A177-3AD203B41FA5}">
                      <a16:colId xmlns:a16="http://schemas.microsoft.com/office/drawing/2014/main" val="20000"/>
                    </a:ext>
                  </a:extLst>
                </a:gridCol>
                <a:gridCol w="1495362">
                  <a:extLst>
                    <a:ext uri="{9D8B030D-6E8A-4147-A177-3AD203B41FA5}">
                      <a16:colId xmlns:a16="http://schemas.microsoft.com/office/drawing/2014/main" val="20001"/>
                    </a:ext>
                  </a:extLst>
                </a:gridCol>
                <a:gridCol w="996908">
                  <a:extLst>
                    <a:ext uri="{9D8B030D-6E8A-4147-A177-3AD203B41FA5}">
                      <a16:colId xmlns:a16="http://schemas.microsoft.com/office/drawing/2014/main" val="20002"/>
                    </a:ext>
                  </a:extLst>
                </a:gridCol>
                <a:gridCol w="996908">
                  <a:extLst>
                    <a:ext uri="{9D8B030D-6E8A-4147-A177-3AD203B41FA5}">
                      <a16:colId xmlns:a16="http://schemas.microsoft.com/office/drawing/2014/main" val="20003"/>
                    </a:ext>
                  </a:extLst>
                </a:gridCol>
              </a:tblGrid>
              <a:tr h="500454">
                <a:tc>
                  <a:txBody>
                    <a:bodyPr/>
                    <a:lstStyle/>
                    <a:p>
                      <a:pPr marL="0" indent="0" algn="l">
                        <a:buNone/>
                      </a:pPr>
                      <a:r>
                        <a:rPr lang="tr-TR" sz="1800" b="1" dirty="0">
                          <a:solidFill>
                            <a:srgbClr val="FFFFFF"/>
                          </a:solidFill>
                          <a:latin typeface="Calibri"/>
                          <a:ea typeface="Calibri"/>
                          <a:cs typeface="Calibri"/>
                        </a:rPr>
                        <a:t>Gerçek fiyat</a:t>
                      </a:r>
                      <a:endParaRPr lang="tr-TR" sz="1800"/>
                    </a:p>
                  </a:txBody>
                  <a:tcPr marL="159485" marR="159485"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1B1B27"/>
                    </a:solidFill>
                  </a:tcPr>
                </a:tc>
                <a:tc>
                  <a:txBody>
                    <a:bodyPr/>
                    <a:lstStyle/>
                    <a:p>
                      <a:pPr marL="0" indent="0" algn="l">
                        <a:buNone/>
                      </a:pPr>
                      <a:r>
                        <a:rPr lang="tr-TR" sz="1800" b="1" dirty="0">
                          <a:solidFill>
                            <a:srgbClr val="FFFFFF"/>
                          </a:solidFill>
                          <a:latin typeface="Calibri"/>
                          <a:ea typeface="Calibri"/>
                          <a:cs typeface="Calibri"/>
                        </a:rPr>
                        <a:t>Tahmin</a:t>
                      </a:r>
                      <a:endParaRPr lang="tr-TR" sz="1800"/>
                    </a:p>
                  </a:txBody>
                  <a:tcPr marL="159485" marR="159485"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1B1B27"/>
                    </a:solidFill>
                  </a:tcPr>
                </a:tc>
                <a:tc>
                  <a:txBody>
                    <a:bodyPr/>
                    <a:lstStyle/>
                    <a:p>
                      <a:pPr marL="0" indent="0" algn="l">
                        <a:buNone/>
                      </a:pPr>
                      <a:r>
                        <a:rPr lang="tr-TR" sz="1800" b="1" dirty="0">
                          <a:solidFill>
                            <a:srgbClr val="FFFFFF"/>
                          </a:solidFill>
                          <a:latin typeface="Calibri"/>
                          <a:ea typeface="Calibri"/>
                          <a:cs typeface="Calibri"/>
                        </a:rPr>
                        <a:t>Hata</a:t>
                      </a:r>
                      <a:endParaRPr lang="tr-TR" sz="1800"/>
                    </a:p>
                  </a:txBody>
                  <a:tcPr marL="159485" marR="159485"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1B1B27"/>
                    </a:solidFill>
                  </a:tcPr>
                </a:tc>
                <a:tc>
                  <a:txBody>
                    <a:bodyPr/>
                    <a:lstStyle/>
                    <a:p>
                      <a:pPr marL="0" indent="0" algn="l">
                        <a:buNone/>
                      </a:pPr>
                      <a:r>
                        <a:rPr lang="tr-TR" sz="1800" b="1" dirty="0">
                          <a:solidFill>
                            <a:srgbClr val="FFFFFF"/>
                          </a:solidFill>
                          <a:latin typeface="Calibri"/>
                          <a:ea typeface="Calibri"/>
                          <a:cs typeface="Calibri"/>
                        </a:rPr>
                        <a:t>Hata²</a:t>
                      </a:r>
                      <a:endParaRPr lang="tr-TR" sz="1800"/>
                    </a:p>
                  </a:txBody>
                  <a:tcPr marL="159485" marR="159485"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1B1B27"/>
                    </a:solidFill>
                  </a:tcPr>
                </a:tc>
                <a:extLst>
                  <a:ext uri="{0D108BD9-81ED-4DB2-BD59-A6C34878D82A}">
                    <a16:rowId xmlns:a16="http://schemas.microsoft.com/office/drawing/2014/main" val="10000"/>
                  </a:ext>
                </a:extLst>
              </a:tr>
              <a:tr h="504307">
                <a:tc>
                  <a:txBody>
                    <a:bodyPr/>
                    <a:lstStyle/>
                    <a:p>
                      <a:pPr marL="0" indent="0" algn="l">
                        <a:buNone/>
                      </a:pPr>
                      <a:r>
                        <a:rPr lang="tr-TR" sz="1800" b="0" dirty="0">
                          <a:solidFill>
                            <a:srgbClr val="30343B"/>
                          </a:solidFill>
                          <a:latin typeface="Calibri"/>
                          <a:ea typeface="Calibri"/>
                          <a:cs typeface="Calibri"/>
                        </a:rPr>
                        <a:t>1.850</a:t>
                      </a:r>
                      <a:endParaRPr lang="tr-TR" sz="1800"/>
                    </a:p>
                  </a:txBody>
                  <a:tcPr marL="159485" marR="159485"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tcPr>
                </a:tc>
                <a:tc>
                  <a:txBody>
                    <a:bodyPr/>
                    <a:lstStyle/>
                    <a:p>
                      <a:pPr marL="0" indent="0" algn="l">
                        <a:buNone/>
                      </a:pPr>
                      <a:r>
                        <a:rPr lang="tr-TR" sz="1800" b="0" dirty="0">
                          <a:solidFill>
                            <a:srgbClr val="30343B"/>
                          </a:solidFill>
                          <a:latin typeface="Calibri"/>
                          <a:ea typeface="Calibri"/>
                          <a:cs typeface="Calibri"/>
                        </a:rPr>
                        <a:t>1.900</a:t>
                      </a:r>
                      <a:endParaRPr lang="tr-TR" sz="1800"/>
                    </a:p>
                  </a:txBody>
                  <a:tcPr marL="159485" marR="159485"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tcPr>
                </a:tc>
                <a:tc>
                  <a:txBody>
                    <a:bodyPr/>
                    <a:lstStyle/>
                    <a:p>
                      <a:pPr marL="0" indent="0" algn="l">
                        <a:buNone/>
                      </a:pPr>
                      <a:r>
                        <a:rPr lang="tr-TR" sz="1800" b="0" dirty="0">
                          <a:solidFill>
                            <a:srgbClr val="30343B"/>
                          </a:solidFill>
                          <a:latin typeface="Calibri"/>
                          <a:ea typeface="Calibri"/>
                          <a:cs typeface="Calibri"/>
                        </a:rPr>
                        <a:t>−50</a:t>
                      </a:r>
                      <a:endParaRPr lang="tr-TR" sz="1800"/>
                    </a:p>
                  </a:txBody>
                  <a:tcPr marL="159485" marR="159485"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tcPr>
                </a:tc>
                <a:tc>
                  <a:txBody>
                    <a:bodyPr/>
                    <a:lstStyle/>
                    <a:p>
                      <a:pPr marL="0" indent="0" algn="l">
                        <a:buNone/>
                      </a:pPr>
                      <a:r>
                        <a:rPr lang="tr-TR" sz="1800" b="0" dirty="0">
                          <a:solidFill>
                            <a:srgbClr val="30343B"/>
                          </a:solidFill>
                          <a:latin typeface="Calibri"/>
                          <a:ea typeface="Calibri"/>
                          <a:cs typeface="Calibri"/>
                        </a:rPr>
                        <a:t>2.500</a:t>
                      </a:r>
                      <a:endParaRPr lang="tr-TR" sz="1800"/>
                    </a:p>
                  </a:txBody>
                  <a:tcPr marL="159485" marR="159485"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tcPr>
                </a:tc>
                <a:extLst>
                  <a:ext uri="{0D108BD9-81ED-4DB2-BD59-A6C34878D82A}">
                    <a16:rowId xmlns:a16="http://schemas.microsoft.com/office/drawing/2014/main" val="10001"/>
                  </a:ext>
                </a:extLst>
              </a:tr>
              <a:tr h="500454">
                <a:tc>
                  <a:txBody>
                    <a:bodyPr/>
                    <a:lstStyle/>
                    <a:p>
                      <a:pPr marL="0" indent="0" algn="l">
                        <a:buNone/>
                      </a:pPr>
                      <a:r>
                        <a:rPr lang="tr-TR" sz="1800" b="0" dirty="0">
                          <a:solidFill>
                            <a:srgbClr val="30343B"/>
                          </a:solidFill>
                          <a:latin typeface="Calibri"/>
                          <a:ea typeface="Calibri"/>
                          <a:cs typeface="Calibri"/>
                        </a:rPr>
                        <a:t>1.650</a:t>
                      </a:r>
                      <a:endParaRPr lang="tr-TR" sz="1800"/>
                    </a:p>
                  </a:txBody>
                  <a:tcPr marL="159485" marR="159485"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tcPr>
                </a:tc>
                <a:tc>
                  <a:txBody>
                    <a:bodyPr/>
                    <a:lstStyle/>
                    <a:p>
                      <a:pPr marL="0" indent="0" algn="l">
                        <a:buNone/>
                      </a:pPr>
                      <a:r>
                        <a:rPr lang="tr-TR" sz="1800" b="0" dirty="0">
                          <a:solidFill>
                            <a:srgbClr val="30343B"/>
                          </a:solidFill>
                          <a:latin typeface="Calibri"/>
                          <a:ea typeface="Calibri"/>
                          <a:cs typeface="Calibri"/>
                        </a:rPr>
                        <a:t>1.725</a:t>
                      </a:r>
                      <a:endParaRPr lang="tr-TR" sz="1800"/>
                    </a:p>
                  </a:txBody>
                  <a:tcPr marL="159485" marR="159485"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tcPr>
                </a:tc>
                <a:tc>
                  <a:txBody>
                    <a:bodyPr/>
                    <a:lstStyle/>
                    <a:p>
                      <a:pPr marL="0" indent="0" algn="l">
                        <a:buNone/>
                      </a:pPr>
                      <a:r>
                        <a:rPr lang="tr-TR" sz="1800" b="0" dirty="0">
                          <a:solidFill>
                            <a:srgbClr val="30343B"/>
                          </a:solidFill>
                          <a:latin typeface="Calibri"/>
                          <a:ea typeface="Calibri"/>
                          <a:cs typeface="Calibri"/>
                        </a:rPr>
                        <a:t>−75</a:t>
                      </a:r>
                      <a:endParaRPr lang="tr-TR" sz="1800"/>
                    </a:p>
                  </a:txBody>
                  <a:tcPr marL="159485" marR="159485"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tcPr>
                </a:tc>
                <a:tc>
                  <a:txBody>
                    <a:bodyPr/>
                    <a:lstStyle/>
                    <a:p>
                      <a:pPr marL="0" indent="0" algn="l">
                        <a:buNone/>
                      </a:pPr>
                      <a:r>
                        <a:rPr lang="tr-TR" sz="1800" b="0" dirty="0">
                          <a:solidFill>
                            <a:srgbClr val="30343B"/>
                          </a:solidFill>
                          <a:latin typeface="Calibri"/>
                          <a:ea typeface="Calibri"/>
                          <a:cs typeface="Calibri"/>
                        </a:rPr>
                        <a:t>5.625</a:t>
                      </a:r>
                      <a:endParaRPr lang="tr-TR" sz="1800"/>
                    </a:p>
                  </a:txBody>
                  <a:tcPr marL="159485" marR="159485"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0" name="MSE = (2.500 + 5.625) / 2 MSE = 4.062,5 (bin TL)²"/>
          <p:cNvSpPr txBox="1"/>
          <p:nvPr/>
        </p:nvSpPr>
        <p:spPr>
          <a:xfrm>
            <a:off x="457200" y="5153025"/>
            <a:ext cx="5334000" cy="942975"/>
          </a:xfrm>
          <a:prstGeom prst="rect">
            <a:avLst/>
          </a:prstGeom>
          <a:noFill/>
          <a:ln>
            <a:noFill/>
          </a:ln>
        </p:spPr>
        <p:txBody>
          <a:bodyPr wrap="square" lIns="0" tIns="0" rIns="0" bIns="0">
            <a:noAutofit/>
          </a:bodyPr>
          <a:lstStyle/>
          <a:p>
            <a:pPr marL="0" indent="0">
              <a:lnSpc>
                <a:spcPct val="110000"/>
              </a:lnSpc>
              <a:spcAft>
                <a:spcPts val="0"/>
              </a:spcAft>
            </a:pPr>
            <a:r>
              <a:rPr lang="tr-TR" sz="2500" b="1">
                <a:solidFill>
                  <a:srgbClr val="1E2A4E"/>
                </a:solidFill>
                <a:latin typeface="Calibri"/>
                <a:ea typeface="Calibri"/>
                <a:cs typeface="Calibri"/>
              </a:rPr>
              <a:t>MSE = (2.500 + 5.625) / 2</a:t>
            </a:r>
            <a:endParaRPr lang="tr-TR" sz="2500"/>
          </a:p>
          <a:p>
            <a:pPr marL="0" indent="0">
              <a:lnSpc>
                <a:spcPct val="110000"/>
              </a:lnSpc>
              <a:spcAft>
                <a:spcPts val="0"/>
              </a:spcAft>
            </a:pPr>
            <a:r>
              <a:rPr lang="tr-TR" sz="2500" b="1">
                <a:solidFill>
                  <a:srgbClr val="1E2A4E"/>
                </a:solidFill>
                <a:latin typeface="Calibri"/>
                <a:ea typeface="Calibri"/>
                <a:cs typeface="Calibri"/>
              </a:rPr>
              <a:t>MSE = 4.062,5 (bin TL)²</a:t>
            </a:r>
            <a:endParaRPr lang="tr-TR" sz="2500"/>
          </a:p>
        </p:txBody>
      </p:sp>
      <p:sp>
        <p:nvSpPr>
          <p:cNvPr id="101" name="Ev 1 ve Ev 4’ün bilinen fiyatları kullanıldı. İki "/>
          <p:cNvSpPr txBox="1"/>
          <p:nvPr/>
        </p:nvSpPr>
        <p:spPr>
          <a:xfrm>
            <a:off x="457200" y="6305550"/>
            <a:ext cx="11144250" cy="428625"/>
          </a:xfrm>
          <a:prstGeom prst="rect">
            <a:avLst/>
          </a:prstGeom>
          <a:noFill/>
          <a:ln>
            <a:noFill/>
          </a:ln>
        </p:spPr>
        <p:txBody>
          <a:bodyPr wrap="square" lIns="0" tIns="0" rIns="0" bIns="0">
            <a:noAutofit/>
          </a:bodyPr>
          <a:lstStyle/>
          <a:p>
            <a:pPr marL="0" indent="0">
              <a:lnSpc>
                <a:spcPct val="110000"/>
              </a:lnSpc>
              <a:spcAft>
                <a:spcPts val="0"/>
              </a:spcAft>
            </a:pPr>
            <a:r>
              <a:rPr lang="tr-TR" sz="1700">
                <a:solidFill>
                  <a:srgbClr val="596173"/>
                </a:solidFill>
                <a:latin typeface="Calibri"/>
                <a:ea typeface="Calibri"/>
                <a:cs typeface="Calibri"/>
              </a:rPr>
              <a:t>Ev 1 ve Ev 4’ün bilinen fiyatları kullanıldı. İki kayıt, güvenilir performans değerlendirmesi için yeterli değildir.</a:t>
            </a:r>
            <a:endParaRPr lang="tr-TR" sz="1700"/>
          </a:p>
        </p:txBody>
      </p:sp>
      <p:graphicFrame>
        <p:nvGraphicFramePr>
          <p:cNvPr id="102" name="Chart"/>
          <p:cNvGraphicFramePr/>
          <p:nvPr/>
        </p:nvGraphicFramePr>
        <p:xfrm>
          <a:off x="6048375" y="1762125"/>
          <a:ext cx="5534025" cy="40100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3985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0" name="Text 0">
            <a:extLst>
              <a:ext uri="{FF2B5EF4-FFF2-40B4-BE49-F238E27FC236}">
                <a16:creationId xmlns:a16="http://schemas.microsoft.com/office/drawing/2014/main" id="{BB9EEFCA-6038-43DE-B173-64D241884766}"/>
              </a:ext>
            </a:extLst>
          </p:cNvPr>
          <p:cNvSpPr/>
          <p:nvPr/>
        </p:nvSpPr>
        <p:spPr>
          <a:xfrm>
            <a:off x="457200" y="285750"/>
            <a:ext cx="11239500" cy="685800"/>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Calibri"/>
                <a:ea typeface="Calibri"/>
                <a:cs typeface="Calibri"/>
              </a:defRPr>
            </a:lvl1pPr>
            <a:lvl2pPr marL="457200" algn="l" defTabSz="914400" rtl="0" eaLnBrk="1" latinLnBrk="0" hangingPunct="1">
              <a:defRPr sz="1800" kern="1200">
                <a:solidFill>
                  <a:schemeClr val="tx1"/>
                </a:solidFill>
                <a:latin typeface="Calibri"/>
                <a:ea typeface="Calibri"/>
                <a:cs typeface="Calibri"/>
              </a:defRPr>
            </a:lvl2pPr>
            <a:lvl3pPr marL="914400" algn="l" defTabSz="914400" rtl="0" eaLnBrk="1" latinLnBrk="0" hangingPunct="1">
              <a:defRPr sz="1800" kern="1200">
                <a:solidFill>
                  <a:schemeClr val="tx1"/>
                </a:solidFill>
                <a:latin typeface="Calibri"/>
                <a:ea typeface="Calibri"/>
                <a:cs typeface="Calibri"/>
              </a:defRPr>
            </a:lvl3pPr>
            <a:lvl4pPr marL="1371600" algn="l" defTabSz="914400" rtl="0" eaLnBrk="1" latinLnBrk="0" hangingPunct="1">
              <a:defRPr sz="1800" kern="1200">
                <a:solidFill>
                  <a:schemeClr val="tx1"/>
                </a:solidFill>
                <a:latin typeface="Calibri"/>
                <a:ea typeface="Calibri"/>
                <a:cs typeface="Calibri"/>
              </a:defRPr>
            </a:lvl4pPr>
            <a:lvl5pPr marL="1828800" algn="l" defTabSz="914400" rtl="0" eaLnBrk="1" latinLnBrk="0" hangingPunct="1">
              <a:defRPr sz="1800" kern="1200">
                <a:solidFill>
                  <a:schemeClr val="tx1"/>
                </a:solidFill>
                <a:latin typeface="Calibri"/>
                <a:ea typeface="Calibri"/>
                <a:cs typeface="Calibri"/>
              </a:defRPr>
            </a:lvl5pPr>
            <a:lvl6pPr marL="2286000" algn="l" defTabSz="914400" rtl="0" eaLnBrk="1" latinLnBrk="0" hangingPunct="1">
              <a:defRPr sz="1800" kern="1200">
                <a:solidFill>
                  <a:schemeClr val="tx1"/>
                </a:solidFill>
                <a:latin typeface="Calibri"/>
                <a:ea typeface="Calibri"/>
                <a:cs typeface="Calibri"/>
              </a:defRPr>
            </a:lvl6pPr>
            <a:lvl7pPr marL="2743200" algn="l" defTabSz="914400" rtl="0" eaLnBrk="1" latinLnBrk="0" hangingPunct="1">
              <a:defRPr sz="1800" kern="1200">
                <a:solidFill>
                  <a:schemeClr val="tx1"/>
                </a:solidFill>
                <a:latin typeface="Calibri"/>
                <a:ea typeface="Calibri"/>
                <a:cs typeface="Calibri"/>
              </a:defRPr>
            </a:lvl7pPr>
            <a:lvl8pPr marL="3200400" algn="l" defTabSz="914400" rtl="0" eaLnBrk="1" latinLnBrk="0" hangingPunct="1">
              <a:defRPr sz="1800" kern="1200">
                <a:solidFill>
                  <a:schemeClr val="tx1"/>
                </a:solidFill>
                <a:latin typeface="Calibri"/>
                <a:ea typeface="Calibri"/>
                <a:cs typeface="Calibri"/>
              </a:defRPr>
            </a:lvl8pPr>
            <a:lvl9pPr marL="3657600" algn="l" defTabSz="914400" rtl="0" eaLnBrk="1" latinLnBrk="0" hangingPunct="1">
              <a:defRPr sz="1800" kern="1200">
                <a:solidFill>
                  <a:schemeClr val="tx1"/>
                </a:solidFill>
                <a:latin typeface="Calibri"/>
                <a:ea typeface="Calibri"/>
                <a:cs typeface="Calibri"/>
              </a:defRPr>
            </a:lvl9pPr>
          </a:lstStyle>
          <a:p>
            <a:pPr marL="0" indent="0" algn="l">
              <a:buNone/>
            </a:pPr>
            <a:r>
              <a:rPr lang="tr-TR" sz="3200" b="1" dirty="0">
                <a:solidFill>
                  <a:srgbClr val="1E2A4E"/>
                </a:solidFill>
                <a:latin typeface="Calibri"/>
                <a:ea typeface="Calibri"/>
                <a:cs typeface="Calibri"/>
              </a:rPr>
              <a:t>MAE, MSE ve RMSE: Aynı hataya farklı bakış</a:t>
            </a:r>
            <a:endParaRPr lang="tr-TR" sz="3200" dirty="0"/>
          </a:p>
        </p:txBody>
      </p:sp>
      <p:sp>
        <p:nvSpPr>
          <p:cNvPr id="100" name="Önceki sayfadaki hatalar: −50 ve −75 bin TL"/>
          <p:cNvSpPr txBox="1"/>
          <p:nvPr/>
        </p:nvSpPr>
        <p:spPr>
          <a:xfrm>
            <a:off x="457200" y="1247775"/>
            <a:ext cx="11144250" cy="514350"/>
          </a:xfrm>
          <a:prstGeom prst="rect">
            <a:avLst/>
          </a:prstGeom>
          <a:noFill/>
          <a:ln>
            <a:noFill/>
          </a:ln>
        </p:spPr>
        <p:txBody>
          <a:bodyPr wrap="square" lIns="0" tIns="0" rIns="0" bIns="0">
            <a:noAutofit/>
          </a:bodyPr>
          <a:lstStyle/>
          <a:p>
            <a:pPr marL="0" indent="0">
              <a:lnSpc>
                <a:spcPct val="110000"/>
              </a:lnSpc>
              <a:spcAft>
                <a:spcPts val="0"/>
              </a:spcAft>
            </a:pPr>
            <a:r>
              <a:rPr lang="tr-TR" sz="2500">
                <a:solidFill>
                  <a:srgbClr val="1E2A4E"/>
                </a:solidFill>
                <a:latin typeface="Calibri"/>
                <a:ea typeface="Calibri"/>
                <a:cs typeface="Calibri"/>
              </a:rPr>
              <a:t>Önceki sayfadaki hatalar: −50 ve −75 bin TL</a:t>
            </a:r>
            <a:endParaRPr lang="tr-TR" sz="2500"/>
          </a:p>
        </p:txBody>
      </p:sp>
      <p:sp>
        <p:nvSpPr>
          <p:cNvPr id="101" name="MAE ve RMSE fiyatla aynı birimdedir. MSE’nin birim"/>
          <p:cNvSpPr txBox="1"/>
          <p:nvPr/>
        </p:nvSpPr>
        <p:spPr>
          <a:xfrm>
            <a:off x="504825" y="5363052"/>
            <a:ext cx="11144250" cy="685800"/>
          </a:xfrm>
          <a:prstGeom prst="rect">
            <a:avLst/>
          </a:prstGeom>
          <a:noFill/>
          <a:ln>
            <a:noFill/>
          </a:ln>
        </p:spPr>
        <p:txBody>
          <a:bodyPr wrap="square" lIns="0" tIns="0" rIns="0" bIns="0">
            <a:noAutofit/>
          </a:bodyPr>
          <a:lstStyle/>
          <a:p>
            <a:pPr marL="0" indent="0">
              <a:lnSpc>
                <a:spcPct val="110000"/>
              </a:lnSpc>
              <a:spcAft>
                <a:spcPts val="0"/>
              </a:spcAft>
            </a:pPr>
            <a:r>
              <a:rPr lang="tr-TR" sz="2400" b="1" dirty="0">
                <a:solidFill>
                  <a:srgbClr val="1E2A4E"/>
                </a:solidFill>
                <a:latin typeface="Calibri"/>
                <a:ea typeface="Calibri"/>
                <a:cs typeface="Calibri"/>
              </a:rPr>
              <a:t>MAE ve RMSE fiyatla aynı birimdedir. </a:t>
            </a:r>
            <a:r>
              <a:rPr lang="tr-TR" sz="2400" b="1" dirty="0" err="1">
                <a:solidFill>
                  <a:srgbClr val="1E2A4E"/>
                </a:solidFill>
                <a:latin typeface="Calibri"/>
                <a:ea typeface="Calibri"/>
                <a:cs typeface="Calibri"/>
              </a:rPr>
              <a:t>MSE’nin</a:t>
            </a:r>
            <a:r>
              <a:rPr lang="tr-TR" sz="2400" b="1" dirty="0">
                <a:solidFill>
                  <a:srgbClr val="1E2A4E"/>
                </a:solidFill>
                <a:latin typeface="Calibri"/>
                <a:ea typeface="Calibri"/>
                <a:cs typeface="Calibri"/>
              </a:rPr>
              <a:t> birimi karelidir.</a:t>
            </a:r>
            <a:endParaRPr lang="tr-TR" sz="2400" dirty="0"/>
          </a:p>
        </p:txBody>
      </p:sp>
      <p:sp>
        <p:nvSpPr>
          <p:cNvPr id="102" name="Aynı hedef ve aynı değerlendirme verisinde, daha d"/>
          <p:cNvSpPr txBox="1"/>
          <p:nvPr/>
        </p:nvSpPr>
        <p:spPr>
          <a:xfrm>
            <a:off x="504825" y="6029802"/>
            <a:ext cx="11144250" cy="485775"/>
          </a:xfrm>
          <a:prstGeom prst="rect">
            <a:avLst/>
          </a:prstGeom>
          <a:noFill/>
          <a:ln>
            <a:noFill/>
          </a:ln>
        </p:spPr>
        <p:txBody>
          <a:bodyPr wrap="square" lIns="0" tIns="0" rIns="0" bIns="0">
            <a:noAutofit/>
          </a:bodyPr>
          <a:lstStyle/>
          <a:p>
            <a:pPr marL="0" indent="0">
              <a:lnSpc>
                <a:spcPct val="110000"/>
              </a:lnSpc>
              <a:spcAft>
                <a:spcPts val="0"/>
              </a:spcAft>
            </a:pPr>
            <a:r>
              <a:rPr lang="tr-TR" sz="2100" dirty="0">
                <a:solidFill>
                  <a:srgbClr val="596173"/>
                </a:solidFill>
                <a:latin typeface="Calibri"/>
                <a:ea typeface="Calibri"/>
                <a:cs typeface="Calibri"/>
              </a:rPr>
              <a:t>Aynı hedef ve aynı değerlendirme verisinde, daha düşük hata daha iyidir.</a:t>
            </a:r>
            <a:endParaRPr lang="tr-TR" sz="2100" dirty="0"/>
          </a:p>
        </p:txBody>
      </p:sp>
      <p:graphicFrame>
        <p:nvGraphicFramePr>
          <p:cNvPr id="103" name="Tablo 102"/>
          <p:cNvGraphicFramePr/>
          <p:nvPr>
            <p:extLst>
              <p:ext uri="{D42A27DB-BD31-4B8C-83A1-F6EECF244321}">
                <p14:modId xmlns:p14="http://schemas.microsoft.com/office/powerpoint/2010/main" val="3830147075"/>
              </p:ext>
            </p:extLst>
          </p:nvPr>
        </p:nvGraphicFramePr>
        <p:xfrm>
          <a:off x="457200" y="2124075"/>
          <a:ext cx="11239500" cy="2772252"/>
        </p:xfrm>
        <a:graphic>
          <a:graphicData uri="http://schemas.openxmlformats.org/drawingml/2006/table">
            <a:tbl>
              <a:tblPr/>
              <a:tblGrid>
                <a:gridCol w="3188368">
                  <a:extLst>
                    <a:ext uri="{9D8B030D-6E8A-4147-A177-3AD203B41FA5}">
                      <a16:colId xmlns:a16="http://schemas.microsoft.com/office/drawing/2014/main" val="20000"/>
                    </a:ext>
                  </a:extLst>
                </a:gridCol>
                <a:gridCol w="2717132">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654844">
                <a:tc>
                  <a:txBody>
                    <a:bodyPr/>
                    <a:lstStyle/>
                    <a:p>
                      <a:r>
                        <a:rPr sz="2025" b="1">
                          <a:solidFill>
                            <a:srgbClr val="FFFFFF"/>
                          </a:solidFill>
                          <a:latin typeface="Calibri"/>
                          <a:ea typeface="Calibri"/>
                          <a:cs typeface="Calibri"/>
                        </a:rPr>
                        <a:t>Metrik</a:t>
                      </a:r>
                    </a:p>
                  </a:txBody>
                  <a:tcPr marL="114300" marR="114300" marT="95250" marB="95250" anchor="ctr">
                    <a:solidFill>
                      <a:srgbClr val="1E2A4E"/>
                    </a:solidFill>
                  </a:tcPr>
                </a:tc>
                <a:tc>
                  <a:txBody>
                    <a:bodyPr/>
                    <a:lstStyle/>
                    <a:p>
                      <a:r>
                        <a:rPr sz="2025" b="1">
                          <a:solidFill>
                            <a:srgbClr val="FFFFFF"/>
                          </a:solidFill>
                          <a:latin typeface="Calibri"/>
                          <a:ea typeface="Calibri"/>
                          <a:cs typeface="Calibri"/>
                        </a:rPr>
                        <a:t>Hesap</a:t>
                      </a:r>
                    </a:p>
                  </a:txBody>
                  <a:tcPr marL="114300" marR="114300" marT="95250" marB="95250" anchor="ctr">
                    <a:solidFill>
                      <a:srgbClr val="1E2A4E"/>
                    </a:solidFill>
                  </a:tcPr>
                </a:tc>
                <a:tc>
                  <a:txBody>
                    <a:bodyPr/>
                    <a:lstStyle/>
                    <a:p>
                      <a:r>
                        <a:rPr sz="2025" b="1">
                          <a:solidFill>
                            <a:srgbClr val="FFFFFF"/>
                          </a:solidFill>
                          <a:latin typeface="Calibri"/>
                          <a:ea typeface="Calibri"/>
                          <a:cs typeface="Calibri"/>
                        </a:rPr>
                        <a:t>Sonuç</a:t>
                      </a:r>
                    </a:p>
                  </a:txBody>
                  <a:tcPr marL="114300" marR="114300" marT="95250" marB="95250" anchor="ctr">
                    <a:solidFill>
                      <a:srgbClr val="1E2A4E"/>
                    </a:solidFill>
                  </a:tcPr>
                </a:tc>
                <a:tc>
                  <a:txBody>
                    <a:bodyPr/>
                    <a:lstStyle/>
                    <a:p>
                      <a:r>
                        <a:rPr sz="2025" b="1">
                          <a:solidFill>
                            <a:srgbClr val="FFFFFF"/>
                          </a:solidFill>
                          <a:latin typeface="Calibri"/>
                          <a:ea typeface="Calibri"/>
                          <a:cs typeface="Calibri"/>
                        </a:rPr>
                        <a:t>Birim</a:t>
                      </a:r>
                    </a:p>
                  </a:txBody>
                  <a:tcPr marL="114300" marR="114300" marT="95250" marB="95250" anchor="ctr">
                    <a:solidFill>
                      <a:srgbClr val="1E2A4E"/>
                    </a:solidFill>
                  </a:tcPr>
                </a:tc>
                <a:extLst>
                  <a:ext uri="{0D108BD9-81ED-4DB2-BD59-A6C34878D82A}">
                    <a16:rowId xmlns:a16="http://schemas.microsoft.com/office/drawing/2014/main" val="10000"/>
                  </a:ext>
                </a:extLst>
              </a:tr>
              <a:tr h="654844">
                <a:tc>
                  <a:txBody>
                    <a:bodyPr/>
                    <a:lstStyle/>
                    <a:p>
                      <a:r>
                        <a:rPr sz="2025" b="0" dirty="0">
                          <a:solidFill>
                            <a:srgbClr val="30343B"/>
                          </a:solidFill>
                          <a:latin typeface="Calibri"/>
                          <a:ea typeface="Calibri"/>
                          <a:cs typeface="Calibri"/>
                        </a:rPr>
                        <a:t>MAE</a:t>
                      </a:r>
                      <a:r>
                        <a:rPr lang="tr-TR" sz="2025" b="0" dirty="0">
                          <a:solidFill>
                            <a:srgbClr val="30343B"/>
                          </a:solidFill>
                          <a:latin typeface="Calibri"/>
                          <a:ea typeface="Calibri"/>
                          <a:cs typeface="Calibri"/>
                        </a:rPr>
                        <a:t>(</a:t>
                      </a:r>
                      <a:r>
                        <a:rPr lang="tr-TR" sz="2025" b="0" dirty="0" err="1">
                          <a:solidFill>
                            <a:srgbClr val="30343B"/>
                          </a:solidFill>
                          <a:latin typeface="+mn-lt"/>
                          <a:ea typeface="Calibri"/>
                          <a:cs typeface="Calibri"/>
                        </a:rPr>
                        <a:t>Mean</a:t>
                      </a:r>
                      <a:r>
                        <a:rPr lang="tr-TR" sz="2025" b="0" dirty="0">
                          <a:solidFill>
                            <a:srgbClr val="30343B"/>
                          </a:solidFill>
                          <a:latin typeface="+mn-lt"/>
                          <a:ea typeface="Calibri"/>
                          <a:cs typeface="Calibri"/>
                        </a:rPr>
                        <a:t> </a:t>
                      </a:r>
                      <a:r>
                        <a:rPr lang="tr-TR" sz="2025" b="0" dirty="0" err="1">
                          <a:solidFill>
                            <a:srgbClr val="30343B"/>
                          </a:solidFill>
                          <a:latin typeface="+mn-lt"/>
                          <a:ea typeface="Calibri"/>
                          <a:cs typeface="Calibri"/>
                        </a:rPr>
                        <a:t>Absolute</a:t>
                      </a:r>
                      <a:r>
                        <a:rPr lang="tr-TR" sz="2025" b="0" dirty="0">
                          <a:solidFill>
                            <a:srgbClr val="30343B"/>
                          </a:solidFill>
                          <a:latin typeface="+mn-lt"/>
                          <a:ea typeface="Calibri"/>
                          <a:cs typeface="Calibri"/>
                        </a:rPr>
                        <a:t> </a:t>
                      </a:r>
                      <a:r>
                        <a:rPr lang="tr-TR" sz="2025" b="0" dirty="0" err="1">
                          <a:solidFill>
                            <a:srgbClr val="30343B"/>
                          </a:solidFill>
                          <a:latin typeface="+mn-lt"/>
                          <a:ea typeface="Calibri"/>
                          <a:cs typeface="Calibri"/>
                        </a:rPr>
                        <a:t>Error</a:t>
                      </a:r>
                      <a:r>
                        <a:rPr lang="tr-TR" sz="2025" b="0" dirty="0">
                          <a:solidFill>
                            <a:srgbClr val="30343B"/>
                          </a:solidFill>
                          <a:latin typeface="+mn-lt"/>
                          <a:ea typeface="Calibri"/>
                          <a:cs typeface="Calibri"/>
                        </a:rPr>
                        <a:t> )</a:t>
                      </a:r>
                      <a:endParaRPr sz="2025" b="0" dirty="0">
                        <a:solidFill>
                          <a:srgbClr val="30343B"/>
                        </a:solidFill>
                        <a:latin typeface="Calibri"/>
                        <a:ea typeface="Calibri"/>
                        <a:cs typeface="Calibri"/>
                      </a:endParaRPr>
                    </a:p>
                  </a:txBody>
                  <a:tcPr marL="114300" marR="114300" marT="95250" marB="95250" anchor="ctr">
                    <a:solidFill>
                      <a:srgbClr val="FFFFFF"/>
                    </a:solidFill>
                  </a:tcPr>
                </a:tc>
                <a:tc>
                  <a:txBody>
                    <a:bodyPr/>
                    <a:lstStyle/>
                    <a:p>
                      <a:r>
                        <a:rPr sz="2025" b="0" dirty="0">
                          <a:solidFill>
                            <a:srgbClr val="30343B"/>
                          </a:solidFill>
                          <a:latin typeface="Calibri"/>
                          <a:ea typeface="Calibri"/>
                          <a:cs typeface="Calibri"/>
                        </a:rPr>
                        <a:t>(50 + 75) / 2</a:t>
                      </a:r>
                    </a:p>
                  </a:txBody>
                  <a:tcPr marL="114300" marR="114300" marT="95250" marB="95250" anchor="ctr">
                    <a:solidFill>
                      <a:srgbClr val="FFFFFF"/>
                    </a:solidFill>
                  </a:tcPr>
                </a:tc>
                <a:tc>
                  <a:txBody>
                    <a:bodyPr/>
                    <a:lstStyle/>
                    <a:p>
                      <a:r>
                        <a:rPr sz="2025" b="0">
                          <a:solidFill>
                            <a:srgbClr val="30343B"/>
                          </a:solidFill>
                          <a:latin typeface="Calibri"/>
                          <a:ea typeface="Calibri"/>
                          <a:cs typeface="Calibri"/>
                        </a:rPr>
                        <a:t>62,5</a:t>
                      </a:r>
                    </a:p>
                  </a:txBody>
                  <a:tcPr marL="114300" marR="114300" marT="95250" marB="95250" anchor="ctr">
                    <a:solidFill>
                      <a:srgbClr val="FFFFFF"/>
                    </a:solidFill>
                  </a:tcPr>
                </a:tc>
                <a:tc>
                  <a:txBody>
                    <a:bodyPr/>
                    <a:lstStyle/>
                    <a:p>
                      <a:r>
                        <a:rPr sz="2025" b="0">
                          <a:solidFill>
                            <a:srgbClr val="30343B"/>
                          </a:solidFill>
                          <a:latin typeface="Calibri"/>
                          <a:ea typeface="Calibri"/>
                          <a:cs typeface="Calibri"/>
                        </a:rPr>
                        <a:t>bin TL</a:t>
                      </a:r>
                    </a:p>
                  </a:txBody>
                  <a:tcPr marL="114300" marR="114300" marT="95250" marB="95250" anchor="ctr">
                    <a:solidFill>
                      <a:srgbClr val="FFFFFF"/>
                    </a:solidFill>
                  </a:tcPr>
                </a:tc>
                <a:extLst>
                  <a:ext uri="{0D108BD9-81ED-4DB2-BD59-A6C34878D82A}">
                    <a16:rowId xmlns:a16="http://schemas.microsoft.com/office/drawing/2014/main" val="10001"/>
                  </a:ext>
                </a:extLst>
              </a:tr>
              <a:tr h="654844">
                <a:tc>
                  <a:txBody>
                    <a:bodyPr/>
                    <a:lstStyle/>
                    <a:p>
                      <a:r>
                        <a:rPr sz="2025" b="0" dirty="0">
                          <a:solidFill>
                            <a:srgbClr val="30343B"/>
                          </a:solidFill>
                          <a:latin typeface="Calibri"/>
                          <a:ea typeface="Calibri"/>
                          <a:cs typeface="Calibri"/>
                        </a:rPr>
                        <a:t>MSE</a:t>
                      </a:r>
                      <a:r>
                        <a:rPr lang="tr-TR" sz="2025" b="0" dirty="0">
                          <a:solidFill>
                            <a:srgbClr val="30343B"/>
                          </a:solidFill>
                          <a:latin typeface="+mn-lt"/>
                          <a:ea typeface="Calibri"/>
                          <a:cs typeface="Calibri"/>
                        </a:rPr>
                        <a:t>(</a:t>
                      </a:r>
                      <a:r>
                        <a:rPr lang="tr-TR" sz="2025" b="0" dirty="0" err="1">
                          <a:solidFill>
                            <a:srgbClr val="30343B"/>
                          </a:solidFill>
                          <a:latin typeface="+mn-lt"/>
                          <a:ea typeface="Calibri"/>
                          <a:cs typeface="Calibri"/>
                        </a:rPr>
                        <a:t>Mean</a:t>
                      </a:r>
                      <a:r>
                        <a:rPr lang="tr-TR" sz="2025" b="0" dirty="0">
                          <a:solidFill>
                            <a:srgbClr val="30343B"/>
                          </a:solidFill>
                          <a:latin typeface="+mn-lt"/>
                          <a:ea typeface="Calibri"/>
                          <a:cs typeface="Calibri"/>
                        </a:rPr>
                        <a:t> </a:t>
                      </a:r>
                      <a:r>
                        <a:rPr lang="tr-TR" sz="2025" b="0" dirty="0" err="1">
                          <a:solidFill>
                            <a:srgbClr val="30343B"/>
                          </a:solidFill>
                          <a:latin typeface="+mn-lt"/>
                          <a:ea typeface="Calibri"/>
                          <a:cs typeface="Calibri"/>
                        </a:rPr>
                        <a:t>Squared</a:t>
                      </a:r>
                      <a:r>
                        <a:rPr lang="tr-TR" sz="2025" b="0" dirty="0">
                          <a:solidFill>
                            <a:srgbClr val="30343B"/>
                          </a:solidFill>
                          <a:latin typeface="+mn-lt"/>
                          <a:ea typeface="Calibri"/>
                          <a:cs typeface="Calibri"/>
                        </a:rPr>
                        <a:t> </a:t>
                      </a:r>
                      <a:r>
                        <a:rPr lang="tr-TR" sz="2025" b="0" dirty="0" err="1">
                          <a:solidFill>
                            <a:srgbClr val="30343B"/>
                          </a:solidFill>
                          <a:latin typeface="+mn-lt"/>
                          <a:ea typeface="Calibri"/>
                          <a:cs typeface="Calibri"/>
                        </a:rPr>
                        <a:t>Error</a:t>
                      </a:r>
                      <a:r>
                        <a:rPr lang="tr-TR" sz="2025" b="0" dirty="0">
                          <a:solidFill>
                            <a:srgbClr val="30343B"/>
                          </a:solidFill>
                          <a:latin typeface="+mn-lt"/>
                          <a:ea typeface="Calibri"/>
                          <a:cs typeface="Calibri"/>
                        </a:rPr>
                        <a:t>)</a:t>
                      </a:r>
                      <a:endParaRPr sz="2025" b="0" dirty="0">
                        <a:solidFill>
                          <a:srgbClr val="30343B"/>
                        </a:solidFill>
                        <a:latin typeface="Calibri"/>
                        <a:ea typeface="Calibri"/>
                        <a:cs typeface="Calibri"/>
                      </a:endParaRPr>
                    </a:p>
                  </a:txBody>
                  <a:tcPr marL="114300" marR="114300" marT="95250" marB="95250" anchor="ctr">
                    <a:solidFill>
                      <a:srgbClr val="EFEFF2"/>
                    </a:solidFill>
                  </a:tcPr>
                </a:tc>
                <a:tc>
                  <a:txBody>
                    <a:bodyPr/>
                    <a:lstStyle/>
                    <a:p>
                      <a:r>
                        <a:rPr sz="2025" b="0" dirty="0">
                          <a:solidFill>
                            <a:srgbClr val="30343B"/>
                          </a:solidFill>
                          <a:latin typeface="Calibri"/>
                          <a:ea typeface="Calibri"/>
                          <a:cs typeface="Calibri"/>
                        </a:rPr>
                        <a:t>(2.500 + 5.625) / 2</a:t>
                      </a:r>
                    </a:p>
                  </a:txBody>
                  <a:tcPr marL="114300" marR="114300" marT="95250" marB="95250" anchor="ctr">
                    <a:solidFill>
                      <a:srgbClr val="EFEFF2"/>
                    </a:solidFill>
                  </a:tcPr>
                </a:tc>
                <a:tc>
                  <a:txBody>
                    <a:bodyPr/>
                    <a:lstStyle/>
                    <a:p>
                      <a:r>
                        <a:rPr sz="2025" b="0">
                          <a:solidFill>
                            <a:srgbClr val="30343B"/>
                          </a:solidFill>
                          <a:latin typeface="Calibri"/>
                          <a:ea typeface="Calibri"/>
                          <a:cs typeface="Calibri"/>
                        </a:rPr>
                        <a:t>4.062,5</a:t>
                      </a:r>
                    </a:p>
                  </a:txBody>
                  <a:tcPr marL="114300" marR="114300" marT="95250" marB="95250" anchor="ctr">
                    <a:solidFill>
                      <a:srgbClr val="EFEFF2"/>
                    </a:solidFill>
                  </a:tcPr>
                </a:tc>
                <a:tc>
                  <a:txBody>
                    <a:bodyPr/>
                    <a:lstStyle/>
                    <a:p>
                      <a:r>
                        <a:rPr sz="2025" b="0">
                          <a:solidFill>
                            <a:srgbClr val="30343B"/>
                          </a:solidFill>
                          <a:latin typeface="Calibri"/>
                          <a:ea typeface="Calibri"/>
                          <a:cs typeface="Calibri"/>
                        </a:rPr>
                        <a:t>(bin TL)²</a:t>
                      </a:r>
                    </a:p>
                  </a:txBody>
                  <a:tcPr marL="114300" marR="114300" marT="95250" marB="95250" anchor="ctr">
                    <a:solidFill>
                      <a:srgbClr val="EFEFF2"/>
                    </a:solidFill>
                  </a:tcPr>
                </a:tc>
                <a:extLst>
                  <a:ext uri="{0D108BD9-81ED-4DB2-BD59-A6C34878D82A}">
                    <a16:rowId xmlns:a16="http://schemas.microsoft.com/office/drawing/2014/main" val="10002"/>
                  </a:ext>
                </a:extLst>
              </a:tr>
              <a:tr h="654844">
                <a:tc>
                  <a:txBody>
                    <a:bodyPr/>
                    <a:lstStyle/>
                    <a:p>
                      <a:r>
                        <a:rPr sz="2025" b="0" dirty="0">
                          <a:solidFill>
                            <a:srgbClr val="30343B"/>
                          </a:solidFill>
                          <a:latin typeface="Calibri"/>
                          <a:ea typeface="Calibri"/>
                          <a:cs typeface="Calibri"/>
                        </a:rPr>
                        <a:t>RMSE</a:t>
                      </a:r>
                      <a:r>
                        <a:rPr lang="tr-TR" sz="2025" b="0" dirty="0">
                          <a:solidFill>
                            <a:srgbClr val="30343B"/>
                          </a:solidFill>
                          <a:latin typeface="+mn-lt"/>
                          <a:ea typeface="Calibri"/>
                          <a:cs typeface="Calibri"/>
                        </a:rPr>
                        <a:t>(</a:t>
                      </a:r>
                      <a:r>
                        <a:rPr lang="tr-TR" sz="2025" b="0" dirty="0" err="1">
                          <a:solidFill>
                            <a:srgbClr val="30343B"/>
                          </a:solidFill>
                          <a:latin typeface="+mn-lt"/>
                          <a:ea typeface="Calibri"/>
                          <a:cs typeface="Calibri"/>
                        </a:rPr>
                        <a:t>Root</a:t>
                      </a:r>
                      <a:r>
                        <a:rPr lang="tr-TR" sz="2025" b="0" dirty="0">
                          <a:solidFill>
                            <a:srgbClr val="30343B"/>
                          </a:solidFill>
                          <a:latin typeface="+mn-lt"/>
                          <a:ea typeface="Calibri"/>
                          <a:cs typeface="Calibri"/>
                        </a:rPr>
                        <a:t> </a:t>
                      </a:r>
                      <a:r>
                        <a:rPr lang="tr-TR" sz="2025" b="0" dirty="0" err="1">
                          <a:solidFill>
                            <a:srgbClr val="30343B"/>
                          </a:solidFill>
                          <a:latin typeface="+mn-lt"/>
                          <a:ea typeface="Calibri"/>
                          <a:cs typeface="Calibri"/>
                        </a:rPr>
                        <a:t>Mean</a:t>
                      </a:r>
                      <a:r>
                        <a:rPr lang="tr-TR" sz="2025" b="0" dirty="0">
                          <a:solidFill>
                            <a:srgbClr val="30343B"/>
                          </a:solidFill>
                          <a:latin typeface="+mn-lt"/>
                          <a:ea typeface="Calibri"/>
                          <a:cs typeface="Calibri"/>
                        </a:rPr>
                        <a:t> </a:t>
                      </a:r>
                      <a:r>
                        <a:rPr lang="tr-TR" sz="2025" b="0" dirty="0" err="1">
                          <a:solidFill>
                            <a:srgbClr val="30343B"/>
                          </a:solidFill>
                          <a:latin typeface="+mn-lt"/>
                          <a:ea typeface="Calibri"/>
                          <a:cs typeface="Calibri"/>
                        </a:rPr>
                        <a:t>Square</a:t>
                      </a:r>
                      <a:r>
                        <a:rPr lang="tr-TR" sz="2025" b="0" dirty="0">
                          <a:solidFill>
                            <a:srgbClr val="30343B"/>
                          </a:solidFill>
                          <a:latin typeface="+mn-lt"/>
                          <a:ea typeface="Calibri"/>
                          <a:cs typeface="Calibri"/>
                        </a:rPr>
                        <a:t> </a:t>
                      </a:r>
                      <a:r>
                        <a:rPr lang="tr-TR" sz="2025" b="0" dirty="0" err="1">
                          <a:solidFill>
                            <a:srgbClr val="30343B"/>
                          </a:solidFill>
                          <a:latin typeface="+mn-lt"/>
                          <a:ea typeface="Calibri"/>
                          <a:cs typeface="Calibri"/>
                        </a:rPr>
                        <a:t>Error</a:t>
                      </a:r>
                      <a:r>
                        <a:rPr lang="tr-TR" sz="2025" b="0" dirty="0">
                          <a:solidFill>
                            <a:srgbClr val="30343B"/>
                          </a:solidFill>
                          <a:latin typeface="+mn-lt"/>
                          <a:ea typeface="Calibri"/>
                          <a:cs typeface="Calibri"/>
                        </a:rPr>
                        <a:t>)</a:t>
                      </a:r>
                      <a:endParaRPr sz="2025" b="0" dirty="0">
                        <a:solidFill>
                          <a:srgbClr val="30343B"/>
                        </a:solidFill>
                        <a:latin typeface="Calibri"/>
                        <a:ea typeface="Calibri"/>
                        <a:cs typeface="Calibri"/>
                      </a:endParaRPr>
                    </a:p>
                  </a:txBody>
                  <a:tcPr marL="114300" marR="114300" marT="95250" marB="95250" anchor="ctr">
                    <a:solidFill>
                      <a:srgbClr val="FFFFFF"/>
                    </a:solidFill>
                  </a:tcPr>
                </a:tc>
                <a:tc>
                  <a:txBody>
                    <a:bodyPr/>
                    <a:lstStyle/>
                    <a:p>
                      <a:r>
                        <a:rPr sz="2025" b="0">
                          <a:solidFill>
                            <a:srgbClr val="30343B"/>
                          </a:solidFill>
                          <a:latin typeface="Calibri"/>
                          <a:ea typeface="Calibri"/>
                          <a:cs typeface="Calibri"/>
                        </a:rPr>
                        <a:t>√4.062,5</a:t>
                      </a:r>
                    </a:p>
                  </a:txBody>
                  <a:tcPr marL="114300" marR="114300" marT="95250" marB="95250" anchor="ctr">
                    <a:solidFill>
                      <a:srgbClr val="FFFFFF"/>
                    </a:solidFill>
                  </a:tcPr>
                </a:tc>
                <a:tc>
                  <a:txBody>
                    <a:bodyPr/>
                    <a:lstStyle/>
                    <a:p>
                      <a:r>
                        <a:rPr sz="2025" b="0">
                          <a:solidFill>
                            <a:srgbClr val="30343B"/>
                          </a:solidFill>
                          <a:latin typeface="Calibri"/>
                          <a:ea typeface="Calibri"/>
                          <a:cs typeface="Calibri"/>
                        </a:rPr>
                        <a:t>≈ 63,74</a:t>
                      </a:r>
                    </a:p>
                  </a:txBody>
                  <a:tcPr marL="114300" marR="114300" marT="95250" marB="95250" anchor="ctr">
                    <a:solidFill>
                      <a:srgbClr val="FFFFFF"/>
                    </a:solidFill>
                  </a:tcPr>
                </a:tc>
                <a:tc>
                  <a:txBody>
                    <a:bodyPr/>
                    <a:lstStyle/>
                    <a:p>
                      <a:r>
                        <a:rPr sz="2025" b="0" dirty="0">
                          <a:solidFill>
                            <a:srgbClr val="30343B"/>
                          </a:solidFill>
                          <a:latin typeface="Calibri"/>
                          <a:ea typeface="Calibri"/>
                          <a:cs typeface="Calibri"/>
                        </a:rPr>
                        <a:t>bin TL</a:t>
                      </a:r>
                    </a:p>
                  </a:txBody>
                  <a:tcPr marL="114300" marR="114300" marT="95250" marB="95250"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61125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9" name="Text 0">
            <a:extLst>
              <a:ext uri="{FF2B5EF4-FFF2-40B4-BE49-F238E27FC236}">
                <a16:creationId xmlns:a16="http://schemas.microsoft.com/office/drawing/2014/main" id="{35CD72CD-AE8C-48D5-ADFD-50F4A793769C}"/>
              </a:ext>
            </a:extLst>
          </p:cNvPr>
          <p:cNvSpPr/>
          <p:nvPr/>
        </p:nvSpPr>
        <p:spPr>
          <a:xfrm>
            <a:off x="457200" y="285750"/>
            <a:ext cx="11239500" cy="685800"/>
          </a:xfrm>
          <a:prstGeom prst="rect">
            <a:avLst/>
          </a:prstGeom>
          <a:noFill/>
          <a:ln/>
        </p:spPr>
        <p:txBody>
          <a:bodyPr wrap="square" lIns="0" tIns="0" rIns="0" bIns="0" rtlCol="0" anchor="t">
            <a:noAutofit/>
          </a:bodyPr>
          <a:lstStyle/>
          <a:p>
            <a:pPr marL="0" indent="0" algn="l">
              <a:buNone/>
            </a:pPr>
            <a:r>
              <a:rPr lang="tr-TR" sz="3200" b="1" dirty="0">
                <a:solidFill>
                  <a:srgbClr val="1E2A4E"/>
                </a:solidFill>
                <a:latin typeface="Calibri"/>
                <a:ea typeface="Calibri"/>
                <a:cs typeface="Calibri"/>
              </a:rPr>
              <a:t>R²: Ortalama tahmine göre ne kadar iyiyiz?</a:t>
            </a:r>
            <a:endParaRPr lang="tr-TR" sz="3200"/>
          </a:p>
        </p:txBody>
      </p:sp>
      <p:pic>
        <p:nvPicPr>
          <p:cNvPr id="23" name="Image 1" descr="preencoded.png">
            <a:extLst>
              <a:ext uri="{FF2B5EF4-FFF2-40B4-BE49-F238E27FC236}">
                <a16:creationId xmlns:a16="http://schemas.microsoft.com/office/drawing/2014/main" id="{B5DC48ED-3A84-4A1F-93EC-5E61E42E90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3345" y="5111119"/>
            <a:ext cx="3533191" cy="1157089"/>
          </a:xfrm>
          <a:prstGeom prst="rect">
            <a:avLst/>
          </a:prstGeom>
        </p:spPr>
      </p:pic>
      <p:sp>
        <p:nvSpPr>
          <p:cNvPr id="24" name="Text 11">
            <a:extLst>
              <a:ext uri="{FF2B5EF4-FFF2-40B4-BE49-F238E27FC236}">
                <a16:creationId xmlns:a16="http://schemas.microsoft.com/office/drawing/2014/main" id="{811CB09C-14BD-4C98-8F65-E1027478E537}"/>
              </a:ext>
            </a:extLst>
          </p:cNvPr>
          <p:cNvSpPr/>
          <p:nvPr/>
        </p:nvSpPr>
        <p:spPr>
          <a:xfrm>
            <a:off x="738033" y="5289613"/>
            <a:ext cx="3100012" cy="249138"/>
          </a:xfrm>
          <a:prstGeom prst="rect">
            <a:avLst/>
          </a:prstGeom>
          <a:noFill/>
          <a:ln/>
        </p:spPr>
        <p:txBody>
          <a:bodyPr wrap="square" lIns="0" tIns="0" rIns="0" bIns="0" rtlCol="0" anchor="t">
            <a:noAutofit/>
          </a:bodyPr>
          <a:lstStyle/>
          <a:p>
            <a:pPr marL="0" indent="0" algn="l">
              <a:buNone/>
            </a:pPr>
            <a:r>
              <a:rPr lang="tr-TR" sz="1800" b="1" dirty="0">
                <a:solidFill>
                  <a:srgbClr val="1E2A4E"/>
                </a:solidFill>
                <a:latin typeface="Calibri"/>
                <a:ea typeface="Calibri"/>
                <a:cs typeface="Calibri"/>
              </a:rPr>
              <a:t>R² &lt; 0: Referanstan kötü</a:t>
            </a:r>
            <a:endParaRPr lang="tr-TR" sz="1800"/>
          </a:p>
        </p:txBody>
      </p:sp>
      <p:sp>
        <p:nvSpPr>
          <p:cNvPr id="25" name="Text 12">
            <a:extLst>
              <a:ext uri="{FF2B5EF4-FFF2-40B4-BE49-F238E27FC236}">
                <a16:creationId xmlns:a16="http://schemas.microsoft.com/office/drawing/2014/main" id="{E683826D-E097-44D2-B949-2EC52FA67A1C}"/>
              </a:ext>
            </a:extLst>
          </p:cNvPr>
          <p:cNvSpPr/>
          <p:nvPr/>
        </p:nvSpPr>
        <p:spPr>
          <a:xfrm>
            <a:off x="738033" y="5610225"/>
            <a:ext cx="3100012" cy="571500"/>
          </a:xfrm>
          <a:prstGeom prst="rect">
            <a:avLst/>
          </a:prstGeom>
          <a:noFill/>
          <a:ln/>
        </p:spPr>
        <p:txBody>
          <a:bodyPr wrap="square" lIns="0" tIns="0" rIns="0" bIns="0" rtlCol="0" anchor="t">
            <a:noAutofit/>
          </a:bodyPr>
          <a:lstStyle/>
          <a:p>
            <a:pPr marL="0" indent="0" algn="l">
              <a:buNone/>
            </a:pPr>
            <a:r>
              <a:rPr lang="tr-TR" sz="1700" b="0" dirty="0">
                <a:solidFill>
                  <a:srgbClr val="30343B"/>
                </a:solidFill>
                <a:latin typeface="Calibri"/>
                <a:ea typeface="Calibri"/>
                <a:cs typeface="Calibri"/>
              </a:rPr>
              <a:t>Ortalama tahminden daha yüksek kareli hata.</a:t>
            </a:r>
            <a:endParaRPr lang="tr-TR" sz="1700"/>
          </a:p>
        </p:txBody>
      </p:sp>
      <p:pic>
        <p:nvPicPr>
          <p:cNvPr id="26" name="Image 2" descr="preencoded.png">
            <a:extLst>
              <a:ext uri="{FF2B5EF4-FFF2-40B4-BE49-F238E27FC236}">
                <a16:creationId xmlns:a16="http://schemas.microsoft.com/office/drawing/2014/main" id="{4723FAE1-950B-4CC1-88C2-2A8708EEFB7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51073" y="5111119"/>
            <a:ext cx="3533191" cy="1157089"/>
          </a:xfrm>
          <a:prstGeom prst="rect">
            <a:avLst/>
          </a:prstGeom>
        </p:spPr>
      </p:pic>
      <p:sp>
        <p:nvSpPr>
          <p:cNvPr id="27" name="Text 13">
            <a:extLst>
              <a:ext uri="{FF2B5EF4-FFF2-40B4-BE49-F238E27FC236}">
                <a16:creationId xmlns:a16="http://schemas.microsoft.com/office/drawing/2014/main" id="{AE06F089-A0A6-4187-919B-FBD670D2A112}"/>
              </a:ext>
            </a:extLst>
          </p:cNvPr>
          <p:cNvSpPr/>
          <p:nvPr/>
        </p:nvSpPr>
        <p:spPr>
          <a:xfrm>
            <a:off x="4405761" y="5289613"/>
            <a:ext cx="3100012" cy="249138"/>
          </a:xfrm>
          <a:prstGeom prst="rect">
            <a:avLst/>
          </a:prstGeom>
          <a:noFill/>
          <a:ln/>
        </p:spPr>
        <p:txBody>
          <a:bodyPr wrap="square" lIns="0" tIns="0" rIns="0" bIns="0" rtlCol="0" anchor="t">
            <a:noAutofit/>
          </a:bodyPr>
          <a:lstStyle/>
          <a:p>
            <a:pPr marL="0" indent="0" algn="l">
              <a:buNone/>
            </a:pPr>
            <a:r>
              <a:rPr lang="tr-TR" sz="1800" b="1" dirty="0">
                <a:solidFill>
                  <a:srgbClr val="1E2A4E"/>
                </a:solidFill>
                <a:latin typeface="Calibri"/>
                <a:ea typeface="Calibri"/>
                <a:cs typeface="Calibri"/>
              </a:rPr>
              <a:t>R² = 0: Referansla aynı</a:t>
            </a:r>
            <a:endParaRPr lang="tr-TR" sz="1800"/>
          </a:p>
        </p:txBody>
      </p:sp>
      <p:sp>
        <p:nvSpPr>
          <p:cNvPr id="28" name="Text 14">
            <a:extLst>
              <a:ext uri="{FF2B5EF4-FFF2-40B4-BE49-F238E27FC236}">
                <a16:creationId xmlns:a16="http://schemas.microsoft.com/office/drawing/2014/main" id="{0BD1300D-69C2-4357-A827-1946ACBDDCC4}"/>
              </a:ext>
            </a:extLst>
          </p:cNvPr>
          <p:cNvSpPr/>
          <p:nvPr/>
        </p:nvSpPr>
        <p:spPr>
          <a:xfrm>
            <a:off x="4405761" y="5610225"/>
            <a:ext cx="3100012" cy="571500"/>
          </a:xfrm>
          <a:prstGeom prst="rect">
            <a:avLst/>
          </a:prstGeom>
          <a:noFill/>
          <a:ln/>
        </p:spPr>
        <p:txBody>
          <a:bodyPr wrap="square" lIns="0" tIns="0" rIns="0" bIns="0" rtlCol="0" anchor="t">
            <a:noAutofit/>
          </a:bodyPr>
          <a:lstStyle/>
          <a:p>
            <a:pPr marL="0" indent="0" algn="l">
              <a:buNone/>
            </a:pPr>
            <a:r>
              <a:rPr lang="tr-TR" sz="1700" b="0" dirty="0">
                <a:solidFill>
                  <a:srgbClr val="30343B"/>
                </a:solidFill>
                <a:latin typeface="Calibri"/>
                <a:ea typeface="Calibri"/>
                <a:cs typeface="Calibri"/>
              </a:rPr>
              <a:t>Ortalama tahminle aynı kareli hata.</a:t>
            </a:r>
            <a:endParaRPr lang="tr-TR" sz="1700"/>
          </a:p>
        </p:txBody>
      </p:sp>
      <p:pic>
        <p:nvPicPr>
          <p:cNvPr id="29" name="Image 3" descr="preencoded.png">
            <a:extLst>
              <a:ext uri="{FF2B5EF4-FFF2-40B4-BE49-F238E27FC236}">
                <a16:creationId xmlns:a16="http://schemas.microsoft.com/office/drawing/2014/main" id="{AD4E2145-F1A9-4CF9-A5B9-A5EF3FA743E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18800" y="5111119"/>
            <a:ext cx="3533191" cy="1157089"/>
          </a:xfrm>
          <a:prstGeom prst="rect">
            <a:avLst/>
          </a:prstGeom>
        </p:spPr>
      </p:pic>
      <p:sp>
        <p:nvSpPr>
          <p:cNvPr id="30" name="Text 15">
            <a:extLst>
              <a:ext uri="{FF2B5EF4-FFF2-40B4-BE49-F238E27FC236}">
                <a16:creationId xmlns:a16="http://schemas.microsoft.com/office/drawing/2014/main" id="{ED817941-AF5D-46B0-B968-67CCC6F12F55}"/>
              </a:ext>
            </a:extLst>
          </p:cNvPr>
          <p:cNvSpPr/>
          <p:nvPr/>
        </p:nvSpPr>
        <p:spPr>
          <a:xfrm>
            <a:off x="8073489" y="5289613"/>
            <a:ext cx="3100012" cy="249138"/>
          </a:xfrm>
          <a:prstGeom prst="rect">
            <a:avLst/>
          </a:prstGeom>
          <a:noFill/>
          <a:ln/>
        </p:spPr>
        <p:txBody>
          <a:bodyPr wrap="square" lIns="0" tIns="0" rIns="0" bIns="0" rtlCol="0" anchor="t">
            <a:noAutofit/>
          </a:bodyPr>
          <a:lstStyle/>
          <a:p>
            <a:pPr marL="0" indent="0" algn="l">
              <a:buNone/>
            </a:pPr>
            <a:r>
              <a:rPr lang="tr-TR" sz="1800" b="1" dirty="0">
                <a:solidFill>
                  <a:srgbClr val="1E2A4E"/>
                </a:solidFill>
                <a:latin typeface="Calibri"/>
                <a:ea typeface="Calibri"/>
                <a:cs typeface="Calibri"/>
              </a:rPr>
              <a:t>R² = 1: Tam uyum</a:t>
            </a:r>
            <a:endParaRPr lang="tr-TR" sz="1800"/>
          </a:p>
        </p:txBody>
      </p:sp>
      <p:sp>
        <p:nvSpPr>
          <p:cNvPr id="31" name="Text 16">
            <a:extLst>
              <a:ext uri="{FF2B5EF4-FFF2-40B4-BE49-F238E27FC236}">
                <a16:creationId xmlns:a16="http://schemas.microsoft.com/office/drawing/2014/main" id="{F5B17071-ADBD-4050-BF89-614AE37A939F}"/>
              </a:ext>
            </a:extLst>
          </p:cNvPr>
          <p:cNvSpPr/>
          <p:nvPr/>
        </p:nvSpPr>
        <p:spPr>
          <a:xfrm>
            <a:off x="8073489" y="5610225"/>
            <a:ext cx="3100012" cy="571500"/>
          </a:xfrm>
          <a:prstGeom prst="rect">
            <a:avLst/>
          </a:prstGeom>
          <a:noFill/>
          <a:ln/>
        </p:spPr>
        <p:txBody>
          <a:bodyPr wrap="square" lIns="0" tIns="0" rIns="0" bIns="0" rtlCol="0" anchor="t">
            <a:noAutofit/>
          </a:bodyPr>
          <a:lstStyle/>
          <a:p>
            <a:pPr marL="0" indent="0" algn="l">
              <a:buNone/>
            </a:pPr>
            <a:r>
              <a:rPr lang="tr-TR" sz="1700" b="0" dirty="0">
                <a:solidFill>
                  <a:srgbClr val="30343B"/>
                </a:solidFill>
                <a:latin typeface="Calibri"/>
                <a:ea typeface="Calibri"/>
                <a:cs typeface="Calibri"/>
              </a:rPr>
              <a:t>Bu örneklerde hata yok. Yeni veri başarısı ayrıca ölçülür.</a:t>
            </a:r>
            <a:endParaRPr lang="tr-TR" sz="1700"/>
          </a:p>
        </p:txBody>
      </p:sp>
      <p:sp>
        <p:nvSpPr>
          <p:cNvPr id="100" name="R² = 1 − Modelin kareli hatası / Ortalama tahminin"/>
          <p:cNvSpPr txBox="1"/>
          <p:nvPr/>
        </p:nvSpPr>
        <p:spPr>
          <a:xfrm>
            <a:off x="457200" y="1200150"/>
            <a:ext cx="11144250" cy="600075"/>
          </a:xfrm>
          <a:prstGeom prst="rect">
            <a:avLst/>
          </a:prstGeom>
          <a:noFill/>
          <a:ln>
            <a:noFill/>
          </a:ln>
        </p:spPr>
        <p:txBody>
          <a:bodyPr wrap="square" lIns="0" tIns="0" rIns="0" bIns="0">
            <a:noAutofit/>
          </a:bodyPr>
          <a:lstStyle/>
          <a:p>
            <a:pPr marL="0" indent="0">
              <a:lnSpc>
                <a:spcPct val="110000"/>
              </a:lnSpc>
              <a:spcAft>
                <a:spcPts val="0"/>
              </a:spcAft>
            </a:pPr>
            <a:r>
              <a:rPr lang="tr-TR" sz="2300">
                <a:solidFill>
                  <a:srgbClr val="1E2A4E"/>
                </a:solidFill>
                <a:latin typeface="Calibri"/>
                <a:ea typeface="Calibri"/>
                <a:cs typeface="Calibri"/>
              </a:rPr>
              <a:t>R² = 1 − Modelin kareli hatası / Ortalama tahminin kareli hatası</a:t>
            </a:r>
            <a:endParaRPr lang="tr-TR" sz="2300"/>
          </a:p>
        </p:txBody>
      </p:sp>
      <p:sp>
        <p:nvSpPr>
          <p:cNvPr id="101" name="Önceki örnek: Ortalama gerçek fiyat = 1.750 bin TL"/>
          <p:cNvSpPr txBox="1"/>
          <p:nvPr/>
        </p:nvSpPr>
        <p:spPr>
          <a:xfrm>
            <a:off x="457200" y="2124075"/>
            <a:ext cx="5210175" cy="1000125"/>
          </a:xfrm>
          <a:prstGeom prst="rect">
            <a:avLst/>
          </a:prstGeom>
          <a:noFill/>
          <a:ln>
            <a:noFill/>
          </a:ln>
        </p:spPr>
        <p:txBody>
          <a:bodyPr wrap="square" lIns="0" tIns="0" rIns="0" bIns="0">
            <a:noAutofit/>
          </a:bodyPr>
          <a:lstStyle/>
          <a:p>
            <a:pPr marL="0" indent="0">
              <a:lnSpc>
                <a:spcPct val="110000"/>
              </a:lnSpc>
              <a:spcAft>
                <a:spcPts val="0"/>
              </a:spcAft>
            </a:pPr>
            <a:r>
              <a:rPr lang="tr-TR" sz="2400" b="1">
                <a:solidFill>
                  <a:srgbClr val="1E2A4E"/>
                </a:solidFill>
                <a:latin typeface="Calibri"/>
                <a:ea typeface="Calibri"/>
                <a:cs typeface="Calibri"/>
              </a:rPr>
              <a:t>Önceki örnek: Ortalama gerçek fiyat = 1.750 bin TL</a:t>
            </a:r>
            <a:endParaRPr lang="tr-TR" sz="2400"/>
          </a:p>
          <a:p>
            <a:pPr marL="0" indent="0">
              <a:lnSpc>
                <a:spcPct val="110000"/>
              </a:lnSpc>
              <a:spcAft>
                <a:spcPts val="0"/>
              </a:spcAft>
            </a:pPr>
            <a:r>
              <a:rPr lang="tr-TR" sz="2400" b="1">
                <a:solidFill>
                  <a:srgbClr val="1E2A4E"/>
                </a:solidFill>
                <a:latin typeface="Calibri"/>
                <a:ea typeface="Calibri"/>
                <a:cs typeface="Calibri"/>
              </a:rPr>
              <a:t>R² = 1 − 8.125 / 20.000 ≈ 0,594</a:t>
            </a:r>
            <a:endParaRPr lang="tr-TR" sz="2400"/>
          </a:p>
        </p:txBody>
      </p:sp>
      <p:sp>
        <p:nvSpPr>
          <p:cNvPr id="102" name="Bu veri üzerinde karşılaştırmadır. %59,4 doğru tah"/>
          <p:cNvSpPr txBox="1"/>
          <p:nvPr/>
        </p:nvSpPr>
        <p:spPr>
          <a:xfrm>
            <a:off x="457200" y="3476625"/>
            <a:ext cx="5210175" cy="942975"/>
          </a:xfrm>
          <a:prstGeom prst="rect">
            <a:avLst/>
          </a:prstGeom>
          <a:noFill/>
          <a:ln>
            <a:noFill/>
          </a:ln>
        </p:spPr>
        <p:txBody>
          <a:bodyPr wrap="square" lIns="0" tIns="0" rIns="0" bIns="0">
            <a:noAutofit/>
          </a:bodyPr>
          <a:lstStyle/>
          <a:p>
            <a:pPr marL="0" indent="0">
              <a:lnSpc>
                <a:spcPct val="110000"/>
              </a:lnSpc>
              <a:spcAft>
                <a:spcPts val="0"/>
              </a:spcAft>
            </a:pPr>
            <a:r>
              <a:rPr lang="tr-TR" sz="2400">
                <a:solidFill>
                  <a:srgbClr val="30343B"/>
                </a:solidFill>
                <a:latin typeface="Calibri"/>
                <a:ea typeface="Calibri"/>
                <a:cs typeface="Calibri"/>
              </a:rPr>
              <a:t>Bu veri üzerinde karşılaştırmadır.</a:t>
            </a:r>
            <a:endParaRPr lang="tr-TR" sz="2400"/>
          </a:p>
          <a:p>
            <a:pPr marL="0" indent="0">
              <a:lnSpc>
                <a:spcPct val="110000"/>
              </a:lnSpc>
              <a:spcAft>
                <a:spcPts val="0"/>
              </a:spcAft>
            </a:pPr>
            <a:r>
              <a:rPr lang="tr-TR" sz="2400">
                <a:solidFill>
                  <a:srgbClr val="30343B"/>
                </a:solidFill>
                <a:latin typeface="Calibri"/>
                <a:ea typeface="Calibri"/>
                <a:cs typeface="Calibri"/>
              </a:rPr>
              <a:t>%59,4 doğru tahmin demek değildir.</a:t>
            </a:r>
            <a:endParaRPr lang="tr-TR" sz="2400"/>
          </a:p>
        </p:txBody>
      </p:sp>
      <p:graphicFrame>
        <p:nvGraphicFramePr>
          <p:cNvPr id="103" name="Chart"/>
          <p:cNvGraphicFramePr/>
          <p:nvPr/>
        </p:nvGraphicFramePr>
        <p:xfrm>
          <a:off x="6057900" y="1971675"/>
          <a:ext cx="5524500" cy="2876550"/>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373985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58D912F-E57D-4BA8-B2E3-05DB4B526878}"/>
              </a:ext>
            </a:extLst>
          </p:cNvPr>
          <p:cNvSpPr/>
          <p:nvPr/>
        </p:nvSpPr>
        <p:spPr>
          <a:xfrm>
            <a:off x="457200" y="285750"/>
            <a:ext cx="11239500" cy="685800"/>
          </a:xfrm>
          <a:prstGeom prst="rect">
            <a:avLst/>
          </a:prstGeom>
          <a:noFill/>
          <a:ln/>
        </p:spPr>
        <p:txBody>
          <a:bodyPr wrap="square" lIns="0" tIns="0" rIns="0" bIns="0" rtlCol="0" anchor="t">
            <a:noAutofit/>
          </a:bodyPr>
          <a:lstStyle/>
          <a:p>
            <a:pPr marL="0" indent="0" algn="l">
              <a:buNone/>
            </a:pPr>
            <a:r>
              <a:rPr lang="tr-TR" sz="3200" b="1" dirty="0">
                <a:solidFill>
                  <a:srgbClr val="1E2A4E"/>
                </a:solidFill>
                <a:latin typeface="Calibri"/>
                <a:ea typeface="Calibri"/>
                <a:cs typeface="Calibri"/>
              </a:rPr>
              <a:t>Karışıklık matrisi: Hangi hataları yapıyoruz?</a:t>
            </a:r>
            <a:endParaRPr lang="tr-TR" sz="3200"/>
          </a:p>
        </p:txBody>
      </p:sp>
      <p:sp>
        <p:nvSpPr>
          <p:cNvPr id="3" name="Text 1">
            <a:extLst>
              <a:ext uri="{FF2B5EF4-FFF2-40B4-BE49-F238E27FC236}">
                <a16:creationId xmlns:a16="http://schemas.microsoft.com/office/drawing/2014/main" id="{29EDDE81-46D0-4D42-8884-860A2FC9D072}"/>
              </a:ext>
            </a:extLst>
          </p:cNvPr>
          <p:cNvSpPr/>
          <p:nvPr/>
        </p:nvSpPr>
        <p:spPr>
          <a:xfrm>
            <a:off x="457200" y="1209675"/>
            <a:ext cx="11144250" cy="514350"/>
          </a:xfrm>
          <a:prstGeom prst="rect">
            <a:avLst/>
          </a:prstGeom>
          <a:noFill/>
          <a:ln/>
        </p:spPr>
        <p:txBody>
          <a:bodyPr wrap="square" lIns="0" tIns="0" rIns="0" bIns="0" rtlCol="0" anchor="t">
            <a:noAutofit/>
          </a:bodyPr>
          <a:lstStyle/>
          <a:p>
            <a:pPr marL="0" indent="0" algn="ctr">
              <a:buNone/>
            </a:pPr>
            <a:r>
              <a:rPr lang="tr-TR" sz="2300" b="0" dirty="0">
                <a:solidFill>
                  <a:srgbClr val="1E2A4E"/>
                </a:solidFill>
                <a:latin typeface="Calibri"/>
                <a:ea typeface="Calibri"/>
                <a:cs typeface="Calibri"/>
              </a:rPr>
              <a:t>Temsili film yorumu örneği. Pozitif sınıf: Olumlu yorum</a:t>
            </a:r>
            <a:endParaRPr lang="tr-TR" sz="2300"/>
          </a:p>
        </p:txBody>
      </p:sp>
      <p:sp>
        <p:nvSpPr>
          <p:cNvPr id="4" name="Text 2">
            <a:extLst>
              <a:ext uri="{FF2B5EF4-FFF2-40B4-BE49-F238E27FC236}">
                <a16:creationId xmlns:a16="http://schemas.microsoft.com/office/drawing/2014/main" id="{DB6C8FC9-B5EB-4520-8115-4BDE458582EA}"/>
              </a:ext>
            </a:extLst>
          </p:cNvPr>
          <p:cNvSpPr/>
          <p:nvPr/>
        </p:nvSpPr>
        <p:spPr>
          <a:xfrm>
            <a:off x="457200" y="1905000"/>
            <a:ext cx="11144250" cy="514350"/>
          </a:xfrm>
          <a:prstGeom prst="rect">
            <a:avLst/>
          </a:prstGeom>
          <a:noFill/>
          <a:ln/>
        </p:spPr>
        <p:txBody>
          <a:bodyPr wrap="square" lIns="0" tIns="0" rIns="0" bIns="0" rtlCol="0" anchor="t">
            <a:noAutofit/>
          </a:bodyPr>
          <a:lstStyle/>
          <a:p>
            <a:pPr marL="0" indent="0" algn="ctr">
              <a:buNone/>
            </a:pPr>
            <a:r>
              <a:rPr lang="tr-TR" sz="2200" b="0" dirty="0">
                <a:solidFill>
                  <a:srgbClr val="30343B"/>
                </a:solidFill>
                <a:latin typeface="Calibri"/>
                <a:ea typeface="Calibri"/>
                <a:cs typeface="Calibri"/>
              </a:rPr>
              <a:t>Satırlar gerçek sınıf, sütunlar model tahmini. Toplam 100 yorum.</a:t>
            </a:r>
            <a:endParaRPr lang="tr-TR" sz="2200"/>
          </a:p>
        </p:txBody>
      </p:sp>
      <p:graphicFrame>
        <p:nvGraphicFramePr>
          <p:cNvPr id="5" name="Table 0">
            <a:extLst>
              <a:ext uri="{FF2B5EF4-FFF2-40B4-BE49-F238E27FC236}">
                <a16:creationId xmlns:a16="http://schemas.microsoft.com/office/drawing/2014/main" id="{54101BE8-6960-440F-B27E-80AD14E06550}"/>
              </a:ext>
            </a:extLst>
          </p:cNvPr>
          <p:cNvGraphicFramePr>
            <a:graphicFrameLocks noGrp="1"/>
          </p:cNvGraphicFramePr>
          <p:nvPr>
            <p:extLst>
              <p:ext uri="{D42A27DB-BD31-4B8C-83A1-F6EECF244321}">
                <p14:modId xmlns:p14="http://schemas.microsoft.com/office/powerpoint/2010/main" val="137840384"/>
              </p:ext>
            </p:extLst>
          </p:nvPr>
        </p:nvGraphicFramePr>
        <p:xfrm>
          <a:off x="657225" y="2809875"/>
          <a:ext cx="10868745" cy="2455801"/>
        </p:xfrm>
        <a:graphic>
          <a:graphicData uri="http://schemas.openxmlformats.org/drawingml/2006/table">
            <a:tbl>
              <a:tblPr/>
              <a:tblGrid>
                <a:gridCol w="2173749">
                  <a:extLst>
                    <a:ext uri="{9D8B030D-6E8A-4147-A177-3AD203B41FA5}">
                      <a16:colId xmlns:a16="http://schemas.microsoft.com/office/drawing/2014/main" val="20000"/>
                    </a:ext>
                  </a:extLst>
                </a:gridCol>
                <a:gridCol w="4347498">
                  <a:extLst>
                    <a:ext uri="{9D8B030D-6E8A-4147-A177-3AD203B41FA5}">
                      <a16:colId xmlns:a16="http://schemas.microsoft.com/office/drawing/2014/main" val="20001"/>
                    </a:ext>
                  </a:extLst>
                </a:gridCol>
                <a:gridCol w="4347498">
                  <a:extLst>
                    <a:ext uri="{9D8B030D-6E8A-4147-A177-3AD203B41FA5}">
                      <a16:colId xmlns:a16="http://schemas.microsoft.com/office/drawing/2014/main" val="20002"/>
                    </a:ext>
                  </a:extLst>
                </a:gridCol>
              </a:tblGrid>
              <a:tr h="545094">
                <a:tc>
                  <a:txBody>
                    <a:bodyPr/>
                    <a:lstStyle/>
                    <a:p>
                      <a:pPr marL="0" indent="0">
                        <a:buNone/>
                      </a:pPr>
                      <a:endParaRPr lang="tr-TR" sz="2200"/>
                    </a:p>
                  </a:txBody>
                  <a:tcPr marL="189018" marR="189018"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tcPr>
                </a:tc>
                <a:tc>
                  <a:txBody>
                    <a:bodyPr/>
                    <a:lstStyle/>
                    <a:p>
                      <a:pPr marL="0" indent="0" algn="l">
                        <a:buNone/>
                      </a:pPr>
                      <a:r>
                        <a:rPr lang="tr-TR" sz="2200" b="1" dirty="0">
                          <a:solidFill>
                            <a:srgbClr val="1E2A4E"/>
                          </a:solidFill>
                          <a:latin typeface="Calibri"/>
                          <a:ea typeface="Calibri"/>
                          <a:cs typeface="Calibri"/>
                        </a:rPr>
                        <a:t>Tahmin: Olumlu</a:t>
                      </a:r>
                      <a:endParaRPr lang="tr-TR" sz="2200"/>
                    </a:p>
                  </a:txBody>
                  <a:tcPr marL="189018" marR="189018"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tcPr>
                </a:tc>
                <a:tc>
                  <a:txBody>
                    <a:bodyPr/>
                    <a:lstStyle/>
                    <a:p>
                      <a:pPr marL="0" indent="0" algn="l">
                        <a:buNone/>
                      </a:pPr>
                      <a:r>
                        <a:rPr lang="tr-TR" sz="2200" b="1" dirty="0">
                          <a:solidFill>
                            <a:srgbClr val="1E2A4E"/>
                          </a:solidFill>
                          <a:latin typeface="Calibri"/>
                          <a:ea typeface="Calibri"/>
                          <a:cs typeface="Calibri"/>
                        </a:rPr>
                        <a:t>Tahmin: Olumsuz</a:t>
                      </a:r>
                      <a:endParaRPr lang="tr-TR" sz="2200"/>
                    </a:p>
                  </a:txBody>
                  <a:tcPr marL="189018" marR="189018"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tcPr>
                </a:tc>
                <a:extLst>
                  <a:ext uri="{0D108BD9-81ED-4DB2-BD59-A6C34878D82A}">
                    <a16:rowId xmlns:a16="http://schemas.microsoft.com/office/drawing/2014/main" val="10000"/>
                  </a:ext>
                </a:extLst>
              </a:tr>
              <a:tr h="956941">
                <a:tc>
                  <a:txBody>
                    <a:bodyPr/>
                    <a:lstStyle/>
                    <a:p>
                      <a:pPr marL="0" indent="0" algn="l">
                        <a:buNone/>
                      </a:pPr>
                      <a:r>
                        <a:rPr lang="tr-TR" sz="2200" b="0" dirty="0">
                          <a:solidFill>
                            <a:srgbClr val="30343B"/>
                          </a:solidFill>
                          <a:latin typeface="Calibri"/>
                          <a:ea typeface="Calibri"/>
                          <a:cs typeface="Calibri"/>
                        </a:rPr>
                        <a:t>Gerçek: Olumlu</a:t>
                      </a:r>
                      <a:endParaRPr lang="tr-TR" sz="2200"/>
                    </a:p>
                  </a:txBody>
                  <a:tcPr marL="189018" marR="189018"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tcPr>
                </a:tc>
                <a:tc>
                  <a:txBody>
                    <a:bodyPr/>
                    <a:lstStyle/>
                    <a:p>
                      <a:pPr marL="0" indent="0" algn="l">
                        <a:buNone/>
                      </a:pPr>
                      <a:r>
                        <a:rPr lang="tr-TR" sz="2200" b="0" dirty="0">
                          <a:solidFill>
                            <a:srgbClr val="FFFFFF"/>
                          </a:solidFill>
                          <a:latin typeface="Calibri"/>
                          <a:ea typeface="Calibri"/>
                          <a:cs typeface="Calibri"/>
                        </a:rPr>
                        <a:t>TP = 40</a:t>
                      </a:r>
                      <a:endParaRPr lang="tr-TR" sz="2200"/>
                    </a:p>
                    <a:p>
                      <a:pPr marL="0" indent="0" algn="l">
                        <a:buNone/>
                      </a:pPr>
                      <a:r>
                        <a:rPr lang="tr-TR" sz="2200" b="0" dirty="0">
                          <a:solidFill>
                            <a:srgbClr val="FFFFFF"/>
                          </a:solidFill>
                          <a:latin typeface="Calibri"/>
                          <a:ea typeface="Calibri"/>
                          <a:cs typeface="Calibri"/>
                        </a:rPr>
                        <a:t>Doğru pozitif</a:t>
                      </a:r>
                      <a:endParaRPr lang="tr-TR" sz="2200"/>
                    </a:p>
                  </a:txBody>
                  <a:tcPr marL="189018" marR="189018"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2F4F4F"/>
                    </a:solidFill>
                  </a:tcPr>
                </a:tc>
                <a:tc>
                  <a:txBody>
                    <a:bodyPr/>
                    <a:lstStyle/>
                    <a:p>
                      <a:pPr marL="0" indent="0" algn="l">
                        <a:buNone/>
                      </a:pPr>
                      <a:r>
                        <a:rPr lang="tr-TR" sz="2200" b="0" dirty="0">
                          <a:solidFill>
                            <a:srgbClr val="FFFFFF"/>
                          </a:solidFill>
                          <a:latin typeface="Calibri"/>
                          <a:ea typeface="Calibri"/>
                          <a:cs typeface="Calibri"/>
                        </a:rPr>
                        <a:t>FN = 20</a:t>
                      </a:r>
                      <a:endParaRPr lang="tr-TR" sz="2200"/>
                    </a:p>
                    <a:p>
                      <a:pPr marL="0" indent="0" algn="l">
                        <a:buNone/>
                      </a:pPr>
                      <a:r>
                        <a:rPr lang="tr-TR" sz="2200" b="0" dirty="0">
                          <a:solidFill>
                            <a:srgbClr val="FFFFFF"/>
                          </a:solidFill>
                          <a:latin typeface="Calibri"/>
                          <a:ea typeface="Calibri"/>
                          <a:cs typeface="Calibri"/>
                        </a:rPr>
                        <a:t>Yanlış negatif</a:t>
                      </a:r>
                      <a:endParaRPr lang="tr-TR" sz="2200"/>
                    </a:p>
                  </a:txBody>
                  <a:tcPr marL="189018" marR="189018"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10001"/>
                  </a:ext>
                </a:extLst>
              </a:tr>
              <a:tr h="953766">
                <a:tc>
                  <a:txBody>
                    <a:bodyPr/>
                    <a:lstStyle/>
                    <a:p>
                      <a:pPr marL="0" indent="0" algn="l">
                        <a:buNone/>
                      </a:pPr>
                      <a:r>
                        <a:rPr lang="tr-TR" sz="2200" b="0" dirty="0">
                          <a:solidFill>
                            <a:srgbClr val="30343B"/>
                          </a:solidFill>
                          <a:latin typeface="Calibri"/>
                          <a:ea typeface="Calibri"/>
                          <a:cs typeface="Calibri"/>
                        </a:rPr>
                        <a:t>Gerçek: Olumsuz</a:t>
                      </a:r>
                      <a:endParaRPr lang="tr-TR" sz="2200"/>
                    </a:p>
                  </a:txBody>
                  <a:tcPr marL="189018" marR="189018"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tcPr>
                </a:tc>
                <a:tc>
                  <a:txBody>
                    <a:bodyPr/>
                    <a:lstStyle/>
                    <a:p>
                      <a:pPr marL="0" indent="0" algn="l">
                        <a:buNone/>
                      </a:pPr>
                      <a:r>
                        <a:rPr lang="tr-TR" sz="2200" b="0" dirty="0">
                          <a:solidFill>
                            <a:srgbClr val="FFFFFF"/>
                          </a:solidFill>
                          <a:latin typeface="Calibri"/>
                          <a:ea typeface="Calibri"/>
                          <a:cs typeface="Calibri"/>
                        </a:rPr>
                        <a:t>FP = 10</a:t>
                      </a:r>
                      <a:endParaRPr lang="tr-TR" sz="2200"/>
                    </a:p>
                    <a:p>
                      <a:pPr marL="0" indent="0" algn="l">
                        <a:buNone/>
                      </a:pPr>
                      <a:r>
                        <a:rPr lang="tr-TR" sz="2200" b="0" dirty="0">
                          <a:solidFill>
                            <a:srgbClr val="FFFFFF"/>
                          </a:solidFill>
                          <a:latin typeface="Calibri"/>
                          <a:ea typeface="Calibri"/>
                          <a:cs typeface="Calibri"/>
                        </a:rPr>
                        <a:t>Yanlış pozitif</a:t>
                      </a:r>
                      <a:endParaRPr lang="tr-TR" sz="2200"/>
                    </a:p>
                  </a:txBody>
                  <a:tcPr marL="189018" marR="189018"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chemeClr val="tx1">
                        <a:lumMod val="65000"/>
                        <a:lumOff val="35000"/>
                      </a:schemeClr>
                    </a:solidFill>
                  </a:tcPr>
                </a:tc>
                <a:tc>
                  <a:txBody>
                    <a:bodyPr/>
                    <a:lstStyle/>
                    <a:p>
                      <a:pPr marL="0" indent="0" algn="l">
                        <a:buNone/>
                      </a:pPr>
                      <a:r>
                        <a:rPr lang="tr-TR" sz="2200" b="0" dirty="0">
                          <a:solidFill>
                            <a:srgbClr val="FFFFFF"/>
                          </a:solidFill>
                          <a:latin typeface="Calibri"/>
                          <a:ea typeface="Calibri"/>
                          <a:cs typeface="Calibri"/>
                        </a:rPr>
                        <a:t>TN = 30</a:t>
                      </a:r>
                      <a:endParaRPr lang="tr-TR" sz="2200"/>
                    </a:p>
                    <a:p>
                      <a:pPr marL="0" indent="0" algn="l">
                        <a:buNone/>
                      </a:pPr>
                      <a:r>
                        <a:rPr lang="tr-TR" sz="2200" b="0" dirty="0">
                          <a:solidFill>
                            <a:srgbClr val="FFFFFF"/>
                          </a:solidFill>
                          <a:latin typeface="Calibri"/>
                          <a:ea typeface="Calibri"/>
                          <a:cs typeface="Calibri"/>
                        </a:rPr>
                        <a:t>Doğru negatif</a:t>
                      </a:r>
                      <a:endParaRPr lang="tr-TR" sz="2200"/>
                    </a:p>
                  </a:txBody>
                  <a:tcPr marL="189018" marR="189018" marT="6350" marB="6350"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2F4F4F"/>
                    </a:solidFill>
                  </a:tcPr>
                </a:tc>
                <a:extLst>
                  <a:ext uri="{0D108BD9-81ED-4DB2-BD59-A6C34878D82A}">
                    <a16:rowId xmlns:a16="http://schemas.microsoft.com/office/drawing/2014/main" val="10002"/>
                  </a:ext>
                </a:extLst>
              </a:tr>
            </a:tbl>
          </a:graphicData>
        </a:graphic>
      </p:graphicFrame>
      <p:sp>
        <p:nvSpPr>
          <p:cNvPr id="100" name="FP: Olumsuz yoruma “olumlu” demek. FN: Olumlu yoru"/>
          <p:cNvSpPr txBox="1"/>
          <p:nvPr/>
        </p:nvSpPr>
        <p:spPr>
          <a:xfrm>
            <a:off x="657225" y="5572125"/>
            <a:ext cx="10868025" cy="857250"/>
          </a:xfrm>
          <a:prstGeom prst="rect">
            <a:avLst/>
          </a:prstGeom>
          <a:noFill/>
          <a:ln>
            <a:noFill/>
          </a:ln>
        </p:spPr>
        <p:txBody>
          <a:bodyPr wrap="square" lIns="0" tIns="0" rIns="0" bIns="0">
            <a:noAutofit/>
          </a:bodyPr>
          <a:lstStyle/>
          <a:p>
            <a:pPr marL="0" indent="0">
              <a:lnSpc>
                <a:spcPct val="110000"/>
              </a:lnSpc>
              <a:spcAft>
                <a:spcPts val="0"/>
              </a:spcAft>
            </a:pPr>
            <a:r>
              <a:rPr lang="tr-TR" sz="2300">
                <a:solidFill>
                  <a:srgbClr val="1E2A4E"/>
                </a:solidFill>
                <a:latin typeface="Calibri"/>
                <a:ea typeface="Calibri"/>
                <a:cs typeface="Calibri"/>
              </a:rPr>
              <a:t>FP: Olumsuz yoruma “olumlu” demek.</a:t>
            </a:r>
            <a:endParaRPr lang="tr-TR" sz="2300"/>
          </a:p>
          <a:p>
            <a:pPr marL="0" indent="0">
              <a:lnSpc>
                <a:spcPct val="110000"/>
              </a:lnSpc>
              <a:spcAft>
                <a:spcPts val="0"/>
              </a:spcAft>
            </a:pPr>
            <a:r>
              <a:rPr lang="tr-TR" sz="2300">
                <a:solidFill>
                  <a:srgbClr val="1E2A4E"/>
                </a:solidFill>
                <a:latin typeface="Calibri"/>
                <a:ea typeface="Calibri"/>
                <a:cs typeface="Calibri"/>
              </a:rPr>
              <a:t>FN: Olumlu yoruma “olumsuz” demek.</a:t>
            </a:r>
            <a:endParaRPr lang="tr-TR" sz="2300"/>
          </a:p>
        </p:txBody>
      </p:sp>
    </p:spTree>
    <p:extLst>
      <p:ext uri="{BB962C8B-B14F-4D97-AF65-F5344CB8AC3E}">
        <p14:creationId xmlns:p14="http://schemas.microsoft.com/office/powerpoint/2010/main" val="2190385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2BD41A5-AD0E-4132-81A7-5857F13453AE}"/>
              </a:ext>
            </a:extLst>
          </p:cNvPr>
          <p:cNvSpPr/>
          <p:nvPr/>
        </p:nvSpPr>
        <p:spPr>
          <a:xfrm>
            <a:off x="457200" y="285750"/>
            <a:ext cx="11239500" cy="685800"/>
          </a:xfrm>
          <a:prstGeom prst="rect">
            <a:avLst/>
          </a:prstGeom>
          <a:noFill/>
          <a:ln/>
        </p:spPr>
        <p:txBody>
          <a:bodyPr wrap="square" lIns="0" tIns="0" rIns="0" bIns="0" rtlCol="0" anchor="t">
            <a:noAutofit/>
          </a:bodyPr>
          <a:lstStyle/>
          <a:p>
            <a:pPr marL="0" indent="0" algn="l">
              <a:buNone/>
            </a:pPr>
            <a:r>
              <a:rPr lang="tr-TR" sz="3200" b="1" dirty="0">
                <a:solidFill>
                  <a:srgbClr val="1E2A4E"/>
                </a:solidFill>
                <a:latin typeface="Calibri"/>
                <a:ea typeface="Calibri"/>
                <a:cs typeface="Calibri"/>
              </a:rPr>
              <a:t>Matrisi okumak: Dört temel metrik</a:t>
            </a:r>
            <a:endParaRPr lang="tr-TR" sz="3200"/>
          </a:p>
        </p:txBody>
      </p:sp>
      <p:sp>
        <p:nvSpPr>
          <p:cNvPr id="3" name="Shape 1">
            <a:extLst>
              <a:ext uri="{FF2B5EF4-FFF2-40B4-BE49-F238E27FC236}">
                <a16:creationId xmlns:a16="http://schemas.microsoft.com/office/drawing/2014/main" id="{6A6CB6CB-3AF2-4483-852B-DA1F012FF835}"/>
              </a:ext>
            </a:extLst>
          </p:cNvPr>
          <p:cNvSpPr/>
          <p:nvPr/>
        </p:nvSpPr>
        <p:spPr>
          <a:xfrm>
            <a:off x="661475" y="1809452"/>
            <a:ext cx="3496877" cy="2160588"/>
          </a:xfrm>
          <a:prstGeom prst="roundRect">
            <a:avLst>
              <a:gd name="adj" fmla="val 3674"/>
            </a:avLst>
          </a:prstGeom>
          <a:solidFill>
            <a:srgbClr val="FFFFFF">
              <a:alpha val="95000"/>
            </a:srgbClr>
          </a:solidFill>
          <a:ln w="25399">
            <a:solidFill>
              <a:srgbClr val="C7C7D0"/>
            </a:solidFill>
            <a:prstDash val="solid"/>
          </a:ln>
        </p:spPr>
      </p:sp>
      <p:sp>
        <p:nvSpPr>
          <p:cNvPr id="4" name="Text 2">
            <a:extLst>
              <a:ext uri="{FF2B5EF4-FFF2-40B4-BE49-F238E27FC236}">
                <a16:creationId xmlns:a16="http://schemas.microsoft.com/office/drawing/2014/main" id="{3C222F17-5B56-477D-A966-E79BEDD61BD3}"/>
              </a:ext>
            </a:extLst>
          </p:cNvPr>
          <p:cNvSpPr/>
          <p:nvPr/>
        </p:nvSpPr>
        <p:spPr>
          <a:xfrm>
            <a:off x="875881" y="2023864"/>
            <a:ext cx="3068065" cy="419100"/>
          </a:xfrm>
          <a:prstGeom prst="rect">
            <a:avLst/>
          </a:prstGeom>
          <a:noFill/>
          <a:ln/>
        </p:spPr>
        <p:txBody>
          <a:bodyPr wrap="square" lIns="0" tIns="0" rIns="0" bIns="0" rtlCol="0" anchor="t">
            <a:noAutofit/>
          </a:bodyPr>
          <a:lstStyle/>
          <a:p>
            <a:pPr marL="0" indent="0" algn="l">
              <a:buNone/>
            </a:pPr>
            <a:r>
              <a:rPr lang="tr-TR" sz="2000" b="1" dirty="0">
                <a:solidFill>
                  <a:srgbClr val="1E2A4E"/>
                </a:solidFill>
                <a:latin typeface="Calibri"/>
                <a:ea typeface="Calibri"/>
                <a:cs typeface="Calibri"/>
              </a:rPr>
              <a:t>Accuracy · Doğruluk</a:t>
            </a:r>
            <a:endParaRPr lang="tr-TR" sz="2000" dirty="0"/>
          </a:p>
        </p:txBody>
      </p:sp>
      <p:sp>
        <p:nvSpPr>
          <p:cNvPr id="5" name="Text 3">
            <a:extLst>
              <a:ext uri="{FF2B5EF4-FFF2-40B4-BE49-F238E27FC236}">
                <a16:creationId xmlns:a16="http://schemas.microsoft.com/office/drawing/2014/main" id="{3DC192AF-C04E-4251-9D17-309447A4DB58}"/>
              </a:ext>
            </a:extLst>
          </p:cNvPr>
          <p:cNvSpPr/>
          <p:nvPr/>
        </p:nvSpPr>
        <p:spPr>
          <a:xfrm>
            <a:off x="875881" y="2432546"/>
            <a:ext cx="3068065" cy="1438275"/>
          </a:xfrm>
          <a:prstGeom prst="rect">
            <a:avLst/>
          </a:prstGeom>
          <a:noFill/>
          <a:ln/>
        </p:spPr>
        <p:txBody>
          <a:bodyPr wrap="square" lIns="0" tIns="0" rIns="0" bIns="0" rtlCol="0" anchor="t">
            <a:noAutofit/>
          </a:bodyPr>
          <a:lstStyle/>
          <a:p>
            <a:pPr marL="0" indent="0" algn="l">
              <a:buNone/>
            </a:pPr>
            <a:r>
              <a:rPr lang="tr-TR" sz="2200" b="0" dirty="0">
                <a:solidFill>
                  <a:srgbClr val="30343B"/>
                </a:solidFill>
                <a:latin typeface="Calibri"/>
                <a:ea typeface="Calibri"/>
                <a:cs typeface="Calibri"/>
              </a:rPr>
              <a:t>Tüm yorumların kaçı doğru?</a:t>
            </a:r>
            <a:endParaRPr lang="tr-TR" sz="2200"/>
          </a:p>
          <a:p>
            <a:pPr marL="0" indent="0" algn="l">
              <a:buNone/>
            </a:pPr>
            <a:r>
              <a:rPr lang="tr-TR" sz="2200" b="0" dirty="0">
                <a:solidFill>
                  <a:srgbClr val="30343B"/>
                </a:solidFill>
                <a:latin typeface="Calibri"/>
                <a:ea typeface="Calibri"/>
                <a:cs typeface="Calibri"/>
              </a:rPr>
              <a:t>(40 + 30) / 100</a:t>
            </a:r>
            <a:endParaRPr lang="tr-TR" sz="2200"/>
          </a:p>
          <a:p>
            <a:pPr marL="0" indent="0" algn="l">
              <a:buNone/>
            </a:pPr>
            <a:r>
              <a:rPr lang="tr-TR" sz="2200" b="0" dirty="0">
                <a:solidFill>
                  <a:srgbClr val="30343B"/>
                </a:solidFill>
                <a:latin typeface="Calibri"/>
                <a:ea typeface="Calibri"/>
                <a:cs typeface="Calibri"/>
              </a:rPr>
              <a:t>%70</a:t>
            </a:r>
            <a:endParaRPr lang="tr-TR" sz="2200"/>
          </a:p>
        </p:txBody>
      </p:sp>
      <p:sp>
        <p:nvSpPr>
          <p:cNvPr id="6" name="Shape 4">
            <a:extLst>
              <a:ext uri="{FF2B5EF4-FFF2-40B4-BE49-F238E27FC236}">
                <a16:creationId xmlns:a16="http://schemas.microsoft.com/office/drawing/2014/main" id="{F81B627C-9B99-41F1-8A26-661E140E639F}"/>
              </a:ext>
            </a:extLst>
          </p:cNvPr>
          <p:cNvSpPr/>
          <p:nvPr/>
        </p:nvSpPr>
        <p:spPr>
          <a:xfrm>
            <a:off x="4347359" y="1809452"/>
            <a:ext cx="3496877" cy="2160588"/>
          </a:xfrm>
          <a:prstGeom prst="roundRect">
            <a:avLst>
              <a:gd name="adj" fmla="val 3674"/>
            </a:avLst>
          </a:prstGeom>
          <a:solidFill>
            <a:srgbClr val="FFFFFF">
              <a:alpha val="95000"/>
            </a:srgbClr>
          </a:solidFill>
          <a:ln w="25399">
            <a:solidFill>
              <a:srgbClr val="C7C7D0"/>
            </a:solidFill>
            <a:prstDash val="solid"/>
          </a:ln>
        </p:spPr>
      </p:sp>
      <p:sp>
        <p:nvSpPr>
          <p:cNvPr id="7" name="Text 5">
            <a:extLst>
              <a:ext uri="{FF2B5EF4-FFF2-40B4-BE49-F238E27FC236}">
                <a16:creationId xmlns:a16="http://schemas.microsoft.com/office/drawing/2014/main" id="{DD8B9EDF-1C28-47FC-9257-8E967C34DF54}"/>
              </a:ext>
            </a:extLst>
          </p:cNvPr>
          <p:cNvSpPr/>
          <p:nvPr/>
        </p:nvSpPr>
        <p:spPr>
          <a:xfrm>
            <a:off x="4561766" y="2023864"/>
            <a:ext cx="3068065" cy="419100"/>
          </a:xfrm>
          <a:prstGeom prst="rect">
            <a:avLst/>
          </a:prstGeom>
          <a:noFill/>
          <a:ln/>
        </p:spPr>
        <p:txBody>
          <a:bodyPr wrap="square" lIns="0" tIns="0" rIns="0" bIns="0" rtlCol="0" anchor="t">
            <a:noAutofit/>
          </a:bodyPr>
          <a:lstStyle/>
          <a:p>
            <a:pPr marL="0" indent="0" algn="l">
              <a:buNone/>
            </a:pPr>
            <a:r>
              <a:rPr lang="tr-TR" sz="2000" b="1" dirty="0">
                <a:solidFill>
                  <a:srgbClr val="1E2A4E"/>
                </a:solidFill>
                <a:latin typeface="Calibri"/>
                <a:ea typeface="Calibri"/>
                <a:cs typeface="Calibri"/>
              </a:rPr>
              <a:t>Precision · Kesinlik</a:t>
            </a:r>
            <a:endParaRPr lang="tr-TR" sz="2000"/>
          </a:p>
        </p:txBody>
      </p:sp>
      <p:sp>
        <p:nvSpPr>
          <p:cNvPr id="8" name="Text 6">
            <a:extLst>
              <a:ext uri="{FF2B5EF4-FFF2-40B4-BE49-F238E27FC236}">
                <a16:creationId xmlns:a16="http://schemas.microsoft.com/office/drawing/2014/main" id="{890B6302-D66F-4DFE-BC57-CB8E1C248BD0}"/>
              </a:ext>
            </a:extLst>
          </p:cNvPr>
          <p:cNvSpPr/>
          <p:nvPr/>
        </p:nvSpPr>
        <p:spPr>
          <a:xfrm>
            <a:off x="4561766" y="2432546"/>
            <a:ext cx="3068065" cy="1438275"/>
          </a:xfrm>
          <a:prstGeom prst="rect">
            <a:avLst/>
          </a:prstGeom>
          <a:noFill/>
          <a:ln/>
        </p:spPr>
        <p:txBody>
          <a:bodyPr wrap="square" lIns="0" tIns="0" rIns="0" bIns="0" rtlCol="0" anchor="t">
            <a:noAutofit/>
          </a:bodyPr>
          <a:lstStyle/>
          <a:p>
            <a:pPr marL="0" indent="0" algn="l">
              <a:buNone/>
            </a:pPr>
            <a:r>
              <a:rPr lang="tr-TR" sz="2200" b="0" dirty="0">
                <a:solidFill>
                  <a:srgbClr val="30343B"/>
                </a:solidFill>
                <a:latin typeface="Calibri"/>
                <a:ea typeface="Calibri"/>
                <a:cs typeface="Calibri"/>
              </a:rPr>
              <a:t>Olumlu tahminlerin kaçı doğru?</a:t>
            </a:r>
            <a:endParaRPr lang="tr-TR" sz="2200"/>
          </a:p>
          <a:p>
            <a:pPr marL="0" indent="0" algn="l">
              <a:buNone/>
            </a:pPr>
            <a:r>
              <a:rPr lang="tr-TR" sz="2200" b="0" dirty="0">
                <a:solidFill>
                  <a:srgbClr val="30343B"/>
                </a:solidFill>
                <a:latin typeface="Calibri"/>
                <a:ea typeface="Calibri"/>
                <a:cs typeface="Calibri"/>
              </a:rPr>
              <a:t>40 / (40 + 10)</a:t>
            </a:r>
            <a:endParaRPr lang="tr-TR" sz="2200"/>
          </a:p>
          <a:p>
            <a:pPr marL="0" indent="0" algn="l">
              <a:buNone/>
            </a:pPr>
            <a:r>
              <a:rPr lang="tr-TR" sz="2200" b="0" dirty="0">
                <a:solidFill>
                  <a:srgbClr val="30343B"/>
                </a:solidFill>
                <a:latin typeface="Calibri"/>
                <a:ea typeface="Calibri"/>
                <a:cs typeface="Calibri"/>
              </a:rPr>
              <a:t>%80</a:t>
            </a:r>
            <a:endParaRPr lang="tr-TR" sz="2200"/>
          </a:p>
        </p:txBody>
      </p:sp>
      <p:sp>
        <p:nvSpPr>
          <p:cNvPr id="9" name="Shape 7">
            <a:extLst>
              <a:ext uri="{FF2B5EF4-FFF2-40B4-BE49-F238E27FC236}">
                <a16:creationId xmlns:a16="http://schemas.microsoft.com/office/drawing/2014/main" id="{070E1CA8-5CE8-41B9-9194-A8077005132B}"/>
              </a:ext>
            </a:extLst>
          </p:cNvPr>
          <p:cNvSpPr/>
          <p:nvPr/>
        </p:nvSpPr>
        <p:spPr>
          <a:xfrm>
            <a:off x="8033244" y="1809452"/>
            <a:ext cx="3496877" cy="2160588"/>
          </a:xfrm>
          <a:prstGeom prst="roundRect">
            <a:avLst>
              <a:gd name="adj" fmla="val 3674"/>
            </a:avLst>
          </a:prstGeom>
          <a:solidFill>
            <a:srgbClr val="FFFFFF">
              <a:alpha val="95000"/>
            </a:srgbClr>
          </a:solidFill>
          <a:ln w="25399">
            <a:solidFill>
              <a:srgbClr val="C7C7D0"/>
            </a:solidFill>
            <a:prstDash val="solid"/>
          </a:ln>
        </p:spPr>
      </p:sp>
      <p:sp>
        <p:nvSpPr>
          <p:cNvPr id="10" name="Text 8">
            <a:extLst>
              <a:ext uri="{FF2B5EF4-FFF2-40B4-BE49-F238E27FC236}">
                <a16:creationId xmlns:a16="http://schemas.microsoft.com/office/drawing/2014/main" id="{2E9F4716-946C-4B8F-876E-923DDD8F8201}"/>
              </a:ext>
            </a:extLst>
          </p:cNvPr>
          <p:cNvSpPr/>
          <p:nvPr/>
        </p:nvSpPr>
        <p:spPr>
          <a:xfrm>
            <a:off x="8247650" y="2023864"/>
            <a:ext cx="3068065" cy="419100"/>
          </a:xfrm>
          <a:prstGeom prst="rect">
            <a:avLst/>
          </a:prstGeom>
          <a:noFill/>
          <a:ln/>
        </p:spPr>
        <p:txBody>
          <a:bodyPr wrap="square" lIns="0" tIns="0" rIns="0" bIns="0" rtlCol="0" anchor="t">
            <a:noAutofit/>
          </a:bodyPr>
          <a:lstStyle/>
          <a:p>
            <a:pPr marL="0" indent="0" algn="l">
              <a:buNone/>
            </a:pPr>
            <a:r>
              <a:rPr lang="tr-TR" sz="2000" b="1" dirty="0">
                <a:solidFill>
                  <a:srgbClr val="1E2A4E"/>
                </a:solidFill>
                <a:latin typeface="Calibri"/>
                <a:ea typeface="Calibri"/>
                <a:cs typeface="Calibri"/>
              </a:rPr>
              <a:t>Recall · Duyarlılık</a:t>
            </a:r>
            <a:endParaRPr lang="tr-TR" sz="2000"/>
          </a:p>
        </p:txBody>
      </p:sp>
      <p:sp>
        <p:nvSpPr>
          <p:cNvPr id="11" name="Text 9">
            <a:extLst>
              <a:ext uri="{FF2B5EF4-FFF2-40B4-BE49-F238E27FC236}">
                <a16:creationId xmlns:a16="http://schemas.microsoft.com/office/drawing/2014/main" id="{414225E3-C1F6-41B7-9152-E487380F9CF7}"/>
              </a:ext>
            </a:extLst>
          </p:cNvPr>
          <p:cNvSpPr/>
          <p:nvPr/>
        </p:nvSpPr>
        <p:spPr>
          <a:xfrm>
            <a:off x="8247650" y="2432546"/>
            <a:ext cx="3068065" cy="1438275"/>
          </a:xfrm>
          <a:prstGeom prst="rect">
            <a:avLst/>
          </a:prstGeom>
          <a:noFill/>
          <a:ln/>
        </p:spPr>
        <p:txBody>
          <a:bodyPr wrap="square" lIns="0" tIns="0" rIns="0" bIns="0" rtlCol="0" anchor="t">
            <a:noAutofit/>
          </a:bodyPr>
          <a:lstStyle/>
          <a:p>
            <a:pPr marL="0" indent="0" algn="l">
              <a:buNone/>
            </a:pPr>
            <a:r>
              <a:rPr lang="tr-TR" sz="2200" b="0" dirty="0">
                <a:solidFill>
                  <a:srgbClr val="30343B"/>
                </a:solidFill>
                <a:latin typeface="Calibri"/>
                <a:ea typeface="Calibri"/>
                <a:cs typeface="Calibri"/>
              </a:rPr>
              <a:t>Gerçek olumlu yorumların kaçı yakalandı?</a:t>
            </a:r>
            <a:endParaRPr lang="tr-TR" sz="2200"/>
          </a:p>
          <a:p>
            <a:pPr marL="0" indent="0" algn="l">
              <a:buNone/>
            </a:pPr>
            <a:r>
              <a:rPr lang="tr-TR" sz="2200" b="0" dirty="0">
                <a:solidFill>
                  <a:srgbClr val="30343B"/>
                </a:solidFill>
                <a:latin typeface="Calibri"/>
                <a:ea typeface="Calibri"/>
                <a:cs typeface="Calibri"/>
              </a:rPr>
              <a:t>40 / (40 + 20)</a:t>
            </a:r>
            <a:endParaRPr lang="tr-TR" sz="2200"/>
          </a:p>
          <a:p>
            <a:pPr marL="0" indent="0" algn="l">
              <a:buNone/>
            </a:pPr>
            <a:r>
              <a:rPr lang="tr-TR" sz="2200" b="0" dirty="0">
                <a:solidFill>
                  <a:srgbClr val="30343B"/>
                </a:solidFill>
                <a:latin typeface="Calibri"/>
                <a:ea typeface="Calibri"/>
                <a:cs typeface="Calibri"/>
              </a:rPr>
              <a:t>%66,7</a:t>
            </a:r>
            <a:endParaRPr lang="tr-TR" sz="2200"/>
          </a:p>
        </p:txBody>
      </p:sp>
      <p:sp>
        <p:nvSpPr>
          <p:cNvPr id="12" name="Shape 10">
            <a:extLst>
              <a:ext uri="{FF2B5EF4-FFF2-40B4-BE49-F238E27FC236}">
                <a16:creationId xmlns:a16="http://schemas.microsoft.com/office/drawing/2014/main" id="{4F8C1D04-E96F-4115-983C-77EEB8D1E3E7}"/>
              </a:ext>
            </a:extLst>
          </p:cNvPr>
          <p:cNvSpPr/>
          <p:nvPr/>
        </p:nvSpPr>
        <p:spPr>
          <a:xfrm>
            <a:off x="661475" y="4159052"/>
            <a:ext cx="10868646" cy="1858169"/>
          </a:xfrm>
          <a:prstGeom prst="roundRect">
            <a:avLst>
              <a:gd name="adj" fmla="val 4272"/>
            </a:avLst>
          </a:prstGeom>
          <a:solidFill>
            <a:srgbClr val="FFFFFF">
              <a:alpha val="95000"/>
            </a:srgbClr>
          </a:solidFill>
          <a:ln w="25399">
            <a:solidFill>
              <a:srgbClr val="C7C7D0"/>
            </a:solidFill>
            <a:prstDash val="solid"/>
          </a:ln>
        </p:spPr>
      </p:sp>
      <p:sp>
        <p:nvSpPr>
          <p:cNvPr id="13" name="Text 11">
            <a:extLst>
              <a:ext uri="{FF2B5EF4-FFF2-40B4-BE49-F238E27FC236}">
                <a16:creationId xmlns:a16="http://schemas.microsoft.com/office/drawing/2014/main" id="{43F2DFF2-CAFB-4E5B-A98F-2BC08772052D}"/>
              </a:ext>
            </a:extLst>
          </p:cNvPr>
          <p:cNvSpPr/>
          <p:nvPr/>
        </p:nvSpPr>
        <p:spPr>
          <a:xfrm>
            <a:off x="875881" y="4373463"/>
            <a:ext cx="10439833" cy="457200"/>
          </a:xfrm>
          <a:prstGeom prst="rect">
            <a:avLst/>
          </a:prstGeom>
          <a:noFill/>
          <a:ln/>
        </p:spPr>
        <p:txBody>
          <a:bodyPr wrap="square" lIns="0" tIns="0" rIns="0" bIns="0" rtlCol="0" anchor="t">
            <a:noAutofit/>
          </a:bodyPr>
          <a:lstStyle/>
          <a:p>
            <a:pPr marL="0" indent="0" algn="l">
              <a:buNone/>
            </a:pPr>
            <a:r>
              <a:rPr lang="tr-TR" sz="2300" b="1" dirty="0">
                <a:solidFill>
                  <a:srgbClr val="1E2A4E"/>
                </a:solidFill>
                <a:latin typeface="Calibri"/>
                <a:ea typeface="Calibri"/>
                <a:cs typeface="Calibri"/>
              </a:rPr>
              <a:t>F1 · Precision ve Recall’un harmonik ortalaması</a:t>
            </a:r>
            <a:endParaRPr lang="tr-TR" sz="2300"/>
          </a:p>
        </p:txBody>
      </p:sp>
      <p:sp>
        <p:nvSpPr>
          <p:cNvPr id="14" name="Text 12">
            <a:extLst>
              <a:ext uri="{FF2B5EF4-FFF2-40B4-BE49-F238E27FC236}">
                <a16:creationId xmlns:a16="http://schemas.microsoft.com/office/drawing/2014/main" id="{FAF03BFE-66F8-4C69-ADF5-DC901C8CD244}"/>
              </a:ext>
            </a:extLst>
          </p:cNvPr>
          <p:cNvSpPr/>
          <p:nvPr/>
        </p:nvSpPr>
        <p:spPr>
          <a:xfrm>
            <a:off x="875881" y="4943475"/>
            <a:ext cx="10439833" cy="885825"/>
          </a:xfrm>
          <a:prstGeom prst="rect">
            <a:avLst/>
          </a:prstGeom>
          <a:noFill/>
          <a:ln/>
        </p:spPr>
        <p:txBody>
          <a:bodyPr wrap="square" lIns="0" tIns="0" rIns="0" bIns="0" rtlCol="0" anchor="t">
            <a:noAutofit/>
          </a:bodyPr>
          <a:lstStyle/>
          <a:p>
            <a:pPr marL="0" indent="0" algn="l">
              <a:buNone/>
            </a:pPr>
            <a:r>
              <a:rPr lang="tr-TR" sz="2400" b="0" dirty="0">
                <a:solidFill>
                  <a:srgbClr val="30343B"/>
                </a:solidFill>
                <a:latin typeface="Calibri"/>
                <a:ea typeface="Calibri"/>
                <a:cs typeface="Calibri"/>
              </a:rPr>
              <a:t>F1 = 2 × Precision × Recall / (Precision + Recall)</a:t>
            </a:r>
            <a:endParaRPr lang="tr-TR" sz="2400"/>
          </a:p>
          <a:p>
            <a:pPr marL="0" indent="0" algn="l">
              <a:buNone/>
            </a:pPr>
            <a:r>
              <a:rPr lang="tr-TR" sz="2400" b="0" dirty="0">
                <a:solidFill>
                  <a:srgbClr val="30343B"/>
                </a:solidFill>
                <a:latin typeface="Calibri"/>
                <a:ea typeface="Calibri"/>
                <a:cs typeface="Calibri"/>
              </a:rPr>
              <a:t>Aynı matris için: 80 / 110 ≈ %72,7</a:t>
            </a:r>
            <a:endParaRPr lang="tr-TR" sz="2400"/>
          </a:p>
        </p:txBody>
      </p:sp>
      <p:sp>
        <p:nvSpPr>
          <p:cNvPr id="100" name="Precision, Recall ve F1 burada “olumlu” sınıf için"/>
          <p:cNvSpPr txBox="1"/>
          <p:nvPr/>
        </p:nvSpPr>
        <p:spPr>
          <a:xfrm>
            <a:off x="657225" y="6343650"/>
            <a:ext cx="10868025" cy="371475"/>
          </a:xfrm>
          <a:prstGeom prst="rect">
            <a:avLst/>
          </a:prstGeom>
          <a:noFill/>
          <a:ln>
            <a:noFill/>
          </a:ln>
        </p:spPr>
        <p:txBody>
          <a:bodyPr wrap="square" lIns="0" tIns="0" rIns="0" bIns="0">
            <a:noAutofit/>
          </a:bodyPr>
          <a:lstStyle/>
          <a:p>
            <a:pPr marL="0" indent="0">
              <a:lnSpc>
                <a:spcPct val="110000"/>
              </a:lnSpc>
              <a:spcAft>
                <a:spcPts val="0"/>
              </a:spcAft>
            </a:pPr>
            <a:r>
              <a:rPr lang="tr-TR" sz="2000" dirty="0">
                <a:solidFill>
                  <a:srgbClr val="596173"/>
                </a:solidFill>
                <a:latin typeface="Calibri"/>
                <a:ea typeface="Calibri"/>
                <a:cs typeface="Calibri"/>
              </a:rPr>
              <a:t>Precision, </a:t>
            </a:r>
            <a:r>
              <a:rPr lang="tr-TR" sz="2000" dirty="0" err="1">
                <a:solidFill>
                  <a:srgbClr val="596173"/>
                </a:solidFill>
                <a:latin typeface="Calibri"/>
                <a:ea typeface="Calibri"/>
                <a:cs typeface="Calibri"/>
              </a:rPr>
              <a:t>Recall</a:t>
            </a:r>
            <a:r>
              <a:rPr lang="tr-TR" sz="2000" dirty="0">
                <a:solidFill>
                  <a:srgbClr val="596173"/>
                </a:solidFill>
                <a:latin typeface="Calibri"/>
                <a:ea typeface="Calibri"/>
                <a:cs typeface="Calibri"/>
              </a:rPr>
              <a:t> ve F1 burada “olumlu” sınıf için hesaplanmıştır.</a:t>
            </a:r>
            <a:endParaRPr lang="tr-TR" sz="2000" dirty="0"/>
          </a:p>
        </p:txBody>
      </p:sp>
    </p:spTree>
    <p:extLst>
      <p:ext uri="{BB962C8B-B14F-4D97-AF65-F5344CB8AC3E}">
        <p14:creationId xmlns:p14="http://schemas.microsoft.com/office/powerpoint/2010/main" val="431788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0" name="Text 0">
            <a:extLst>
              <a:ext uri="{FF2B5EF4-FFF2-40B4-BE49-F238E27FC236}">
                <a16:creationId xmlns:a16="http://schemas.microsoft.com/office/drawing/2014/main" id="{BB9EEFCA-6038-43DE-B173-64D241884766}"/>
              </a:ext>
            </a:extLst>
          </p:cNvPr>
          <p:cNvSpPr/>
          <p:nvPr/>
        </p:nvSpPr>
        <p:spPr>
          <a:xfrm>
            <a:off x="457200" y="285750"/>
            <a:ext cx="11239500" cy="685800"/>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Calibri"/>
                <a:ea typeface="Calibri"/>
                <a:cs typeface="Calibri"/>
              </a:defRPr>
            </a:lvl1pPr>
            <a:lvl2pPr marL="457200" algn="l" defTabSz="914400" rtl="0" eaLnBrk="1" latinLnBrk="0" hangingPunct="1">
              <a:defRPr sz="1800" kern="1200">
                <a:solidFill>
                  <a:schemeClr val="tx1"/>
                </a:solidFill>
                <a:latin typeface="Calibri"/>
                <a:ea typeface="Calibri"/>
                <a:cs typeface="Calibri"/>
              </a:defRPr>
            </a:lvl2pPr>
            <a:lvl3pPr marL="914400" algn="l" defTabSz="914400" rtl="0" eaLnBrk="1" latinLnBrk="0" hangingPunct="1">
              <a:defRPr sz="1800" kern="1200">
                <a:solidFill>
                  <a:schemeClr val="tx1"/>
                </a:solidFill>
                <a:latin typeface="Calibri"/>
                <a:ea typeface="Calibri"/>
                <a:cs typeface="Calibri"/>
              </a:defRPr>
            </a:lvl3pPr>
            <a:lvl4pPr marL="1371600" algn="l" defTabSz="914400" rtl="0" eaLnBrk="1" latinLnBrk="0" hangingPunct="1">
              <a:defRPr sz="1800" kern="1200">
                <a:solidFill>
                  <a:schemeClr val="tx1"/>
                </a:solidFill>
                <a:latin typeface="Calibri"/>
                <a:ea typeface="Calibri"/>
                <a:cs typeface="Calibri"/>
              </a:defRPr>
            </a:lvl4pPr>
            <a:lvl5pPr marL="1828800" algn="l" defTabSz="914400" rtl="0" eaLnBrk="1" latinLnBrk="0" hangingPunct="1">
              <a:defRPr sz="1800" kern="1200">
                <a:solidFill>
                  <a:schemeClr val="tx1"/>
                </a:solidFill>
                <a:latin typeface="Calibri"/>
                <a:ea typeface="Calibri"/>
                <a:cs typeface="Calibri"/>
              </a:defRPr>
            </a:lvl5pPr>
            <a:lvl6pPr marL="2286000" algn="l" defTabSz="914400" rtl="0" eaLnBrk="1" latinLnBrk="0" hangingPunct="1">
              <a:defRPr sz="1800" kern="1200">
                <a:solidFill>
                  <a:schemeClr val="tx1"/>
                </a:solidFill>
                <a:latin typeface="Calibri"/>
                <a:ea typeface="Calibri"/>
                <a:cs typeface="Calibri"/>
              </a:defRPr>
            </a:lvl6pPr>
            <a:lvl7pPr marL="2743200" algn="l" defTabSz="914400" rtl="0" eaLnBrk="1" latinLnBrk="0" hangingPunct="1">
              <a:defRPr sz="1800" kern="1200">
                <a:solidFill>
                  <a:schemeClr val="tx1"/>
                </a:solidFill>
                <a:latin typeface="Calibri"/>
                <a:ea typeface="Calibri"/>
                <a:cs typeface="Calibri"/>
              </a:defRPr>
            </a:lvl7pPr>
            <a:lvl8pPr marL="3200400" algn="l" defTabSz="914400" rtl="0" eaLnBrk="1" latinLnBrk="0" hangingPunct="1">
              <a:defRPr sz="1800" kern="1200">
                <a:solidFill>
                  <a:schemeClr val="tx1"/>
                </a:solidFill>
                <a:latin typeface="Calibri"/>
                <a:ea typeface="Calibri"/>
                <a:cs typeface="Calibri"/>
              </a:defRPr>
            </a:lvl8pPr>
            <a:lvl9pPr marL="3657600" algn="l" defTabSz="914400" rtl="0" eaLnBrk="1" latinLnBrk="0" hangingPunct="1">
              <a:defRPr sz="1800" kern="1200">
                <a:solidFill>
                  <a:schemeClr val="tx1"/>
                </a:solidFill>
                <a:latin typeface="Calibri"/>
                <a:ea typeface="Calibri"/>
                <a:cs typeface="Calibri"/>
              </a:defRPr>
            </a:lvl9pPr>
          </a:lstStyle>
          <a:p>
            <a:pPr marL="0" indent="0" algn="l">
              <a:buNone/>
            </a:pPr>
            <a:r>
              <a:rPr lang="tr-TR" sz="3200" b="1" dirty="0">
                <a:solidFill>
                  <a:srgbClr val="1E2A4E"/>
                </a:solidFill>
                <a:latin typeface="Calibri"/>
                <a:ea typeface="Calibri"/>
                <a:cs typeface="Calibri"/>
              </a:rPr>
              <a:t>Dengesiz sınıflar: Yüksek puan neyi gizleyebilir?</a:t>
            </a:r>
            <a:endParaRPr lang="tr-TR" sz="3200"/>
          </a:p>
        </p:txBody>
      </p:sp>
      <p:sp>
        <p:nvSpPr>
          <p:cNvPr id="100" name="1.000 yorum: 990 olumlu, 10 olumsuz. Model hepsine"/>
          <p:cNvSpPr txBox="1"/>
          <p:nvPr/>
        </p:nvSpPr>
        <p:spPr>
          <a:xfrm>
            <a:off x="457200" y="1257300"/>
            <a:ext cx="11144250" cy="666750"/>
          </a:xfrm>
          <a:prstGeom prst="rect">
            <a:avLst/>
          </a:prstGeom>
          <a:noFill/>
          <a:ln>
            <a:noFill/>
          </a:ln>
        </p:spPr>
        <p:txBody>
          <a:bodyPr wrap="square" lIns="0" tIns="0" rIns="0" bIns="0">
            <a:noAutofit/>
          </a:bodyPr>
          <a:lstStyle/>
          <a:p>
            <a:pPr marL="0" indent="0">
              <a:lnSpc>
                <a:spcPct val="110000"/>
              </a:lnSpc>
              <a:spcAft>
                <a:spcPts val="0"/>
              </a:spcAft>
            </a:pPr>
            <a:r>
              <a:rPr lang="tr-TR" sz="2400">
                <a:solidFill>
                  <a:srgbClr val="1E2A4E"/>
                </a:solidFill>
                <a:latin typeface="Calibri"/>
                <a:ea typeface="Calibri"/>
                <a:cs typeface="Calibri"/>
              </a:rPr>
              <a:t>1.000 yorum: 990 olumlu, 10 olumsuz. Model hepsine “olumlu” diyor.</a:t>
            </a:r>
            <a:endParaRPr lang="tr-TR" sz="2400"/>
          </a:p>
        </p:txBody>
      </p:sp>
      <p:sp>
        <p:nvSpPr>
          <p:cNvPr id="101" name="%99"/>
          <p:cNvSpPr txBox="1"/>
          <p:nvPr/>
        </p:nvSpPr>
        <p:spPr>
          <a:xfrm>
            <a:off x="457200" y="2438400"/>
            <a:ext cx="3267075" cy="809625"/>
          </a:xfrm>
          <a:prstGeom prst="rect">
            <a:avLst/>
          </a:prstGeom>
          <a:noFill/>
          <a:ln>
            <a:noFill/>
          </a:ln>
        </p:spPr>
        <p:txBody>
          <a:bodyPr wrap="square" lIns="0" tIns="0" rIns="0" bIns="0">
            <a:noAutofit/>
          </a:bodyPr>
          <a:lstStyle/>
          <a:p>
            <a:pPr marL="0" indent="0">
              <a:lnSpc>
                <a:spcPct val="110000"/>
              </a:lnSpc>
              <a:spcAft>
                <a:spcPts val="0"/>
              </a:spcAft>
            </a:pPr>
            <a:r>
              <a:rPr lang="tr-TR" sz="4800" b="1">
                <a:solidFill>
                  <a:srgbClr val="1E2A4E"/>
                </a:solidFill>
                <a:latin typeface="Calibri"/>
                <a:ea typeface="Calibri"/>
                <a:cs typeface="Calibri"/>
              </a:rPr>
              <a:t>%99</a:t>
            </a:r>
            <a:endParaRPr lang="tr-TR" sz="4800"/>
          </a:p>
        </p:txBody>
      </p:sp>
      <p:sp>
        <p:nvSpPr>
          <p:cNvPr id="102" name="Accuracy"/>
          <p:cNvSpPr txBox="1"/>
          <p:nvPr/>
        </p:nvSpPr>
        <p:spPr>
          <a:xfrm>
            <a:off x="457200" y="3448050"/>
            <a:ext cx="3267075" cy="542925"/>
          </a:xfrm>
          <a:prstGeom prst="rect">
            <a:avLst/>
          </a:prstGeom>
          <a:noFill/>
          <a:ln>
            <a:noFill/>
          </a:ln>
        </p:spPr>
        <p:txBody>
          <a:bodyPr wrap="square" lIns="0" tIns="0" rIns="0" bIns="0">
            <a:noAutofit/>
          </a:bodyPr>
          <a:lstStyle/>
          <a:p>
            <a:pPr marL="0" indent="0">
              <a:lnSpc>
                <a:spcPct val="110000"/>
              </a:lnSpc>
              <a:spcAft>
                <a:spcPts val="0"/>
              </a:spcAft>
            </a:pPr>
            <a:r>
              <a:rPr lang="tr-TR" sz="2500">
                <a:solidFill>
                  <a:srgbClr val="30343B"/>
                </a:solidFill>
                <a:latin typeface="Calibri"/>
                <a:ea typeface="Calibri"/>
                <a:cs typeface="Calibri"/>
              </a:rPr>
              <a:t>Accuracy</a:t>
            </a:r>
            <a:endParaRPr lang="tr-TR" sz="2500"/>
          </a:p>
        </p:txBody>
      </p:sp>
      <p:sp>
        <p:nvSpPr>
          <p:cNvPr id="103" name="≈ %99,5"/>
          <p:cNvSpPr txBox="1"/>
          <p:nvPr/>
        </p:nvSpPr>
        <p:spPr>
          <a:xfrm>
            <a:off x="4305300" y="2438400"/>
            <a:ext cx="3267075" cy="809625"/>
          </a:xfrm>
          <a:prstGeom prst="rect">
            <a:avLst/>
          </a:prstGeom>
          <a:noFill/>
          <a:ln>
            <a:noFill/>
          </a:ln>
        </p:spPr>
        <p:txBody>
          <a:bodyPr wrap="square" lIns="0" tIns="0" rIns="0" bIns="0">
            <a:noAutofit/>
          </a:bodyPr>
          <a:lstStyle/>
          <a:p>
            <a:pPr marL="0" indent="0">
              <a:lnSpc>
                <a:spcPct val="110000"/>
              </a:lnSpc>
              <a:spcAft>
                <a:spcPts val="0"/>
              </a:spcAft>
            </a:pPr>
            <a:r>
              <a:rPr lang="tr-TR" sz="4800" b="1">
                <a:solidFill>
                  <a:srgbClr val="1E2A4E"/>
                </a:solidFill>
                <a:latin typeface="Calibri"/>
                <a:ea typeface="Calibri"/>
                <a:cs typeface="Calibri"/>
              </a:rPr>
              <a:t>≈ %99,5</a:t>
            </a:r>
            <a:endParaRPr lang="tr-TR" sz="4800"/>
          </a:p>
        </p:txBody>
      </p:sp>
      <p:sp>
        <p:nvSpPr>
          <p:cNvPr id="104" name="Olumlu sınıfın F1’i"/>
          <p:cNvSpPr txBox="1"/>
          <p:nvPr/>
        </p:nvSpPr>
        <p:spPr>
          <a:xfrm>
            <a:off x="4305300" y="3448050"/>
            <a:ext cx="3267075" cy="542925"/>
          </a:xfrm>
          <a:prstGeom prst="rect">
            <a:avLst/>
          </a:prstGeom>
          <a:noFill/>
          <a:ln>
            <a:noFill/>
          </a:ln>
        </p:spPr>
        <p:txBody>
          <a:bodyPr wrap="square" lIns="0" tIns="0" rIns="0" bIns="0">
            <a:noAutofit/>
          </a:bodyPr>
          <a:lstStyle/>
          <a:p>
            <a:pPr marL="0" indent="0">
              <a:lnSpc>
                <a:spcPct val="110000"/>
              </a:lnSpc>
              <a:spcAft>
                <a:spcPts val="0"/>
              </a:spcAft>
            </a:pPr>
            <a:r>
              <a:rPr lang="tr-TR" sz="2500">
                <a:solidFill>
                  <a:srgbClr val="30343B"/>
                </a:solidFill>
                <a:latin typeface="Calibri"/>
                <a:ea typeface="Calibri"/>
                <a:cs typeface="Calibri"/>
              </a:rPr>
              <a:t>Olumlu sınıfın F1’i</a:t>
            </a:r>
            <a:endParaRPr lang="tr-TR" sz="2500"/>
          </a:p>
        </p:txBody>
      </p:sp>
      <p:sp>
        <p:nvSpPr>
          <p:cNvPr id="105" name="%0"/>
          <p:cNvSpPr txBox="1"/>
          <p:nvPr/>
        </p:nvSpPr>
        <p:spPr>
          <a:xfrm>
            <a:off x="8153400" y="2438400"/>
            <a:ext cx="3267075" cy="809625"/>
          </a:xfrm>
          <a:prstGeom prst="rect">
            <a:avLst/>
          </a:prstGeom>
          <a:noFill/>
          <a:ln>
            <a:noFill/>
          </a:ln>
        </p:spPr>
        <p:txBody>
          <a:bodyPr wrap="square" lIns="0" tIns="0" rIns="0" bIns="0">
            <a:noAutofit/>
          </a:bodyPr>
          <a:lstStyle/>
          <a:p>
            <a:pPr marL="0" indent="0">
              <a:lnSpc>
                <a:spcPct val="110000"/>
              </a:lnSpc>
              <a:spcAft>
                <a:spcPts val="0"/>
              </a:spcAft>
            </a:pPr>
            <a:r>
              <a:rPr lang="tr-TR" sz="4800" b="1">
                <a:solidFill>
                  <a:srgbClr val="B18D18"/>
                </a:solidFill>
                <a:latin typeface="Calibri"/>
                <a:ea typeface="Calibri"/>
                <a:cs typeface="Calibri"/>
              </a:rPr>
              <a:t>%0</a:t>
            </a:r>
            <a:endParaRPr lang="tr-TR" sz="4800"/>
          </a:p>
        </p:txBody>
      </p:sp>
      <p:sp>
        <p:nvSpPr>
          <p:cNvPr id="106" name="Olumsuz sınıfın Recall’u"/>
          <p:cNvSpPr txBox="1"/>
          <p:nvPr/>
        </p:nvSpPr>
        <p:spPr>
          <a:xfrm>
            <a:off x="8153400" y="3448050"/>
            <a:ext cx="3381375" cy="819150"/>
          </a:xfrm>
          <a:prstGeom prst="rect">
            <a:avLst/>
          </a:prstGeom>
          <a:noFill/>
          <a:ln>
            <a:noFill/>
          </a:ln>
        </p:spPr>
        <p:txBody>
          <a:bodyPr wrap="square" lIns="0" tIns="0" rIns="0" bIns="0">
            <a:noAutofit/>
          </a:bodyPr>
          <a:lstStyle/>
          <a:p>
            <a:pPr marL="0" indent="0">
              <a:lnSpc>
                <a:spcPct val="110000"/>
              </a:lnSpc>
              <a:spcAft>
                <a:spcPts val="0"/>
              </a:spcAft>
            </a:pPr>
            <a:r>
              <a:rPr lang="tr-TR" sz="2500">
                <a:solidFill>
                  <a:srgbClr val="30343B"/>
                </a:solidFill>
                <a:latin typeface="Calibri"/>
                <a:ea typeface="Calibri"/>
                <a:cs typeface="Calibri"/>
              </a:rPr>
              <a:t>Olumsuz sınıfın Recall’u</a:t>
            </a:r>
            <a:endParaRPr lang="tr-TR" sz="2500"/>
          </a:p>
        </p:txBody>
      </p:sp>
      <p:sp>
        <p:nvSpPr>
          <p:cNvPr id="107" name="Model, olumsuz yorumların tamamını kaçırıyor."/>
          <p:cNvSpPr txBox="1"/>
          <p:nvPr/>
        </p:nvSpPr>
        <p:spPr>
          <a:xfrm>
            <a:off x="457200" y="4695825"/>
            <a:ext cx="11144250" cy="609600"/>
          </a:xfrm>
          <a:prstGeom prst="rect">
            <a:avLst/>
          </a:prstGeom>
          <a:noFill/>
          <a:ln>
            <a:noFill/>
          </a:ln>
        </p:spPr>
        <p:txBody>
          <a:bodyPr wrap="square" lIns="0" tIns="0" rIns="0" bIns="0">
            <a:noAutofit/>
          </a:bodyPr>
          <a:lstStyle/>
          <a:p>
            <a:pPr marL="0" indent="0">
              <a:lnSpc>
                <a:spcPct val="110000"/>
              </a:lnSpc>
              <a:spcAft>
                <a:spcPts val="0"/>
              </a:spcAft>
            </a:pPr>
            <a:r>
              <a:rPr lang="tr-TR" sz="2800" b="1">
                <a:solidFill>
                  <a:srgbClr val="1E2A4E"/>
                </a:solidFill>
                <a:latin typeface="Calibri"/>
                <a:ea typeface="Calibri"/>
                <a:cs typeface="Calibri"/>
              </a:rPr>
              <a:t>Model, olumsuz yorumların tamamını kaçırıyor.</a:t>
            </a:r>
            <a:endParaRPr lang="tr-TR" sz="2800"/>
          </a:p>
        </p:txBody>
      </p:sp>
      <p:sp>
        <p:nvSpPr>
          <p:cNvPr id="108" name="Sınıf bazında metriklere ve gerekirse macro-F1’e b"/>
          <p:cNvSpPr txBox="1"/>
          <p:nvPr/>
        </p:nvSpPr>
        <p:spPr>
          <a:xfrm>
            <a:off x="457200" y="5591175"/>
            <a:ext cx="11144250" cy="923925"/>
          </a:xfrm>
          <a:prstGeom prst="rect">
            <a:avLst/>
          </a:prstGeom>
          <a:noFill/>
          <a:ln>
            <a:noFill/>
          </a:ln>
        </p:spPr>
        <p:txBody>
          <a:bodyPr wrap="square" lIns="0" tIns="0" rIns="0" bIns="0">
            <a:noAutofit/>
          </a:bodyPr>
          <a:lstStyle/>
          <a:p>
            <a:pPr marL="0" indent="0">
              <a:lnSpc>
                <a:spcPct val="110000"/>
              </a:lnSpc>
              <a:spcAft>
                <a:spcPts val="0"/>
              </a:spcAft>
            </a:pPr>
            <a:r>
              <a:rPr lang="tr-TR" sz="2300">
                <a:solidFill>
                  <a:srgbClr val="30343B"/>
                </a:solidFill>
                <a:latin typeface="Calibri"/>
                <a:ea typeface="Calibri"/>
                <a:cs typeface="Calibri"/>
              </a:rPr>
              <a:t>Sınıf bazında metriklere ve gerekirse macro-F1’e bakılır.</a:t>
            </a:r>
            <a:endParaRPr lang="tr-TR" sz="2300"/>
          </a:p>
          <a:p>
            <a:pPr marL="0" indent="0">
              <a:lnSpc>
                <a:spcPct val="110000"/>
              </a:lnSpc>
              <a:spcAft>
                <a:spcPts val="0"/>
              </a:spcAft>
            </a:pPr>
            <a:r>
              <a:rPr lang="tr-TR" sz="2300">
                <a:solidFill>
                  <a:srgbClr val="30343B"/>
                </a:solidFill>
                <a:latin typeface="Calibri"/>
                <a:ea typeface="Calibri"/>
                <a:cs typeface="Calibri"/>
              </a:rPr>
              <a:t>Hangi hatanın daha önemli olduğu, problem amacına bağlıdır.</a:t>
            </a:r>
            <a:endParaRPr lang="tr-TR" sz="2300"/>
          </a:p>
        </p:txBody>
      </p:sp>
    </p:spTree>
    <p:extLst>
      <p:ext uri="{BB962C8B-B14F-4D97-AF65-F5344CB8AC3E}">
        <p14:creationId xmlns:p14="http://schemas.microsoft.com/office/powerpoint/2010/main" val="1461125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0" name="Text 0">
            <a:extLst>
              <a:ext uri="{FF2B5EF4-FFF2-40B4-BE49-F238E27FC236}">
                <a16:creationId xmlns:a16="http://schemas.microsoft.com/office/drawing/2014/main" id="{BB9EEFCA-6038-43DE-B173-64D241884766}"/>
              </a:ext>
            </a:extLst>
          </p:cNvPr>
          <p:cNvSpPr/>
          <p:nvPr/>
        </p:nvSpPr>
        <p:spPr>
          <a:xfrm>
            <a:off x="457200" y="285750"/>
            <a:ext cx="11239500" cy="685800"/>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Calibri"/>
                <a:ea typeface="Calibri"/>
                <a:cs typeface="Calibri"/>
              </a:defRPr>
            </a:lvl1pPr>
            <a:lvl2pPr marL="457200" algn="l" defTabSz="914400" rtl="0" eaLnBrk="1" latinLnBrk="0" hangingPunct="1">
              <a:defRPr sz="1800" kern="1200">
                <a:solidFill>
                  <a:schemeClr val="tx1"/>
                </a:solidFill>
                <a:latin typeface="Calibri"/>
                <a:ea typeface="Calibri"/>
                <a:cs typeface="Calibri"/>
              </a:defRPr>
            </a:lvl2pPr>
            <a:lvl3pPr marL="914400" algn="l" defTabSz="914400" rtl="0" eaLnBrk="1" latinLnBrk="0" hangingPunct="1">
              <a:defRPr sz="1800" kern="1200">
                <a:solidFill>
                  <a:schemeClr val="tx1"/>
                </a:solidFill>
                <a:latin typeface="Calibri"/>
                <a:ea typeface="Calibri"/>
                <a:cs typeface="Calibri"/>
              </a:defRPr>
            </a:lvl3pPr>
            <a:lvl4pPr marL="1371600" algn="l" defTabSz="914400" rtl="0" eaLnBrk="1" latinLnBrk="0" hangingPunct="1">
              <a:defRPr sz="1800" kern="1200">
                <a:solidFill>
                  <a:schemeClr val="tx1"/>
                </a:solidFill>
                <a:latin typeface="Calibri"/>
                <a:ea typeface="Calibri"/>
                <a:cs typeface="Calibri"/>
              </a:defRPr>
            </a:lvl4pPr>
            <a:lvl5pPr marL="1828800" algn="l" defTabSz="914400" rtl="0" eaLnBrk="1" latinLnBrk="0" hangingPunct="1">
              <a:defRPr sz="1800" kern="1200">
                <a:solidFill>
                  <a:schemeClr val="tx1"/>
                </a:solidFill>
                <a:latin typeface="Calibri"/>
                <a:ea typeface="Calibri"/>
                <a:cs typeface="Calibri"/>
              </a:defRPr>
            </a:lvl5pPr>
            <a:lvl6pPr marL="2286000" algn="l" defTabSz="914400" rtl="0" eaLnBrk="1" latinLnBrk="0" hangingPunct="1">
              <a:defRPr sz="1800" kern="1200">
                <a:solidFill>
                  <a:schemeClr val="tx1"/>
                </a:solidFill>
                <a:latin typeface="Calibri"/>
                <a:ea typeface="Calibri"/>
                <a:cs typeface="Calibri"/>
              </a:defRPr>
            </a:lvl6pPr>
            <a:lvl7pPr marL="2743200" algn="l" defTabSz="914400" rtl="0" eaLnBrk="1" latinLnBrk="0" hangingPunct="1">
              <a:defRPr sz="1800" kern="1200">
                <a:solidFill>
                  <a:schemeClr val="tx1"/>
                </a:solidFill>
                <a:latin typeface="Calibri"/>
                <a:ea typeface="Calibri"/>
                <a:cs typeface="Calibri"/>
              </a:defRPr>
            </a:lvl7pPr>
            <a:lvl8pPr marL="3200400" algn="l" defTabSz="914400" rtl="0" eaLnBrk="1" latinLnBrk="0" hangingPunct="1">
              <a:defRPr sz="1800" kern="1200">
                <a:solidFill>
                  <a:schemeClr val="tx1"/>
                </a:solidFill>
                <a:latin typeface="Calibri"/>
                <a:ea typeface="Calibri"/>
                <a:cs typeface="Calibri"/>
              </a:defRPr>
            </a:lvl8pPr>
            <a:lvl9pPr marL="3657600" algn="l" defTabSz="914400" rtl="0" eaLnBrk="1" latinLnBrk="0" hangingPunct="1">
              <a:defRPr sz="1800" kern="1200">
                <a:solidFill>
                  <a:schemeClr val="tx1"/>
                </a:solidFill>
                <a:latin typeface="Calibri"/>
                <a:ea typeface="Calibri"/>
                <a:cs typeface="Calibri"/>
              </a:defRPr>
            </a:lvl9pPr>
          </a:lstStyle>
          <a:p>
            <a:pPr marL="0" indent="0" algn="l">
              <a:buNone/>
            </a:pPr>
            <a:r>
              <a:rPr lang="tr-TR" sz="3200" b="1" dirty="0">
                <a:solidFill>
                  <a:srgbClr val="1E2A4E"/>
                </a:solidFill>
                <a:latin typeface="Calibri"/>
                <a:ea typeface="Calibri"/>
                <a:cs typeface="Calibri"/>
              </a:rPr>
              <a:t>Mini uygulama: İki modelin tahminlerini karşılaştırma</a:t>
            </a:r>
            <a:endParaRPr lang="tr-TR" sz="3200"/>
          </a:p>
        </p:txBody>
      </p:sp>
      <p:sp>
        <p:nvSpPr>
          <p:cNvPr id="100" name="İlk bölümün ev fiyatı problemine dönüyoruz."/>
          <p:cNvSpPr txBox="1"/>
          <p:nvPr/>
        </p:nvSpPr>
        <p:spPr>
          <a:xfrm>
            <a:off x="457200" y="1228725"/>
            <a:ext cx="11144250" cy="485775"/>
          </a:xfrm>
          <a:prstGeom prst="rect">
            <a:avLst/>
          </a:prstGeom>
          <a:noFill/>
          <a:ln>
            <a:noFill/>
          </a:ln>
        </p:spPr>
        <p:txBody>
          <a:bodyPr wrap="square" lIns="0" tIns="0" rIns="0" bIns="0">
            <a:noAutofit/>
          </a:bodyPr>
          <a:lstStyle/>
          <a:p>
            <a:pPr marL="0" indent="0">
              <a:lnSpc>
                <a:spcPct val="110000"/>
              </a:lnSpc>
              <a:spcAft>
                <a:spcPts val="0"/>
              </a:spcAft>
            </a:pPr>
            <a:r>
              <a:rPr lang="tr-TR" sz="2500">
                <a:solidFill>
                  <a:srgbClr val="1E2A4E"/>
                </a:solidFill>
                <a:latin typeface="Calibri"/>
                <a:ea typeface="Calibri"/>
                <a:cs typeface="Calibri"/>
              </a:rPr>
              <a:t>İlk bölümün ev fiyatı problemine dönüyoruz.</a:t>
            </a:r>
            <a:endParaRPr lang="tr-TR" sz="2500"/>
          </a:p>
        </p:txBody>
      </p:sp>
      <p:sp>
        <p:nvSpPr>
          <p:cNvPr id="101" name="Aynı bölünme ve aynı ön işleme ile doğrulama sonuç"/>
          <p:cNvSpPr txBox="1"/>
          <p:nvPr/>
        </p:nvSpPr>
        <p:spPr>
          <a:xfrm>
            <a:off x="457200" y="1847850"/>
            <a:ext cx="11144250" cy="533400"/>
          </a:xfrm>
          <a:prstGeom prst="rect">
            <a:avLst/>
          </a:prstGeom>
          <a:noFill/>
          <a:ln>
            <a:noFill/>
          </a:ln>
        </p:spPr>
        <p:txBody>
          <a:bodyPr wrap="square" lIns="0" tIns="0" rIns="0" bIns="0">
            <a:noAutofit/>
          </a:bodyPr>
          <a:lstStyle/>
          <a:p>
            <a:pPr marL="0" indent="0">
              <a:lnSpc>
                <a:spcPct val="110000"/>
              </a:lnSpc>
              <a:spcAft>
                <a:spcPts val="0"/>
              </a:spcAft>
            </a:pPr>
            <a:r>
              <a:rPr lang="tr-TR" sz="2300">
                <a:solidFill>
                  <a:srgbClr val="30343B"/>
                </a:solidFill>
                <a:latin typeface="Calibri"/>
                <a:ea typeface="Calibri"/>
                <a:cs typeface="Calibri"/>
              </a:rPr>
              <a:t>Aynı bölünme ve aynı ön işleme ile doğrulama sonuçlarını karşılaştır.</a:t>
            </a:r>
            <a:endParaRPr lang="tr-TR" sz="2300"/>
          </a:p>
        </p:txBody>
      </p:sp>
      <p:sp>
        <p:nvSpPr>
          <p:cNvPr id="102" name="Seçimden sonra testte ölç. En büyük hatalı tahminl"/>
          <p:cNvSpPr txBox="1"/>
          <p:nvPr/>
        </p:nvSpPr>
        <p:spPr>
          <a:xfrm>
            <a:off x="457200" y="5362575"/>
            <a:ext cx="11144250" cy="676275"/>
          </a:xfrm>
          <a:prstGeom prst="rect">
            <a:avLst/>
          </a:prstGeom>
          <a:noFill/>
          <a:ln>
            <a:noFill/>
          </a:ln>
        </p:spPr>
        <p:txBody>
          <a:bodyPr wrap="square" lIns="0" tIns="0" rIns="0" bIns="0">
            <a:noAutofit/>
          </a:bodyPr>
          <a:lstStyle/>
          <a:p>
            <a:pPr marL="0" indent="0">
              <a:lnSpc>
                <a:spcPct val="110000"/>
              </a:lnSpc>
              <a:spcAft>
                <a:spcPts val="0"/>
              </a:spcAft>
            </a:pPr>
            <a:r>
              <a:rPr lang="tr-TR" sz="2500" b="1">
                <a:solidFill>
                  <a:srgbClr val="1E2A4E"/>
                </a:solidFill>
                <a:latin typeface="Calibri"/>
                <a:ea typeface="Calibri"/>
                <a:cs typeface="Calibri"/>
              </a:rPr>
              <a:t>Seçimden sonra testte ölç. En büyük hatalı tahminleri incele.</a:t>
            </a:r>
            <a:endParaRPr lang="tr-TR" sz="2500"/>
          </a:p>
        </p:txBody>
      </p:sp>
      <p:sp>
        <p:nvSpPr>
          <p:cNvPr id="103" name="5 ev yalnızca açıklama örneğidir. Uygulamada daha "/>
          <p:cNvSpPr txBox="1"/>
          <p:nvPr/>
        </p:nvSpPr>
        <p:spPr>
          <a:xfrm>
            <a:off x="457200" y="6191250"/>
            <a:ext cx="11144250" cy="581025"/>
          </a:xfrm>
          <a:prstGeom prst="rect">
            <a:avLst/>
          </a:prstGeom>
          <a:noFill/>
          <a:ln>
            <a:noFill/>
          </a:ln>
        </p:spPr>
        <p:txBody>
          <a:bodyPr wrap="square" lIns="0" tIns="0" rIns="0" bIns="0">
            <a:noAutofit/>
          </a:bodyPr>
          <a:lstStyle/>
          <a:p>
            <a:pPr marL="0" indent="0">
              <a:lnSpc>
                <a:spcPct val="110000"/>
              </a:lnSpc>
              <a:spcAft>
                <a:spcPts val="0"/>
              </a:spcAft>
            </a:pPr>
            <a:r>
              <a:rPr lang="tr-TR" sz="1800">
                <a:solidFill>
                  <a:srgbClr val="596173"/>
                </a:solidFill>
                <a:latin typeface="Calibri"/>
                <a:ea typeface="Calibri"/>
                <a:cs typeface="Calibri"/>
              </a:rPr>
              <a:t>5 ev yalnızca açıklama örneğidir. Uygulamada daha büyük veri kullanılır.</a:t>
            </a:r>
            <a:endParaRPr lang="tr-TR" sz="1800"/>
          </a:p>
          <a:p>
            <a:pPr marL="0" indent="0">
              <a:lnSpc>
                <a:spcPct val="110000"/>
              </a:lnSpc>
              <a:spcAft>
                <a:spcPts val="0"/>
              </a:spcAft>
            </a:pPr>
            <a:r>
              <a:rPr lang="tr-TR" sz="1800">
                <a:solidFill>
                  <a:srgbClr val="596173"/>
                </a:solidFill>
                <a:latin typeface="Calibri"/>
                <a:ea typeface="Calibri"/>
                <a:cs typeface="Calibri"/>
              </a:rPr>
              <a:t>Ev 2’nin fiyatı bilinmiyor; başarı hesabına katılmaz.</a:t>
            </a:r>
            <a:endParaRPr lang="tr-TR" sz="1800"/>
          </a:p>
        </p:txBody>
      </p:sp>
      <p:graphicFrame>
        <p:nvGraphicFramePr>
          <p:cNvPr id="104" name="Tablo 103"/>
          <p:cNvGraphicFramePr/>
          <p:nvPr/>
        </p:nvGraphicFramePr>
        <p:xfrm>
          <a:off x="457200" y="2847975"/>
          <a:ext cx="11239500" cy="1962150"/>
        </p:xfrm>
        <a:graphic>
          <a:graphicData uri="http://schemas.openxmlformats.org/drawingml/2006/table">
            <a:tbl>
              <a:tblPr/>
              <a:tblGrid>
                <a:gridCol w="457200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3333750">
                  <a:extLst>
                    <a:ext uri="{9D8B030D-6E8A-4147-A177-3AD203B41FA5}">
                      <a16:colId xmlns:a16="http://schemas.microsoft.com/office/drawing/2014/main" val="20002"/>
                    </a:ext>
                  </a:extLst>
                </a:gridCol>
              </a:tblGrid>
              <a:tr h="654050">
                <a:tc>
                  <a:txBody>
                    <a:bodyPr/>
                    <a:lstStyle/>
                    <a:p>
                      <a:r>
                        <a:rPr sz="2100" b="1">
                          <a:solidFill>
                            <a:srgbClr val="FFFFFF"/>
                          </a:solidFill>
                          <a:latin typeface="Calibri"/>
                          <a:ea typeface="Calibri"/>
                          <a:cs typeface="Calibri"/>
                        </a:rPr>
                        <a:t>Model</a:t>
                      </a:r>
                    </a:p>
                  </a:txBody>
                  <a:tcPr marL="114300" marR="114300" marT="95250" marB="95250" anchor="ctr">
                    <a:solidFill>
                      <a:srgbClr val="1E2A4E"/>
                    </a:solidFill>
                  </a:tcPr>
                </a:tc>
                <a:tc>
                  <a:txBody>
                    <a:bodyPr/>
                    <a:lstStyle/>
                    <a:p>
                      <a:r>
                        <a:rPr sz="2100" b="1">
                          <a:solidFill>
                            <a:srgbClr val="FFFFFF"/>
                          </a:solidFill>
                          <a:latin typeface="Calibri"/>
                          <a:ea typeface="Calibri"/>
                          <a:cs typeface="Calibri"/>
                        </a:rPr>
                        <a:t>Eğitim RMSE</a:t>
                      </a:r>
                    </a:p>
                  </a:txBody>
                  <a:tcPr marL="114300" marR="114300" marT="95250" marB="95250" anchor="ctr">
                    <a:solidFill>
                      <a:srgbClr val="1E2A4E"/>
                    </a:solidFill>
                  </a:tcPr>
                </a:tc>
                <a:tc>
                  <a:txBody>
                    <a:bodyPr/>
                    <a:lstStyle/>
                    <a:p>
                      <a:r>
                        <a:rPr sz="2100" b="1">
                          <a:solidFill>
                            <a:srgbClr val="FFFFFF"/>
                          </a:solidFill>
                          <a:latin typeface="Calibri"/>
                          <a:ea typeface="Calibri"/>
                          <a:cs typeface="Calibri"/>
                        </a:rPr>
                        <a:t>Doğrulama RMSE</a:t>
                      </a:r>
                    </a:p>
                  </a:txBody>
                  <a:tcPr marL="114300" marR="114300" marT="95250" marB="95250" anchor="ctr">
                    <a:solidFill>
                      <a:srgbClr val="1E2A4E"/>
                    </a:solidFill>
                  </a:tcPr>
                </a:tc>
                <a:extLst>
                  <a:ext uri="{0D108BD9-81ED-4DB2-BD59-A6C34878D82A}">
                    <a16:rowId xmlns:a16="http://schemas.microsoft.com/office/drawing/2014/main" val="10000"/>
                  </a:ext>
                </a:extLst>
              </a:tr>
              <a:tr h="654050">
                <a:tc>
                  <a:txBody>
                    <a:bodyPr/>
                    <a:lstStyle/>
                    <a:p>
                      <a:r>
                        <a:rPr sz="2100" b="0">
                          <a:solidFill>
                            <a:srgbClr val="30343B"/>
                          </a:solidFill>
                          <a:latin typeface="Calibri"/>
                          <a:ea typeface="Calibri"/>
                          <a:cs typeface="Calibri"/>
                        </a:rPr>
                        <a:t>Lineer regresyon</a:t>
                      </a:r>
                    </a:p>
                  </a:txBody>
                  <a:tcPr marL="114300" marR="114300" marT="95250" marB="95250" anchor="ctr">
                    <a:solidFill>
                      <a:srgbClr val="FFFFFF"/>
                    </a:solidFill>
                  </a:tcPr>
                </a:tc>
                <a:tc>
                  <a:txBody>
                    <a:bodyPr/>
                    <a:lstStyle/>
                    <a:p>
                      <a:r>
                        <a:rPr sz="2100" b="0">
                          <a:solidFill>
                            <a:srgbClr val="30343B"/>
                          </a:solidFill>
                          <a:latin typeface="Calibri"/>
                          <a:ea typeface="Calibri"/>
                          <a:cs typeface="Calibri"/>
                        </a:rPr>
                        <a:t>Hesapla</a:t>
                      </a:r>
                    </a:p>
                  </a:txBody>
                  <a:tcPr marL="114300" marR="114300" marT="95250" marB="95250" anchor="ctr">
                    <a:solidFill>
                      <a:srgbClr val="FFFFFF"/>
                    </a:solidFill>
                  </a:tcPr>
                </a:tc>
                <a:tc>
                  <a:txBody>
                    <a:bodyPr/>
                    <a:lstStyle/>
                    <a:p>
                      <a:r>
                        <a:rPr sz="2100" b="0">
                          <a:solidFill>
                            <a:srgbClr val="30343B"/>
                          </a:solidFill>
                          <a:latin typeface="Calibri"/>
                          <a:ea typeface="Calibri"/>
                          <a:cs typeface="Calibri"/>
                        </a:rPr>
                        <a:t>Hesapla</a:t>
                      </a:r>
                    </a:p>
                  </a:txBody>
                  <a:tcPr marL="114300" marR="114300" marT="95250" marB="95250" anchor="ctr">
                    <a:solidFill>
                      <a:srgbClr val="FFFFFF"/>
                    </a:solidFill>
                  </a:tcPr>
                </a:tc>
                <a:extLst>
                  <a:ext uri="{0D108BD9-81ED-4DB2-BD59-A6C34878D82A}">
                    <a16:rowId xmlns:a16="http://schemas.microsoft.com/office/drawing/2014/main" val="10001"/>
                  </a:ext>
                </a:extLst>
              </a:tr>
              <a:tr h="654050">
                <a:tc>
                  <a:txBody>
                    <a:bodyPr/>
                    <a:lstStyle/>
                    <a:p>
                      <a:r>
                        <a:rPr sz="2100" b="0">
                          <a:solidFill>
                            <a:srgbClr val="30343B"/>
                          </a:solidFill>
                          <a:latin typeface="Calibri"/>
                          <a:ea typeface="Calibri"/>
                          <a:cs typeface="Calibri"/>
                        </a:rPr>
                        <a:t>Karar ağacı</a:t>
                      </a:r>
                    </a:p>
                  </a:txBody>
                  <a:tcPr marL="114300" marR="114300" marT="95250" marB="95250" anchor="ctr">
                    <a:solidFill>
                      <a:srgbClr val="EFEFF2"/>
                    </a:solidFill>
                  </a:tcPr>
                </a:tc>
                <a:tc>
                  <a:txBody>
                    <a:bodyPr/>
                    <a:lstStyle/>
                    <a:p>
                      <a:r>
                        <a:rPr sz="2100" b="0">
                          <a:solidFill>
                            <a:srgbClr val="30343B"/>
                          </a:solidFill>
                          <a:latin typeface="Calibri"/>
                          <a:ea typeface="Calibri"/>
                          <a:cs typeface="Calibri"/>
                        </a:rPr>
                        <a:t>Hesapla</a:t>
                      </a:r>
                    </a:p>
                  </a:txBody>
                  <a:tcPr marL="114300" marR="114300" marT="95250" marB="95250" anchor="ctr">
                    <a:solidFill>
                      <a:srgbClr val="EFEFF2"/>
                    </a:solidFill>
                  </a:tcPr>
                </a:tc>
                <a:tc>
                  <a:txBody>
                    <a:bodyPr/>
                    <a:lstStyle/>
                    <a:p>
                      <a:r>
                        <a:rPr sz="2100" b="0">
                          <a:solidFill>
                            <a:srgbClr val="30343B"/>
                          </a:solidFill>
                          <a:latin typeface="Calibri"/>
                          <a:ea typeface="Calibri"/>
                          <a:cs typeface="Calibri"/>
                        </a:rPr>
                        <a:t>Hesapla</a:t>
                      </a:r>
                    </a:p>
                  </a:txBody>
                  <a:tcPr marL="114300" marR="114300" marT="95250" marB="95250" anchor="ctr">
                    <a:solidFill>
                      <a:srgbClr val="EFEFF2"/>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461125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0" name="Text 0">
            <a:extLst>
              <a:ext uri="{FF2B5EF4-FFF2-40B4-BE49-F238E27FC236}">
                <a16:creationId xmlns:a16="http://schemas.microsoft.com/office/drawing/2014/main" id="{BB9EEFCA-6038-43DE-B173-64D241884766}"/>
              </a:ext>
            </a:extLst>
          </p:cNvPr>
          <p:cNvSpPr/>
          <p:nvPr/>
        </p:nvSpPr>
        <p:spPr>
          <a:xfrm>
            <a:off x="457200" y="285750"/>
            <a:ext cx="11239500" cy="685800"/>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Calibri"/>
                <a:ea typeface="Calibri"/>
                <a:cs typeface="Calibri"/>
              </a:defRPr>
            </a:lvl1pPr>
            <a:lvl2pPr marL="457200" algn="l" defTabSz="914400" rtl="0" eaLnBrk="1" latinLnBrk="0" hangingPunct="1">
              <a:defRPr sz="1800" kern="1200">
                <a:solidFill>
                  <a:schemeClr val="tx1"/>
                </a:solidFill>
                <a:latin typeface="Calibri"/>
                <a:ea typeface="Calibri"/>
                <a:cs typeface="Calibri"/>
              </a:defRPr>
            </a:lvl2pPr>
            <a:lvl3pPr marL="914400" algn="l" defTabSz="914400" rtl="0" eaLnBrk="1" latinLnBrk="0" hangingPunct="1">
              <a:defRPr sz="1800" kern="1200">
                <a:solidFill>
                  <a:schemeClr val="tx1"/>
                </a:solidFill>
                <a:latin typeface="Calibri"/>
                <a:ea typeface="Calibri"/>
                <a:cs typeface="Calibri"/>
              </a:defRPr>
            </a:lvl3pPr>
            <a:lvl4pPr marL="1371600" algn="l" defTabSz="914400" rtl="0" eaLnBrk="1" latinLnBrk="0" hangingPunct="1">
              <a:defRPr sz="1800" kern="1200">
                <a:solidFill>
                  <a:schemeClr val="tx1"/>
                </a:solidFill>
                <a:latin typeface="Calibri"/>
                <a:ea typeface="Calibri"/>
                <a:cs typeface="Calibri"/>
              </a:defRPr>
            </a:lvl4pPr>
            <a:lvl5pPr marL="1828800" algn="l" defTabSz="914400" rtl="0" eaLnBrk="1" latinLnBrk="0" hangingPunct="1">
              <a:defRPr sz="1800" kern="1200">
                <a:solidFill>
                  <a:schemeClr val="tx1"/>
                </a:solidFill>
                <a:latin typeface="Calibri"/>
                <a:ea typeface="Calibri"/>
                <a:cs typeface="Calibri"/>
              </a:defRPr>
            </a:lvl5pPr>
            <a:lvl6pPr marL="2286000" algn="l" defTabSz="914400" rtl="0" eaLnBrk="1" latinLnBrk="0" hangingPunct="1">
              <a:defRPr sz="1800" kern="1200">
                <a:solidFill>
                  <a:schemeClr val="tx1"/>
                </a:solidFill>
                <a:latin typeface="Calibri"/>
                <a:ea typeface="Calibri"/>
                <a:cs typeface="Calibri"/>
              </a:defRPr>
            </a:lvl6pPr>
            <a:lvl7pPr marL="2743200" algn="l" defTabSz="914400" rtl="0" eaLnBrk="1" latinLnBrk="0" hangingPunct="1">
              <a:defRPr sz="1800" kern="1200">
                <a:solidFill>
                  <a:schemeClr val="tx1"/>
                </a:solidFill>
                <a:latin typeface="Calibri"/>
                <a:ea typeface="Calibri"/>
                <a:cs typeface="Calibri"/>
              </a:defRPr>
            </a:lvl7pPr>
            <a:lvl8pPr marL="3200400" algn="l" defTabSz="914400" rtl="0" eaLnBrk="1" latinLnBrk="0" hangingPunct="1">
              <a:defRPr sz="1800" kern="1200">
                <a:solidFill>
                  <a:schemeClr val="tx1"/>
                </a:solidFill>
                <a:latin typeface="Calibri"/>
                <a:ea typeface="Calibri"/>
                <a:cs typeface="Calibri"/>
              </a:defRPr>
            </a:lvl8pPr>
            <a:lvl9pPr marL="3657600" algn="l" defTabSz="914400" rtl="0" eaLnBrk="1" latinLnBrk="0" hangingPunct="1">
              <a:defRPr sz="1800" kern="1200">
                <a:solidFill>
                  <a:schemeClr val="tx1"/>
                </a:solidFill>
                <a:latin typeface="Calibri"/>
                <a:ea typeface="Calibri"/>
                <a:cs typeface="Calibri"/>
              </a:defRPr>
            </a:lvl9pPr>
          </a:lstStyle>
          <a:p>
            <a:pPr marL="0" indent="0" algn="l">
              <a:buNone/>
            </a:pPr>
            <a:r>
              <a:rPr lang="tr-TR" sz="3200" b="1" dirty="0">
                <a:solidFill>
                  <a:srgbClr val="1E2A4E"/>
                </a:solidFill>
                <a:latin typeface="Calibri"/>
                <a:ea typeface="Calibri"/>
                <a:cs typeface="Calibri"/>
              </a:rPr>
              <a:t>3. haftanın özeti: Model tasarımı ve değerlendirme</a:t>
            </a:r>
            <a:endParaRPr lang="tr-TR" sz="3200"/>
          </a:p>
        </p:txBody>
      </p:sp>
      <p:sp>
        <p:nvSpPr>
          <p:cNvPr id="14" name="Shape 3">
            <a:extLst>
              <a:ext uri="{FF2B5EF4-FFF2-40B4-BE49-F238E27FC236}">
                <a16:creationId xmlns:a16="http://schemas.microsoft.com/office/drawing/2014/main" id="{5FDE7BE1-5FE8-4119-9E73-61B205AD8C8B}"/>
              </a:ext>
            </a:extLst>
          </p:cNvPr>
          <p:cNvSpPr/>
          <p:nvPr/>
        </p:nvSpPr>
        <p:spPr>
          <a:xfrm>
            <a:off x="457200" y="1552575"/>
            <a:ext cx="5467350" cy="2028825"/>
          </a:xfrm>
          <a:prstGeom prst="roundRect">
            <a:avLst>
              <a:gd name="adj" fmla="val 5858"/>
            </a:avLst>
          </a:prstGeom>
          <a:solidFill>
            <a:srgbClr val="E1E1EA"/>
          </a:solidFill>
          <a:ln w="6350">
            <a:solidFill>
              <a:srgbClr val="C7C7D0"/>
            </a:solidFill>
            <a:prstDash val="solid"/>
          </a:ln>
        </p:spPr>
        <p:txBody>
          <a:bodyPr/>
          <a:lstStyle/>
          <a:p>
            <a:endParaRPr lang="tr-TR"/>
          </a:p>
        </p:txBody>
      </p:sp>
      <p:sp>
        <p:nvSpPr>
          <p:cNvPr id="15" name="Text 4">
            <a:extLst>
              <a:ext uri="{FF2B5EF4-FFF2-40B4-BE49-F238E27FC236}">
                <a16:creationId xmlns:a16="http://schemas.microsoft.com/office/drawing/2014/main" id="{D6F11C57-158B-45B8-983F-23A0725D153A}"/>
              </a:ext>
            </a:extLst>
          </p:cNvPr>
          <p:cNvSpPr/>
          <p:nvPr/>
        </p:nvSpPr>
        <p:spPr>
          <a:xfrm>
            <a:off x="666750" y="1724025"/>
            <a:ext cx="5048250" cy="514350"/>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Calibri"/>
                <a:ea typeface="Calibri"/>
                <a:cs typeface="Calibri"/>
              </a:defRPr>
            </a:lvl1pPr>
            <a:lvl2pPr marL="457200" algn="l" defTabSz="914400" rtl="0" eaLnBrk="1" latinLnBrk="0" hangingPunct="1">
              <a:defRPr sz="1800" kern="1200">
                <a:solidFill>
                  <a:schemeClr val="tx1"/>
                </a:solidFill>
                <a:latin typeface="Calibri"/>
                <a:ea typeface="Calibri"/>
                <a:cs typeface="Calibri"/>
              </a:defRPr>
            </a:lvl2pPr>
            <a:lvl3pPr marL="914400" algn="l" defTabSz="914400" rtl="0" eaLnBrk="1" latinLnBrk="0" hangingPunct="1">
              <a:defRPr sz="1800" kern="1200">
                <a:solidFill>
                  <a:schemeClr val="tx1"/>
                </a:solidFill>
                <a:latin typeface="Calibri"/>
                <a:ea typeface="Calibri"/>
                <a:cs typeface="Calibri"/>
              </a:defRPr>
            </a:lvl3pPr>
            <a:lvl4pPr marL="1371600" algn="l" defTabSz="914400" rtl="0" eaLnBrk="1" latinLnBrk="0" hangingPunct="1">
              <a:defRPr sz="1800" kern="1200">
                <a:solidFill>
                  <a:schemeClr val="tx1"/>
                </a:solidFill>
                <a:latin typeface="Calibri"/>
                <a:ea typeface="Calibri"/>
                <a:cs typeface="Calibri"/>
              </a:defRPr>
            </a:lvl4pPr>
            <a:lvl5pPr marL="1828800" algn="l" defTabSz="914400" rtl="0" eaLnBrk="1" latinLnBrk="0" hangingPunct="1">
              <a:defRPr sz="1800" kern="1200">
                <a:solidFill>
                  <a:schemeClr val="tx1"/>
                </a:solidFill>
                <a:latin typeface="Calibri"/>
                <a:ea typeface="Calibri"/>
                <a:cs typeface="Calibri"/>
              </a:defRPr>
            </a:lvl5pPr>
            <a:lvl6pPr marL="2286000" algn="l" defTabSz="914400" rtl="0" eaLnBrk="1" latinLnBrk="0" hangingPunct="1">
              <a:defRPr sz="1800" kern="1200">
                <a:solidFill>
                  <a:schemeClr val="tx1"/>
                </a:solidFill>
                <a:latin typeface="Calibri"/>
                <a:ea typeface="Calibri"/>
                <a:cs typeface="Calibri"/>
              </a:defRPr>
            </a:lvl6pPr>
            <a:lvl7pPr marL="2743200" algn="l" defTabSz="914400" rtl="0" eaLnBrk="1" latinLnBrk="0" hangingPunct="1">
              <a:defRPr sz="1800" kern="1200">
                <a:solidFill>
                  <a:schemeClr val="tx1"/>
                </a:solidFill>
                <a:latin typeface="Calibri"/>
                <a:ea typeface="Calibri"/>
                <a:cs typeface="Calibri"/>
              </a:defRPr>
            </a:lvl7pPr>
            <a:lvl8pPr marL="3200400" algn="l" defTabSz="914400" rtl="0" eaLnBrk="1" latinLnBrk="0" hangingPunct="1">
              <a:defRPr sz="1800" kern="1200">
                <a:solidFill>
                  <a:schemeClr val="tx1"/>
                </a:solidFill>
                <a:latin typeface="Calibri"/>
                <a:ea typeface="Calibri"/>
                <a:cs typeface="Calibri"/>
              </a:defRPr>
            </a:lvl8pPr>
            <a:lvl9pPr marL="3657600" algn="l" defTabSz="914400" rtl="0" eaLnBrk="1" latinLnBrk="0" hangingPunct="1">
              <a:defRPr sz="1800" kern="1200">
                <a:solidFill>
                  <a:schemeClr val="tx1"/>
                </a:solidFill>
                <a:latin typeface="Calibri"/>
                <a:ea typeface="Calibri"/>
                <a:cs typeface="Calibri"/>
              </a:defRPr>
            </a:lvl9pPr>
          </a:lstStyle>
          <a:p>
            <a:pPr marL="0" indent="0" algn="l">
              <a:buNone/>
            </a:pPr>
            <a:r>
              <a:rPr lang="tr-TR" sz="2400" b="1" dirty="0">
                <a:solidFill>
                  <a:srgbClr val="1E2A4E"/>
                </a:solidFill>
                <a:latin typeface="Calibri"/>
                <a:ea typeface="Calibri"/>
                <a:cs typeface="Calibri"/>
              </a:rPr>
              <a:t>Model tasarımı</a:t>
            </a:r>
            <a:endParaRPr lang="tr-TR" sz="2400"/>
          </a:p>
        </p:txBody>
      </p:sp>
      <p:sp>
        <p:nvSpPr>
          <p:cNvPr id="16" name="Text 5">
            <a:extLst>
              <a:ext uri="{FF2B5EF4-FFF2-40B4-BE49-F238E27FC236}">
                <a16:creationId xmlns:a16="http://schemas.microsoft.com/office/drawing/2014/main" id="{5E057B60-7308-48A0-AC2B-B10F3106925B}"/>
              </a:ext>
            </a:extLst>
          </p:cNvPr>
          <p:cNvSpPr/>
          <p:nvPr/>
        </p:nvSpPr>
        <p:spPr>
          <a:xfrm>
            <a:off x="666750" y="2371725"/>
            <a:ext cx="5048250" cy="1038225"/>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Calibri"/>
                <a:ea typeface="Calibri"/>
                <a:cs typeface="Calibri"/>
              </a:defRPr>
            </a:lvl1pPr>
            <a:lvl2pPr marL="457200" algn="l" defTabSz="914400" rtl="0" eaLnBrk="1" latinLnBrk="0" hangingPunct="1">
              <a:defRPr sz="1800" kern="1200">
                <a:solidFill>
                  <a:schemeClr val="tx1"/>
                </a:solidFill>
                <a:latin typeface="Calibri"/>
                <a:ea typeface="Calibri"/>
                <a:cs typeface="Calibri"/>
              </a:defRPr>
            </a:lvl2pPr>
            <a:lvl3pPr marL="914400" algn="l" defTabSz="914400" rtl="0" eaLnBrk="1" latinLnBrk="0" hangingPunct="1">
              <a:defRPr sz="1800" kern="1200">
                <a:solidFill>
                  <a:schemeClr val="tx1"/>
                </a:solidFill>
                <a:latin typeface="Calibri"/>
                <a:ea typeface="Calibri"/>
                <a:cs typeface="Calibri"/>
              </a:defRPr>
            </a:lvl3pPr>
            <a:lvl4pPr marL="1371600" algn="l" defTabSz="914400" rtl="0" eaLnBrk="1" latinLnBrk="0" hangingPunct="1">
              <a:defRPr sz="1800" kern="1200">
                <a:solidFill>
                  <a:schemeClr val="tx1"/>
                </a:solidFill>
                <a:latin typeface="Calibri"/>
                <a:ea typeface="Calibri"/>
                <a:cs typeface="Calibri"/>
              </a:defRPr>
            </a:lvl4pPr>
            <a:lvl5pPr marL="1828800" algn="l" defTabSz="914400" rtl="0" eaLnBrk="1" latinLnBrk="0" hangingPunct="1">
              <a:defRPr sz="1800" kern="1200">
                <a:solidFill>
                  <a:schemeClr val="tx1"/>
                </a:solidFill>
                <a:latin typeface="Calibri"/>
                <a:ea typeface="Calibri"/>
                <a:cs typeface="Calibri"/>
              </a:defRPr>
            </a:lvl5pPr>
            <a:lvl6pPr marL="2286000" algn="l" defTabSz="914400" rtl="0" eaLnBrk="1" latinLnBrk="0" hangingPunct="1">
              <a:defRPr sz="1800" kern="1200">
                <a:solidFill>
                  <a:schemeClr val="tx1"/>
                </a:solidFill>
                <a:latin typeface="Calibri"/>
                <a:ea typeface="Calibri"/>
                <a:cs typeface="Calibri"/>
              </a:defRPr>
            </a:lvl6pPr>
            <a:lvl7pPr marL="2743200" algn="l" defTabSz="914400" rtl="0" eaLnBrk="1" latinLnBrk="0" hangingPunct="1">
              <a:defRPr sz="1800" kern="1200">
                <a:solidFill>
                  <a:schemeClr val="tx1"/>
                </a:solidFill>
                <a:latin typeface="Calibri"/>
                <a:ea typeface="Calibri"/>
                <a:cs typeface="Calibri"/>
              </a:defRPr>
            </a:lvl7pPr>
            <a:lvl8pPr marL="3200400" algn="l" defTabSz="914400" rtl="0" eaLnBrk="1" latinLnBrk="0" hangingPunct="1">
              <a:defRPr sz="1800" kern="1200">
                <a:solidFill>
                  <a:schemeClr val="tx1"/>
                </a:solidFill>
                <a:latin typeface="Calibri"/>
                <a:ea typeface="Calibri"/>
                <a:cs typeface="Calibri"/>
              </a:defRPr>
            </a:lvl8pPr>
            <a:lvl9pPr marL="3657600" algn="l" defTabSz="914400" rtl="0" eaLnBrk="1" latinLnBrk="0" hangingPunct="1">
              <a:defRPr sz="1800" kern="1200">
                <a:solidFill>
                  <a:schemeClr val="tx1"/>
                </a:solidFill>
                <a:latin typeface="Calibri"/>
                <a:ea typeface="Calibri"/>
                <a:cs typeface="Calibri"/>
              </a:defRPr>
            </a:lvl9pPr>
          </a:lstStyle>
          <a:p>
            <a:pPr marL="0" indent="0" algn="l">
              <a:buNone/>
            </a:pPr>
            <a:r>
              <a:rPr lang="tr-TR" sz="2300" b="0" dirty="0">
                <a:solidFill>
                  <a:srgbClr val="30343B"/>
                </a:solidFill>
                <a:latin typeface="Calibri"/>
                <a:ea typeface="Calibri"/>
                <a:cs typeface="Calibri"/>
              </a:rPr>
              <a:t>Problemi ve hedefi belirle. Uygun modelleri aynı koşullarda karşılaştır.</a:t>
            </a:r>
            <a:endParaRPr lang="tr-TR" sz="2300"/>
          </a:p>
        </p:txBody>
      </p:sp>
      <p:sp>
        <p:nvSpPr>
          <p:cNvPr id="17" name="Shape 6">
            <a:extLst>
              <a:ext uri="{FF2B5EF4-FFF2-40B4-BE49-F238E27FC236}">
                <a16:creationId xmlns:a16="http://schemas.microsoft.com/office/drawing/2014/main" id="{46B26FCD-E333-4FA6-A268-5868A0E2DBB3}"/>
              </a:ext>
            </a:extLst>
          </p:cNvPr>
          <p:cNvSpPr/>
          <p:nvPr/>
        </p:nvSpPr>
        <p:spPr>
          <a:xfrm>
            <a:off x="6229350" y="1552575"/>
            <a:ext cx="5467350" cy="2028825"/>
          </a:xfrm>
          <a:prstGeom prst="roundRect">
            <a:avLst>
              <a:gd name="adj" fmla="val 5858"/>
            </a:avLst>
          </a:prstGeom>
          <a:solidFill>
            <a:srgbClr val="E1E1EA"/>
          </a:solidFill>
          <a:ln w="6350">
            <a:solidFill>
              <a:srgbClr val="C7C7D0"/>
            </a:solidFill>
            <a:prstDash val="solid"/>
          </a:ln>
        </p:spPr>
        <p:txBody>
          <a:bodyPr/>
          <a:lstStyle/>
          <a:p>
            <a:endParaRPr lang="tr-TR"/>
          </a:p>
        </p:txBody>
      </p:sp>
      <p:sp>
        <p:nvSpPr>
          <p:cNvPr id="18" name="Text 7">
            <a:extLst>
              <a:ext uri="{FF2B5EF4-FFF2-40B4-BE49-F238E27FC236}">
                <a16:creationId xmlns:a16="http://schemas.microsoft.com/office/drawing/2014/main" id="{AEA93218-D69B-41D9-9576-4C7C67FA7293}"/>
              </a:ext>
            </a:extLst>
          </p:cNvPr>
          <p:cNvSpPr/>
          <p:nvPr/>
        </p:nvSpPr>
        <p:spPr>
          <a:xfrm>
            <a:off x="6438900" y="1724025"/>
            <a:ext cx="5048250" cy="514350"/>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Calibri"/>
                <a:ea typeface="Calibri"/>
                <a:cs typeface="Calibri"/>
              </a:defRPr>
            </a:lvl1pPr>
            <a:lvl2pPr marL="457200" algn="l" defTabSz="914400" rtl="0" eaLnBrk="1" latinLnBrk="0" hangingPunct="1">
              <a:defRPr sz="1800" kern="1200">
                <a:solidFill>
                  <a:schemeClr val="tx1"/>
                </a:solidFill>
                <a:latin typeface="Calibri"/>
                <a:ea typeface="Calibri"/>
                <a:cs typeface="Calibri"/>
              </a:defRPr>
            </a:lvl2pPr>
            <a:lvl3pPr marL="914400" algn="l" defTabSz="914400" rtl="0" eaLnBrk="1" latinLnBrk="0" hangingPunct="1">
              <a:defRPr sz="1800" kern="1200">
                <a:solidFill>
                  <a:schemeClr val="tx1"/>
                </a:solidFill>
                <a:latin typeface="Calibri"/>
                <a:ea typeface="Calibri"/>
                <a:cs typeface="Calibri"/>
              </a:defRPr>
            </a:lvl3pPr>
            <a:lvl4pPr marL="1371600" algn="l" defTabSz="914400" rtl="0" eaLnBrk="1" latinLnBrk="0" hangingPunct="1">
              <a:defRPr sz="1800" kern="1200">
                <a:solidFill>
                  <a:schemeClr val="tx1"/>
                </a:solidFill>
                <a:latin typeface="Calibri"/>
                <a:ea typeface="Calibri"/>
                <a:cs typeface="Calibri"/>
              </a:defRPr>
            </a:lvl4pPr>
            <a:lvl5pPr marL="1828800" algn="l" defTabSz="914400" rtl="0" eaLnBrk="1" latinLnBrk="0" hangingPunct="1">
              <a:defRPr sz="1800" kern="1200">
                <a:solidFill>
                  <a:schemeClr val="tx1"/>
                </a:solidFill>
                <a:latin typeface="Calibri"/>
                <a:ea typeface="Calibri"/>
                <a:cs typeface="Calibri"/>
              </a:defRPr>
            </a:lvl5pPr>
            <a:lvl6pPr marL="2286000" algn="l" defTabSz="914400" rtl="0" eaLnBrk="1" latinLnBrk="0" hangingPunct="1">
              <a:defRPr sz="1800" kern="1200">
                <a:solidFill>
                  <a:schemeClr val="tx1"/>
                </a:solidFill>
                <a:latin typeface="Calibri"/>
                <a:ea typeface="Calibri"/>
                <a:cs typeface="Calibri"/>
              </a:defRPr>
            </a:lvl6pPr>
            <a:lvl7pPr marL="2743200" algn="l" defTabSz="914400" rtl="0" eaLnBrk="1" latinLnBrk="0" hangingPunct="1">
              <a:defRPr sz="1800" kern="1200">
                <a:solidFill>
                  <a:schemeClr val="tx1"/>
                </a:solidFill>
                <a:latin typeface="Calibri"/>
                <a:ea typeface="Calibri"/>
                <a:cs typeface="Calibri"/>
              </a:defRPr>
            </a:lvl7pPr>
            <a:lvl8pPr marL="3200400" algn="l" defTabSz="914400" rtl="0" eaLnBrk="1" latinLnBrk="0" hangingPunct="1">
              <a:defRPr sz="1800" kern="1200">
                <a:solidFill>
                  <a:schemeClr val="tx1"/>
                </a:solidFill>
                <a:latin typeface="Calibri"/>
                <a:ea typeface="Calibri"/>
                <a:cs typeface="Calibri"/>
              </a:defRPr>
            </a:lvl8pPr>
            <a:lvl9pPr marL="3657600" algn="l" defTabSz="914400" rtl="0" eaLnBrk="1" latinLnBrk="0" hangingPunct="1">
              <a:defRPr sz="1800" kern="1200">
                <a:solidFill>
                  <a:schemeClr val="tx1"/>
                </a:solidFill>
                <a:latin typeface="Calibri"/>
                <a:ea typeface="Calibri"/>
                <a:cs typeface="Calibri"/>
              </a:defRPr>
            </a:lvl9pPr>
          </a:lstStyle>
          <a:p>
            <a:pPr marL="0" indent="0" algn="l">
              <a:buNone/>
            </a:pPr>
            <a:r>
              <a:rPr lang="tr-TR" sz="2400" b="1" dirty="0">
                <a:solidFill>
                  <a:srgbClr val="1E2A4E"/>
                </a:solidFill>
                <a:latin typeface="Calibri"/>
                <a:ea typeface="Calibri"/>
                <a:cs typeface="Calibri"/>
              </a:rPr>
              <a:t>Bağımsız değerlendirme</a:t>
            </a:r>
            <a:endParaRPr lang="tr-TR" sz="2400"/>
          </a:p>
        </p:txBody>
      </p:sp>
      <p:sp>
        <p:nvSpPr>
          <p:cNvPr id="19" name="Text 8">
            <a:extLst>
              <a:ext uri="{FF2B5EF4-FFF2-40B4-BE49-F238E27FC236}">
                <a16:creationId xmlns:a16="http://schemas.microsoft.com/office/drawing/2014/main" id="{2F2D80C0-0F01-4B28-BBD9-516D409C1362}"/>
              </a:ext>
            </a:extLst>
          </p:cNvPr>
          <p:cNvSpPr/>
          <p:nvPr/>
        </p:nvSpPr>
        <p:spPr>
          <a:xfrm>
            <a:off x="6438900" y="2371725"/>
            <a:ext cx="5048250" cy="1038225"/>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Calibri"/>
                <a:ea typeface="Calibri"/>
                <a:cs typeface="Calibri"/>
              </a:defRPr>
            </a:lvl1pPr>
            <a:lvl2pPr marL="457200" algn="l" defTabSz="914400" rtl="0" eaLnBrk="1" latinLnBrk="0" hangingPunct="1">
              <a:defRPr sz="1800" kern="1200">
                <a:solidFill>
                  <a:schemeClr val="tx1"/>
                </a:solidFill>
                <a:latin typeface="Calibri"/>
                <a:ea typeface="Calibri"/>
                <a:cs typeface="Calibri"/>
              </a:defRPr>
            </a:lvl2pPr>
            <a:lvl3pPr marL="914400" algn="l" defTabSz="914400" rtl="0" eaLnBrk="1" latinLnBrk="0" hangingPunct="1">
              <a:defRPr sz="1800" kern="1200">
                <a:solidFill>
                  <a:schemeClr val="tx1"/>
                </a:solidFill>
                <a:latin typeface="Calibri"/>
                <a:ea typeface="Calibri"/>
                <a:cs typeface="Calibri"/>
              </a:defRPr>
            </a:lvl3pPr>
            <a:lvl4pPr marL="1371600" algn="l" defTabSz="914400" rtl="0" eaLnBrk="1" latinLnBrk="0" hangingPunct="1">
              <a:defRPr sz="1800" kern="1200">
                <a:solidFill>
                  <a:schemeClr val="tx1"/>
                </a:solidFill>
                <a:latin typeface="Calibri"/>
                <a:ea typeface="Calibri"/>
                <a:cs typeface="Calibri"/>
              </a:defRPr>
            </a:lvl4pPr>
            <a:lvl5pPr marL="1828800" algn="l" defTabSz="914400" rtl="0" eaLnBrk="1" latinLnBrk="0" hangingPunct="1">
              <a:defRPr sz="1800" kern="1200">
                <a:solidFill>
                  <a:schemeClr val="tx1"/>
                </a:solidFill>
                <a:latin typeface="Calibri"/>
                <a:ea typeface="Calibri"/>
                <a:cs typeface="Calibri"/>
              </a:defRPr>
            </a:lvl5pPr>
            <a:lvl6pPr marL="2286000" algn="l" defTabSz="914400" rtl="0" eaLnBrk="1" latinLnBrk="0" hangingPunct="1">
              <a:defRPr sz="1800" kern="1200">
                <a:solidFill>
                  <a:schemeClr val="tx1"/>
                </a:solidFill>
                <a:latin typeface="Calibri"/>
                <a:ea typeface="Calibri"/>
                <a:cs typeface="Calibri"/>
              </a:defRPr>
            </a:lvl6pPr>
            <a:lvl7pPr marL="2743200" algn="l" defTabSz="914400" rtl="0" eaLnBrk="1" latinLnBrk="0" hangingPunct="1">
              <a:defRPr sz="1800" kern="1200">
                <a:solidFill>
                  <a:schemeClr val="tx1"/>
                </a:solidFill>
                <a:latin typeface="Calibri"/>
                <a:ea typeface="Calibri"/>
                <a:cs typeface="Calibri"/>
              </a:defRPr>
            </a:lvl7pPr>
            <a:lvl8pPr marL="3200400" algn="l" defTabSz="914400" rtl="0" eaLnBrk="1" latinLnBrk="0" hangingPunct="1">
              <a:defRPr sz="1800" kern="1200">
                <a:solidFill>
                  <a:schemeClr val="tx1"/>
                </a:solidFill>
                <a:latin typeface="Calibri"/>
                <a:ea typeface="Calibri"/>
                <a:cs typeface="Calibri"/>
              </a:defRPr>
            </a:lvl8pPr>
            <a:lvl9pPr marL="3657600" algn="l" defTabSz="914400" rtl="0" eaLnBrk="1" latinLnBrk="0" hangingPunct="1">
              <a:defRPr sz="1800" kern="1200">
                <a:solidFill>
                  <a:schemeClr val="tx1"/>
                </a:solidFill>
                <a:latin typeface="Calibri"/>
                <a:ea typeface="Calibri"/>
                <a:cs typeface="Calibri"/>
              </a:defRPr>
            </a:lvl9pPr>
          </a:lstStyle>
          <a:p>
            <a:pPr marL="0" indent="0" algn="l">
              <a:buNone/>
            </a:pPr>
            <a:r>
              <a:rPr lang="tr-TR" sz="2300" b="0" dirty="0">
                <a:solidFill>
                  <a:srgbClr val="30343B"/>
                </a:solidFill>
                <a:latin typeface="Calibri"/>
                <a:ea typeface="Calibri"/>
                <a:cs typeface="Calibri"/>
              </a:rPr>
              <a:t>Eğitimde öğren, doğrulamada seç, seçim bittikten sonra testte ölç.</a:t>
            </a:r>
            <a:endParaRPr lang="tr-TR" sz="2300"/>
          </a:p>
        </p:txBody>
      </p:sp>
      <p:sp>
        <p:nvSpPr>
          <p:cNvPr id="20" name="Shape 9">
            <a:extLst>
              <a:ext uri="{FF2B5EF4-FFF2-40B4-BE49-F238E27FC236}">
                <a16:creationId xmlns:a16="http://schemas.microsoft.com/office/drawing/2014/main" id="{62AAA091-7689-46D1-B441-31277DA427CE}"/>
              </a:ext>
            </a:extLst>
          </p:cNvPr>
          <p:cNvSpPr/>
          <p:nvPr/>
        </p:nvSpPr>
        <p:spPr>
          <a:xfrm>
            <a:off x="457200" y="3857625"/>
            <a:ext cx="5467350" cy="2028825"/>
          </a:xfrm>
          <a:prstGeom prst="roundRect">
            <a:avLst>
              <a:gd name="adj" fmla="val 5858"/>
            </a:avLst>
          </a:prstGeom>
          <a:solidFill>
            <a:srgbClr val="E1E1EA"/>
          </a:solidFill>
          <a:ln w="6350">
            <a:solidFill>
              <a:srgbClr val="C7C7D0"/>
            </a:solidFill>
            <a:prstDash val="solid"/>
          </a:ln>
        </p:spPr>
        <p:txBody>
          <a:bodyPr/>
          <a:lstStyle/>
          <a:p>
            <a:endParaRPr lang="tr-TR"/>
          </a:p>
        </p:txBody>
      </p:sp>
      <p:sp>
        <p:nvSpPr>
          <p:cNvPr id="21" name="Text 10">
            <a:extLst>
              <a:ext uri="{FF2B5EF4-FFF2-40B4-BE49-F238E27FC236}">
                <a16:creationId xmlns:a16="http://schemas.microsoft.com/office/drawing/2014/main" id="{5A83113F-941F-4827-B806-F3DCC8CEA4ED}"/>
              </a:ext>
            </a:extLst>
          </p:cNvPr>
          <p:cNvSpPr/>
          <p:nvPr/>
        </p:nvSpPr>
        <p:spPr>
          <a:xfrm>
            <a:off x="666750" y="4029075"/>
            <a:ext cx="5048250" cy="514350"/>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Calibri"/>
                <a:ea typeface="Calibri"/>
                <a:cs typeface="Calibri"/>
              </a:defRPr>
            </a:lvl1pPr>
            <a:lvl2pPr marL="457200" algn="l" defTabSz="914400" rtl="0" eaLnBrk="1" latinLnBrk="0" hangingPunct="1">
              <a:defRPr sz="1800" kern="1200">
                <a:solidFill>
                  <a:schemeClr val="tx1"/>
                </a:solidFill>
                <a:latin typeface="Calibri"/>
                <a:ea typeface="Calibri"/>
                <a:cs typeface="Calibri"/>
              </a:defRPr>
            </a:lvl2pPr>
            <a:lvl3pPr marL="914400" algn="l" defTabSz="914400" rtl="0" eaLnBrk="1" latinLnBrk="0" hangingPunct="1">
              <a:defRPr sz="1800" kern="1200">
                <a:solidFill>
                  <a:schemeClr val="tx1"/>
                </a:solidFill>
                <a:latin typeface="Calibri"/>
                <a:ea typeface="Calibri"/>
                <a:cs typeface="Calibri"/>
              </a:defRPr>
            </a:lvl3pPr>
            <a:lvl4pPr marL="1371600" algn="l" defTabSz="914400" rtl="0" eaLnBrk="1" latinLnBrk="0" hangingPunct="1">
              <a:defRPr sz="1800" kern="1200">
                <a:solidFill>
                  <a:schemeClr val="tx1"/>
                </a:solidFill>
                <a:latin typeface="Calibri"/>
                <a:ea typeface="Calibri"/>
                <a:cs typeface="Calibri"/>
              </a:defRPr>
            </a:lvl4pPr>
            <a:lvl5pPr marL="1828800" algn="l" defTabSz="914400" rtl="0" eaLnBrk="1" latinLnBrk="0" hangingPunct="1">
              <a:defRPr sz="1800" kern="1200">
                <a:solidFill>
                  <a:schemeClr val="tx1"/>
                </a:solidFill>
                <a:latin typeface="Calibri"/>
                <a:ea typeface="Calibri"/>
                <a:cs typeface="Calibri"/>
              </a:defRPr>
            </a:lvl5pPr>
            <a:lvl6pPr marL="2286000" algn="l" defTabSz="914400" rtl="0" eaLnBrk="1" latinLnBrk="0" hangingPunct="1">
              <a:defRPr sz="1800" kern="1200">
                <a:solidFill>
                  <a:schemeClr val="tx1"/>
                </a:solidFill>
                <a:latin typeface="Calibri"/>
                <a:ea typeface="Calibri"/>
                <a:cs typeface="Calibri"/>
              </a:defRPr>
            </a:lvl6pPr>
            <a:lvl7pPr marL="2743200" algn="l" defTabSz="914400" rtl="0" eaLnBrk="1" latinLnBrk="0" hangingPunct="1">
              <a:defRPr sz="1800" kern="1200">
                <a:solidFill>
                  <a:schemeClr val="tx1"/>
                </a:solidFill>
                <a:latin typeface="Calibri"/>
                <a:ea typeface="Calibri"/>
                <a:cs typeface="Calibri"/>
              </a:defRPr>
            </a:lvl7pPr>
            <a:lvl8pPr marL="3200400" algn="l" defTabSz="914400" rtl="0" eaLnBrk="1" latinLnBrk="0" hangingPunct="1">
              <a:defRPr sz="1800" kern="1200">
                <a:solidFill>
                  <a:schemeClr val="tx1"/>
                </a:solidFill>
                <a:latin typeface="Calibri"/>
                <a:ea typeface="Calibri"/>
                <a:cs typeface="Calibri"/>
              </a:defRPr>
            </a:lvl8pPr>
            <a:lvl9pPr marL="3657600" algn="l" defTabSz="914400" rtl="0" eaLnBrk="1" latinLnBrk="0" hangingPunct="1">
              <a:defRPr sz="1800" kern="1200">
                <a:solidFill>
                  <a:schemeClr val="tx1"/>
                </a:solidFill>
                <a:latin typeface="Calibri"/>
                <a:ea typeface="Calibri"/>
                <a:cs typeface="Calibri"/>
              </a:defRPr>
            </a:lvl9pPr>
          </a:lstStyle>
          <a:p>
            <a:pPr marL="0" indent="0" algn="l">
              <a:buNone/>
            </a:pPr>
            <a:r>
              <a:rPr lang="tr-TR" sz="2400" b="1" dirty="0">
                <a:solidFill>
                  <a:srgbClr val="1E2A4E"/>
                </a:solidFill>
                <a:latin typeface="Calibri"/>
                <a:ea typeface="Calibri"/>
                <a:cs typeface="Calibri"/>
              </a:rPr>
              <a:t>Uygun metrik</a:t>
            </a:r>
            <a:endParaRPr lang="tr-TR" sz="2400"/>
          </a:p>
        </p:txBody>
      </p:sp>
      <p:sp>
        <p:nvSpPr>
          <p:cNvPr id="22" name="Text 11">
            <a:extLst>
              <a:ext uri="{FF2B5EF4-FFF2-40B4-BE49-F238E27FC236}">
                <a16:creationId xmlns:a16="http://schemas.microsoft.com/office/drawing/2014/main" id="{22818029-CB18-486B-9F34-2FBDBCC47E20}"/>
              </a:ext>
            </a:extLst>
          </p:cNvPr>
          <p:cNvSpPr/>
          <p:nvPr/>
        </p:nvSpPr>
        <p:spPr>
          <a:xfrm>
            <a:off x="666750" y="4676775"/>
            <a:ext cx="5048250" cy="1038225"/>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Calibri"/>
                <a:ea typeface="Calibri"/>
                <a:cs typeface="Calibri"/>
              </a:defRPr>
            </a:lvl1pPr>
            <a:lvl2pPr marL="457200" algn="l" defTabSz="914400" rtl="0" eaLnBrk="1" latinLnBrk="0" hangingPunct="1">
              <a:defRPr sz="1800" kern="1200">
                <a:solidFill>
                  <a:schemeClr val="tx1"/>
                </a:solidFill>
                <a:latin typeface="Calibri"/>
                <a:ea typeface="Calibri"/>
                <a:cs typeface="Calibri"/>
              </a:defRPr>
            </a:lvl2pPr>
            <a:lvl3pPr marL="914400" algn="l" defTabSz="914400" rtl="0" eaLnBrk="1" latinLnBrk="0" hangingPunct="1">
              <a:defRPr sz="1800" kern="1200">
                <a:solidFill>
                  <a:schemeClr val="tx1"/>
                </a:solidFill>
                <a:latin typeface="Calibri"/>
                <a:ea typeface="Calibri"/>
                <a:cs typeface="Calibri"/>
              </a:defRPr>
            </a:lvl3pPr>
            <a:lvl4pPr marL="1371600" algn="l" defTabSz="914400" rtl="0" eaLnBrk="1" latinLnBrk="0" hangingPunct="1">
              <a:defRPr sz="1800" kern="1200">
                <a:solidFill>
                  <a:schemeClr val="tx1"/>
                </a:solidFill>
                <a:latin typeface="Calibri"/>
                <a:ea typeface="Calibri"/>
                <a:cs typeface="Calibri"/>
              </a:defRPr>
            </a:lvl4pPr>
            <a:lvl5pPr marL="1828800" algn="l" defTabSz="914400" rtl="0" eaLnBrk="1" latinLnBrk="0" hangingPunct="1">
              <a:defRPr sz="1800" kern="1200">
                <a:solidFill>
                  <a:schemeClr val="tx1"/>
                </a:solidFill>
                <a:latin typeface="Calibri"/>
                <a:ea typeface="Calibri"/>
                <a:cs typeface="Calibri"/>
              </a:defRPr>
            </a:lvl5pPr>
            <a:lvl6pPr marL="2286000" algn="l" defTabSz="914400" rtl="0" eaLnBrk="1" latinLnBrk="0" hangingPunct="1">
              <a:defRPr sz="1800" kern="1200">
                <a:solidFill>
                  <a:schemeClr val="tx1"/>
                </a:solidFill>
                <a:latin typeface="Calibri"/>
                <a:ea typeface="Calibri"/>
                <a:cs typeface="Calibri"/>
              </a:defRPr>
            </a:lvl6pPr>
            <a:lvl7pPr marL="2743200" algn="l" defTabSz="914400" rtl="0" eaLnBrk="1" latinLnBrk="0" hangingPunct="1">
              <a:defRPr sz="1800" kern="1200">
                <a:solidFill>
                  <a:schemeClr val="tx1"/>
                </a:solidFill>
                <a:latin typeface="Calibri"/>
                <a:ea typeface="Calibri"/>
                <a:cs typeface="Calibri"/>
              </a:defRPr>
            </a:lvl7pPr>
            <a:lvl8pPr marL="3200400" algn="l" defTabSz="914400" rtl="0" eaLnBrk="1" latinLnBrk="0" hangingPunct="1">
              <a:defRPr sz="1800" kern="1200">
                <a:solidFill>
                  <a:schemeClr val="tx1"/>
                </a:solidFill>
                <a:latin typeface="Calibri"/>
                <a:ea typeface="Calibri"/>
                <a:cs typeface="Calibri"/>
              </a:defRPr>
            </a:lvl8pPr>
            <a:lvl9pPr marL="3657600" algn="l" defTabSz="914400" rtl="0" eaLnBrk="1" latinLnBrk="0" hangingPunct="1">
              <a:defRPr sz="1800" kern="1200">
                <a:solidFill>
                  <a:schemeClr val="tx1"/>
                </a:solidFill>
                <a:latin typeface="Calibri"/>
                <a:ea typeface="Calibri"/>
                <a:cs typeface="Calibri"/>
              </a:defRPr>
            </a:lvl9pPr>
          </a:lstStyle>
          <a:p>
            <a:pPr marL="0" indent="0" algn="l">
              <a:buNone/>
            </a:pPr>
            <a:r>
              <a:rPr lang="tr-TR" sz="2300" b="0" dirty="0">
                <a:solidFill>
                  <a:srgbClr val="30343B"/>
                </a:solidFill>
                <a:latin typeface="Calibri"/>
                <a:ea typeface="Calibri"/>
                <a:cs typeface="Calibri"/>
              </a:rPr>
              <a:t>Regresyonda sayısal hatayı, sınıflandırmada sınıf bazında başarıyı ölç.</a:t>
            </a:r>
            <a:endParaRPr lang="tr-TR" sz="2300"/>
          </a:p>
        </p:txBody>
      </p:sp>
      <p:sp>
        <p:nvSpPr>
          <p:cNvPr id="23" name="Shape 12">
            <a:extLst>
              <a:ext uri="{FF2B5EF4-FFF2-40B4-BE49-F238E27FC236}">
                <a16:creationId xmlns:a16="http://schemas.microsoft.com/office/drawing/2014/main" id="{8424D516-5B4C-401D-81BA-157F14B2BCF8}"/>
              </a:ext>
            </a:extLst>
          </p:cNvPr>
          <p:cNvSpPr/>
          <p:nvPr/>
        </p:nvSpPr>
        <p:spPr>
          <a:xfrm>
            <a:off x="6229350" y="3857625"/>
            <a:ext cx="5467350" cy="2028825"/>
          </a:xfrm>
          <a:prstGeom prst="roundRect">
            <a:avLst>
              <a:gd name="adj" fmla="val 5858"/>
            </a:avLst>
          </a:prstGeom>
          <a:solidFill>
            <a:srgbClr val="E1E1EA"/>
          </a:solidFill>
          <a:ln w="6350">
            <a:solidFill>
              <a:srgbClr val="C7C7D0"/>
            </a:solidFill>
            <a:prstDash val="solid"/>
          </a:ln>
        </p:spPr>
        <p:txBody>
          <a:bodyPr/>
          <a:lstStyle/>
          <a:p>
            <a:endParaRPr lang="tr-TR"/>
          </a:p>
        </p:txBody>
      </p:sp>
      <p:sp>
        <p:nvSpPr>
          <p:cNvPr id="24" name="Text 13">
            <a:extLst>
              <a:ext uri="{FF2B5EF4-FFF2-40B4-BE49-F238E27FC236}">
                <a16:creationId xmlns:a16="http://schemas.microsoft.com/office/drawing/2014/main" id="{31C15A46-8060-4789-924B-16D2A80F450D}"/>
              </a:ext>
            </a:extLst>
          </p:cNvPr>
          <p:cNvSpPr/>
          <p:nvPr/>
        </p:nvSpPr>
        <p:spPr>
          <a:xfrm>
            <a:off x="6438900" y="4029075"/>
            <a:ext cx="5048250" cy="514350"/>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Calibri"/>
                <a:ea typeface="Calibri"/>
                <a:cs typeface="Calibri"/>
              </a:defRPr>
            </a:lvl1pPr>
            <a:lvl2pPr marL="457200" algn="l" defTabSz="914400" rtl="0" eaLnBrk="1" latinLnBrk="0" hangingPunct="1">
              <a:defRPr sz="1800" kern="1200">
                <a:solidFill>
                  <a:schemeClr val="tx1"/>
                </a:solidFill>
                <a:latin typeface="Calibri"/>
                <a:ea typeface="Calibri"/>
                <a:cs typeface="Calibri"/>
              </a:defRPr>
            </a:lvl2pPr>
            <a:lvl3pPr marL="914400" algn="l" defTabSz="914400" rtl="0" eaLnBrk="1" latinLnBrk="0" hangingPunct="1">
              <a:defRPr sz="1800" kern="1200">
                <a:solidFill>
                  <a:schemeClr val="tx1"/>
                </a:solidFill>
                <a:latin typeface="Calibri"/>
                <a:ea typeface="Calibri"/>
                <a:cs typeface="Calibri"/>
              </a:defRPr>
            </a:lvl3pPr>
            <a:lvl4pPr marL="1371600" algn="l" defTabSz="914400" rtl="0" eaLnBrk="1" latinLnBrk="0" hangingPunct="1">
              <a:defRPr sz="1800" kern="1200">
                <a:solidFill>
                  <a:schemeClr val="tx1"/>
                </a:solidFill>
                <a:latin typeface="Calibri"/>
                <a:ea typeface="Calibri"/>
                <a:cs typeface="Calibri"/>
              </a:defRPr>
            </a:lvl4pPr>
            <a:lvl5pPr marL="1828800" algn="l" defTabSz="914400" rtl="0" eaLnBrk="1" latinLnBrk="0" hangingPunct="1">
              <a:defRPr sz="1800" kern="1200">
                <a:solidFill>
                  <a:schemeClr val="tx1"/>
                </a:solidFill>
                <a:latin typeface="Calibri"/>
                <a:ea typeface="Calibri"/>
                <a:cs typeface="Calibri"/>
              </a:defRPr>
            </a:lvl5pPr>
            <a:lvl6pPr marL="2286000" algn="l" defTabSz="914400" rtl="0" eaLnBrk="1" latinLnBrk="0" hangingPunct="1">
              <a:defRPr sz="1800" kern="1200">
                <a:solidFill>
                  <a:schemeClr val="tx1"/>
                </a:solidFill>
                <a:latin typeface="Calibri"/>
                <a:ea typeface="Calibri"/>
                <a:cs typeface="Calibri"/>
              </a:defRPr>
            </a:lvl6pPr>
            <a:lvl7pPr marL="2743200" algn="l" defTabSz="914400" rtl="0" eaLnBrk="1" latinLnBrk="0" hangingPunct="1">
              <a:defRPr sz="1800" kern="1200">
                <a:solidFill>
                  <a:schemeClr val="tx1"/>
                </a:solidFill>
                <a:latin typeface="Calibri"/>
                <a:ea typeface="Calibri"/>
                <a:cs typeface="Calibri"/>
              </a:defRPr>
            </a:lvl7pPr>
            <a:lvl8pPr marL="3200400" algn="l" defTabSz="914400" rtl="0" eaLnBrk="1" latinLnBrk="0" hangingPunct="1">
              <a:defRPr sz="1800" kern="1200">
                <a:solidFill>
                  <a:schemeClr val="tx1"/>
                </a:solidFill>
                <a:latin typeface="Calibri"/>
                <a:ea typeface="Calibri"/>
                <a:cs typeface="Calibri"/>
              </a:defRPr>
            </a:lvl8pPr>
            <a:lvl9pPr marL="3657600" algn="l" defTabSz="914400" rtl="0" eaLnBrk="1" latinLnBrk="0" hangingPunct="1">
              <a:defRPr sz="1800" kern="1200">
                <a:solidFill>
                  <a:schemeClr val="tx1"/>
                </a:solidFill>
                <a:latin typeface="Calibri"/>
                <a:ea typeface="Calibri"/>
                <a:cs typeface="Calibri"/>
              </a:defRPr>
            </a:lvl9pPr>
          </a:lstStyle>
          <a:p>
            <a:pPr marL="0" indent="0" algn="l">
              <a:buNone/>
            </a:pPr>
            <a:r>
              <a:rPr lang="tr-TR" sz="2400" b="1" dirty="0">
                <a:solidFill>
                  <a:srgbClr val="1E2A4E"/>
                </a:solidFill>
                <a:latin typeface="Calibri"/>
                <a:ea typeface="Calibri"/>
                <a:cs typeface="Calibri"/>
              </a:rPr>
              <a:t>Genelleme ve veri sızıntısı</a:t>
            </a:r>
            <a:endParaRPr lang="tr-TR" sz="2400"/>
          </a:p>
        </p:txBody>
      </p:sp>
      <p:sp>
        <p:nvSpPr>
          <p:cNvPr id="25" name="Text 14">
            <a:extLst>
              <a:ext uri="{FF2B5EF4-FFF2-40B4-BE49-F238E27FC236}">
                <a16:creationId xmlns:a16="http://schemas.microsoft.com/office/drawing/2014/main" id="{7B8B67F3-446E-44AE-9223-631016DF42A5}"/>
              </a:ext>
            </a:extLst>
          </p:cNvPr>
          <p:cNvSpPr/>
          <p:nvPr/>
        </p:nvSpPr>
        <p:spPr>
          <a:xfrm>
            <a:off x="6438900" y="4676775"/>
            <a:ext cx="5048250" cy="1038225"/>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Calibri"/>
                <a:ea typeface="Calibri"/>
                <a:cs typeface="Calibri"/>
              </a:defRPr>
            </a:lvl1pPr>
            <a:lvl2pPr marL="457200" algn="l" defTabSz="914400" rtl="0" eaLnBrk="1" latinLnBrk="0" hangingPunct="1">
              <a:defRPr sz="1800" kern="1200">
                <a:solidFill>
                  <a:schemeClr val="tx1"/>
                </a:solidFill>
                <a:latin typeface="Calibri"/>
                <a:ea typeface="Calibri"/>
                <a:cs typeface="Calibri"/>
              </a:defRPr>
            </a:lvl2pPr>
            <a:lvl3pPr marL="914400" algn="l" defTabSz="914400" rtl="0" eaLnBrk="1" latinLnBrk="0" hangingPunct="1">
              <a:defRPr sz="1800" kern="1200">
                <a:solidFill>
                  <a:schemeClr val="tx1"/>
                </a:solidFill>
                <a:latin typeface="Calibri"/>
                <a:ea typeface="Calibri"/>
                <a:cs typeface="Calibri"/>
              </a:defRPr>
            </a:lvl3pPr>
            <a:lvl4pPr marL="1371600" algn="l" defTabSz="914400" rtl="0" eaLnBrk="1" latinLnBrk="0" hangingPunct="1">
              <a:defRPr sz="1800" kern="1200">
                <a:solidFill>
                  <a:schemeClr val="tx1"/>
                </a:solidFill>
                <a:latin typeface="Calibri"/>
                <a:ea typeface="Calibri"/>
                <a:cs typeface="Calibri"/>
              </a:defRPr>
            </a:lvl4pPr>
            <a:lvl5pPr marL="1828800" algn="l" defTabSz="914400" rtl="0" eaLnBrk="1" latinLnBrk="0" hangingPunct="1">
              <a:defRPr sz="1800" kern="1200">
                <a:solidFill>
                  <a:schemeClr val="tx1"/>
                </a:solidFill>
                <a:latin typeface="Calibri"/>
                <a:ea typeface="Calibri"/>
                <a:cs typeface="Calibri"/>
              </a:defRPr>
            </a:lvl5pPr>
            <a:lvl6pPr marL="2286000" algn="l" defTabSz="914400" rtl="0" eaLnBrk="1" latinLnBrk="0" hangingPunct="1">
              <a:defRPr sz="1800" kern="1200">
                <a:solidFill>
                  <a:schemeClr val="tx1"/>
                </a:solidFill>
                <a:latin typeface="Calibri"/>
                <a:ea typeface="Calibri"/>
                <a:cs typeface="Calibri"/>
              </a:defRPr>
            </a:lvl6pPr>
            <a:lvl7pPr marL="2743200" algn="l" defTabSz="914400" rtl="0" eaLnBrk="1" latinLnBrk="0" hangingPunct="1">
              <a:defRPr sz="1800" kern="1200">
                <a:solidFill>
                  <a:schemeClr val="tx1"/>
                </a:solidFill>
                <a:latin typeface="Calibri"/>
                <a:ea typeface="Calibri"/>
                <a:cs typeface="Calibri"/>
              </a:defRPr>
            </a:lvl7pPr>
            <a:lvl8pPr marL="3200400" algn="l" defTabSz="914400" rtl="0" eaLnBrk="1" latinLnBrk="0" hangingPunct="1">
              <a:defRPr sz="1800" kern="1200">
                <a:solidFill>
                  <a:schemeClr val="tx1"/>
                </a:solidFill>
                <a:latin typeface="Calibri"/>
                <a:ea typeface="Calibri"/>
                <a:cs typeface="Calibri"/>
              </a:defRPr>
            </a:lvl8pPr>
            <a:lvl9pPr marL="3657600" algn="l" defTabSz="914400" rtl="0" eaLnBrk="1" latinLnBrk="0" hangingPunct="1">
              <a:defRPr sz="1800" kern="1200">
                <a:solidFill>
                  <a:schemeClr val="tx1"/>
                </a:solidFill>
                <a:latin typeface="Calibri"/>
                <a:ea typeface="Calibri"/>
                <a:cs typeface="Calibri"/>
              </a:defRPr>
            </a:lvl9pPr>
          </a:lstStyle>
          <a:p>
            <a:pPr marL="0" indent="0" algn="l">
              <a:buNone/>
            </a:pPr>
            <a:r>
              <a:rPr lang="tr-TR" sz="2300" b="0" dirty="0">
                <a:solidFill>
                  <a:srgbClr val="30343B"/>
                </a:solidFill>
                <a:latin typeface="Calibri"/>
                <a:ea typeface="Calibri"/>
                <a:cs typeface="Calibri"/>
              </a:rPr>
              <a:t>Eğitim–doğrulama farkına bak. Ön işlemeyi yalnızca eğitimden öğren.</a:t>
            </a:r>
            <a:endParaRPr lang="tr-TR" sz="2300"/>
          </a:p>
        </p:txBody>
      </p:sp>
      <p:sp>
        <p:nvSpPr>
          <p:cNvPr id="100" name="Kontrol sorusu: Accuracy yüksekken model hangi sın"/>
          <p:cNvSpPr txBox="1"/>
          <p:nvPr/>
        </p:nvSpPr>
        <p:spPr>
          <a:xfrm>
            <a:off x="457200" y="6229350"/>
            <a:ext cx="11144250" cy="485775"/>
          </a:xfrm>
          <a:prstGeom prst="rect">
            <a:avLst/>
          </a:prstGeom>
          <a:noFill/>
          <a:ln>
            <a:noFill/>
          </a:ln>
        </p:spPr>
        <p:txBody>
          <a:bodyPr wrap="square" lIns="0" tIns="0" rIns="0" bIns="0">
            <a:noAutofit/>
          </a:bodyPr>
          <a:lstStyle/>
          <a:p>
            <a:pPr marL="0" indent="0">
              <a:lnSpc>
                <a:spcPct val="110000"/>
              </a:lnSpc>
              <a:spcAft>
                <a:spcPts val="0"/>
              </a:spcAft>
            </a:pPr>
            <a:r>
              <a:rPr lang="tr-TR" sz="2200">
                <a:solidFill>
                  <a:srgbClr val="1E2A4E"/>
                </a:solidFill>
                <a:latin typeface="Calibri"/>
                <a:ea typeface="Calibri"/>
                <a:cs typeface="Calibri"/>
              </a:rPr>
              <a:t>Kontrol sorusu: Accuracy yüksekken model hangi sınıfı tamamen kaçırabilir?</a:t>
            </a:r>
            <a:endParaRPr lang="tr-TR" sz="2200"/>
          </a:p>
        </p:txBody>
      </p:sp>
    </p:spTree>
    <p:extLst>
      <p:ext uri="{BB962C8B-B14F-4D97-AF65-F5344CB8AC3E}">
        <p14:creationId xmlns:p14="http://schemas.microsoft.com/office/powerpoint/2010/main" val="146112539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spPr>
      <a:bodyPr/>
      <a:lstStyle>
        <a:defPPr algn="l">
          <a:defRPr/>
        </a:defPPr>
      </a:lstStyle>
    </a:spDef>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1593</Words>
  <Application>Microsoft Office PowerPoint</Application>
  <PresentationFormat>Geniş ekran</PresentationFormat>
  <Paragraphs>199</Paragraphs>
  <Slides>11</Slides>
  <Notes>10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11</vt:i4>
      </vt:variant>
    </vt:vector>
  </HeadingPairs>
  <TitlesOfParts>
    <vt:vector size="15" baseType="lpstr">
      <vt:lpstr>Arial</vt:lpstr>
      <vt:lpstr>Calibri</vt:lpstr>
      <vt:lpstr>Cambria</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Yagmur Baykal</dc:creator>
  <cp:lastModifiedBy>Yagmur Baykal</cp:lastModifiedBy>
  <cp:revision>8</cp:revision>
  <dcterms:created xsi:type="dcterms:W3CDTF">2026-09-26T20:41:52Z</dcterms:created>
  <dcterms:modified xsi:type="dcterms:W3CDTF">2026-10-04T14:00:59Z</dcterms:modified>
</cp:coreProperties>
</file>